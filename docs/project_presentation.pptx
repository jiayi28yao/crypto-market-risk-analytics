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40" roundtripDataSignature="AMtx7mg9XeR1SzkRZO0Ut2v13/k/0N3v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05C218C-16F3-43E4-B6F6-F02CF8C38FA4}">
  <a:tblStyle styleId="{805C218C-16F3-43E4-B6F6-F02CF8C38FA4}"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FEF"/>
          </a:solidFill>
        </a:fill>
      </a:tcStyle>
    </a:wholeTbl>
    <a:band1H>
      <a:tcTxStyle/>
      <a:tcStyle>
        <a:fill>
          <a:solidFill>
            <a:srgbClr val="CADDDD"/>
          </a:solidFill>
        </a:fill>
      </a:tcStyle>
    </a:band1H>
    <a:band2H>
      <a:tcTxStyle/>
    </a:band2H>
    <a:band1V>
      <a:tcTxStyle/>
      <a:tcStyle>
        <a:fill>
          <a:solidFill>
            <a:srgbClr val="CADDDD"/>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4CD93AF0-22A2-4CC3-8738-082BB4B4C0C8}"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icrosoft YaHei"/>
                <a:ea typeface="Microsoft YaHei"/>
                <a:cs typeface="Microsoft YaHei"/>
                <a:sym typeface="Microsoft YaHe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4000"/>
              </a:lnSpc>
              <a:spcBef>
                <a:spcPts val="1100"/>
              </a:spcBef>
              <a:spcAft>
                <a:spcPts val="0"/>
              </a:spcAft>
              <a:buClr>
                <a:schemeClr val="dk1"/>
              </a:buClr>
              <a:buSzPts val="1100"/>
              <a:buFont typeface="Arial"/>
              <a:buNone/>
            </a:pPr>
            <a:r>
              <a:rPr lang="en-US" sz="1100">
                <a:latin typeface="SimSun"/>
                <a:ea typeface="SimSun"/>
                <a:cs typeface="SimSun"/>
                <a:sym typeface="SimSun"/>
              </a:rPr>
              <a:t>1、Hello</a:t>
            </a:r>
            <a:r>
              <a:rPr lang="en-US" sz="1100">
                <a:latin typeface="Arial"/>
                <a:ea typeface="Arial"/>
                <a:cs typeface="Arial"/>
                <a:sym typeface="Arial"/>
              </a:rPr>
              <a:t> everyone. Today our team, CryptoKoi, will be presenting our project “Data Science for Crypto Market Volatility.”</a:t>
            </a:r>
            <a:endParaRPr sz="1100">
              <a:latin typeface="Arial"/>
              <a:ea typeface="Arial"/>
              <a:cs typeface="Arial"/>
              <a:sym typeface="Arial"/>
            </a:endParaRPr>
          </a:p>
          <a:p>
            <a:pPr indent="0" lvl="0" marL="0" rtl="0" algn="l">
              <a:lnSpc>
                <a:spcPct val="114000"/>
              </a:lnSpc>
              <a:spcBef>
                <a:spcPts val="1100"/>
              </a:spcBef>
              <a:spcAft>
                <a:spcPts val="0"/>
              </a:spcAft>
              <a:buClr>
                <a:schemeClr val="dk1"/>
              </a:buClr>
              <a:buSzPts val="1100"/>
              <a:buFont typeface="Arial"/>
              <a:buNone/>
            </a:pPr>
            <a:r>
              <a:rPr lang="en-US" sz="1100">
                <a:latin typeface="Arial"/>
                <a:ea typeface="Arial"/>
                <a:cs typeface="Arial"/>
                <a:sym typeface="Arial"/>
              </a:rPr>
              <a:t>In this project, we focus on understanding how crypto markets move over time, and how we can build a data-driven platform that helps investors make better timing decisions.</a:t>
            </a:r>
            <a:endParaRPr sz="1100">
              <a:latin typeface="Arial"/>
              <a:ea typeface="Arial"/>
              <a:cs typeface="Arial"/>
              <a:sym typeface="Arial"/>
            </a:endParaRPr>
          </a:p>
          <a:p>
            <a:pPr indent="0" lvl="0" marL="0" rtl="0" algn="l">
              <a:lnSpc>
                <a:spcPct val="100000"/>
              </a:lnSpc>
              <a:spcBef>
                <a:spcPts val="1000"/>
              </a:spcBef>
              <a:spcAft>
                <a:spcPts val="0"/>
              </a:spcAft>
              <a:buSzPts val="1400"/>
              <a:buNone/>
            </a:pPr>
            <a:r>
              <a:t/>
            </a:r>
            <a:endParaRPr/>
          </a:p>
        </p:txBody>
      </p:sp>
      <p:sp>
        <p:nvSpPr>
          <p:cNvPr id="31" name="Google Shape;31;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4000"/>
              </a:lnSpc>
              <a:spcBef>
                <a:spcPts val="1100"/>
              </a:spcBef>
              <a:spcAft>
                <a:spcPts val="0"/>
              </a:spcAft>
              <a:buClr>
                <a:schemeClr val="dk1"/>
              </a:buClr>
              <a:buSzPts val="1100"/>
              <a:buFont typeface="Arial"/>
              <a:buNone/>
            </a:pPr>
            <a:r>
              <a:rPr lang="en-US"/>
              <a:t>2、Here is our team.</a:t>
            </a:r>
            <a:endParaRPr/>
          </a:p>
          <a:p>
            <a:pPr indent="0" lvl="0" marL="0" rtl="0" algn="l">
              <a:lnSpc>
                <a:spcPct val="114000"/>
              </a:lnSpc>
              <a:spcBef>
                <a:spcPts val="1100"/>
              </a:spcBef>
              <a:spcAft>
                <a:spcPts val="0"/>
              </a:spcAft>
              <a:buClr>
                <a:schemeClr val="dk1"/>
              </a:buClr>
              <a:buSzPts val="1100"/>
              <a:buFont typeface="Arial"/>
              <a:buNone/>
            </a:pPr>
            <a:r>
              <a:rPr lang="en-US"/>
              <a:t>We have Jiayi as our Risk Analyst,</a:t>
            </a:r>
            <a:endParaRPr/>
          </a:p>
          <a:p>
            <a:pPr indent="0" lvl="0" marL="0" rtl="0" algn="l">
              <a:lnSpc>
                <a:spcPct val="114000"/>
              </a:lnSpc>
              <a:spcBef>
                <a:spcPts val="1100"/>
              </a:spcBef>
              <a:spcAft>
                <a:spcPts val="0"/>
              </a:spcAft>
              <a:buClr>
                <a:schemeClr val="dk1"/>
              </a:buClr>
              <a:buSzPts val="1100"/>
              <a:buFont typeface="Arial"/>
              <a:buNone/>
            </a:pPr>
            <a:r>
              <a:rPr lang="en-US"/>
              <a:t>I’m Qi, the Data Analyst,</a:t>
            </a:r>
            <a:endParaRPr/>
          </a:p>
          <a:p>
            <a:pPr indent="0" lvl="0" marL="0" rtl="0" algn="l">
              <a:lnSpc>
                <a:spcPct val="114000"/>
              </a:lnSpc>
              <a:spcBef>
                <a:spcPts val="1100"/>
              </a:spcBef>
              <a:spcAft>
                <a:spcPts val="0"/>
              </a:spcAft>
              <a:buClr>
                <a:schemeClr val="dk1"/>
              </a:buClr>
              <a:buSzPts val="1100"/>
              <a:buFont typeface="Arial"/>
              <a:buNone/>
            </a:pPr>
            <a:r>
              <a:rPr lang="en-US"/>
              <a:t>Connor and Yue are our Data Engineers,</a:t>
            </a:r>
            <a:endParaRPr/>
          </a:p>
          <a:p>
            <a:pPr indent="0" lvl="0" marL="0" rtl="0" algn="l">
              <a:lnSpc>
                <a:spcPct val="114000"/>
              </a:lnSpc>
              <a:spcBef>
                <a:spcPts val="1100"/>
              </a:spcBef>
              <a:spcAft>
                <a:spcPts val="0"/>
              </a:spcAft>
              <a:buClr>
                <a:schemeClr val="dk1"/>
              </a:buClr>
              <a:buSzPts val="1100"/>
              <a:buFont typeface="Arial"/>
              <a:buNone/>
            </a:pPr>
            <a:r>
              <a:rPr lang="en-US"/>
              <a:t>and Kacey is our Project Manager.</a:t>
            </a:r>
            <a:endParaRPr/>
          </a:p>
          <a:p>
            <a:pPr indent="0" lvl="0" marL="0" rtl="0" algn="l">
              <a:lnSpc>
                <a:spcPct val="114000"/>
              </a:lnSpc>
              <a:spcBef>
                <a:spcPts val="1100"/>
              </a:spcBef>
              <a:spcAft>
                <a:spcPts val="0"/>
              </a:spcAft>
              <a:buClr>
                <a:schemeClr val="dk1"/>
              </a:buClr>
              <a:buSzPts val="1100"/>
              <a:buFont typeface="Arial"/>
              <a:buNone/>
            </a:pPr>
            <a:r>
              <a:rPr lang="en-US"/>
              <a:t>Together, we combined financial insights, engineering skills, and analytics to build an end-to-end crypto analysis platform.</a:t>
            </a:r>
            <a:endParaRPr/>
          </a:p>
          <a:p>
            <a:pPr indent="0" lvl="0" marL="0" rtl="0" algn="l">
              <a:lnSpc>
                <a:spcPct val="100000"/>
              </a:lnSpc>
              <a:spcBef>
                <a:spcPts val="1000"/>
              </a:spcBef>
              <a:spcAft>
                <a:spcPts val="0"/>
              </a:spcAft>
              <a:buClr>
                <a:schemeClr val="dk1"/>
              </a:buClr>
              <a:buSzPts val="1200"/>
              <a:buFont typeface="Arial"/>
              <a:buNone/>
            </a:pPr>
            <a:r>
              <a:t/>
            </a:r>
            <a:endParaRPr/>
          </a:p>
        </p:txBody>
      </p:sp>
      <p:sp>
        <p:nvSpPr>
          <p:cNvPr id="45" name="Google Shape;4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4000"/>
              </a:lnSpc>
              <a:spcBef>
                <a:spcPts val="1100"/>
              </a:spcBef>
              <a:spcAft>
                <a:spcPts val="0"/>
              </a:spcAft>
              <a:buClr>
                <a:schemeClr val="dk1"/>
              </a:buClr>
              <a:buSzPts val="1100"/>
              <a:buFont typeface="Arial"/>
              <a:buNone/>
            </a:pPr>
            <a:r>
              <a:rPr lang="en-US" sz="1100">
                <a:latin typeface="SimSun"/>
                <a:ea typeface="SimSun"/>
                <a:cs typeface="SimSun"/>
                <a:sym typeface="SimSun"/>
              </a:rPr>
              <a:t>3、</a:t>
            </a:r>
            <a:r>
              <a:rPr lang="en-US" sz="1100">
                <a:latin typeface="Arial"/>
                <a:ea typeface="Arial"/>
                <a:cs typeface="Arial"/>
                <a:sym typeface="Arial"/>
              </a:rPr>
              <a:t>Here is the structure of today’s presentation.</a:t>
            </a:r>
            <a:endParaRPr sz="1100">
              <a:latin typeface="Arial"/>
              <a:ea typeface="Arial"/>
              <a:cs typeface="Arial"/>
              <a:sym typeface="Arial"/>
            </a:endParaRPr>
          </a:p>
          <a:p>
            <a:pPr indent="0" lvl="0" marL="0" rtl="0" algn="l">
              <a:lnSpc>
                <a:spcPct val="114000"/>
              </a:lnSpc>
              <a:spcBef>
                <a:spcPts val="1100"/>
              </a:spcBef>
              <a:spcAft>
                <a:spcPts val="0"/>
              </a:spcAft>
              <a:buClr>
                <a:schemeClr val="dk1"/>
              </a:buClr>
              <a:buSzPts val="1100"/>
              <a:buFont typeface="Arial"/>
              <a:buNone/>
            </a:pPr>
            <a:r>
              <a:rPr lang="en-US" sz="1100">
                <a:latin typeface="Arial"/>
                <a:ea typeface="Arial"/>
                <a:cs typeface="Arial"/>
                <a:sym typeface="Arial"/>
              </a:rPr>
              <a:t>We’ll begin with the executive summary, then walk through our research objectives, the data profile, and our methodology.</a:t>
            </a:r>
            <a:endParaRPr sz="1100">
              <a:latin typeface="Arial"/>
              <a:ea typeface="Arial"/>
              <a:cs typeface="Arial"/>
              <a:sym typeface="Arial"/>
            </a:endParaRPr>
          </a:p>
          <a:p>
            <a:pPr indent="0" lvl="0" marL="0" rtl="0" algn="l">
              <a:lnSpc>
                <a:spcPct val="114000"/>
              </a:lnSpc>
              <a:spcBef>
                <a:spcPts val="1100"/>
              </a:spcBef>
              <a:spcAft>
                <a:spcPts val="0"/>
              </a:spcAft>
              <a:buClr>
                <a:schemeClr val="dk1"/>
              </a:buClr>
              <a:buSzPts val="1100"/>
              <a:buFont typeface="Arial"/>
              <a:buNone/>
            </a:pPr>
            <a:r>
              <a:rPr lang="en-US" sz="1100">
                <a:latin typeface="Arial"/>
                <a:ea typeface="Arial"/>
                <a:cs typeface="Arial"/>
                <a:sym typeface="Arial"/>
              </a:rPr>
              <a:t>After that, we’ll share our insights, recommendations, and lessons learned before finishing with references.</a:t>
            </a:r>
            <a:endParaRPr sz="1100">
              <a:latin typeface="Arial"/>
              <a:ea typeface="Arial"/>
              <a:cs typeface="Arial"/>
              <a:sym typeface="Arial"/>
            </a:endParaRPr>
          </a:p>
          <a:p>
            <a:pPr indent="0" lvl="0" marL="0" rtl="0" algn="l">
              <a:lnSpc>
                <a:spcPct val="100000"/>
              </a:lnSpc>
              <a:spcBef>
                <a:spcPts val="1000"/>
              </a:spcBef>
              <a:spcAft>
                <a:spcPts val="0"/>
              </a:spcAft>
              <a:buSzPts val="1400"/>
              <a:buNone/>
            </a:pPr>
            <a:r>
              <a:t/>
            </a:r>
            <a:endParaRPr/>
          </a:p>
        </p:txBody>
      </p:sp>
      <p:sp>
        <p:nvSpPr>
          <p:cNvPr id="64" name="Google Shape;64;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f27d324c4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g3af27d324c4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4000"/>
              </a:lnSpc>
              <a:spcBef>
                <a:spcPts val="1100"/>
              </a:spcBef>
              <a:spcAft>
                <a:spcPts val="0"/>
              </a:spcAft>
              <a:buClr>
                <a:schemeClr val="dk1"/>
              </a:buClr>
              <a:buSzPts val="1100"/>
              <a:buFont typeface="Arial"/>
              <a:buNone/>
            </a:pPr>
            <a:r>
              <a:rPr lang="en-US"/>
              <a:t>This first section provides a quick overview of what problem we are solving and why this project matters.</a:t>
            </a:r>
            <a:endParaRPr/>
          </a:p>
          <a:p>
            <a:pPr indent="0" lvl="0" marL="0" rtl="0" algn="l">
              <a:spcBef>
                <a:spcPts val="1000"/>
              </a:spcBef>
              <a:spcAft>
                <a:spcPts val="0"/>
              </a:spcAft>
              <a:buNone/>
            </a:pPr>
            <a:r>
              <a:t/>
            </a:r>
            <a:endParaRPr/>
          </a:p>
        </p:txBody>
      </p:sp>
      <p:sp>
        <p:nvSpPr>
          <p:cNvPr id="77" name="Google Shape;77;g3af27d324c4_1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4000"/>
              </a:lnSpc>
              <a:spcBef>
                <a:spcPts val="1100"/>
              </a:spcBef>
              <a:spcAft>
                <a:spcPts val="0"/>
              </a:spcAft>
              <a:buClr>
                <a:schemeClr val="dk1"/>
              </a:buClr>
              <a:buSzPts val="1100"/>
              <a:buFont typeface="Arial"/>
              <a:buNone/>
            </a:pPr>
            <a:r>
              <a:rPr lang="en-US" sz="1100">
                <a:latin typeface="SimSun"/>
                <a:ea typeface="SimSun"/>
                <a:cs typeface="SimSun"/>
                <a:sym typeface="SimSun"/>
              </a:rPr>
              <a:t>first，</a:t>
            </a:r>
            <a:r>
              <a:rPr lang="en-US" sz="1100">
                <a:latin typeface="Arial"/>
                <a:ea typeface="Arial"/>
                <a:cs typeface="Arial"/>
                <a:sym typeface="Arial"/>
              </a:rPr>
              <a:t>Crypto markets behave very differently depending on the hour of the day, the weekday, and the season.</a:t>
            </a:r>
            <a:endParaRPr sz="1100">
              <a:latin typeface="Arial"/>
              <a:ea typeface="Arial"/>
              <a:cs typeface="Arial"/>
              <a:sym typeface="Arial"/>
            </a:endParaRPr>
          </a:p>
          <a:p>
            <a:pPr indent="0" lvl="0" marL="0" rtl="0" algn="l">
              <a:lnSpc>
                <a:spcPct val="114000"/>
              </a:lnSpc>
              <a:spcBef>
                <a:spcPts val="1100"/>
              </a:spcBef>
              <a:spcAft>
                <a:spcPts val="0"/>
              </a:spcAft>
              <a:buClr>
                <a:schemeClr val="dk1"/>
              </a:buClr>
              <a:buSzPts val="1100"/>
              <a:buFont typeface="Arial"/>
              <a:buNone/>
            </a:pPr>
            <a:r>
              <a:rPr lang="en-US" sz="1100">
                <a:latin typeface="Arial"/>
                <a:ea typeface="Arial"/>
                <a:cs typeface="Arial"/>
                <a:sym typeface="Arial"/>
              </a:rPr>
              <a:t>But investors usually don’t have clear, data-driven guidance on when to trade.</a:t>
            </a:r>
            <a:endParaRPr sz="1100">
              <a:latin typeface="Arial"/>
              <a:ea typeface="Arial"/>
              <a:cs typeface="Arial"/>
              <a:sym typeface="Arial"/>
            </a:endParaRPr>
          </a:p>
          <a:p>
            <a:pPr indent="0" lvl="0" marL="0" rtl="0" algn="l">
              <a:lnSpc>
                <a:spcPct val="114000"/>
              </a:lnSpc>
              <a:spcBef>
                <a:spcPts val="1100"/>
              </a:spcBef>
              <a:spcAft>
                <a:spcPts val="0"/>
              </a:spcAft>
              <a:buClr>
                <a:schemeClr val="dk1"/>
              </a:buClr>
              <a:buSzPts val="1100"/>
              <a:buFont typeface="Arial"/>
              <a:buNone/>
            </a:pPr>
            <a:r>
              <a:rPr lang="en-US" sz="1100">
                <a:latin typeface="Arial"/>
                <a:ea typeface="Arial"/>
                <a:cs typeface="Arial"/>
                <a:sym typeface="Arial"/>
              </a:rPr>
              <a:t>So in our project, we structured BTC and BNB OHLCV data into a clean analytical database.</a:t>
            </a:r>
            <a:endParaRPr sz="1100">
              <a:latin typeface="Arial"/>
              <a:ea typeface="Arial"/>
              <a:cs typeface="Arial"/>
              <a:sym typeface="Arial"/>
            </a:endParaRPr>
          </a:p>
          <a:p>
            <a:pPr indent="0" lvl="0" marL="0" rtl="0" algn="l">
              <a:lnSpc>
                <a:spcPct val="114000"/>
              </a:lnSpc>
              <a:spcBef>
                <a:spcPts val="1100"/>
              </a:spcBef>
              <a:spcAft>
                <a:spcPts val="0"/>
              </a:spcAft>
              <a:buClr>
                <a:schemeClr val="dk1"/>
              </a:buClr>
              <a:buSzPts val="1100"/>
              <a:buFont typeface="Arial"/>
              <a:buNone/>
            </a:pPr>
            <a:r>
              <a:rPr lang="en-US" sz="1100">
                <a:latin typeface="Arial"/>
                <a:ea typeface="Arial"/>
                <a:cs typeface="Arial"/>
                <a:sym typeface="Arial"/>
              </a:rPr>
              <a:t>With this structure, we analyze patterns in volatility and trading activity, and identify the optimal timing for high-risk versus low-risk investors.</a:t>
            </a:r>
            <a:endParaRPr sz="1100">
              <a:latin typeface="Arial"/>
              <a:ea typeface="Arial"/>
              <a:cs typeface="Arial"/>
              <a:sym typeface="Arial"/>
            </a:endParaRPr>
          </a:p>
          <a:p>
            <a:pPr indent="0" lvl="0" marL="0" rtl="0" algn="l">
              <a:lnSpc>
                <a:spcPct val="100000"/>
              </a:lnSpc>
              <a:spcBef>
                <a:spcPts val="1000"/>
              </a:spcBef>
              <a:spcAft>
                <a:spcPts val="0"/>
              </a:spcAft>
              <a:buSzPts val="1400"/>
              <a:buNone/>
            </a:pPr>
            <a:r>
              <a:t/>
            </a:r>
            <a:endParaRPr/>
          </a:p>
        </p:txBody>
      </p:sp>
      <p:sp>
        <p:nvSpPr>
          <p:cNvPr id="90" name="Google Shape;90;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f66ef71f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g3af66ef71f4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4000"/>
              </a:lnSpc>
              <a:spcBef>
                <a:spcPts val="1100"/>
              </a:spcBef>
              <a:spcAft>
                <a:spcPts val="0"/>
              </a:spcAft>
              <a:buClr>
                <a:schemeClr val="dk1"/>
              </a:buClr>
              <a:buSzPts val="1100"/>
              <a:buFont typeface="Arial"/>
              <a:buNone/>
            </a:pPr>
            <a:r>
              <a:rPr lang="en-US"/>
              <a:t>It organizes the raw Binance API data, provides time-based insights, and supports comparisons between BTC and BNB.</a:t>
            </a:r>
            <a:endParaRPr/>
          </a:p>
          <a:p>
            <a:pPr indent="0" lvl="0" marL="0" rtl="0" algn="l">
              <a:lnSpc>
                <a:spcPct val="114000"/>
              </a:lnSpc>
              <a:spcBef>
                <a:spcPts val="1100"/>
              </a:spcBef>
              <a:spcAft>
                <a:spcPts val="0"/>
              </a:spcAft>
              <a:buClr>
                <a:schemeClr val="dk1"/>
              </a:buClr>
              <a:buSzPts val="1100"/>
              <a:buFont typeface="Arial"/>
              <a:buNone/>
            </a:pPr>
            <a:r>
              <a:rPr lang="en-US"/>
              <a:t>For investors and analysts, this helps answer three key questions:</a:t>
            </a:r>
            <a:endParaRPr/>
          </a:p>
          <a:p>
            <a:pPr indent="0" lvl="0" marL="0" rtl="0" algn="l">
              <a:lnSpc>
                <a:spcPct val="114000"/>
              </a:lnSpc>
              <a:spcBef>
                <a:spcPts val="1100"/>
              </a:spcBef>
              <a:spcAft>
                <a:spcPts val="0"/>
              </a:spcAft>
              <a:buClr>
                <a:schemeClr val="dk1"/>
              </a:buClr>
              <a:buSzPts val="1100"/>
              <a:buFont typeface="Arial"/>
              <a:buNone/>
            </a:pPr>
            <a:r>
              <a:rPr lang="en-US"/>
              <a:t>• What are the hourly, weekly, and seasonal patterns?</a:t>
            </a:r>
            <a:endParaRPr/>
          </a:p>
          <a:p>
            <a:pPr indent="0" lvl="0" marL="0" rtl="0" algn="l">
              <a:lnSpc>
                <a:spcPct val="114000"/>
              </a:lnSpc>
              <a:spcBef>
                <a:spcPts val="1100"/>
              </a:spcBef>
              <a:spcAft>
                <a:spcPts val="0"/>
              </a:spcAft>
              <a:buClr>
                <a:schemeClr val="dk1"/>
              </a:buClr>
              <a:buSzPts val="1100"/>
              <a:buFont typeface="Arial"/>
              <a:buNone/>
            </a:pPr>
            <a:r>
              <a:rPr lang="en-US"/>
              <a:t>• How do BTC and BNB differ in risk and activity?</a:t>
            </a:r>
            <a:endParaRPr/>
          </a:p>
          <a:p>
            <a:pPr indent="0" lvl="0" marL="0" rtl="0" algn="l">
              <a:lnSpc>
                <a:spcPct val="114000"/>
              </a:lnSpc>
              <a:spcBef>
                <a:spcPts val="1100"/>
              </a:spcBef>
              <a:spcAft>
                <a:spcPts val="0"/>
              </a:spcAft>
              <a:buClr>
                <a:schemeClr val="dk1"/>
              </a:buClr>
              <a:buSzPts val="1100"/>
              <a:buFont typeface="Arial"/>
              <a:buNone/>
            </a:pPr>
            <a:r>
              <a:rPr lang="en-US"/>
              <a:t>• And when is the best time to invest, depending on the investor’s risk appetite?</a:t>
            </a:r>
            <a:endParaRPr/>
          </a:p>
          <a:p>
            <a:pPr indent="0" lvl="0" marL="0" rtl="0" algn="l">
              <a:lnSpc>
                <a:spcPct val="114000"/>
              </a:lnSpc>
              <a:spcBef>
                <a:spcPts val="1100"/>
              </a:spcBef>
              <a:spcAft>
                <a:spcPts val="0"/>
              </a:spcAft>
              <a:buClr>
                <a:schemeClr val="dk1"/>
              </a:buClr>
              <a:buSzPts val="1100"/>
              <a:buFont typeface="Arial"/>
              <a:buNone/>
            </a:pPr>
            <a:r>
              <a:rPr lang="en-US"/>
              <a:t>and we can see look at the right side,This pipeline—from API extraction, to Parquet storage, to MySQL, to dashboards—creates a reliable foundation for deeper analytics later in the presentation.</a:t>
            </a:r>
            <a:endParaRPr/>
          </a:p>
          <a:p>
            <a:pPr indent="0" lvl="0" marL="0" rtl="0" algn="l">
              <a:spcBef>
                <a:spcPts val="1000"/>
              </a:spcBef>
              <a:spcAft>
                <a:spcPts val="0"/>
              </a:spcAft>
              <a:buNone/>
            </a:pPr>
            <a:r>
              <a:t/>
            </a:r>
            <a:endParaRPr/>
          </a:p>
        </p:txBody>
      </p:sp>
      <p:sp>
        <p:nvSpPr>
          <p:cNvPr id="100" name="Google Shape;100;g3af66ef71f4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000">
                <a:solidFill>
                  <a:srgbClr val="FB0D44"/>
                </a:solidFill>
                <a:latin typeface="Arial"/>
                <a:ea typeface="Arial"/>
                <a:cs typeface="Arial"/>
                <a:sym typeface="Arial"/>
              </a:rPr>
              <a:t>Thanks QI, let’s move on to research objective.</a:t>
            </a:r>
            <a:endParaRPr/>
          </a:p>
        </p:txBody>
      </p:sp>
      <p:sp>
        <p:nvSpPr>
          <p:cNvPr id="113" name="Google Shape;113;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latin typeface="Arial"/>
                <a:ea typeface="Arial"/>
                <a:cs typeface="Arial"/>
                <a:sym typeface="Arial"/>
              </a:rPr>
              <a:t>Our project has two main research objectives.</a:t>
            </a:r>
            <a:endParaRPr sz="1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000">
                <a:latin typeface="Arial"/>
                <a:ea typeface="Arial"/>
                <a:cs typeface="Arial"/>
                <a:sym typeface="Arial"/>
              </a:rPr>
              <a:t>The first is to understand what data exists in crypto</a:t>
            </a:r>
            <a:r>
              <a:rPr lang="en-US" sz="1000" u="sng">
                <a:latin typeface="Arial"/>
                <a:ea typeface="Arial"/>
                <a:cs typeface="Arial"/>
                <a:sym typeface="Arial"/>
              </a:rPr>
              <a:t> </a:t>
            </a:r>
            <a:r>
              <a:rPr lang="en-US" sz="1000">
                <a:latin typeface="Arial"/>
                <a:ea typeface="Arial"/>
                <a:cs typeface="Arial"/>
                <a:sym typeface="Arial"/>
              </a:rPr>
              <a:t>OHLCV datasets and to build a database structure that supports business analysis.</a:t>
            </a:r>
            <a:endParaRPr sz="1000">
              <a:latin typeface="Arial"/>
              <a:ea typeface="Arial"/>
              <a:cs typeface="Arial"/>
              <a:sym typeface="Arial"/>
            </a:endParaRPr>
          </a:p>
          <a:p>
            <a:pPr indent="0" lvl="0" marL="0" rtl="0" algn="l">
              <a:lnSpc>
                <a:spcPct val="115000"/>
              </a:lnSpc>
              <a:spcBef>
                <a:spcPts val="0"/>
              </a:spcBef>
              <a:spcAft>
                <a:spcPts val="0"/>
              </a:spcAft>
              <a:buSzPts val="1100"/>
              <a:buNone/>
            </a:pPr>
            <a:r>
              <a:rPr lang="en-US" sz="1000">
                <a:latin typeface="Arial"/>
                <a:ea typeface="Arial"/>
                <a:cs typeface="Arial"/>
                <a:sym typeface="Arial"/>
              </a:rPr>
              <a:t>The second is to study time-based trading patterns—such as weekday, month, and season—to identify when high-risk and low-risk investors should choose BTC or BNB.</a:t>
            </a:r>
            <a:endParaRPr/>
          </a:p>
        </p:txBody>
      </p:sp>
      <p:sp>
        <p:nvSpPr>
          <p:cNvPr id="127" name="Google Shape;127;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rgbClr val="FB0D44"/>
                </a:solidFill>
                <a:latin typeface="Arial"/>
                <a:ea typeface="Arial"/>
                <a:cs typeface="Arial"/>
                <a:sym typeface="Arial"/>
              </a:rPr>
              <a:t>Now I’ll explain the dataset we use.</a:t>
            </a:r>
            <a:endParaRPr sz="1000">
              <a:solidFill>
                <a:srgbClr val="FB0D44"/>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000">
                <a:latin typeface="Arial"/>
                <a:ea typeface="Arial"/>
                <a:cs typeface="Arial"/>
                <a:sym typeface="Arial"/>
              </a:rPr>
              <a:t>The data comes from Binance and includes 30-minute OHLCV records for BTC and BNB from 2022 to 2025.</a:t>
            </a:r>
            <a:br>
              <a:rPr lang="en-US" sz="1000">
                <a:latin typeface="Arial"/>
                <a:ea typeface="Arial"/>
                <a:cs typeface="Arial"/>
                <a:sym typeface="Arial"/>
              </a:rPr>
            </a:br>
            <a:r>
              <a:rPr lang="en-US" sz="1000">
                <a:latin typeface="Arial"/>
                <a:ea typeface="Arial"/>
                <a:cs typeface="Arial"/>
                <a:sym typeface="Arial"/>
              </a:rPr>
              <a:t>Each asset has around fifty-two thousand rows and thirteen columns, stored in Parquet</a:t>
            </a:r>
            <a:r>
              <a:rPr lang="en-US" sz="1000" u="sng">
                <a:latin typeface="Arial"/>
                <a:ea typeface="Arial"/>
                <a:cs typeface="Arial"/>
                <a:sym typeface="Arial"/>
              </a:rPr>
              <a:t> </a:t>
            </a:r>
            <a:r>
              <a:rPr lang="en-US" sz="1000">
                <a:latin typeface="Arial"/>
                <a:ea typeface="Arial"/>
                <a:cs typeface="Arial"/>
                <a:sym typeface="Arial"/>
              </a:rPr>
              <a:t>format for fast processing.</a:t>
            </a:r>
            <a:endParaRPr sz="1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000">
                <a:latin typeface="Arial"/>
                <a:ea typeface="Arial"/>
                <a:cs typeface="Arial"/>
                <a:sym typeface="Arial"/>
              </a:rPr>
              <a:t>The key information includes prices, volumes, market activity, and timestamps.</a:t>
            </a:r>
            <a:endParaRPr sz="10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149" name="Google Shape;149;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f27d324c4_1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3af27d324c4_1_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000">
                <a:solidFill>
                  <a:srgbClr val="FB0D44"/>
                </a:solidFill>
                <a:latin typeface="Arial"/>
                <a:ea typeface="Arial"/>
                <a:cs typeface="Arial"/>
                <a:sym typeface="Arial"/>
              </a:rPr>
              <a:t>Let’s move on to data profile</a:t>
            </a:r>
            <a:endParaRPr b="1"/>
          </a:p>
        </p:txBody>
      </p:sp>
      <p:sp>
        <p:nvSpPr>
          <p:cNvPr id="166" name="Google Shape;166;g3af27d324c4_1_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rgbClr val="FB0D44"/>
                </a:solidFill>
                <a:latin typeface="Arial"/>
                <a:ea typeface="Arial"/>
                <a:cs typeface="Arial"/>
                <a:sym typeface="Arial"/>
              </a:rPr>
              <a:t>Here is a quick overview of our data quality checks and processing.</a:t>
            </a:r>
            <a:endParaRPr sz="1000">
              <a:solidFill>
                <a:srgbClr val="FB0D44"/>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000">
                <a:latin typeface="Arial"/>
                <a:ea typeface="Arial"/>
                <a:cs typeface="Arial"/>
                <a:sym typeface="Arial"/>
              </a:rPr>
              <a:t>First, we confirmed that there were no missing OHLCV values and removed duplicated candles based on symbol, interval, and open time.</a:t>
            </a:r>
            <a:br>
              <a:rPr lang="en-US" sz="1000">
                <a:latin typeface="Arial"/>
                <a:ea typeface="Arial"/>
                <a:cs typeface="Arial"/>
                <a:sym typeface="Arial"/>
              </a:rPr>
            </a:br>
            <a:r>
              <a:rPr lang="en-US" sz="1000">
                <a:latin typeface="Arial"/>
                <a:ea typeface="Arial"/>
                <a:cs typeface="Arial"/>
                <a:sym typeface="Arial"/>
              </a:rPr>
              <a:t>Zero-volume rows were adjusted using VWAP, and we verified that all prices and volumes were valid.</a:t>
            </a:r>
            <a:endParaRPr sz="1000">
              <a:latin typeface="Arial"/>
              <a:ea typeface="Arial"/>
              <a:cs typeface="Arial"/>
              <a:sym typeface="Arial"/>
            </a:endParaRPr>
          </a:p>
          <a:p>
            <a:pPr indent="0" lvl="0" marL="0" rtl="0" algn="l">
              <a:lnSpc>
                <a:spcPct val="115000"/>
              </a:lnSpc>
              <a:spcBef>
                <a:spcPts val="0"/>
              </a:spcBef>
              <a:spcAft>
                <a:spcPts val="0"/>
              </a:spcAft>
              <a:buSzPts val="1100"/>
              <a:buNone/>
            </a:pPr>
            <a:r>
              <a:rPr lang="en-US" sz="1000">
                <a:latin typeface="Arial"/>
                <a:ea typeface="Arial"/>
                <a:cs typeface="Arial"/>
                <a:sym typeface="Arial"/>
              </a:rPr>
              <a:t>We then created several useful metrics, including 30-minute log returns, 30-day rolling volatility, VWAP, and daily aggregated OHLC values.</a:t>
            </a:r>
            <a:br>
              <a:rPr lang="en-US" sz="1000">
                <a:latin typeface="Arial"/>
                <a:ea typeface="Arial"/>
                <a:cs typeface="Arial"/>
                <a:sym typeface="Arial"/>
              </a:rPr>
            </a:br>
            <a:r>
              <a:rPr lang="en-US" sz="1000">
                <a:latin typeface="Arial"/>
                <a:ea typeface="Arial"/>
                <a:cs typeface="Arial"/>
                <a:sym typeface="Arial"/>
              </a:rPr>
              <a:t>Finally, since BTC and BNB share the same schema, we analyzed them independently but with the same method.</a:t>
            </a:r>
            <a:endParaRPr b="1"/>
          </a:p>
        </p:txBody>
      </p:sp>
      <p:sp>
        <p:nvSpPr>
          <p:cNvPr id="180" name="Google Shape;180;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rgbClr val="FB0D44"/>
                </a:solidFill>
                <a:latin typeface="Arial"/>
                <a:ea typeface="Arial"/>
                <a:cs typeface="Arial"/>
                <a:sym typeface="Arial"/>
              </a:rPr>
              <a:t>This chart gives us a simple view of how BTC and BNB have moved over time.</a:t>
            </a:r>
            <a:endParaRPr sz="1000">
              <a:solidFill>
                <a:srgbClr val="FB0D44"/>
              </a:solidFill>
              <a:latin typeface="Arial"/>
              <a:ea typeface="Arial"/>
              <a:cs typeface="Arial"/>
              <a:sym typeface="Arial"/>
            </a:endParaRPr>
          </a:p>
          <a:p>
            <a:pPr indent="0" lvl="0" marL="0" rtl="0" algn="l">
              <a:lnSpc>
                <a:spcPct val="115000"/>
              </a:lnSpc>
              <a:spcBef>
                <a:spcPts val="0"/>
              </a:spcBef>
              <a:spcAft>
                <a:spcPts val="0"/>
              </a:spcAft>
              <a:buSzPts val="1100"/>
              <a:buNone/>
            </a:pPr>
            <a:r>
              <a:rPr lang="en-US" sz="1000">
                <a:latin typeface="Arial"/>
                <a:ea typeface="Arial"/>
                <a:cs typeface="Arial"/>
                <a:sym typeface="Arial"/>
              </a:rPr>
              <a:t>Both assets move in a similar overall direction, but BTC shows much stronger growth and higher volatility.This means BTC carries higher potential returns but also higher risk, which is important for our later analysis on investor timing.</a:t>
            </a:r>
            <a:endParaRPr b="1"/>
          </a:p>
        </p:txBody>
      </p:sp>
      <p:sp>
        <p:nvSpPr>
          <p:cNvPr id="201" name="Google Shape;20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rgbClr val="FB0D44"/>
                </a:solidFill>
                <a:latin typeface="Arial"/>
                <a:ea typeface="Arial"/>
                <a:cs typeface="Arial"/>
                <a:sym typeface="Arial"/>
              </a:rPr>
              <a:t>This chart gives us a clear view of BTC’s daily log returns.</a:t>
            </a:r>
            <a:endParaRPr sz="1000">
              <a:solidFill>
                <a:srgbClr val="FB0D44"/>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000">
                <a:latin typeface="Arial"/>
                <a:ea typeface="Arial"/>
                <a:cs typeface="Arial"/>
                <a:sym typeface="Arial"/>
              </a:rPr>
              <a:t>Most returns stay close to zero, but the distribution has obvious fat tails.</a:t>
            </a:r>
            <a:endParaRPr sz="1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000">
                <a:latin typeface="Arial"/>
                <a:ea typeface="Arial"/>
                <a:cs typeface="Arial"/>
                <a:sym typeface="Arial"/>
              </a:rPr>
              <a:t>This means BTC sometimes experiences very large price movements, which shows a higher level of risk.</a:t>
            </a:r>
            <a:endParaRPr sz="1000">
              <a:latin typeface="Arial"/>
              <a:ea typeface="Arial"/>
              <a:cs typeface="Arial"/>
              <a:sym typeface="Arial"/>
            </a:endParaRPr>
          </a:p>
          <a:p>
            <a:pPr indent="0" lvl="0" marL="0" rtl="0" algn="l">
              <a:lnSpc>
                <a:spcPct val="115000"/>
              </a:lnSpc>
              <a:spcBef>
                <a:spcPts val="0"/>
              </a:spcBef>
              <a:spcAft>
                <a:spcPts val="0"/>
              </a:spcAft>
              <a:buSzPts val="1100"/>
              <a:buNone/>
            </a:pPr>
            <a:r>
              <a:rPr lang="en-US" sz="1000">
                <a:latin typeface="Arial"/>
                <a:ea typeface="Arial"/>
                <a:cs typeface="Arial"/>
                <a:sym typeface="Arial"/>
              </a:rPr>
              <a:t>Understanding this behavior helps us evaluate how BTC behaves under different market conditions.</a:t>
            </a:r>
            <a:endParaRPr/>
          </a:p>
        </p:txBody>
      </p:sp>
      <p:sp>
        <p:nvSpPr>
          <p:cNvPr id="209" name="Google Shape;20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f27d324c4_1_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g3af27d324c4_1_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g3af27d324c4_1_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Microsoft YaHei"/>
              <a:ea typeface="Microsoft YaHei"/>
              <a:cs typeface="Microsoft YaHei"/>
              <a:sym typeface="Microsoft YaHei"/>
            </a:endParaRPr>
          </a:p>
        </p:txBody>
      </p:sp>
      <p:sp>
        <p:nvSpPr>
          <p:cNvPr id="232" name="Google Shape;232;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Microsoft YaHei"/>
              <a:ea typeface="Microsoft YaHei"/>
              <a:cs typeface="Microsoft YaHei"/>
              <a:sym typeface="Microsoft YaHei"/>
            </a:endParaRPr>
          </a:p>
        </p:txBody>
      </p:sp>
      <p:sp>
        <p:nvSpPr>
          <p:cNvPr id="247" name="Google Shape;24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Microsoft YaHei"/>
              <a:ea typeface="Microsoft YaHei"/>
              <a:cs typeface="Microsoft YaHei"/>
              <a:sym typeface="Microsoft YaHei"/>
            </a:endParaRPr>
          </a:p>
        </p:txBody>
      </p:sp>
      <p:sp>
        <p:nvSpPr>
          <p:cNvPr id="262" name="Google Shape;262;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Microsoft YaHei"/>
              <a:ea typeface="Microsoft YaHei"/>
              <a:cs typeface="Microsoft YaHei"/>
              <a:sym typeface="Microsoft YaHei"/>
            </a:endParaRPr>
          </a:p>
        </p:txBody>
      </p:sp>
      <p:sp>
        <p:nvSpPr>
          <p:cNvPr id="272" name="Google Shape;272;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af27d324c4_1_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g3af27d324c4_1_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g3af27d324c4_1_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We want to share the insights we found by using tableau desktop. Let us start with the daily trends.</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Here, we compare BTC and BNB on price and trading volume.</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First, BTC shows much higher price volatility.</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The price moves a lot more every day, while BNB is more stable.</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Second, BNB consistently has lower trading volume.</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This suggests a smaller, but more stable user base.</a:t>
            </a:r>
            <a:endParaRPr>
              <a:latin typeface="Times New Roman"/>
              <a:ea typeface="Times New Roman"/>
              <a:cs typeface="Times New Roman"/>
              <a:sym typeface="Times New Roman"/>
            </a:endParaRPr>
          </a:p>
          <a:p>
            <a:pPr indent="0" lvl="0" marL="0" rtl="0" algn="l">
              <a:lnSpc>
                <a:spcPct val="115000"/>
              </a:lnSpc>
              <a:spcBef>
                <a:spcPts val="1200"/>
              </a:spcBef>
              <a:spcAft>
                <a:spcPts val="1200"/>
              </a:spcAft>
              <a:buSzPts val="1100"/>
              <a:buNone/>
            </a:pPr>
            <a:r>
              <a:rPr lang="en-US">
                <a:latin typeface="Times New Roman"/>
                <a:ea typeface="Times New Roman"/>
                <a:cs typeface="Times New Roman"/>
                <a:sym typeface="Times New Roman"/>
              </a:rPr>
              <a:t>Finally, market activity has been slowing down for both coins.</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Volume keeps dropping, which may reflect cooling demand or less speculative trading.</a:t>
            </a:r>
            <a:endParaRPr/>
          </a:p>
        </p:txBody>
      </p:sp>
      <p:sp>
        <p:nvSpPr>
          <p:cNvPr id="308" name="Google Shape;308;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Next, let’s look at seasonality. BTC and BNB show completely different seasonal patterns.</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For BTC, volatility is lowest in Winter and Fall.</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That means BTC is more stable in colder seasons.</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For BNB, volatility peaks in Winter and Fall.</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So it actually follows the opposite pattern compared to BTC.</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In terms of returns, BTC outperforms BNB in every season.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Fall and Winter deliver the strongest returns for BTC.</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BNB performs best in Spring.</a:t>
            </a:r>
            <a:endParaRPr>
              <a:latin typeface="Times New Roman"/>
              <a:ea typeface="Times New Roman"/>
              <a:cs typeface="Times New Roman"/>
              <a:sym typeface="Times New Roman"/>
            </a:endParaRPr>
          </a:p>
          <a:p>
            <a:pPr indent="0" lvl="0" marL="0" rtl="0" algn="l">
              <a:lnSpc>
                <a:spcPct val="115000"/>
              </a:lnSpc>
              <a:spcBef>
                <a:spcPts val="1200"/>
              </a:spcBef>
              <a:spcAft>
                <a:spcPts val="1200"/>
              </a:spcAft>
              <a:buSzPts val="1100"/>
              <a:buNone/>
            </a:pPr>
            <a:r>
              <a:rPr lang="en-US">
                <a:latin typeface="Times New Roman"/>
                <a:ea typeface="Times New Roman"/>
                <a:cs typeface="Times New Roman"/>
                <a:sym typeface="Times New Roman"/>
              </a:rPr>
              <a:t>And Summer is the weakest season for both coins.</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Average returns are negative in Summer, which makes it the least favorable season to invest.</a:t>
            </a:r>
            <a:endParaRPr/>
          </a:p>
        </p:txBody>
      </p:sp>
      <p:sp>
        <p:nvSpPr>
          <p:cNvPr id="319" name="Google Shape;319;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This chart combines risk and returns into one view.</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BNB shows a ‘high-risk, low-return’ profile.</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It takes more risk, but does not give higher returns.</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BTC gives a better trade-off between risk and return, especially in Fall.</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So for low-risk investors, BTC in the Fall season is the most attractive choice.</a:t>
            </a:r>
            <a:endParaRPr>
              <a:latin typeface="Times New Roman"/>
              <a:ea typeface="Times New Roman"/>
              <a:cs typeface="Times New Roman"/>
              <a:sym typeface="Times New Roman"/>
            </a:endParaRPr>
          </a:p>
          <a:p>
            <a:pPr indent="0" lvl="0" marL="0" rtl="0" algn="l">
              <a:lnSpc>
                <a:spcPct val="115000"/>
              </a:lnSpc>
              <a:spcBef>
                <a:spcPts val="1200"/>
              </a:spcBef>
              <a:spcAft>
                <a:spcPts val="1200"/>
              </a:spcAft>
              <a:buSzPts val="1100"/>
              <a:buNone/>
            </a:pPr>
            <a:r>
              <a:rPr lang="en-US">
                <a:latin typeface="Times New Roman"/>
                <a:ea typeface="Times New Roman"/>
                <a:cs typeface="Times New Roman"/>
                <a:sym typeface="Times New Roman"/>
              </a:rPr>
              <a:t>Summer again stands out as unattractive.</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It has the highest risk and negative returns.</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Neither high-risk nor low-risk investors are rewarded in Summer.</a:t>
            </a:r>
            <a:endParaRPr/>
          </a:p>
        </p:txBody>
      </p:sp>
      <p:sp>
        <p:nvSpPr>
          <p:cNvPr id="330" name="Google Shape;330;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aeafdf28a2_1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g3aeafdf28a2_1_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Now we move to monthly performance. </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Monthly results are highly scattered, especially for BNB.</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In March, BNB reaches both its highest return and its highest volatility.</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From June to August, which is the summer period, both BTC and BNB show weaker performance.</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Returns are lower or even negative.</a:t>
            </a:r>
            <a:endParaRPr>
              <a:latin typeface="Times New Roman"/>
              <a:ea typeface="Times New Roman"/>
              <a:cs typeface="Times New Roman"/>
              <a:sym typeface="Times New Roman"/>
            </a:endParaRPr>
          </a:p>
          <a:p>
            <a:pPr indent="0" lvl="0" marL="0" rtl="0" algn="l">
              <a:lnSpc>
                <a:spcPct val="115000"/>
              </a:lnSpc>
              <a:spcBef>
                <a:spcPts val="1200"/>
              </a:spcBef>
              <a:spcAft>
                <a:spcPts val="1200"/>
              </a:spcAft>
              <a:buSzPts val="1100"/>
              <a:buNone/>
            </a:pPr>
            <a:r>
              <a:rPr lang="en-US">
                <a:latin typeface="Times New Roman"/>
                <a:ea typeface="Times New Roman"/>
                <a:cs typeface="Times New Roman"/>
                <a:sym typeface="Times New Roman"/>
              </a:rPr>
              <a:t>We also observe that for the same level of volatility, BTC tends to produce higher or more stable returns than BNB.</a:t>
            </a:r>
            <a:endParaRPr/>
          </a:p>
        </p:txBody>
      </p:sp>
      <p:sp>
        <p:nvSpPr>
          <p:cNvPr id="341" name="Google Shape;341;g3aeafdf28a2_1_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aeafdf28a2_1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g3aeafdf28a2_1_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Finally, let’s look at weekly patterns. In the graph, we use number 0 to represent Monday, and 1 to represent Tuesday, and so on.</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We can see.. for both BTC and BNB, Wednesday shows the strongest performance.</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It has the highest returns along with higher weekday volatility.</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Monday shows the widest performance gap between the two coins.</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BTC gives a strong positive return on Monday,</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while BNB actually shows negative returns.</a:t>
            </a:r>
            <a:endParaRPr>
              <a:latin typeface="Times New Roman"/>
              <a:ea typeface="Times New Roman"/>
              <a:cs typeface="Times New Roman"/>
              <a:sym typeface="Times New Roman"/>
            </a:endParaRPr>
          </a:p>
          <a:p>
            <a:pPr indent="0" lvl="0" marL="0" rtl="0" algn="l">
              <a:lnSpc>
                <a:spcPct val="115000"/>
              </a:lnSpc>
              <a:spcBef>
                <a:spcPts val="1200"/>
              </a:spcBef>
              <a:spcAft>
                <a:spcPts val="1200"/>
              </a:spcAft>
              <a:buSzPts val="1100"/>
              <a:buNone/>
            </a:pPr>
            <a:r>
              <a:rPr lang="en-US">
                <a:latin typeface="Times New Roman"/>
                <a:ea typeface="Times New Roman"/>
                <a:cs typeface="Times New Roman"/>
                <a:sym typeface="Times New Roman"/>
              </a:rPr>
              <a:t>This difference makes Monday an important day for investors to watch.</a:t>
            </a:r>
            <a:endParaRPr/>
          </a:p>
        </p:txBody>
      </p:sp>
      <p:sp>
        <p:nvSpPr>
          <p:cNvPr id="352" name="Google Shape;352;g3aeafdf28a2_1_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af27d324c4_1_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g3af27d324c4_1_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based on our project, here are some recommendations</a:t>
            </a:r>
            <a:endParaRPr/>
          </a:p>
        </p:txBody>
      </p:sp>
      <p:sp>
        <p:nvSpPr>
          <p:cNvPr id="363" name="Google Shape;363;g3af27d324c4_1_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In terms of our design considerations,</a:t>
            </a:r>
            <a:endParaRPr sz="1100">
              <a:latin typeface="Arial"/>
              <a:ea typeface="Arial"/>
              <a:cs typeface="Arial"/>
              <a:sym typeface="Arial"/>
            </a:endParaRPr>
          </a:p>
          <a:p>
            <a:pPr indent="0" lvl="0" marL="0" rtl="0" algn="l">
              <a:spcBef>
                <a:spcPts val="0"/>
              </a:spcBef>
              <a:spcAft>
                <a:spcPts val="0"/>
              </a:spcAft>
              <a:buSzPts val="1100"/>
              <a:buNone/>
            </a:pPr>
            <a:r>
              <a:rPr lang="en-US" sz="1100">
                <a:latin typeface="Arial"/>
                <a:ea typeface="Arial"/>
                <a:cs typeface="Arial"/>
                <a:sym typeface="Arial"/>
              </a:rPr>
              <a:t>We chose </a:t>
            </a:r>
            <a:r>
              <a:rPr b="1" lang="en-US" sz="1100">
                <a:latin typeface="Arial"/>
                <a:ea typeface="Arial"/>
                <a:cs typeface="Arial"/>
                <a:sym typeface="Arial"/>
              </a:rPr>
              <a:t>MySQL as an OLAP warehouse</a:t>
            </a:r>
            <a:r>
              <a:rPr lang="en-US" sz="1100">
                <a:latin typeface="Arial"/>
                <a:ea typeface="Arial"/>
                <a:cs typeface="Arial"/>
                <a:sym typeface="Arial"/>
              </a:rPr>
              <a:t> because our OHLCV data is highly structured and requires historical lookbacks, aggregations, and star-schema queries. A relational OLAP system performs these tasks much more efficiently than NoSQL or an OLTP engine.</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Overall, our pipeline—</a:t>
            </a:r>
            <a:r>
              <a:rPr b="1" lang="en-US" sz="1100">
                <a:latin typeface="Arial"/>
                <a:ea typeface="Arial"/>
                <a:cs typeface="Arial"/>
                <a:sym typeface="Arial"/>
              </a:rPr>
              <a:t>Python to Parquet to MySQL to Tableau</a:t>
            </a:r>
            <a:r>
              <a:rPr lang="en-US" sz="1100">
                <a:latin typeface="Arial"/>
                <a:ea typeface="Arial"/>
                <a:cs typeface="Arial"/>
                <a:sym typeface="Arial"/>
              </a:rPr>
              <a:t>—is clean, maintainable, and easy to scale to more trading pairs. And since the data structure is consistent, we don’t see an immediate need for a NoSQL solution.</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We also used </a:t>
            </a:r>
            <a:r>
              <a:rPr b="1" lang="en-US" sz="1100">
                <a:latin typeface="Arial"/>
                <a:ea typeface="Arial"/>
                <a:cs typeface="Arial"/>
                <a:sym typeface="Arial"/>
              </a:rPr>
              <a:t>Parquet as an intermediate storage layer</a:t>
            </a:r>
            <a:r>
              <a:rPr lang="en-US" sz="1100">
                <a:latin typeface="Arial"/>
                <a:ea typeface="Arial"/>
                <a:cs typeface="Arial"/>
                <a:sym typeface="Arial"/>
              </a:rPr>
              <a:t>—it’s compact, fast for column-based analytics, and gives us flexibility to move to a cloud data lake in the future.</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376" name="Google Shape;376;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We have 3 corrective measures.</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Right now, the pipeline works well, but we can strengthen it by adding more </a:t>
            </a:r>
            <a:r>
              <a:rPr b="1" lang="en-US" sz="1100">
                <a:latin typeface="Arial"/>
                <a:ea typeface="Arial"/>
                <a:cs typeface="Arial"/>
                <a:sym typeface="Arial"/>
              </a:rPr>
              <a:t>data quality checks</a:t>
            </a:r>
            <a:r>
              <a:rPr lang="en-US" sz="1100">
                <a:latin typeface="Arial"/>
                <a:ea typeface="Arial"/>
                <a:cs typeface="Arial"/>
                <a:sym typeface="Arial"/>
              </a:rPr>
              <a:t> such as duplicate detection, schema validation, and anomaly alerts.</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We also recommend </a:t>
            </a:r>
            <a:r>
              <a:rPr b="1" lang="en-US" sz="1100">
                <a:latin typeface="Arial"/>
                <a:ea typeface="Arial"/>
                <a:cs typeface="Arial"/>
                <a:sym typeface="Arial"/>
              </a:rPr>
              <a:t>automating the pipeline</a:t>
            </a:r>
            <a:r>
              <a:rPr lang="en-US" sz="1100">
                <a:latin typeface="Arial"/>
                <a:ea typeface="Arial"/>
                <a:cs typeface="Arial"/>
                <a:sym typeface="Arial"/>
              </a:rPr>
              <a:t> using Airflow or Prefect so the system can refresh 30-minute candles and daily aggregates automatically, making the dashboard near real-time.</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Finally, we can further optimize the schema and indexing to improve analytical query performance.</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446" name="Google Shape;446;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For </a:t>
            </a:r>
            <a:r>
              <a:rPr lang="en-US" sz="1100">
                <a:latin typeface="Arial"/>
                <a:ea typeface="Arial"/>
                <a:cs typeface="Arial"/>
                <a:sym typeface="Arial"/>
              </a:rPr>
              <a:t>f</a:t>
            </a:r>
            <a:r>
              <a:rPr lang="en-US" sz="1100">
                <a:latin typeface="Arial"/>
                <a:ea typeface="Arial"/>
                <a:cs typeface="Arial"/>
                <a:sym typeface="Arial"/>
              </a:rPr>
              <a:t>uture improvement. </a:t>
            </a:r>
            <a:br>
              <a:rPr lang="en-US" sz="1100">
                <a:latin typeface="Arial"/>
                <a:ea typeface="Arial"/>
                <a:cs typeface="Arial"/>
                <a:sym typeface="Arial"/>
              </a:rPr>
            </a:br>
            <a:r>
              <a:rPr lang="en-US" sz="1100">
                <a:latin typeface="Arial"/>
                <a:ea typeface="Arial"/>
                <a:cs typeface="Arial"/>
                <a:sym typeface="Arial"/>
              </a:rPr>
              <a:t>A major next step is </a:t>
            </a:r>
            <a:r>
              <a:rPr b="1" lang="en-US" sz="1100">
                <a:latin typeface="Arial"/>
                <a:ea typeface="Arial"/>
                <a:cs typeface="Arial"/>
                <a:sym typeface="Arial"/>
              </a:rPr>
              <a:t>enhance database design &amp; data governance</a:t>
            </a:r>
            <a:r>
              <a:rPr lang="en-US" sz="1100">
                <a:latin typeface="Arial"/>
                <a:ea typeface="Arial"/>
                <a:cs typeface="Arial"/>
                <a:sym typeface="Arial"/>
              </a:rPr>
              <a:t>. for example, we can improve indexing, time-based partitioning, and automated data validation to ensure high performance, strong data integrity, and production-level reliability.</a:t>
            </a:r>
            <a:br>
              <a:rPr lang="en-US" sz="1100">
                <a:latin typeface="Arial"/>
                <a:ea typeface="Arial"/>
                <a:cs typeface="Arial"/>
                <a:sym typeface="Arial"/>
              </a:rPr>
            </a:br>
            <a:r>
              <a:rPr lang="en-US" sz="1100">
                <a:latin typeface="Arial"/>
                <a:ea typeface="Arial"/>
                <a:cs typeface="Arial"/>
                <a:sym typeface="Arial"/>
              </a:rPr>
              <a:t>Another key measure is </a:t>
            </a:r>
            <a:r>
              <a:rPr b="1" lang="en-US" sz="1100">
                <a:latin typeface="Arial"/>
                <a:ea typeface="Arial"/>
                <a:cs typeface="Arial"/>
                <a:sym typeface="Arial"/>
              </a:rPr>
              <a:t>scaling the system to the cloud</a:t>
            </a:r>
            <a:r>
              <a:rPr lang="en-US" sz="1100">
                <a:latin typeface="Arial"/>
                <a:ea typeface="Arial"/>
                <a:cs typeface="Arial"/>
                <a:sym typeface="Arial"/>
              </a:rPr>
              <a:t>, for example using S3 or GCS for storage and Snowflake or BigQuery for scalable analytics.</a:t>
            </a:r>
            <a:br>
              <a:rPr lang="en-US" sz="1100">
                <a:latin typeface="Arial"/>
                <a:ea typeface="Arial"/>
                <a:cs typeface="Arial"/>
                <a:sym typeface="Arial"/>
              </a:rPr>
            </a:br>
            <a:r>
              <a:rPr lang="en-US" sz="1100">
                <a:latin typeface="Arial"/>
                <a:ea typeface="Arial"/>
                <a:cs typeface="Arial"/>
                <a:sym typeface="Arial"/>
              </a:rPr>
              <a:t>In the long term, we can also </a:t>
            </a:r>
            <a:r>
              <a:rPr b="1" lang="en-US" sz="1100">
                <a:latin typeface="Arial"/>
                <a:ea typeface="Arial"/>
                <a:cs typeface="Arial"/>
                <a:sym typeface="Arial"/>
              </a:rPr>
              <a:t>adding more market signals</a:t>
            </a:r>
            <a:r>
              <a:rPr lang="en-US" sz="1100">
                <a:latin typeface="Arial"/>
                <a:ea typeface="Arial"/>
                <a:cs typeface="Arial"/>
                <a:sym typeface="Arial"/>
              </a:rPr>
              <a:t>, such as order-book depth, funding rates, and sentiment features to enhance data integrity and also makes the dashboard closer to real </a:t>
            </a:r>
            <a:r>
              <a:rPr lang="en-US" sz="1100">
                <a:latin typeface="Arial"/>
                <a:ea typeface="Arial"/>
                <a:cs typeface="Arial"/>
                <a:sym typeface="Arial"/>
              </a:rPr>
              <a:t>transaction</a:t>
            </a:r>
            <a:r>
              <a:rPr lang="en-US" sz="1100">
                <a:latin typeface="Arial"/>
                <a:ea typeface="Arial"/>
                <a:cs typeface="Arial"/>
                <a:sym typeface="Arial"/>
              </a:rPr>
              <a:t> scenarios.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474" name="Google Shape;474;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af27d324c4_1_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8" name="Google Shape;498;g3af27d324c4_1_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g3af27d324c4_1_8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af27d324c4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g3af27d324c4_0_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something we learned from this project, was mainly about </a:t>
            </a:r>
            <a:r>
              <a:rPr b="1" lang="en-US" sz="1100">
                <a:latin typeface="Arial"/>
                <a:ea typeface="Arial"/>
                <a:cs typeface="Arial"/>
                <a:sym typeface="Arial"/>
              </a:rPr>
              <a:t>technical design</a:t>
            </a:r>
            <a:r>
              <a:rPr lang="en-US" sz="1100">
                <a:latin typeface="Arial"/>
                <a:ea typeface="Arial"/>
                <a:cs typeface="Arial"/>
                <a:sym typeface="Arial"/>
              </a:rPr>
              <a:t> and </a:t>
            </a:r>
            <a:r>
              <a:rPr b="1" lang="en-US" sz="1100">
                <a:latin typeface="Arial"/>
                <a:ea typeface="Arial"/>
                <a:cs typeface="Arial"/>
                <a:sym typeface="Arial"/>
              </a:rPr>
              <a:t>data pipeline integration</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 the technical side, a </a:t>
            </a:r>
            <a:r>
              <a:rPr b="1" lang="en-US" sz="1100">
                <a:latin typeface="Arial"/>
                <a:ea typeface="Arial"/>
                <a:cs typeface="Arial"/>
                <a:sym typeface="Arial"/>
              </a:rPr>
              <a:t>star schema works very well for time-series OHLCV analytics</a:t>
            </a:r>
            <a:r>
              <a:rPr lang="en-US" sz="1100">
                <a:latin typeface="Arial"/>
                <a:ea typeface="Arial"/>
                <a:cs typeface="Arial"/>
                <a:sym typeface="Arial"/>
              </a:rPr>
              <a:t>.</a:t>
            </a:r>
            <a:br>
              <a:rPr lang="en-US" sz="1100">
                <a:latin typeface="Arial"/>
                <a:ea typeface="Arial"/>
                <a:cs typeface="Arial"/>
                <a:sym typeface="Arial"/>
              </a:rPr>
            </a:br>
            <a:r>
              <a:rPr lang="en-US" sz="1100">
                <a:latin typeface="Arial"/>
                <a:ea typeface="Arial"/>
                <a:cs typeface="Arial"/>
                <a:sym typeface="Arial"/>
              </a:rPr>
              <a:t> Using </a:t>
            </a:r>
            <a:r>
              <a:rPr b="1" lang="en-US" sz="1100">
                <a:latin typeface="Arial"/>
                <a:ea typeface="Arial"/>
                <a:cs typeface="Arial"/>
                <a:sym typeface="Arial"/>
              </a:rPr>
              <a:t>Parquet</a:t>
            </a:r>
            <a:r>
              <a:rPr lang="en-US" sz="1100">
                <a:latin typeface="Arial"/>
                <a:ea typeface="Arial"/>
                <a:cs typeface="Arial"/>
                <a:sym typeface="Arial"/>
              </a:rPr>
              <a:t> improves both storage efficiency and ingestion speed.</a:t>
            </a:r>
            <a:br>
              <a:rPr lang="en-US" sz="1100">
                <a:latin typeface="Arial"/>
                <a:ea typeface="Arial"/>
                <a:cs typeface="Arial"/>
                <a:sym typeface="Arial"/>
              </a:rPr>
            </a:br>
            <a:r>
              <a:rPr lang="en-US" sz="1100">
                <a:latin typeface="Arial"/>
                <a:ea typeface="Arial"/>
                <a:cs typeface="Arial"/>
                <a:sym typeface="Arial"/>
              </a:rPr>
              <a:t> Separating </a:t>
            </a:r>
            <a:r>
              <a:rPr b="1" lang="en-US" sz="1100">
                <a:latin typeface="Arial"/>
                <a:ea typeface="Arial"/>
                <a:cs typeface="Arial"/>
                <a:sym typeface="Arial"/>
              </a:rPr>
              <a:t>raw and aggregated tables</a:t>
            </a:r>
            <a:r>
              <a:rPr lang="en-US" sz="1100">
                <a:latin typeface="Arial"/>
                <a:ea typeface="Arial"/>
                <a:cs typeface="Arial"/>
                <a:sym typeface="Arial"/>
              </a:rPr>
              <a:t> also makes the system more scalable.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 the pipeline side, </a:t>
            </a:r>
            <a:r>
              <a:rPr b="1" lang="en-US" sz="1100">
                <a:latin typeface="Arial"/>
                <a:ea typeface="Arial"/>
                <a:cs typeface="Arial"/>
                <a:sym typeface="Arial"/>
              </a:rPr>
              <a:t>design must align with BI needs</a:t>
            </a:r>
            <a:r>
              <a:rPr lang="en-US" sz="1100">
                <a:latin typeface="Arial"/>
                <a:ea typeface="Arial"/>
                <a:cs typeface="Arial"/>
                <a:sym typeface="Arial"/>
              </a:rPr>
              <a:t> to avoid rework.</a:t>
            </a:r>
            <a:br>
              <a:rPr lang="en-US" sz="1100">
                <a:latin typeface="Arial"/>
                <a:ea typeface="Arial"/>
                <a:cs typeface="Arial"/>
                <a:sym typeface="Arial"/>
              </a:rPr>
            </a:br>
            <a:r>
              <a:rPr lang="en-US" sz="1100">
                <a:latin typeface="Arial"/>
                <a:ea typeface="Arial"/>
                <a:cs typeface="Arial"/>
                <a:sym typeface="Arial"/>
              </a:rPr>
              <a:t> Even with clean APIs, </a:t>
            </a:r>
            <a:r>
              <a:rPr b="1" lang="en-US" sz="1100">
                <a:latin typeface="Arial"/>
                <a:ea typeface="Arial"/>
                <a:cs typeface="Arial"/>
                <a:sym typeface="Arial"/>
              </a:rPr>
              <a:t>data validation is still necessary</a:t>
            </a:r>
            <a:r>
              <a:rPr lang="en-US" sz="1100">
                <a:latin typeface="Arial"/>
                <a:ea typeface="Arial"/>
                <a:cs typeface="Arial"/>
                <a:sym typeface="Arial"/>
              </a:rPr>
              <a:t>.</a:t>
            </a:r>
            <a:br>
              <a:rPr lang="en-US" sz="1100">
                <a:latin typeface="Arial"/>
                <a:ea typeface="Arial"/>
                <a:cs typeface="Arial"/>
                <a:sym typeface="Arial"/>
              </a:rPr>
            </a:br>
            <a:r>
              <a:rPr lang="en-US" sz="1100">
                <a:latin typeface="Arial"/>
                <a:ea typeface="Arial"/>
                <a:cs typeface="Arial"/>
                <a:sym typeface="Arial"/>
              </a:rPr>
              <a:t> And finally, </a:t>
            </a:r>
            <a:r>
              <a:rPr b="1" lang="en-US" sz="1100">
                <a:latin typeface="Arial"/>
                <a:ea typeface="Arial"/>
                <a:cs typeface="Arial"/>
                <a:sym typeface="Arial"/>
              </a:rPr>
              <a:t>automation is essential</a:t>
            </a:r>
            <a:r>
              <a:rPr lang="en-US" sz="1100">
                <a:latin typeface="Arial"/>
                <a:ea typeface="Arial"/>
                <a:cs typeface="Arial"/>
                <a:sym typeface="Arial"/>
              </a:rPr>
              <a:t> for near real-time analytics.</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
        <p:nvSpPr>
          <p:cNvPr id="512" name="Google Shape;512;g3af27d324c4_0_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af27d324c4_1_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g3af27d324c4_1_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g3af27d324c4_1_9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af27d324c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g3af27d324c4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8" name="Google Shape;538;g3af27d324c4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Microsoft YaHei"/>
              <a:ea typeface="Microsoft YaHei"/>
              <a:cs typeface="Microsoft YaHei"/>
              <a:sym typeface="Microsoft YaHei"/>
            </a:endParaRPr>
          </a:p>
        </p:txBody>
      </p:sp>
      <p:sp>
        <p:nvSpPr>
          <p:cNvPr id="545" name="Google Shape;545;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标题和内容">
  <p:cSld name="1_标题和内容">
    <p:spTree>
      <p:nvGrpSpPr>
        <p:cNvPr id="16" name="Shape 1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8"/>
          <p:cNvSpPr txBox="1"/>
          <p:nvPr>
            <p:ph type="title"/>
          </p:nvPr>
        </p:nvSpPr>
        <p:spPr>
          <a:xfrm>
            <a:off x="1673352" y="723519"/>
            <a:ext cx="5797296" cy="89154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Font typeface="Microsoft YaHei"/>
              <a:buNone/>
              <a:defRPr b="0" i="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8"/>
          <p:cNvSpPr txBox="1"/>
          <p:nvPr>
            <p:ph idx="1" type="body"/>
          </p:nvPr>
        </p:nvSpPr>
        <p:spPr>
          <a:xfrm>
            <a:off x="1673352" y="1978533"/>
            <a:ext cx="5797296" cy="2326487"/>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750"/>
              </a:spcBef>
              <a:spcAft>
                <a:spcPts val="0"/>
              </a:spcAft>
              <a:buClr>
                <a:schemeClr val="dk1"/>
              </a:buClr>
              <a:buSzPts val="1800"/>
              <a:buChar char="•"/>
              <a:defRPr b="0" i="0">
                <a:latin typeface="Arial"/>
                <a:ea typeface="Arial"/>
                <a:cs typeface="Arial"/>
                <a:sym typeface="Arial"/>
              </a:defRPr>
            </a:lvl1pPr>
            <a:lvl2pPr indent="-342900" lvl="1" marL="914400" algn="l">
              <a:lnSpc>
                <a:spcPct val="100000"/>
              </a:lnSpc>
              <a:spcBef>
                <a:spcPts val="750"/>
              </a:spcBef>
              <a:spcAft>
                <a:spcPts val="0"/>
              </a:spcAft>
              <a:buClr>
                <a:schemeClr val="dk1"/>
              </a:buClr>
              <a:buSzPts val="1800"/>
              <a:buChar char="•"/>
              <a:defRPr/>
            </a:lvl2pPr>
            <a:lvl3pPr indent="-342900" lvl="2" marL="1371600" algn="l">
              <a:lnSpc>
                <a:spcPct val="100000"/>
              </a:lnSpc>
              <a:spcBef>
                <a:spcPts val="750"/>
              </a:spcBef>
              <a:spcAft>
                <a:spcPts val="0"/>
              </a:spcAft>
              <a:buClr>
                <a:schemeClr val="dk1"/>
              </a:buClr>
              <a:buSzPts val="1800"/>
              <a:buChar char="•"/>
              <a:defRPr/>
            </a:lvl3pPr>
            <a:lvl4pPr indent="-342900" lvl="3" marL="1828800" algn="l">
              <a:lnSpc>
                <a:spcPct val="100000"/>
              </a:lnSpc>
              <a:spcBef>
                <a:spcPts val="750"/>
              </a:spcBef>
              <a:spcAft>
                <a:spcPts val="0"/>
              </a:spcAft>
              <a:buClr>
                <a:schemeClr val="dk1"/>
              </a:buClr>
              <a:buSzPts val="1800"/>
              <a:buChar char="•"/>
              <a:defRPr/>
            </a:lvl4pPr>
            <a:lvl5pPr indent="-342900" lvl="4" marL="2286000" algn="l">
              <a:lnSpc>
                <a:spcPct val="100000"/>
              </a:lnSpc>
              <a:spcBef>
                <a:spcPts val="750"/>
              </a:spcBef>
              <a:spcAft>
                <a:spcPts val="0"/>
              </a:spcAft>
              <a:buClr>
                <a:schemeClr val="dk1"/>
              </a:buClr>
              <a:buSzPts val="1800"/>
              <a:buChar char="•"/>
              <a:defRPr/>
            </a:lvl5pPr>
            <a:lvl6pPr indent="-342900" lvl="5" marL="2743200" algn="l">
              <a:lnSpc>
                <a:spcPct val="100000"/>
              </a:lnSpc>
              <a:spcBef>
                <a:spcPts val="750"/>
              </a:spcBef>
              <a:spcAft>
                <a:spcPts val="0"/>
              </a:spcAft>
              <a:buClr>
                <a:schemeClr val="dk1"/>
              </a:buClr>
              <a:buSzPts val="1800"/>
              <a:buChar char="•"/>
              <a:defRPr/>
            </a:lvl6pPr>
            <a:lvl7pPr indent="-342900" lvl="6" marL="3200400" algn="l">
              <a:lnSpc>
                <a:spcPct val="100000"/>
              </a:lnSpc>
              <a:spcBef>
                <a:spcPts val="750"/>
              </a:spcBef>
              <a:spcAft>
                <a:spcPts val="0"/>
              </a:spcAft>
              <a:buClr>
                <a:schemeClr val="dk1"/>
              </a:buClr>
              <a:buSzPts val="1800"/>
              <a:buChar char="•"/>
              <a:defRPr/>
            </a:lvl7pPr>
            <a:lvl8pPr indent="-342900" lvl="7" marL="3657600" algn="l">
              <a:lnSpc>
                <a:spcPct val="100000"/>
              </a:lnSpc>
              <a:spcBef>
                <a:spcPts val="750"/>
              </a:spcBef>
              <a:spcAft>
                <a:spcPts val="0"/>
              </a:spcAft>
              <a:buClr>
                <a:schemeClr val="dk1"/>
              </a:buClr>
              <a:buSzPts val="1800"/>
              <a:buChar char="•"/>
              <a:defRPr/>
            </a:lvl8pPr>
            <a:lvl9pPr indent="-342900" lvl="8" marL="4114800" algn="l">
              <a:lnSpc>
                <a:spcPct val="100000"/>
              </a:lnSpc>
              <a:spcBef>
                <a:spcPts val="750"/>
              </a:spcBef>
              <a:spcAft>
                <a:spcPts val="0"/>
              </a:spcAft>
              <a:buClr>
                <a:schemeClr val="dk1"/>
              </a:buClr>
              <a:buSzPts val="1800"/>
              <a:buChar char="•"/>
              <a:defRPr/>
            </a:lvl9pPr>
          </a:lstStyle>
          <a:p/>
        </p:txBody>
      </p:sp>
      <p:sp>
        <p:nvSpPr>
          <p:cNvPr id="20" name="Google Shape;20;p28"/>
          <p:cNvSpPr txBox="1"/>
          <p:nvPr>
            <p:ph idx="10" type="dt"/>
          </p:nvPr>
        </p:nvSpPr>
        <p:spPr>
          <a:xfrm>
            <a:off x="5866072" y="4679112"/>
            <a:ext cx="2065310" cy="24297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rgbClr val="888888"/>
              </a:buClr>
              <a:buSzPts val="1400"/>
              <a:buFont typeface="Microsoft YaHei"/>
              <a:buNone/>
              <a:defRPr b="0" i="0"/>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21" name="Google Shape;21;p28"/>
          <p:cNvSpPr txBox="1"/>
          <p:nvPr>
            <p:ph idx="11" type="ftr"/>
          </p:nvPr>
        </p:nvSpPr>
        <p:spPr>
          <a:xfrm>
            <a:off x="1200150" y="4677156"/>
            <a:ext cx="4425892" cy="24003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Microsoft YaHei"/>
              <a:buNone/>
              <a:defRPr b="0" i="0"/>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22" name="Google Shape;22;p28"/>
          <p:cNvSpPr/>
          <p:nvPr>
            <p:ph idx="12" type="sldNum"/>
          </p:nvPr>
        </p:nvSpPr>
        <p:spPr>
          <a:xfrm>
            <a:off x="8069192" y="4663440"/>
            <a:ext cx="274320" cy="274320"/>
          </a:xfrm>
          <a:prstGeom prst="ellipse">
            <a:avLst/>
          </a:prstGeom>
          <a:solidFill>
            <a:srgbClr val="1D1D1D">
              <a:alpha val="69019"/>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888888"/>
              </a:buClr>
              <a:buSzPts val="1200"/>
              <a:buFont typeface="Microsoft YaHei"/>
              <a:buNone/>
              <a:defRPr b="0" i="0" sz="1200" u="none" cap="none" strike="noStrike">
                <a:solidFill>
                  <a:srgbClr val="888888"/>
                </a:solidFill>
                <a:latin typeface="Arial"/>
                <a:ea typeface="Arial"/>
                <a:cs typeface="Arial"/>
                <a:sym typeface="Arial"/>
              </a:defRPr>
            </a:lvl1pPr>
            <a:lvl2pPr indent="0" lvl="1" marL="0" marR="0" algn="ctr">
              <a:lnSpc>
                <a:spcPct val="100000"/>
              </a:lnSpc>
              <a:spcBef>
                <a:spcPts val="0"/>
              </a:spcBef>
              <a:spcAft>
                <a:spcPts val="0"/>
              </a:spcAft>
              <a:buClr>
                <a:srgbClr val="888888"/>
              </a:buClr>
              <a:buSzPts val="1200"/>
              <a:buFont typeface="Microsoft YaHei"/>
              <a:buNone/>
              <a:defRPr b="0" i="0" sz="1200" u="none" cap="none" strike="noStrike">
                <a:solidFill>
                  <a:srgbClr val="888888"/>
                </a:solidFill>
                <a:latin typeface="Arial"/>
                <a:ea typeface="Arial"/>
                <a:cs typeface="Arial"/>
                <a:sym typeface="Arial"/>
              </a:defRPr>
            </a:lvl2pPr>
            <a:lvl3pPr indent="0" lvl="2" marL="0" marR="0" algn="ctr">
              <a:lnSpc>
                <a:spcPct val="100000"/>
              </a:lnSpc>
              <a:spcBef>
                <a:spcPts val="0"/>
              </a:spcBef>
              <a:spcAft>
                <a:spcPts val="0"/>
              </a:spcAft>
              <a:buClr>
                <a:srgbClr val="888888"/>
              </a:buClr>
              <a:buSzPts val="1200"/>
              <a:buFont typeface="Microsoft YaHei"/>
              <a:buNone/>
              <a:defRPr b="0" i="0" sz="1200" u="none" cap="none" strike="noStrike">
                <a:solidFill>
                  <a:srgbClr val="888888"/>
                </a:solidFill>
                <a:latin typeface="Arial"/>
                <a:ea typeface="Arial"/>
                <a:cs typeface="Arial"/>
                <a:sym typeface="Arial"/>
              </a:defRPr>
            </a:lvl3pPr>
            <a:lvl4pPr indent="0" lvl="3" marL="0" marR="0" algn="ctr">
              <a:lnSpc>
                <a:spcPct val="100000"/>
              </a:lnSpc>
              <a:spcBef>
                <a:spcPts val="0"/>
              </a:spcBef>
              <a:spcAft>
                <a:spcPts val="0"/>
              </a:spcAft>
              <a:buClr>
                <a:srgbClr val="888888"/>
              </a:buClr>
              <a:buSzPts val="1200"/>
              <a:buFont typeface="Microsoft YaHei"/>
              <a:buNone/>
              <a:defRPr b="0" i="0" sz="1200" u="none" cap="none" strike="noStrike">
                <a:solidFill>
                  <a:srgbClr val="888888"/>
                </a:solidFill>
                <a:latin typeface="Arial"/>
                <a:ea typeface="Arial"/>
                <a:cs typeface="Arial"/>
                <a:sym typeface="Arial"/>
              </a:defRPr>
            </a:lvl4pPr>
            <a:lvl5pPr indent="0" lvl="4" marL="0" marR="0" algn="ctr">
              <a:lnSpc>
                <a:spcPct val="100000"/>
              </a:lnSpc>
              <a:spcBef>
                <a:spcPts val="0"/>
              </a:spcBef>
              <a:spcAft>
                <a:spcPts val="0"/>
              </a:spcAft>
              <a:buClr>
                <a:srgbClr val="888888"/>
              </a:buClr>
              <a:buSzPts val="1200"/>
              <a:buFont typeface="Microsoft YaHei"/>
              <a:buNone/>
              <a:defRPr b="0" i="0" sz="1200" u="none" cap="none" strike="noStrike">
                <a:solidFill>
                  <a:srgbClr val="888888"/>
                </a:solidFill>
                <a:latin typeface="Arial"/>
                <a:ea typeface="Arial"/>
                <a:cs typeface="Arial"/>
                <a:sym typeface="Arial"/>
              </a:defRPr>
            </a:lvl5pPr>
            <a:lvl6pPr indent="0" lvl="5" marL="0" marR="0" algn="ctr">
              <a:lnSpc>
                <a:spcPct val="100000"/>
              </a:lnSpc>
              <a:spcBef>
                <a:spcPts val="0"/>
              </a:spcBef>
              <a:spcAft>
                <a:spcPts val="0"/>
              </a:spcAft>
              <a:buClr>
                <a:srgbClr val="888888"/>
              </a:buClr>
              <a:buSzPts val="1200"/>
              <a:buFont typeface="Microsoft YaHei"/>
              <a:buNone/>
              <a:defRPr b="0" i="0" sz="1200" u="none" cap="none" strike="noStrike">
                <a:solidFill>
                  <a:srgbClr val="888888"/>
                </a:solidFill>
                <a:latin typeface="Arial"/>
                <a:ea typeface="Arial"/>
                <a:cs typeface="Arial"/>
                <a:sym typeface="Arial"/>
              </a:defRPr>
            </a:lvl6pPr>
            <a:lvl7pPr indent="0" lvl="6" marL="0" marR="0" algn="ctr">
              <a:lnSpc>
                <a:spcPct val="100000"/>
              </a:lnSpc>
              <a:spcBef>
                <a:spcPts val="0"/>
              </a:spcBef>
              <a:spcAft>
                <a:spcPts val="0"/>
              </a:spcAft>
              <a:buClr>
                <a:srgbClr val="888888"/>
              </a:buClr>
              <a:buSzPts val="1200"/>
              <a:buFont typeface="Microsoft YaHei"/>
              <a:buNone/>
              <a:defRPr b="0" i="0" sz="1200" u="none" cap="none" strike="noStrike">
                <a:solidFill>
                  <a:srgbClr val="888888"/>
                </a:solidFill>
                <a:latin typeface="Arial"/>
                <a:ea typeface="Arial"/>
                <a:cs typeface="Arial"/>
                <a:sym typeface="Arial"/>
              </a:defRPr>
            </a:lvl7pPr>
            <a:lvl8pPr indent="0" lvl="7" marL="0" marR="0" algn="ctr">
              <a:lnSpc>
                <a:spcPct val="100000"/>
              </a:lnSpc>
              <a:spcBef>
                <a:spcPts val="0"/>
              </a:spcBef>
              <a:spcAft>
                <a:spcPts val="0"/>
              </a:spcAft>
              <a:buClr>
                <a:srgbClr val="888888"/>
              </a:buClr>
              <a:buSzPts val="1200"/>
              <a:buFont typeface="Microsoft YaHei"/>
              <a:buNone/>
              <a:defRPr b="0" i="0" sz="1200" u="none" cap="none" strike="noStrike">
                <a:solidFill>
                  <a:srgbClr val="888888"/>
                </a:solidFill>
                <a:latin typeface="Arial"/>
                <a:ea typeface="Arial"/>
                <a:cs typeface="Arial"/>
                <a:sym typeface="Arial"/>
              </a:defRPr>
            </a:lvl8pPr>
            <a:lvl9pPr indent="0" lvl="8" marL="0" marR="0" algn="ctr">
              <a:lnSpc>
                <a:spcPct val="100000"/>
              </a:lnSpc>
              <a:spcBef>
                <a:spcPts val="0"/>
              </a:spcBef>
              <a:spcAft>
                <a:spcPts val="0"/>
              </a:spcAft>
              <a:buClr>
                <a:srgbClr val="888888"/>
              </a:buClr>
              <a:buSzPts val="1200"/>
              <a:buFont typeface="Microsoft YaHei"/>
              <a:buNone/>
              <a:defRPr b="0" i="0" sz="1200" u="none" cap="none" strike="noStrike">
                <a:solidFill>
                  <a:srgbClr val="888888"/>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23" name="Shape 23"/>
        <p:cNvGrpSpPr/>
        <p:nvPr/>
      </p:nvGrpSpPr>
      <p:grpSpPr>
        <a:xfrm>
          <a:off x="0" y="0"/>
          <a:ext cx="0" cy="0"/>
          <a:chOff x="0" y="0"/>
          <a:chExt cx="0" cy="0"/>
        </a:xfrm>
      </p:grpSpPr>
      <p:sp>
        <p:nvSpPr>
          <p:cNvPr id="24" name="Google Shape;24;p2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i="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0" i="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p:cSld name="标题和内容">
    <p:spTree>
      <p:nvGrpSpPr>
        <p:cNvPr id="27" name="Shape 2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Microsoft YaHei"/>
              <a:buNone/>
              <a:defRPr b="0" i="0" sz="4400" u="none" cap="none" strike="noStrike">
                <a:solidFill>
                  <a:schemeClr val="dk1"/>
                </a:solidFill>
                <a:latin typeface="Microsoft YaHei"/>
                <a:ea typeface="Microsoft YaHei"/>
                <a:cs typeface="Microsoft YaHei"/>
                <a:sym typeface="Microsoft YaHe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6"/>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Microsoft YaHei"/>
                <a:ea typeface="Microsoft YaHei"/>
                <a:cs typeface="Microsoft YaHei"/>
                <a:sym typeface="Microsoft YaHe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Microsoft YaHei"/>
                <a:ea typeface="Microsoft YaHei"/>
                <a:cs typeface="Microsoft YaHei"/>
                <a:sym typeface="Microsoft YaHe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Microsoft YaHei"/>
                <a:ea typeface="Microsoft YaHei"/>
                <a:cs typeface="Microsoft YaHei"/>
                <a:sym typeface="Microsoft YaHe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Microsoft YaHei"/>
                <a:ea typeface="Microsoft YaHei"/>
                <a:cs typeface="Microsoft YaHei"/>
                <a:sym typeface="Microsoft YaHe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Microsoft YaHei"/>
                <a:ea typeface="Microsoft YaHei"/>
                <a:cs typeface="Microsoft YaHei"/>
                <a:sym typeface="Microsoft YaHe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26"/>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 Id="rId4" Type="http://schemas.openxmlformats.org/officeDocument/2006/relationships/image" Target="../media/image9.jpg"/><Relationship Id="rId5" Type="http://schemas.openxmlformats.org/officeDocument/2006/relationships/image" Target="../media/image16.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1.png"/><Relationship Id="rId4" Type="http://schemas.openxmlformats.org/officeDocument/2006/relationships/image" Target="../media/image1.jpg"/><Relationship Id="rId9" Type="http://schemas.openxmlformats.org/officeDocument/2006/relationships/image" Target="../media/image13.png"/><Relationship Id="rId5" Type="http://schemas.openxmlformats.org/officeDocument/2006/relationships/image" Target="../media/image7.jpg"/><Relationship Id="rId6" Type="http://schemas.openxmlformats.org/officeDocument/2006/relationships/image" Target="../media/image2.jpg"/><Relationship Id="rId7" Type="http://schemas.openxmlformats.org/officeDocument/2006/relationships/image" Target="../media/image12.jp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6.png"/><Relationship Id="rId5"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21.png"/><Relationship Id="rId5"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1.png"/><Relationship Id="rId4" Type="http://schemas.openxmlformats.org/officeDocument/2006/relationships/image" Target="../media/image25.png"/><Relationship Id="rId5" Type="http://schemas.openxmlformats.org/officeDocument/2006/relationships/image" Target="../media/image19.png"/><Relationship Id="rId6"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21.png"/><Relationship Id="rId5"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21.png"/><Relationship Id="rId5" Type="http://schemas.openxmlformats.org/officeDocument/2006/relationships/image" Target="../media/image3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jp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16.png"/><Relationship Id="rId5"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image" Target="../media/image36.png"/><Relationship Id="rId5"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9.png"/><Relationship Id="rId4" Type="http://schemas.openxmlformats.org/officeDocument/2006/relationships/image" Target="../media/image34.png"/><Relationship Id="rId5"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jp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27.png"/><Relationship Id="rId6"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2.png"/><Relationship Id="rId4" Type="http://schemas.openxmlformats.org/officeDocument/2006/relationships/image" Target="../media/image26.png"/><Relationship Id="rId5" Type="http://schemas.openxmlformats.org/officeDocument/2006/relationships/image" Target="../media/image21.png"/><Relationship Id="rId6"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40.jpg"/><Relationship Id="rId6"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30.png"/><Relationship Id="rId6"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45.png"/><Relationship Id="rId6"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jp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jp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1.png"/><Relationship Id="rId4" Type="http://schemas.openxmlformats.org/officeDocument/2006/relationships/image" Target="../media/image46.png"/><Relationship Id="rId5" Type="http://schemas.openxmlformats.org/officeDocument/2006/relationships/image" Target="../media/image35.png"/><Relationship Id="rId6" Type="http://schemas.openxmlformats.org/officeDocument/2006/relationships/image" Target="../media/image47.png"/><Relationship Id="rId7" Type="http://schemas.openxmlformats.org/officeDocument/2006/relationships/image" Target="../media/image44.png"/><Relationship Id="rId8" Type="http://schemas.openxmlformats.org/officeDocument/2006/relationships/image" Target="../media/image3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jp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 name="Shape 32"/>
        <p:cNvGrpSpPr/>
        <p:nvPr/>
      </p:nvGrpSpPr>
      <p:grpSpPr>
        <a:xfrm>
          <a:off x="0" y="0"/>
          <a:ext cx="0" cy="0"/>
          <a:chOff x="0" y="0"/>
          <a:chExt cx="0" cy="0"/>
        </a:xfrm>
      </p:grpSpPr>
      <p:pic>
        <p:nvPicPr>
          <p:cNvPr id="33" name="Google Shape;33;p1"/>
          <p:cNvPicPr preferRelativeResize="0"/>
          <p:nvPr/>
        </p:nvPicPr>
        <p:blipFill rotWithShape="1">
          <a:blip r:embed="rId4">
            <a:alphaModFix/>
          </a:blip>
          <a:srcRect b="-2151" l="0" r="0" t="0"/>
          <a:stretch/>
        </p:blipFill>
        <p:spPr>
          <a:xfrm flipH="1">
            <a:off x="-1" y="-1"/>
            <a:ext cx="9144001" cy="5254171"/>
          </a:xfrm>
          <a:prstGeom prst="rect">
            <a:avLst/>
          </a:prstGeom>
          <a:noFill/>
          <a:ln>
            <a:noFill/>
          </a:ln>
        </p:spPr>
      </p:pic>
      <p:sp>
        <p:nvSpPr>
          <p:cNvPr id="34" name="Google Shape;34;p1"/>
          <p:cNvSpPr/>
          <p:nvPr/>
        </p:nvSpPr>
        <p:spPr>
          <a:xfrm>
            <a:off x="3012771" y="2283718"/>
            <a:ext cx="4672593" cy="341630"/>
          </a:xfrm>
          <a:prstGeom prst="rect">
            <a:avLst/>
          </a:prstGeom>
          <a:noFill/>
          <a:ln>
            <a:noFill/>
          </a:ln>
        </p:spPr>
        <p:txBody>
          <a:bodyPr anchorCtr="0" anchor="t" bIns="32500" lIns="65000" spcFirstLastPara="1" rIns="65000" wrap="square" tIns="32500">
            <a:spAutoFit/>
          </a:bodyPr>
          <a:lstStyle/>
          <a:p>
            <a:pPr indent="0" lvl="0" marL="0" marR="0" rtl="0" algn="r">
              <a:lnSpc>
                <a:spcPct val="100000"/>
              </a:lnSpc>
              <a:spcBef>
                <a:spcPts val="0"/>
              </a:spcBef>
              <a:spcAft>
                <a:spcPts val="0"/>
              </a:spcAft>
              <a:buClr>
                <a:schemeClr val="lt1"/>
              </a:buClr>
              <a:buSzPts val="1800"/>
              <a:buFont typeface="Arial"/>
              <a:buNone/>
            </a:pPr>
            <a:r>
              <a:rPr b="0" i="0" lang="en-US" sz="1800" u="none" cap="none" strike="noStrike">
                <a:solidFill>
                  <a:schemeClr val="lt1"/>
                </a:solidFill>
                <a:latin typeface="Arial"/>
                <a:ea typeface="Arial"/>
                <a:cs typeface="Arial"/>
                <a:sym typeface="Arial"/>
              </a:rPr>
              <a:t>|</a:t>
            </a:r>
            <a:endParaRPr b="0" i="0" sz="1800" u="none" cap="none" strike="noStrike">
              <a:solidFill>
                <a:schemeClr val="lt1"/>
              </a:solidFill>
              <a:latin typeface="Arial"/>
              <a:ea typeface="Arial"/>
              <a:cs typeface="Arial"/>
              <a:sym typeface="Arial"/>
            </a:endParaRPr>
          </a:p>
        </p:txBody>
      </p:sp>
      <p:sp>
        <p:nvSpPr>
          <p:cNvPr id="35" name="Google Shape;35;p1"/>
          <p:cNvSpPr/>
          <p:nvPr/>
        </p:nvSpPr>
        <p:spPr>
          <a:xfrm>
            <a:off x="2120265" y="924560"/>
            <a:ext cx="6484620" cy="2439670"/>
          </a:xfrm>
          <a:prstGeom prst="rect">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 name="Google Shape;36;p1"/>
          <p:cNvSpPr/>
          <p:nvPr/>
        </p:nvSpPr>
        <p:spPr>
          <a:xfrm>
            <a:off x="8441694" y="3621795"/>
            <a:ext cx="515915" cy="515915"/>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7" name="Google Shape;37;p1"/>
          <p:cNvSpPr/>
          <p:nvPr/>
        </p:nvSpPr>
        <p:spPr>
          <a:xfrm>
            <a:off x="7956309" y="4136658"/>
            <a:ext cx="297518" cy="297518"/>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descr="7b0a2020202022776f7264617274223a2022220a7d0a" id="38" name="Google Shape;38;p1"/>
          <p:cNvSpPr txBox="1"/>
          <p:nvPr/>
        </p:nvSpPr>
        <p:spPr>
          <a:xfrm>
            <a:off x="2555875" y="1564005"/>
            <a:ext cx="6205220" cy="1358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0FEFE"/>
                </a:solidFill>
              </a:rPr>
              <a:t>DATA   SCIENCE  FOR </a:t>
            </a:r>
            <a:endParaRPr b="1" i="0" sz="1400" u="none" cap="none" strike="noStrike">
              <a:solidFill>
                <a:srgbClr val="000000"/>
              </a:solidFil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0FEFE"/>
                </a:solidFill>
              </a:rPr>
              <a:t>                     </a:t>
            </a:r>
            <a:endParaRPr b="1" i="0" sz="1400" u="none" cap="none" strike="noStrike">
              <a:solidFill>
                <a:srgbClr val="000000"/>
              </a:solidFil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0FEFE"/>
                </a:solidFill>
              </a:rPr>
              <a:t>        </a:t>
            </a:r>
            <a:r>
              <a:rPr b="1" i="0" lang="en-US" sz="2400" u="none" cap="none" strike="noStrike">
                <a:solidFill>
                  <a:srgbClr val="F0FEFE"/>
                </a:solidFill>
              </a:rPr>
              <a:t>CRYPTO  MARKET   VOLATILITY</a:t>
            </a:r>
            <a:endParaRPr b="1" i="0" sz="2000" u="none" cap="none" strike="noStrike">
              <a:solidFill>
                <a:srgbClr val="F0FEFE"/>
              </a:solidFil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0FEFE"/>
              </a:solidFill>
            </a:endParaRPr>
          </a:p>
        </p:txBody>
      </p:sp>
      <p:sp>
        <p:nvSpPr>
          <p:cNvPr id="39" name="Google Shape;39;p1"/>
          <p:cNvSpPr/>
          <p:nvPr/>
        </p:nvSpPr>
        <p:spPr>
          <a:xfrm>
            <a:off x="4293235" y="3776980"/>
            <a:ext cx="2233930" cy="404495"/>
          </a:xfrm>
          <a:prstGeom prst="rect">
            <a:avLst/>
          </a:prstGeom>
          <a:no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 name="Google Shape;40;p1"/>
          <p:cNvSpPr txBox="1"/>
          <p:nvPr/>
        </p:nvSpPr>
        <p:spPr>
          <a:xfrm>
            <a:off x="4119245" y="3794760"/>
            <a:ext cx="2582400" cy="387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Team: CryptoKoi</a:t>
            </a:r>
            <a:endParaRPr b="0" i="0" sz="1800" u="none" cap="none" strike="noStrike">
              <a:solidFill>
                <a:schemeClr val="lt1"/>
              </a:solidFill>
              <a:latin typeface="Arial"/>
              <a:ea typeface="Arial"/>
              <a:cs typeface="Arial"/>
              <a:sym typeface="Arial"/>
            </a:endParaRPr>
          </a:p>
        </p:txBody>
      </p:sp>
      <p:pic>
        <p:nvPicPr>
          <p:cNvPr id="41" name="Google Shape;41;p1"/>
          <p:cNvPicPr preferRelativeResize="0"/>
          <p:nvPr/>
        </p:nvPicPr>
        <p:blipFill rotWithShape="1">
          <a:blip r:embed="rId5">
            <a:alphaModFix/>
          </a:blip>
          <a:srcRect b="7792" l="8914" r="11579" t="13071"/>
          <a:stretch/>
        </p:blipFill>
        <p:spPr>
          <a:xfrm rot="900000">
            <a:off x="880745" y="178435"/>
            <a:ext cx="1063625" cy="1121410"/>
          </a:xfrm>
          <a:prstGeom prst="ellipse">
            <a:avLst/>
          </a:prstGeom>
          <a:noFill/>
          <a:ln>
            <a:noFill/>
          </a:ln>
        </p:spPr>
      </p:pic>
      <p:pic>
        <p:nvPicPr>
          <p:cNvPr id="42" name="Google Shape;42;p1"/>
          <p:cNvPicPr preferRelativeResize="0"/>
          <p:nvPr/>
        </p:nvPicPr>
        <p:blipFill rotWithShape="1">
          <a:blip r:embed="rId6">
            <a:alphaModFix/>
          </a:blip>
          <a:srcRect b="10653" l="8203" r="5576" t="12979"/>
          <a:stretch/>
        </p:blipFill>
        <p:spPr>
          <a:xfrm rot="-1260000">
            <a:off x="1713865" y="3598545"/>
            <a:ext cx="1177290" cy="1177290"/>
          </a:xfrm>
          <a:prstGeom prst="ellipse">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2"/>
          <p:cNvSpPr/>
          <p:nvPr/>
        </p:nvSpPr>
        <p:spPr>
          <a:xfrm>
            <a:off x="0" y="2355850"/>
            <a:ext cx="9144000" cy="278765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48" name="Google Shape;48;p2"/>
          <p:cNvPicPr preferRelativeResize="0"/>
          <p:nvPr/>
        </p:nvPicPr>
        <p:blipFill rotWithShape="1">
          <a:blip r:embed="rId3">
            <a:alphaModFix amt="60000"/>
          </a:blip>
          <a:srcRect b="11584" l="0" r="10897" t="13569"/>
          <a:stretch/>
        </p:blipFill>
        <p:spPr>
          <a:xfrm>
            <a:off x="8340938" y="4516119"/>
            <a:ext cx="803513" cy="610688"/>
          </a:xfrm>
          <a:prstGeom prst="rect">
            <a:avLst/>
          </a:prstGeom>
          <a:noFill/>
          <a:ln>
            <a:noFill/>
          </a:ln>
        </p:spPr>
      </p:pic>
      <p:sp>
        <p:nvSpPr>
          <p:cNvPr id="49" name="Google Shape;49;p2"/>
          <p:cNvSpPr txBox="1"/>
          <p:nvPr/>
        </p:nvSpPr>
        <p:spPr>
          <a:xfrm>
            <a:off x="438375" y="3432881"/>
            <a:ext cx="1133700" cy="507900"/>
          </a:xfrm>
          <a:prstGeom prst="rect">
            <a:avLst/>
          </a:prstGeom>
          <a:noFill/>
          <a:ln>
            <a:noFill/>
          </a:ln>
        </p:spPr>
        <p:txBody>
          <a:bodyPr anchorCtr="0" anchor="t" bIns="68550" lIns="68550" spcFirstLastPara="1" rIns="68550" wrap="square" tIns="68550">
            <a:sp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rPr>
              <a:t>Jiayi Yao</a:t>
            </a:r>
            <a:endParaRPr b="1" i="0" sz="1200" u="none" cap="none" strike="noStrike">
              <a:solidFill>
                <a:schemeClr val="dk1"/>
              </a:solidFill>
            </a:endParaRPr>
          </a:p>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rPr>
              <a:t>Risk Analyst</a:t>
            </a:r>
            <a:endParaRPr b="1" i="0" sz="1200" u="none" cap="none" strike="noStrike">
              <a:solidFill>
                <a:schemeClr val="dk1"/>
              </a:solidFill>
            </a:endParaRPr>
          </a:p>
        </p:txBody>
      </p:sp>
      <p:pic>
        <p:nvPicPr>
          <p:cNvPr id="50" name="Google Shape;50;p2" title="IMG_7871.JPG"/>
          <p:cNvPicPr preferRelativeResize="0"/>
          <p:nvPr/>
        </p:nvPicPr>
        <p:blipFill rotWithShape="1">
          <a:blip r:embed="rId4">
            <a:alphaModFix/>
          </a:blip>
          <a:srcRect b="15120" l="14911" r="18727" t="34654"/>
          <a:stretch/>
        </p:blipFill>
        <p:spPr>
          <a:xfrm>
            <a:off x="165113" y="1543631"/>
            <a:ext cx="1680075" cy="1842975"/>
          </a:xfrm>
          <a:prstGeom prst="ellipse">
            <a:avLst/>
          </a:prstGeom>
          <a:noFill/>
          <a:ln>
            <a:noFill/>
          </a:ln>
        </p:spPr>
      </p:pic>
      <p:pic>
        <p:nvPicPr>
          <p:cNvPr id="51" name="Google Shape;51;p2"/>
          <p:cNvPicPr preferRelativeResize="0"/>
          <p:nvPr/>
        </p:nvPicPr>
        <p:blipFill rotWithShape="1">
          <a:blip r:embed="rId5">
            <a:alphaModFix/>
          </a:blip>
          <a:srcRect b="9351" l="0" r="0" t="42412"/>
          <a:stretch/>
        </p:blipFill>
        <p:spPr>
          <a:xfrm>
            <a:off x="1845188" y="2567981"/>
            <a:ext cx="1680075" cy="1761750"/>
          </a:xfrm>
          <a:prstGeom prst="ellipse">
            <a:avLst/>
          </a:prstGeom>
          <a:noFill/>
          <a:ln>
            <a:noFill/>
          </a:ln>
        </p:spPr>
      </p:pic>
      <p:sp>
        <p:nvSpPr>
          <p:cNvPr id="52" name="Google Shape;52;p2"/>
          <p:cNvSpPr txBox="1"/>
          <p:nvPr/>
        </p:nvSpPr>
        <p:spPr>
          <a:xfrm>
            <a:off x="2012381" y="4408706"/>
            <a:ext cx="1246200" cy="507900"/>
          </a:xfrm>
          <a:prstGeom prst="rect">
            <a:avLst/>
          </a:prstGeom>
          <a:noFill/>
          <a:ln>
            <a:noFill/>
          </a:ln>
        </p:spPr>
        <p:txBody>
          <a:bodyPr anchorCtr="0" anchor="t" bIns="68550" lIns="68550" spcFirstLastPara="1" rIns="68550" wrap="square" tIns="68550">
            <a:sp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rPr>
              <a:t>Qi Hu </a:t>
            </a:r>
            <a:endParaRPr b="1" i="0" sz="1200" u="none" cap="none" strike="noStrike">
              <a:solidFill>
                <a:schemeClr val="dk1"/>
              </a:solidFill>
            </a:endParaRPr>
          </a:p>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rPr>
              <a:t>Data Analyst</a:t>
            </a:r>
            <a:endParaRPr b="1" i="0" sz="1200" u="none" cap="none" strike="noStrike">
              <a:solidFill>
                <a:schemeClr val="dk1"/>
              </a:solidFill>
            </a:endParaRPr>
          </a:p>
        </p:txBody>
      </p:sp>
      <p:sp>
        <p:nvSpPr>
          <p:cNvPr id="53" name="Google Shape;53;p2"/>
          <p:cNvSpPr txBox="1"/>
          <p:nvPr/>
        </p:nvSpPr>
        <p:spPr>
          <a:xfrm>
            <a:off x="5499188" y="4408706"/>
            <a:ext cx="1246200" cy="507900"/>
          </a:xfrm>
          <a:prstGeom prst="rect">
            <a:avLst/>
          </a:prstGeom>
          <a:noFill/>
          <a:ln>
            <a:noFill/>
          </a:ln>
        </p:spPr>
        <p:txBody>
          <a:bodyPr anchorCtr="0" anchor="t" bIns="68550" lIns="68550" spcFirstLastPara="1" rIns="68550" wrap="square" tIns="68550">
            <a:sp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rPr>
              <a:t>Yue Shen</a:t>
            </a:r>
            <a:endParaRPr b="1" i="0" sz="1200" u="none" cap="none" strike="noStrike">
              <a:solidFill>
                <a:schemeClr val="dk1"/>
              </a:solidFill>
            </a:endParaRPr>
          </a:p>
          <a:p>
            <a:pPr indent="0" lvl="0" marL="0" marR="0" rtl="0" algn="ctr">
              <a:lnSpc>
                <a:spcPct val="100000"/>
              </a:lnSpc>
              <a:spcBef>
                <a:spcPts val="0"/>
              </a:spcBef>
              <a:spcAft>
                <a:spcPts val="0"/>
              </a:spcAft>
              <a:buClr>
                <a:schemeClr val="dk1"/>
              </a:buClr>
              <a:buSzPts val="1200"/>
              <a:buFont typeface="Arial"/>
              <a:buNone/>
            </a:pPr>
            <a:r>
              <a:rPr b="1" lang="en-US" sz="1200">
                <a:solidFill>
                  <a:schemeClr val="dk1"/>
                </a:solidFill>
              </a:rPr>
              <a:t>Data</a:t>
            </a:r>
            <a:r>
              <a:rPr b="1" i="0" lang="en-US" sz="1200" u="none" cap="none" strike="noStrike">
                <a:solidFill>
                  <a:schemeClr val="dk1"/>
                </a:solidFill>
              </a:rPr>
              <a:t> Engineer</a:t>
            </a:r>
            <a:endParaRPr b="1" i="0" sz="1200" u="none" cap="none" strike="noStrike">
              <a:solidFill>
                <a:schemeClr val="dk1"/>
              </a:solidFill>
            </a:endParaRPr>
          </a:p>
        </p:txBody>
      </p:sp>
      <p:pic>
        <p:nvPicPr>
          <p:cNvPr id="54" name="Google Shape;54;p2"/>
          <p:cNvPicPr preferRelativeResize="0"/>
          <p:nvPr/>
        </p:nvPicPr>
        <p:blipFill rotWithShape="1">
          <a:blip r:embed="rId6">
            <a:alphaModFix/>
          </a:blip>
          <a:srcRect b="0" l="0" r="0" t="0"/>
          <a:stretch/>
        </p:blipFill>
        <p:spPr>
          <a:xfrm>
            <a:off x="5282175" y="2614894"/>
            <a:ext cx="1680075" cy="1667925"/>
          </a:xfrm>
          <a:prstGeom prst="ellipse">
            <a:avLst/>
          </a:prstGeom>
          <a:noFill/>
          <a:ln>
            <a:noFill/>
          </a:ln>
        </p:spPr>
      </p:pic>
      <p:pic>
        <p:nvPicPr>
          <p:cNvPr id="55" name="Google Shape;55;p2" title="DXTF2845 3.jpg"/>
          <p:cNvPicPr preferRelativeResize="0"/>
          <p:nvPr/>
        </p:nvPicPr>
        <p:blipFill rotWithShape="1">
          <a:blip r:embed="rId7">
            <a:alphaModFix/>
          </a:blip>
          <a:srcRect b="0" l="0" r="0" t="0"/>
          <a:stretch/>
        </p:blipFill>
        <p:spPr>
          <a:xfrm>
            <a:off x="3616832" y="1420688"/>
            <a:ext cx="1493550" cy="1493550"/>
          </a:xfrm>
          <a:prstGeom prst="ellipse">
            <a:avLst/>
          </a:prstGeom>
          <a:noFill/>
          <a:ln>
            <a:noFill/>
          </a:ln>
        </p:spPr>
      </p:pic>
      <p:sp>
        <p:nvSpPr>
          <p:cNvPr id="56" name="Google Shape;56;p2"/>
          <p:cNvSpPr txBox="1"/>
          <p:nvPr/>
        </p:nvSpPr>
        <p:spPr>
          <a:xfrm>
            <a:off x="3704044" y="3042488"/>
            <a:ext cx="1246200" cy="507900"/>
          </a:xfrm>
          <a:prstGeom prst="rect">
            <a:avLst/>
          </a:prstGeom>
          <a:noFill/>
          <a:ln>
            <a:noFill/>
          </a:ln>
        </p:spPr>
        <p:txBody>
          <a:bodyPr anchorCtr="0" anchor="t" bIns="68550" lIns="68550" spcFirstLastPara="1" rIns="68550" wrap="square" tIns="68550">
            <a:sp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rPr>
              <a:t>Connor Yeh </a:t>
            </a:r>
            <a:endParaRPr b="1" i="0" sz="1200" u="none" cap="none" strike="noStrike">
              <a:solidFill>
                <a:schemeClr val="dk1"/>
              </a:solidFill>
            </a:endParaRPr>
          </a:p>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rPr>
              <a:t>Data Engineer</a:t>
            </a:r>
            <a:endParaRPr b="1" i="0" sz="1200" u="none" cap="none" strike="noStrike">
              <a:solidFill>
                <a:schemeClr val="dk1"/>
              </a:solidFill>
            </a:endParaRPr>
          </a:p>
        </p:txBody>
      </p:sp>
      <p:pic>
        <p:nvPicPr>
          <p:cNvPr id="57" name="Google Shape;57;p2"/>
          <p:cNvPicPr preferRelativeResize="0"/>
          <p:nvPr/>
        </p:nvPicPr>
        <p:blipFill rotWithShape="1">
          <a:blip r:embed="rId8">
            <a:alphaModFix/>
          </a:blip>
          <a:srcRect b="0" l="0" r="0" t="0"/>
          <a:stretch/>
        </p:blipFill>
        <p:spPr>
          <a:xfrm>
            <a:off x="7294350" y="1478700"/>
            <a:ext cx="1598625" cy="1548900"/>
          </a:xfrm>
          <a:prstGeom prst="ellipse">
            <a:avLst/>
          </a:prstGeom>
          <a:noFill/>
          <a:ln>
            <a:noFill/>
          </a:ln>
        </p:spPr>
      </p:pic>
      <p:sp>
        <p:nvSpPr>
          <p:cNvPr id="58" name="Google Shape;58;p2"/>
          <p:cNvSpPr txBox="1"/>
          <p:nvPr/>
        </p:nvSpPr>
        <p:spPr>
          <a:xfrm>
            <a:off x="7142231" y="3171769"/>
            <a:ext cx="2080500" cy="507900"/>
          </a:xfrm>
          <a:prstGeom prst="rect">
            <a:avLst/>
          </a:prstGeom>
          <a:noFill/>
          <a:ln>
            <a:noFill/>
          </a:ln>
        </p:spPr>
        <p:txBody>
          <a:bodyPr anchorCtr="0" anchor="t" bIns="68550" lIns="68550" spcFirstLastPara="1" rIns="68550" wrap="square" tIns="68550">
            <a:sp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rPr>
              <a:t>Kacey Zhu</a:t>
            </a:r>
            <a:endParaRPr b="1" i="0" sz="1200" u="none" cap="none" strike="noStrike">
              <a:solidFill>
                <a:schemeClr val="dk1"/>
              </a:solidFill>
            </a:endParaRPr>
          </a:p>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rPr>
              <a:t>Project Manager</a:t>
            </a:r>
            <a:endParaRPr b="1" i="0" sz="1200" u="none" cap="none" strike="noStrike">
              <a:solidFill>
                <a:schemeClr val="dk1"/>
              </a:solidFill>
            </a:endParaRPr>
          </a:p>
        </p:txBody>
      </p:sp>
      <p:sp>
        <p:nvSpPr>
          <p:cNvPr id="59" name="Google Shape;59;p2"/>
          <p:cNvSpPr txBox="1"/>
          <p:nvPr/>
        </p:nvSpPr>
        <p:spPr>
          <a:xfrm>
            <a:off x="3258575" y="483227"/>
            <a:ext cx="3217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rPr>
              <a:t>Team: CryptoKoi</a:t>
            </a:r>
            <a:endParaRPr b="1" i="0" sz="2400" u="none" cap="none" strike="noStrike">
              <a:solidFill>
                <a:schemeClr val="dk1"/>
              </a:solidFill>
            </a:endParaRPr>
          </a:p>
        </p:txBody>
      </p:sp>
      <p:pic>
        <p:nvPicPr>
          <p:cNvPr descr="ChatGPT Image Dec 5, 2025, 05_36_01 PM" id="60" name="Google Shape;60;p2"/>
          <p:cNvPicPr preferRelativeResize="0"/>
          <p:nvPr/>
        </p:nvPicPr>
        <p:blipFill rotWithShape="1">
          <a:blip r:embed="rId9">
            <a:alphaModFix/>
          </a:blip>
          <a:srcRect b="0" l="0" r="0" t="0"/>
          <a:stretch/>
        </p:blipFill>
        <p:spPr>
          <a:xfrm rot="420000">
            <a:off x="1678940" y="470535"/>
            <a:ext cx="1036320" cy="103632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3"/>
          <p:cNvPicPr preferRelativeResize="0"/>
          <p:nvPr/>
        </p:nvPicPr>
        <p:blipFill rotWithShape="1">
          <a:blip r:embed="rId3">
            <a:alphaModFix/>
          </a:blip>
          <a:srcRect b="0" l="0" r="0" t="0"/>
          <a:stretch/>
        </p:blipFill>
        <p:spPr>
          <a:xfrm>
            <a:off x="-1" y="0"/>
            <a:ext cx="9143999" cy="5143501"/>
          </a:xfrm>
          <a:prstGeom prst="rect">
            <a:avLst/>
          </a:prstGeom>
          <a:noFill/>
          <a:ln>
            <a:noFill/>
          </a:ln>
        </p:spPr>
      </p:pic>
      <p:sp>
        <p:nvSpPr>
          <p:cNvPr id="67" name="Google Shape;67;p3"/>
          <p:cNvSpPr/>
          <p:nvPr/>
        </p:nvSpPr>
        <p:spPr>
          <a:xfrm>
            <a:off x="451265" y="512668"/>
            <a:ext cx="2700000" cy="27000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lang="en-US" sz="2400">
                <a:solidFill>
                  <a:srgbClr val="F0FEFE"/>
                </a:solidFill>
              </a:rPr>
              <a:t>Agenda</a:t>
            </a:r>
            <a:endParaRPr b="0" i="0" sz="1800" u="none" cap="none" strike="noStrike">
              <a:solidFill>
                <a:schemeClr val="lt1"/>
              </a:solidFill>
              <a:latin typeface="Arial"/>
              <a:ea typeface="Arial"/>
              <a:cs typeface="Arial"/>
              <a:sym typeface="Arial"/>
            </a:endParaRPr>
          </a:p>
        </p:txBody>
      </p:sp>
      <p:sp>
        <p:nvSpPr>
          <p:cNvPr id="68" name="Google Shape;68;p3"/>
          <p:cNvSpPr txBox="1"/>
          <p:nvPr/>
        </p:nvSpPr>
        <p:spPr>
          <a:xfrm>
            <a:off x="5508104" y="854947"/>
            <a:ext cx="2179842" cy="182148"/>
          </a:xfrm>
          <a:prstGeom prst="rect">
            <a:avLst/>
          </a:prstGeom>
          <a:noFill/>
          <a:ln>
            <a:noFill/>
          </a:ln>
        </p:spPr>
        <p:txBody>
          <a:bodyPr anchorCtr="0" anchor="b" bIns="0" lIns="360000" spcFirstLastPara="1" rIns="0" wrap="square" tIns="0">
            <a:normAutofit fontScale="925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0" i="0" sz="1600" u="none" cap="none" strike="noStrike">
              <a:solidFill>
                <a:schemeClr val="lt1"/>
              </a:solidFill>
              <a:latin typeface="Arial"/>
              <a:ea typeface="Arial"/>
              <a:cs typeface="Arial"/>
              <a:sym typeface="Arial"/>
            </a:endParaRPr>
          </a:p>
        </p:txBody>
      </p:sp>
      <p:sp>
        <p:nvSpPr>
          <p:cNvPr id="69" name="Google Shape;69;p3"/>
          <p:cNvSpPr/>
          <p:nvPr/>
        </p:nvSpPr>
        <p:spPr>
          <a:xfrm>
            <a:off x="637506" y="2859782"/>
            <a:ext cx="1031830" cy="103183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0" name="Google Shape;70;p3"/>
          <p:cNvPicPr preferRelativeResize="0"/>
          <p:nvPr/>
        </p:nvPicPr>
        <p:blipFill rotWithShape="1">
          <a:blip r:embed="rId4">
            <a:alphaModFix amt="60000"/>
          </a:blip>
          <a:srcRect b="11584" l="0" r="10897" t="13569"/>
          <a:stretch/>
        </p:blipFill>
        <p:spPr>
          <a:xfrm>
            <a:off x="8340487" y="4543545"/>
            <a:ext cx="803513" cy="610688"/>
          </a:xfrm>
          <a:prstGeom prst="rect">
            <a:avLst/>
          </a:prstGeom>
          <a:noFill/>
          <a:ln>
            <a:noFill/>
          </a:ln>
        </p:spPr>
      </p:pic>
      <p:sp>
        <p:nvSpPr>
          <p:cNvPr id="71" name="Google Shape;71;p3"/>
          <p:cNvSpPr txBox="1"/>
          <p:nvPr/>
        </p:nvSpPr>
        <p:spPr>
          <a:xfrm>
            <a:off x="3724175" y="724850"/>
            <a:ext cx="5747700" cy="4147800"/>
          </a:xfrm>
          <a:prstGeom prst="rect">
            <a:avLst/>
          </a:prstGeom>
          <a:noFill/>
          <a:ln>
            <a:noFill/>
          </a:ln>
        </p:spPr>
        <p:txBody>
          <a:bodyPr anchorCtr="0" anchor="t" bIns="91425" lIns="91425" spcFirstLastPara="1" rIns="91425" wrap="square" tIns="91425">
            <a:noAutofit/>
          </a:bodyPr>
          <a:lstStyle/>
          <a:p>
            <a:pPr indent="-352425" lvl="0" marL="457200" rtl="0" algn="l">
              <a:lnSpc>
                <a:spcPct val="115000"/>
              </a:lnSpc>
              <a:spcBef>
                <a:spcPts val="0"/>
              </a:spcBef>
              <a:spcAft>
                <a:spcPts val="0"/>
              </a:spcAft>
              <a:buClr>
                <a:schemeClr val="lt1"/>
              </a:buClr>
              <a:buSzPts val="1950"/>
              <a:buAutoNum type="arabicPeriod"/>
            </a:pPr>
            <a:r>
              <a:rPr lang="en-US" sz="2300">
                <a:solidFill>
                  <a:srgbClr val="F0FEFE"/>
                </a:solidFill>
              </a:rPr>
              <a:t>Executive s</a:t>
            </a:r>
            <a:r>
              <a:rPr lang="en-US" sz="2300">
                <a:solidFill>
                  <a:srgbClr val="F0FEFE"/>
                </a:solidFill>
              </a:rPr>
              <a:t>ummary</a:t>
            </a:r>
            <a:endParaRPr sz="2300">
              <a:solidFill>
                <a:srgbClr val="F0FEFE"/>
              </a:solidFill>
            </a:endParaRPr>
          </a:p>
          <a:p>
            <a:pPr indent="-352425" lvl="0" marL="457200" rtl="0" algn="l">
              <a:lnSpc>
                <a:spcPct val="115000"/>
              </a:lnSpc>
              <a:spcBef>
                <a:spcPts val="0"/>
              </a:spcBef>
              <a:spcAft>
                <a:spcPts val="0"/>
              </a:spcAft>
              <a:buClr>
                <a:schemeClr val="lt1"/>
              </a:buClr>
              <a:buSzPts val="1950"/>
              <a:buAutoNum type="arabicPeriod"/>
            </a:pPr>
            <a:r>
              <a:rPr lang="en-US" sz="2300">
                <a:solidFill>
                  <a:srgbClr val="F0FEFE"/>
                </a:solidFill>
              </a:rPr>
              <a:t>Research objectives</a:t>
            </a:r>
            <a:endParaRPr sz="2300">
              <a:solidFill>
                <a:srgbClr val="F0FEFE"/>
              </a:solidFill>
            </a:endParaRPr>
          </a:p>
          <a:p>
            <a:pPr indent="-352425" lvl="0" marL="457200" rtl="0" algn="l">
              <a:lnSpc>
                <a:spcPct val="115000"/>
              </a:lnSpc>
              <a:spcBef>
                <a:spcPts val="0"/>
              </a:spcBef>
              <a:spcAft>
                <a:spcPts val="0"/>
              </a:spcAft>
              <a:buClr>
                <a:schemeClr val="lt1"/>
              </a:buClr>
              <a:buSzPts val="1950"/>
              <a:buAutoNum type="arabicPeriod"/>
            </a:pPr>
            <a:r>
              <a:rPr lang="en-US" sz="2300">
                <a:solidFill>
                  <a:srgbClr val="F0FEFE"/>
                </a:solidFill>
              </a:rPr>
              <a:t>Data Profile</a:t>
            </a:r>
            <a:endParaRPr sz="2300">
              <a:solidFill>
                <a:srgbClr val="F0FEFE"/>
              </a:solidFill>
            </a:endParaRPr>
          </a:p>
          <a:p>
            <a:pPr indent="-352425" lvl="0" marL="457200" rtl="0" algn="l">
              <a:lnSpc>
                <a:spcPct val="115000"/>
              </a:lnSpc>
              <a:spcBef>
                <a:spcPts val="0"/>
              </a:spcBef>
              <a:spcAft>
                <a:spcPts val="0"/>
              </a:spcAft>
              <a:buClr>
                <a:schemeClr val="lt1"/>
              </a:buClr>
              <a:buSzPts val="1950"/>
              <a:buAutoNum type="arabicPeriod"/>
            </a:pPr>
            <a:r>
              <a:rPr lang="en-US" sz="2300">
                <a:solidFill>
                  <a:srgbClr val="F0FEFE"/>
                </a:solidFill>
              </a:rPr>
              <a:t>Methodology  &amp; Tools</a:t>
            </a:r>
            <a:endParaRPr sz="2300">
              <a:solidFill>
                <a:srgbClr val="F0FEFE"/>
              </a:solidFill>
            </a:endParaRPr>
          </a:p>
          <a:p>
            <a:pPr indent="-352425" lvl="0" marL="457200" rtl="0" algn="l">
              <a:lnSpc>
                <a:spcPct val="115000"/>
              </a:lnSpc>
              <a:spcBef>
                <a:spcPts val="0"/>
              </a:spcBef>
              <a:spcAft>
                <a:spcPts val="0"/>
              </a:spcAft>
              <a:buClr>
                <a:schemeClr val="lt1"/>
              </a:buClr>
              <a:buSzPts val="1950"/>
              <a:buAutoNum type="arabicPeriod"/>
            </a:pPr>
            <a:r>
              <a:rPr lang="en-US" sz="2300">
                <a:solidFill>
                  <a:srgbClr val="F0FEFE"/>
                </a:solidFill>
              </a:rPr>
              <a:t>Insights</a:t>
            </a:r>
            <a:endParaRPr sz="2300">
              <a:solidFill>
                <a:srgbClr val="F0FEFE"/>
              </a:solidFill>
            </a:endParaRPr>
          </a:p>
          <a:p>
            <a:pPr indent="-352425" lvl="0" marL="457200" rtl="0" algn="l">
              <a:lnSpc>
                <a:spcPct val="115000"/>
              </a:lnSpc>
              <a:spcBef>
                <a:spcPts val="0"/>
              </a:spcBef>
              <a:spcAft>
                <a:spcPts val="0"/>
              </a:spcAft>
              <a:buClr>
                <a:schemeClr val="lt1"/>
              </a:buClr>
              <a:buSzPts val="1950"/>
              <a:buAutoNum type="arabicPeriod"/>
            </a:pPr>
            <a:r>
              <a:rPr lang="en-US" sz="2300">
                <a:solidFill>
                  <a:srgbClr val="F0FEFE"/>
                </a:solidFill>
              </a:rPr>
              <a:t>Recommendations</a:t>
            </a:r>
            <a:endParaRPr sz="2300">
              <a:solidFill>
                <a:srgbClr val="F0FEFE"/>
              </a:solidFill>
            </a:endParaRPr>
          </a:p>
          <a:p>
            <a:pPr indent="-352425" lvl="0" marL="457200" rtl="0" algn="l">
              <a:lnSpc>
                <a:spcPct val="115000"/>
              </a:lnSpc>
              <a:spcBef>
                <a:spcPts val="0"/>
              </a:spcBef>
              <a:spcAft>
                <a:spcPts val="0"/>
              </a:spcAft>
              <a:buClr>
                <a:schemeClr val="lt1"/>
              </a:buClr>
              <a:buSzPts val="1950"/>
              <a:buAutoNum type="arabicPeriod"/>
            </a:pPr>
            <a:r>
              <a:rPr lang="en-US" sz="2300">
                <a:solidFill>
                  <a:srgbClr val="F0FEFE"/>
                </a:solidFill>
              </a:rPr>
              <a:t>Lessons Learned</a:t>
            </a:r>
            <a:endParaRPr sz="2300">
              <a:solidFill>
                <a:srgbClr val="F0FEFE"/>
              </a:solidFill>
            </a:endParaRPr>
          </a:p>
          <a:p>
            <a:pPr indent="-352425" lvl="0" marL="457200" rtl="0" algn="l">
              <a:lnSpc>
                <a:spcPct val="115000"/>
              </a:lnSpc>
              <a:spcBef>
                <a:spcPts val="0"/>
              </a:spcBef>
              <a:spcAft>
                <a:spcPts val="0"/>
              </a:spcAft>
              <a:buClr>
                <a:schemeClr val="lt1"/>
              </a:buClr>
              <a:buSzPts val="1950"/>
              <a:buAutoNum type="arabicPeriod"/>
            </a:pPr>
            <a:r>
              <a:rPr lang="en-US" sz="2300">
                <a:solidFill>
                  <a:srgbClr val="F0FEFE"/>
                </a:solidFill>
              </a:rPr>
              <a:t>References</a:t>
            </a:r>
            <a:endParaRPr sz="1950">
              <a:solidFill>
                <a:schemeClr val="lt1"/>
              </a:solidFill>
            </a:endParaRPr>
          </a:p>
          <a:p>
            <a:pPr indent="0" lvl="0" marL="0" rtl="0" algn="l">
              <a:lnSpc>
                <a:spcPct val="115000"/>
              </a:lnSpc>
              <a:spcBef>
                <a:spcPts val="0"/>
              </a:spcBef>
              <a:spcAft>
                <a:spcPts val="0"/>
              </a:spcAft>
              <a:buNone/>
            </a:pPr>
            <a:r>
              <a:t/>
            </a:r>
            <a:endParaRPr sz="1050">
              <a:solidFill>
                <a:schemeClr val="lt1"/>
              </a:solidFill>
            </a:endParaRPr>
          </a:p>
          <a:p>
            <a:pPr indent="0" lvl="0" marL="0" rtl="0" algn="l">
              <a:lnSpc>
                <a:spcPct val="115000"/>
              </a:lnSpc>
              <a:spcBef>
                <a:spcPts val="0"/>
              </a:spcBef>
              <a:spcAft>
                <a:spcPts val="0"/>
              </a:spcAft>
              <a:buNone/>
            </a:pPr>
            <a:r>
              <a:t/>
            </a:r>
            <a:endParaRPr sz="1050">
              <a:solidFill>
                <a:schemeClr val="lt1"/>
              </a:solidFill>
            </a:endParaRPr>
          </a:p>
          <a:p>
            <a:pPr indent="0" lvl="0" marL="0" rtl="0" algn="l">
              <a:lnSpc>
                <a:spcPct val="115000"/>
              </a:lnSpc>
              <a:spcBef>
                <a:spcPts val="0"/>
              </a:spcBef>
              <a:spcAft>
                <a:spcPts val="0"/>
              </a:spcAft>
              <a:buNone/>
            </a:pPr>
            <a:r>
              <a:t/>
            </a:r>
            <a:endParaRPr sz="1050">
              <a:solidFill>
                <a:schemeClr val="lt1"/>
              </a:solidFill>
            </a:endParaRPr>
          </a:p>
          <a:p>
            <a:pPr indent="0" lvl="0" marL="0" rtl="0" algn="l">
              <a:lnSpc>
                <a:spcPct val="115000"/>
              </a:lnSpc>
              <a:spcBef>
                <a:spcPts val="0"/>
              </a:spcBef>
              <a:spcAft>
                <a:spcPts val="0"/>
              </a:spcAft>
              <a:buNone/>
            </a:pPr>
            <a:r>
              <a:t/>
            </a:r>
            <a:endParaRPr sz="1050">
              <a:solidFill>
                <a:schemeClr val="lt1"/>
              </a:solidFill>
            </a:endParaRPr>
          </a:p>
          <a:p>
            <a:pPr indent="0" lvl="0" marL="0" rtl="0" algn="l">
              <a:lnSpc>
                <a:spcPct val="115000"/>
              </a:lnSpc>
              <a:spcBef>
                <a:spcPts val="0"/>
              </a:spcBef>
              <a:spcAft>
                <a:spcPts val="0"/>
              </a:spcAft>
              <a:buNone/>
            </a:pPr>
            <a:r>
              <a:t/>
            </a:r>
            <a:endParaRPr sz="1050">
              <a:solidFill>
                <a:schemeClr val="lt1"/>
              </a:solidFill>
            </a:endParaRPr>
          </a:p>
          <a:p>
            <a:pPr indent="0" lvl="0" marL="0" rtl="0" algn="l">
              <a:lnSpc>
                <a:spcPct val="115000"/>
              </a:lnSpc>
              <a:spcBef>
                <a:spcPts val="0"/>
              </a:spcBef>
              <a:spcAft>
                <a:spcPts val="0"/>
              </a:spcAft>
              <a:buNone/>
            </a:pPr>
            <a:r>
              <a:t/>
            </a:r>
            <a:endParaRPr sz="1050">
              <a:solidFill>
                <a:schemeClr val="lt1"/>
              </a:solidFill>
            </a:endParaRPr>
          </a:p>
          <a:p>
            <a:pPr indent="0" lvl="0" marL="0" rtl="0" algn="l">
              <a:lnSpc>
                <a:spcPct val="115000"/>
              </a:lnSpc>
              <a:spcBef>
                <a:spcPts val="0"/>
              </a:spcBef>
              <a:spcAft>
                <a:spcPts val="0"/>
              </a:spcAft>
              <a:buNone/>
            </a:pPr>
            <a:r>
              <a:t/>
            </a:r>
            <a:endParaRPr sz="1050">
              <a:solidFill>
                <a:schemeClr val="lt1"/>
              </a:solidFill>
            </a:endParaRPr>
          </a:p>
          <a:p>
            <a:pPr indent="0" lvl="0" marL="0" rtl="0" algn="l">
              <a:lnSpc>
                <a:spcPct val="115000"/>
              </a:lnSpc>
              <a:spcBef>
                <a:spcPts val="0"/>
              </a:spcBef>
              <a:spcAft>
                <a:spcPts val="0"/>
              </a:spcAft>
              <a:buNone/>
            </a:pPr>
            <a:r>
              <a:t/>
            </a:r>
            <a:endParaRPr sz="1050">
              <a:solidFill>
                <a:schemeClr val="lt1"/>
              </a:solidFill>
            </a:endParaRPr>
          </a:p>
          <a:p>
            <a:pPr indent="0" lvl="0" marL="0" rtl="0" algn="l">
              <a:lnSpc>
                <a:spcPct val="115000"/>
              </a:lnSpc>
              <a:spcBef>
                <a:spcPts val="0"/>
              </a:spcBef>
              <a:spcAft>
                <a:spcPts val="0"/>
              </a:spcAft>
              <a:buNone/>
            </a:pPr>
            <a:r>
              <a:t/>
            </a:r>
            <a:endParaRPr sz="1050">
              <a:solidFill>
                <a:schemeClr val="lt1"/>
              </a:solidFill>
            </a:endParaRPr>
          </a:p>
          <a:p>
            <a:pPr indent="0" lvl="0" marL="0" rtl="0" algn="l">
              <a:lnSpc>
                <a:spcPct val="115000"/>
              </a:lnSpc>
              <a:spcBef>
                <a:spcPts val="0"/>
              </a:spcBef>
              <a:spcAft>
                <a:spcPts val="0"/>
              </a:spcAft>
              <a:buNone/>
            </a:pPr>
            <a:r>
              <a:t/>
            </a:r>
            <a:endParaRPr sz="1050">
              <a:solidFill>
                <a:schemeClr val="lt1"/>
              </a:solidFill>
            </a:endParaRPr>
          </a:p>
          <a:p>
            <a:pPr indent="0" lvl="0" marL="0" rtl="0" algn="l">
              <a:lnSpc>
                <a:spcPct val="115000"/>
              </a:lnSpc>
              <a:spcBef>
                <a:spcPts val="0"/>
              </a:spcBef>
              <a:spcAft>
                <a:spcPts val="0"/>
              </a:spcAft>
              <a:buNone/>
            </a:pPr>
            <a:r>
              <a:t/>
            </a:r>
            <a:endParaRPr sz="1050">
              <a:solidFill>
                <a:schemeClr val="lt1"/>
              </a:solidFill>
            </a:endParaRPr>
          </a:p>
          <a:p>
            <a:pPr indent="0" lvl="0" marL="0" rtl="0" algn="l">
              <a:lnSpc>
                <a:spcPct val="115000"/>
              </a:lnSpc>
              <a:spcBef>
                <a:spcPts val="0"/>
              </a:spcBef>
              <a:spcAft>
                <a:spcPts val="0"/>
              </a:spcAft>
              <a:buNone/>
            </a:pPr>
            <a:r>
              <a:t/>
            </a:r>
            <a:endParaRPr sz="1050">
              <a:solidFill>
                <a:schemeClr val="lt1"/>
              </a:solidFill>
            </a:endParaRPr>
          </a:p>
          <a:p>
            <a:pPr indent="0" lvl="0" marL="0" rtl="0" algn="l">
              <a:lnSpc>
                <a:spcPct val="115000"/>
              </a:lnSpc>
              <a:spcBef>
                <a:spcPts val="0"/>
              </a:spcBef>
              <a:spcAft>
                <a:spcPts val="0"/>
              </a:spcAft>
              <a:buClr>
                <a:schemeClr val="dk1"/>
              </a:buClr>
              <a:buSzPts val="1100"/>
              <a:buFont typeface="Arial"/>
              <a:buNone/>
            </a:pPr>
            <a:r>
              <a:t/>
            </a:r>
            <a:endParaRPr sz="1050">
              <a:solidFill>
                <a:schemeClr val="lt1"/>
              </a:solidFill>
            </a:endParaRPr>
          </a:p>
        </p:txBody>
      </p:sp>
      <p:sp>
        <p:nvSpPr>
          <p:cNvPr id="72" name="Google Shape;72;p3"/>
          <p:cNvSpPr/>
          <p:nvPr/>
        </p:nvSpPr>
        <p:spPr>
          <a:xfrm>
            <a:off x="2764647" y="3463635"/>
            <a:ext cx="433800" cy="4338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3" name="Google Shape;73;p3"/>
          <p:cNvSpPr/>
          <p:nvPr/>
        </p:nvSpPr>
        <p:spPr>
          <a:xfrm>
            <a:off x="1906647" y="4014585"/>
            <a:ext cx="433800" cy="4338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g3af27d324c4_1_0"/>
          <p:cNvSpPr/>
          <p:nvPr/>
        </p:nvSpPr>
        <p:spPr>
          <a:xfrm>
            <a:off x="1115616" y="1779662"/>
            <a:ext cx="6624600" cy="1368300"/>
          </a:xfrm>
          <a:prstGeom prst="rect">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pic>
        <p:nvPicPr>
          <p:cNvPr id="80" name="Google Shape;80;g3af27d324c4_1_0"/>
          <p:cNvPicPr preferRelativeResize="0"/>
          <p:nvPr/>
        </p:nvPicPr>
        <p:blipFill rotWithShape="1">
          <a:blip r:embed="rId3">
            <a:alphaModFix/>
          </a:blip>
          <a:srcRect b="0" l="0" r="0" t="0"/>
          <a:stretch/>
        </p:blipFill>
        <p:spPr>
          <a:xfrm>
            <a:off x="0" y="-1"/>
            <a:ext cx="9143999" cy="5143501"/>
          </a:xfrm>
          <a:prstGeom prst="rect">
            <a:avLst/>
          </a:prstGeom>
          <a:noFill/>
          <a:ln>
            <a:noFill/>
          </a:ln>
        </p:spPr>
      </p:pic>
      <p:sp>
        <p:nvSpPr>
          <p:cNvPr id="81" name="Google Shape;81;g3af27d324c4_1_0"/>
          <p:cNvSpPr/>
          <p:nvPr/>
        </p:nvSpPr>
        <p:spPr>
          <a:xfrm>
            <a:off x="1597531" y="2920769"/>
            <a:ext cx="1031700" cy="10317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82" name="Google Shape;82;g3af27d324c4_1_0"/>
          <p:cNvSpPr/>
          <p:nvPr/>
        </p:nvSpPr>
        <p:spPr>
          <a:xfrm>
            <a:off x="3419872" y="3219822"/>
            <a:ext cx="433800" cy="4338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83" name="Google Shape;83;g3af27d324c4_1_0"/>
          <p:cNvSpPr/>
          <p:nvPr/>
        </p:nvSpPr>
        <p:spPr>
          <a:xfrm>
            <a:off x="5348099" y="1263746"/>
            <a:ext cx="516000" cy="5160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84" name="Google Shape;84;g3af27d324c4_1_0"/>
          <p:cNvSpPr/>
          <p:nvPr/>
        </p:nvSpPr>
        <p:spPr>
          <a:xfrm>
            <a:off x="7170441" y="1562800"/>
            <a:ext cx="216900" cy="2169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pic>
        <p:nvPicPr>
          <p:cNvPr id="85" name="Google Shape;85;g3af27d324c4_1_0"/>
          <p:cNvPicPr preferRelativeResize="0"/>
          <p:nvPr/>
        </p:nvPicPr>
        <p:blipFill rotWithShape="1">
          <a:blip r:embed="rId4">
            <a:alphaModFix amt="60000"/>
          </a:blip>
          <a:srcRect b="11585" l="0" r="10897" t="13569"/>
          <a:stretch/>
        </p:blipFill>
        <p:spPr>
          <a:xfrm>
            <a:off x="8340487" y="4532812"/>
            <a:ext cx="803513" cy="610688"/>
          </a:xfrm>
          <a:prstGeom prst="rect">
            <a:avLst/>
          </a:prstGeom>
          <a:noFill/>
          <a:ln>
            <a:noFill/>
          </a:ln>
        </p:spPr>
      </p:pic>
      <p:sp>
        <p:nvSpPr>
          <p:cNvPr id="86" name="Google Shape;86;g3af27d324c4_1_0"/>
          <p:cNvSpPr txBox="1"/>
          <p:nvPr/>
        </p:nvSpPr>
        <p:spPr>
          <a:xfrm>
            <a:off x="1987125" y="2032363"/>
            <a:ext cx="5753100" cy="9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F0FEFE"/>
                </a:solidFill>
              </a:rPr>
              <a:t>01  </a:t>
            </a:r>
            <a:r>
              <a:rPr b="1" lang="en-US" sz="3200">
                <a:solidFill>
                  <a:schemeClr val="dk1"/>
                </a:solidFill>
                <a:latin typeface="Microsoft YaHei"/>
                <a:ea typeface="Microsoft YaHei"/>
                <a:cs typeface="Microsoft YaHei"/>
                <a:sym typeface="Microsoft YaHei"/>
              </a:rPr>
              <a:t>  </a:t>
            </a:r>
            <a:r>
              <a:rPr b="1" lang="en-US" sz="3200">
                <a:solidFill>
                  <a:srgbClr val="F0FEFE"/>
                </a:solidFill>
              </a:rPr>
              <a:t>Executive summary</a:t>
            </a:r>
            <a:r>
              <a:rPr b="1" lang="en-US" sz="3200">
                <a:solidFill>
                  <a:schemeClr val="dk1"/>
                </a:solidFill>
                <a:latin typeface="Microsoft YaHei"/>
                <a:ea typeface="Microsoft YaHei"/>
                <a:cs typeface="Microsoft YaHei"/>
                <a:sym typeface="Microsoft YaHei"/>
              </a:rPr>
              <a:t>  </a:t>
            </a:r>
            <a:endParaRPr b="1" sz="3200">
              <a:solidFill>
                <a:schemeClr val="dk1"/>
              </a:solidFill>
              <a:latin typeface="Microsoft YaHei"/>
              <a:ea typeface="Microsoft YaHei"/>
              <a:cs typeface="Microsoft YaHei"/>
              <a:sym typeface="Microsoft YaHe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5"/>
          <p:cNvSpPr/>
          <p:nvPr/>
        </p:nvSpPr>
        <p:spPr>
          <a:xfrm>
            <a:off x="3491865" y="762549"/>
            <a:ext cx="5544631" cy="3618402"/>
          </a:xfrm>
          <a:prstGeom prst="rect">
            <a:avLst/>
          </a:prstGeom>
          <a:no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3" name="Google Shape;93;p5"/>
          <p:cNvSpPr/>
          <p:nvPr/>
        </p:nvSpPr>
        <p:spPr>
          <a:xfrm>
            <a:off x="251460" y="762549"/>
            <a:ext cx="3240405" cy="3618402"/>
          </a:xfrm>
          <a:prstGeom prst="rect">
            <a:avLst/>
          </a:prstGeom>
          <a:no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285750" lvl="0" marL="285750" rtl="0" algn="l">
              <a:spcBef>
                <a:spcPts val="0"/>
              </a:spcBef>
              <a:spcAft>
                <a:spcPts val="0"/>
              </a:spcAft>
              <a:buClr>
                <a:srgbClr val="3F3F3F"/>
              </a:buClr>
              <a:buSzPts val="1400"/>
              <a:buChar char="•"/>
            </a:pPr>
            <a:r>
              <a:rPr lang="en-US">
                <a:solidFill>
                  <a:srgbClr val="3F3F3F"/>
                </a:solidFill>
              </a:rPr>
              <a:t>Crypto price and volume patterns vary by hour, weekday, and season, yet investors lack data-driven timing guidance.</a:t>
            </a:r>
            <a:br>
              <a:rPr lang="en-US">
                <a:solidFill>
                  <a:srgbClr val="3F3F3F"/>
                </a:solidFill>
              </a:rPr>
            </a:br>
            <a:endParaRPr>
              <a:solidFill>
                <a:srgbClr val="3F3F3F"/>
              </a:solidFill>
            </a:endParaRPr>
          </a:p>
          <a:p>
            <a:pPr indent="0" lvl="0" marL="0" rtl="0" algn="l">
              <a:spcBef>
                <a:spcPts val="0"/>
              </a:spcBef>
              <a:spcAft>
                <a:spcPts val="0"/>
              </a:spcAft>
              <a:buClr>
                <a:schemeClr val="dk1"/>
              </a:buClr>
              <a:buSzPts val="1100"/>
              <a:buFont typeface="Arial"/>
              <a:buNone/>
            </a:pPr>
            <a:r>
              <a:t/>
            </a:r>
            <a:endParaRPr>
              <a:solidFill>
                <a:srgbClr val="3F3F3F"/>
              </a:solidFill>
            </a:endParaRPr>
          </a:p>
          <a:p>
            <a:pPr indent="-285750" lvl="0" marL="285750" rtl="0" algn="l">
              <a:spcBef>
                <a:spcPts val="0"/>
              </a:spcBef>
              <a:spcAft>
                <a:spcPts val="0"/>
              </a:spcAft>
              <a:buClr>
                <a:srgbClr val="3F3F3F"/>
              </a:buClr>
              <a:buSzPts val="1400"/>
              <a:buChar char="•"/>
            </a:pPr>
            <a:r>
              <a:rPr lang="en-US">
                <a:solidFill>
                  <a:srgbClr val="3F3F3F"/>
                </a:solidFill>
              </a:rPr>
              <a:t>We organize BTC/BNB OHLCV data into a structured analytical database and identify when each asset is most suitable for high-risk vs. low-risk investors.</a:t>
            </a:r>
            <a:endParaRPr sz="1800">
              <a:solidFill>
                <a:schemeClr val="lt1"/>
              </a:solidFill>
            </a:endParaRPr>
          </a:p>
        </p:txBody>
      </p:sp>
      <p:sp>
        <p:nvSpPr>
          <p:cNvPr id="94" name="Google Shape;94;p5"/>
          <p:cNvSpPr/>
          <p:nvPr/>
        </p:nvSpPr>
        <p:spPr>
          <a:xfrm>
            <a:off x="214510" y="114715"/>
            <a:ext cx="6329700" cy="441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4C65"/>
                </a:solidFill>
              </a:rPr>
              <a:t>EXECUTIVE SUMMARY </a:t>
            </a:r>
            <a:endParaRPr b="1" i="0" sz="2000" u="none" cap="none" strike="noStrike">
              <a:solidFill>
                <a:schemeClr val="dk1"/>
              </a:solidFil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endParaRPr>
          </a:p>
        </p:txBody>
      </p:sp>
      <p:pic>
        <p:nvPicPr>
          <p:cNvPr id="95" name="Google Shape;95;p5"/>
          <p:cNvPicPr preferRelativeResize="0"/>
          <p:nvPr/>
        </p:nvPicPr>
        <p:blipFill rotWithShape="1">
          <a:blip r:embed="rId3">
            <a:alphaModFix/>
          </a:blip>
          <a:srcRect b="0" l="0" r="0" t="0"/>
          <a:stretch/>
        </p:blipFill>
        <p:spPr>
          <a:xfrm>
            <a:off x="3576975" y="1023125"/>
            <a:ext cx="5374426" cy="2610975"/>
          </a:xfrm>
          <a:prstGeom prst="rect">
            <a:avLst/>
          </a:prstGeom>
          <a:noFill/>
          <a:ln>
            <a:noFill/>
          </a:ln>
        </p:spPr>
      </p:pic>
      <p:pic>
        <p:nvPicPr>
          <p:cNvPr id="96" name="Google Shape;96;p5"/>
          <p:cNvPicPr preferRelativeResize="0"/>
          <p:nvPr/>
        </p:nvPicPr>
        <p:blipFill rotWithShape="1">
          <a:blip r:embed="rId4">
            <a:alphaModFix amt="60000"/>
          </a:blip>
          <a:srcRect b="11584" l="0" r="10897" t="13569"/>
          <a:stretch/>
        </p:blipFill>
        <p:spPr>
          <a:xfrm>
            <a:off x="8340938" y="4516119"/>
            <a:ext cx="803513" cy="61068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descr="A group of people standing in front of a graph&#10;&#10;AI-generated content may be incorrect." id="102" name="Google Shape;102;g3af66ef71f4_0_0"/>
          <p:cNvPicPr preferRelativeResize="0"/>
          <p:nvPr/>
        </p:nvPicPr>
        <p:blipFill rotWithShape="1">
          <a:blip r:embed="rId3">
            <a:alphaModFix amt="8000"/>
          </a:blip>
          <a:srcRect b="0" l="0" r="0" t="0"/>
          <a:stretch/>
        </p:blipFill>
        <p:spPr>
          <a:xfrm>
            <a:off x="561461" y="598502"/>
            <a:ext cx="9144000" cy="5126807"/>
          </a:xfrm>
          <a:prstGeom prst="rect">
            <a:avLst/>
          </a:prstGeom>
          <a:noFill/>
          <a:ln>
            <a:noFill/>
          </a:ln>
        </p:spPr>
      </p:pic>
      <p:pic>
        <p:nvPicPr>
          <p:cNvPr descr="A diagram of a software process&#10;&#10;AI-generated content may be incorrect." id="103" name="Google Shape;103;g3af66ef71f4_0_0"/>
          <p:cNvPicPr preferRelativeResize="0"/>
          <p:nvPr/>
        </p:nvPicPr>
        <p:blipFill rotWithShape="1">
          <a:blip r:embed="rId4">
            <a:alphaModFix/>
          </a:blip>
          <a:srcRect b="0" l="0" r="0" t="0"/>
          <a:stretch/>
        </p:blipFill>
        <p:spPr>
          <a:xfrm>
            <a:off x="6101239" y="512986"/>
            <a:ext cx="3042762" cy="4564140"/>
          </a:xfrm>
          <a:prstGeom prst="rect">
            <a:avLst/>
          </a:prstGeom>
          <a:noFill/>
          <a:ln>
            <a:noFill/>
          </a:ln>
        </p:spPr>
      </p:pic>
      <p:sp>
        <p:nvSpPr>
          <p:cNvPr id="104" name="Google Shape;104;g3af66ef71f4_0_0"/>
          <p:cNvSpPr/>
          <p:nvPr/>
        </p:nvSpPr>
        <p:spPr>
          <a:xfrm>
            <a:off x="395535" y="1603260"/>
            <a:ext cx="2728800" cy="3117300"/>
          </a:xfrm>
          <a:prstGeom prst="rect">
            <a:avLst/>
          </a:prstGeom>
          <a:no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SzPts val="1100"/>
              <a:buNone/>
            </a:pPr>
            <a:r>
              <a:rPr b="1" lang="en-US">
                <a:solidFill>
                  <a:srgbClr val="3F3F3F"/>
                </a:solidFill>
              </a:rPr>
              <a:t>An integrated platform that provides:</a:t>
            </a:r>
            <a:endParaRPr b="1">
              <a:solidFill>
                <a:srgbClr val="3F3F3F"/>
              </a:solidFill>
            </a:endParaRPr>
          </a:p>
          <a:p>
            <a:pPr indent="0" lvl="0" marL="0" rtl="0" algn="l">
              <a:spcBef>
                <a:spcPts val="0"/>
              </a:spcBef>
              <a:spcAft>
                <a:spcPts val="0"/>
              </a:spcAft>
              <a:buClr>
                <a:schemeClr val="dk1"/>
              </a:buClr>
              <a:buSzPts val="1100"/>
              <a:buFont typeface="Arial"/>
              <a:buNone/>
            </a:pPr>
            <a:r>
              <a:t/>
            </a:r>
            <a:endParaRPr>
              <a:solidFill>
                <a:srgbClr val="3F3F3F"/>
              </a:solidFill>
            </a:endParaRPr>
          </a:p>
          <a:p>
            <a:pPr indent="-285750" lvl="0" marL="285750" rtl="0" algn="l">
              <a:spcBef>
                <a:spcPts val="0"/>
              </a:spcBef>
              <a:spcAft>
                <a:spcPts val="0"/>
              </a:spcAft>
              <a:buClr>
                <a:srgbClr val="3F3F3F"/>
              </a:buClr>
              <a:buSzPts val="1400"/>
              <a:buChar char="•"/>
            </a:pPr>
            <a:r>
              <a:rPr lang="en-US">
                <a:solidFill>
                  <a:srgbClr val="3F3F3F"/>
                </a:solidFill>
              </a:rPr>
              <a:t>Structures BTC/BNB OHLCV data for analytical use.</a:t>
            </a:r>
            <a:endParaRPr>
              <a:solidFill>
                <a:srgbClr val="3F3F3F"/>
              </a:solidFill>
            </a:endParaRPr>
          </a:p>
          <a:p>
            <a:pPr indent="-285750" lvl="0" marL="285750" rtl="0" algn="l">
              <a:spcBef>
                <a:spcPts val="0"/>
              </a:spcBef>
              <a:spcAft>
                <a:spcPts val="0"/>
              </a:spcAft>
              <a:buClr>
                <a:srgbClr val="3F3F3F"/>
              </a:buClr>
              <a:buSzPts val="1400"/>
              <a:buChar char="•"/>
            </a:pPr>
            <a:r>
              <a:rPr lang="en-US">
                <a:solidFill>
                  <a:srgbClr val="3F3F3F"/>
                </a:solidFill>
              </a:rPr>
              <a:t>Provides time-based insights on volatility and trading activity.</a:t>
            </a:r>
            <a:endParaRPr>
              <a:solidFill>
                <a:srgbClr val="3F3F3F"/>
              </a:solidFill>
            </a:endParaRPr>
          </a:p>
          <a:p>
            <a:pPr indent="-285750" lvl="0" marL="285750" rtl="0" algn="l">
              <a:spcBef>
                <a:spcPts val="0"/>
              </a:spcBef>
              <a:spcAft>
                <a:spcPts val="0"/>
              </a:spcAft>
              <a:buClr>
                <a:srgbClr val="3F3F3F"/>
              </a:buClr>
              <a:buSzPts val="1400"/>
              <a:buChar char="•"/>
            </a:pPr>
            <a:r>
              <a:rPr lang="en-US">
                <a:solidFill>
                  <a:srgbClr val="3F3F3F"/>
                </a:solidFill>
              </a:rPr>
              <a:t>Identifies optimal investment windows for high-risk and low-risk investors.</a:t>
            </a:r>
            <a:endParaRPr>
              <a:solidFill>
                <a:srgbClr val="3F3F3F"/>
              </a:solidFill>
            </a:endParaRPr>
          </a:p>
          <a:p>
            <a:pPr indent="0" lvl="0" marL="0" rtl="0" algn="l">
              <a:spcBef>
                <a:spcPts val="0"/>
              </a:spcBef>
              <a:spcAft>
                <a:spcPts val="0"/>
              </a:spcAft>
              <a:buNone/>
            </a:pPr>
            <a:r>
              <a:t/>
            </a:r>
            <a:endParaRPr>
              <a:solidFill>
                <a:srgbClr val="3F3F3F"/>
              </a:solidFill>
              <a:latin typeface="Microsoft YaHei"/>
              <a:ea typeface="Microsoft YaHei"/>
              <a:cs typeface="Microsoft YaHei"/>
              <a:sym typeface="Microsoft YaHei"/>
            </a:endParaRPr>
          </a:p>
          <a:p>
            <a:pPr indent="0" lvl="0" marL="0" rtl="0" algn="l">
              <a:spcBef>
                <a:spcPts val="0"/>
              </a:spcBef>
              <a:spcAft>
                <a:spcPts val="0"/>
              </a:spcAft>
              <a:buNone/>
            </a:pPr>
            <a:r>
              <a:t/>
            </a:r>
            <a:endParaRPr>
              <a:solidFill>
                <a:srgbClr val="3F3F3F"/>
              </a:solidFill>
              <a:latin typeface="Microsoft YaHei"/>
              <a:ea typeface="Microsoft YaHei"/>
              <a:cs typeface="Microsoft YaHei"/>
              <a:sym typeface="Microsoft YaHei"/>
            </a:endParaRPr>
          </a:p>
        </p:txBody>
      </p:sp>
      <p:sp>
        <p:nvSpPr>
          <p:cNvPr id="105" name="Google Shape;105;g3af66ef71f4_0_0"/>
          <p:cNvSpPr/>
          <p:nvPr/>
        </p:nvSpPr>
        <p:spPr>
          <a:xfrm>
            <a:off x="395535" y="1015825"/>
            <a:ext cx="2728800" cy="4437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None/>
            </a:pPr>
            <a:br>
              <a:rPr lang="en-US" sz="450">
                <a:solidFill>
                  <a:schemeClr val="lt1"/>
                </a:solidFill>
                <a:latin typeface="Microsoft YaHei"/>
                <a:ea typeface="Microsoft YaHei"/>
                <a:cs typeface="Microsoft YaHei"/>
                <a:sym typeface="Microsoft YaHei"/>
              </a:rPr>
            </a:br>
            <a:r>
              <a:rPr lang="en-US" sz="450">
                <a:solidFill>
                  <a:schemeClr val="lt1"/>
                </a:solidFill>
                <a:latin typeface="Microsoft YaHei"/>
                <a:ea typeface="Microsoft YaHei"/>
                <a:cs typeface="Microsoft YaHei"/>
                <a:sym typeface="Microsoft YaHei"/>
              </a:rPr>
              <a:t>                                           </a:t>
            </a:r>
            <a:r>
              <a:rPr lang="en-US" sz="450">
                <a:solidFill>
                  <a:schemeClr val="lt1"/>
                </a:solidFill>
              </a:rPr>
              <a:t>         </a:t>
            </a:r>
            <a:r>
              <a:rPr b="1" lang="en-US" sz="450">
                <a:solidFill>
                  <a:schemeClr val="lt1"/>
                </a:solidFill>
              </a:rPr>
              <a:t>        </a:t>
            </a:r>
            <a:r>
              <a:rPr b="1" lang="en-US" sz="1800">
                <a:solidFill>
                  <a:schemeClr val="lt1"/>
                </a:solidFill>
              </a:rPr>
              <a:t>Solution</a:t>
            </a:r>
            <a:endParaRPr b="1" sz="1800">
              <a:solidFill>
                <a:schemeClr val="lt1"/>
              </a:solidFill>
            </a:endParaRPr>
          </a:p>
        </p:txBody>
      </p:sp>
      <p:sp>
        <p:nvSpPr>
          <p:cNvPr id="106" name="Google Shape;106;g3af66ef71f4_0_0"/>
          <p:cNvSpPr/>
          <p:nvPr/>
        </p:nvSpPr>
        <p:spPr>
          <a:xfrm>
            <a:off x="3357244" y="1620619"/>
            <a:ext cx="2727000" cy="3099900"/>
          </a:xfrm>
          <a:prstGeom prst="rect">
            <a:avLst/>
          </a:prstGeom>
          <a:no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SzPts val="1100"/>
              <a:buNone/>
            </a:pPr>
            <a:r>
              <a:rPr b="1" lang="en-US">
                <a:solidFill>
                  <a:srgbClr val="3F3F3F"/>
                </a:solidFill>
              </a:rPr>
              <a:t>Enables investors and analysts to:</a:t>
            </a:r>
            <a:endParaRPr b="1">
              <a:solidFill>
                <a:schemeClr val="dk1"/>
              </a:solidFill>
              <a:latin typeface="Microsoft YaHei"/>
              <a:ea typeface="Microsoft YaHei"/>
              <a:cs typeface="Microsoft YaHei"/>
              <a:sym typeface="Microsoft YaHei"/>
            </a:endParaRPr>
          </a:p>
          <a:p>
            <a:pPr indent="0" lvl="0" marL="0" rtl="0" algn="ctr">
              <a:spcBef>
                <a:spcPts val="0"/>
              </a:spcBef>
              <a:spcAft>
                <a:spcPts val="0"/>
              </a:spcAft>
              <a:buClr>
                <a:schemeClr val="dk1"/>
              </a:buClr>
              <a:buSzPts val="1100"/>
              <a:buFont typeface="Arial"/>
              <a:buNone/>
            </a:pPr>
            <a:r>
              <a:t/>
            </a:r>
            <a:endParaRPr b="1">
              <a:solidFill>
                <a:schemeClr val="dk1"/>
              </a:solidFill>
              <a:latin typeface="Microsoft YaHei"/>
              <a:ea typeface="Microsoft YaHei"/>
              <a:cs typeface="Microsoft YaHei"/>
              <a:sym typeface="Microsoft YaHei"/>
            </a:endParaRPr>
          </a:p>
          <a:p>
            <a:pPr indent="-285750" lvl="0" marL="285750" rtl="0" algn="l">
              <a:spcBef>
                <a:spcPts val="0"/>
              </a:spcBef>
              <a:spcAft>
                <a:spcPts val="0"/>
              </a:spcAft>
              <a:buClr>
                <a:srgbClr val="3F3F3F"/>
              </a:buClr>
              <a:buSzPts val="1400"/>
              <a:buChar char="•"/>
            </a:pPr>
            <a:r>
              <a:rPr lang="en-US">
                <a:solidFill>
                  <a:srgbClr val="3F3F3F"/>
                </a:solidFill>
              </a:rPr>
              <a:t>Understand hourly, weekly, and seasonal market patterns.</a:t>
            </a:r>
            <a:endParaRPr>
              <a:solidFill>
                <a:srgbClr val="3F3F3F"/>
              </a:solidFill>
            </a:endParaRPr>
          </a:p>
          <a:p>
            <a:pPr indent="-285750" lvl="0" marL="285750" rtl="0" algn="l">
              <a:spcBef>
                <a:spcPts val="0"/>
              </a:spcBef>
              <a:spcAft>
                <a:spcPts val="0"/>
              </a:spcAft>
              <a:buClr>
                <a:srgbClr val="3F3F3F"/>
              </a:buClr>
              <a:buSzPts val="1400"/>
              <a:buChar char="•"/>
            </a:pPr>
            <a:r>
              <a:rPr lang="en-US">
                <a:solidFill>
                  <a:srgbClr val="3F3F3F"/>
                </a:solidFill>
              </a:rPr>
              <a:t>Compare BTC vs. BNB based on risk and activity levels.</a:t>
            </a:r>
            <a:endParaRPr>
              <a:solidFill>
                <a:srgbClr val="3F3F3F"/>
              </a:solidFill>
            </a:endParaRPr>
          </a:p>
          <a:p>
            <a:pPr indent="-285750" lvl="0" marL="285750" rtl="0" algn="l">
              <a:spcBef>
                <a:spcPts val="0"/>
              </a:spcBef>
              <a:spcAft>
                <a:spcPts val="0"/>
              </a:spcAft>
              <a:buClr>
                <a:srgbClr val="3F3F3F"/>
              </a:buClr>
              <a:buSzPts val="1400"/>
              <a:buChar char="•"/>
            </a:pPr>
            <a:r>
              <a:rPr lang="en-US">
                <a:solidFill>
                  <a:srgbClr val="3F3F3F"/>
                </a:solidFill>
              </a:rPr>
              <a:t>Make data-driven, timing-based investment decisions.</a:t>
            </a:r>
            <a:endParaRPr>
              <a:solidFill>
                <a:srgbClr val="3F3F3F"/>
              </a:solidFill>
            </a:endParaRPr>
          </a:p>
          <a:p>
            <a:pPr indent="0" lvl="0" marL="0" rtl="0" algn="l">
              <a:spcBef>
                <a:spcPts val="0"/>
              </a:spcBef>
              <a:spcAft>
                <a:spcPts val="0"/>
              </a:spcAft>
              <a:buNone/>
            </a:pPr>
            <a:r>
              <a:t/>
            </a:r>
            <a:endParaRPr>
              <a:solidFill>
                <a:srgbClr val="3F3F3F"/>
              </a:solidFill>
              <a:latin typeface="Microsoft YaHei"/>
              <a:ea typeface="Microsoft YaHei"/>
              <a:cs typeface="Microsoft YaHei"/>
              <a:sym typeface="Microsoft YaHei"/>
            </a:endParaRPr>
          </a:p>
          <a:p>
            <a:pPr indent="0" lvl="0" marL="0" rtl="0" algn="l">
              <a:spcBef>
                <a:spcPts val="0"/>
              </a:spcBef>
              <a:spcAft>
                <a:spcPts val="0"/>
              </a:spcAft>
              <a:buNone/>
            </a:pPr>
            <a:r>
              <a:t/>
            </a:r>
            <a:endParaRPr>
              <a:solidFill>
                <a:srgbClr val="3F3F3F"/>
              </a:solidFill>
              <a:latin typeface="Microsoft YaHei"/>
              <a:ea typeface="Microsoft YaHei"/>
              <a:cs typeface="Microsoft YaHei"/>
              <a:sym typeface="Microsoft YaHei"/>
            </a:endParaRPr>
          </a:p>
        </p:txBody>
      </p:sp>
      <p:sp>
        <p:nvSpPr>
          <p:cNvPr id="107" name="Google Shape;107;g3af66ef71f4_0_0"/>
          <p:cNvSpPr/>
          <p:nvPr/>
        </p:nvSpPr>
        <p:spPr>
          <a:xfrm>
            <a:off x="3352906" y="1047837"/>
            <a:ext cx="2700900" cy="4437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rPr>
              <a:t>Value Proposition</a:t>
            </a:r>
            <a:endParaRPr b="1" sz="1800">
              <a:solidFill>
                <a:schemeClr val="lt1"/>
              </a:solidFill>
            </a:endParaRPr>
          </a:p>
        </p:txBody>
      </p:sp>
      <p:sp>
        <p:nvSpPr>
          <p:cNvPr id="108" name="Google Shape;108;g3af66ef71f4_0_0"/>
          <p:cNvSpPr/>
          <p:nvPr/>
        </p:nvSpPr>
        <p:spPr>
          <a:xfrm>
            <a:off x="258100" y="123576"/>
            <a:ext cx="3094800" cy="389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00">
                <a:solidFill>
                  <a:srgbClr val="004C65"/>
                </a:solidFill>
              </a:rPr>
              <a:t>EXECUTIVE SUMMARY</a:t>
            </a:r>
            <a:r>
              <a:rPr lang="en-US" sz="2000">
                <a:solidFill>
                  <a:srgbClr val="004C65"/>
                </a:solidFill>
                <a:latin typeface="Microsoft YaHei"/>
                <a:ea typeface="Microsoft YaHei"/>
                <a:cs typeface="Microsoft YaHei"/>
                <a:sym typeface="Microsoft YaHei"/>
              </a:rPr>
              <a:t>  </a:t>
            </a:r>
            <a:endParaRPr sz="2000">
              <a:solidFill>
                <a:schemeClr val="dk1"/>
              </a:solidFill>
              <a:latin typeface="Microsoft YaHei"/>
              <a:ea typeface="Microsoft YaHei"/>
              <a:cs typeface="Microsoft YaHei"/>
              <a:sym typeface="Microsoft YaHei"/>
            </a:endParaRPr>
          </a:p>
          <a:p>
            <a:pPr indent="0" lvl="0" marL="0" marR="0" rtl="0" algn="l">
              <a:spcBef>
                <a:spcPts val="0"/>
              </a:spcBef>
              <a:spcAft>
                <a:spcPts val="0"/>
              </a:spcAft>
              <a:buNone/>
            </a:pPr>
            <a:r>
              <a:t/>
            </a:r>
            <a:endParaRPr sz="2000">
              <a:solidFill>
                <a:schemeClr val="dk1"/>
              </a:solidFill>
              <a:latin typeface="Microsoft YaHei"/>
              <a:ea typeface="Microsoft YaHei"/>
              <a:cs typeface="Microsoft YaHei"/>
              <a:sym typeface="Microsoft YaHei"/>
            </a:endParaRPr>
          </a:p>
        </p:txBody>
      </p:sp>
      <p:pic>
        <p:nvPicPr>
          <p:cNvPr id="109" name="Google Shape;109;g3af66ef71f4_0_0"/>
          <p:cNvPicPr preferRelativeResize="0"/>
          <p:nvPr/>
        </p:nvPicPr>
        <p:blipFill rotWithShape="1">
          <a:blip r:embed="rId5">
            <a:alphaModFix amt="60000"/>
          </a:blip>
          <a:srcRect b="11585" l="0" r="10897" t="13569"/>
          <a:stretch/>
        </p:blipFill>
        <p:spPr>
          <a:xfrm>
            <a:off x="8340938" y="4516119"/>
            <a:ext cx="803513" cy="6106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descr="A diagram of a software process&#10;&#10;AI-generated content may be incorrect." id="115" name="Google Shape;115;p7"/>
          <p:cNvPicPr preferRelativeResize="0"/>
          <p:nvPr/>
        </p:nvPicPr>
        <p:blipFill rotWithShape="1">
          <a:blip r:embed="rId3">
            <a:alphaModFix/>
          </a:blip>
          <a:srcRect b="0" l="0" r="0" t="0"/>
          <a:stretch/>
        </p:blipFill>
        <p:spPr>
          <a:xfrm>
            <a:off x="6101239" y="512986"/>
            <a:ext cx="3042761" cy="4564141"/>
          </a:xfrm>
          <a:prstGeom prst="rect">
            <a:avLst/>
          </a:prstGeom>
          <a:noFill/>
          <a:ln>
            <a:noFill/>
          </a:ln>
        </p:spPr>
      </p:pic>
      <p:sp>
        <p:nvSpPr>
          <p:cNvPr id="116" name="Google Shape;116;p7"/>
          <p:cNvSpPr/>
          <p:nvPr/>
        </p:nvSpPr>
        <p:spPr>
          <a:xfrm>
            <a:off x="395535" y="1603260"/>
            <a:ext cx="2728819" cy="3117290"/>
          </a:xfrm>
          <a:prstGeom prst="rect">
            <a:avLst/>
          </a:prstGeom>
          <a:no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b="1" lang="en-US">
                <a:solidFill>
                  <a:schemeClr val="dk1"/>
                </a:solidFill>
              </a:rPr>
              <a:t>An integrated platform that provides:</a:t>
            </a:r>
            <a:endParaRPr b="1">
              <a:solidFill>
                <a:schemeClr val="dk1"/>
              </a:solidFill>
            </a:endParaRPr>
          </a:p>
          <a:p>
            <a:pPr indent="0" lvl="0" marL="0" rtl="0" algn="l">
              <a:spcBef>
                <a:spcPts val="0"/>
              </a:spcBef>
              <a:spcAft>
                <a:spcPts val="0"/>
              </a:spcAft>
              <a:buNone/>
            </a:pPr>
            <a:r>
              <a:t/>
            </a:r>
            <a:endParaRPr b="1">
              <a:solidFill>
                <a:schemeClr val="dk1"/>
              </a:solidFill>
            </a:endParaRPr>
          </a:p>
          <a:p>
            <a:pPr indent="-285750" lvl="0" marL="285750" rtl="0" algn="l">
              <a:spcBef>
                <a:spcPts val="0"/>
              </a:spcBef>
              <a:spcAft>
                <a:spcPts val="0"/>
              </a:spcAft>
              <a:buClr>
                <a:srgbClr val="3F3F3F"/>
              </a:buClr>
              <a:buSzPts val="1400"/>
              <a:buChar char="•"/>
            </a:pPr>
            <a:r>
              <a:rPr lang="en-US">
                <a:solidFill>
                  <a:srgbClr val="3F3F3F"/>
                </a:solidFill>
              </a:rPr>
              <a:t>Structures BTC/BNB OHLCV data for analytical use</a:t>
            </a:r>
            <a:endParaRPr>
              <a:solidFill>
                <a:srgbClr val="3F3F3F"/>
              </a:solidFill>
            </a:endParaRPr>
          </a:p>
          <a:p>
            <a:pPr indent="-285750" lvl="0" marL="285750" rtl="0" algn="l">
              <a:spcBef>
                <a:spcPts val="0"/>
              </a:spcBef>
              <a:spcAft>
                <a:spcPts val="0"/>
              </a:spcAft>
              <a:buClr>
                <a:srgbClr val="3F3F3F"/>
              </a:buClr>
              <a:buSzPts val="1400"/>
              <a:buChar char="•"/>
            </a:pPr>
            <a:r>
              <a:rPr lang="en-US">
                <a:solidFill>
                  <a:srgbClr val="3F3F3F"/>
                </a:solidFill>
              </a:rPr>
              <a:t>Provides time-based insights on volatility and trading activity</a:t>
            </a:r>
            <a:endParaRPr>
              <a:solidFill>
                <a:srgbClr val="3F3F3F"/>
              </a:solidFill>
            </a:endParaRPr>
          </a:p>
          <a:p>
            <a:pPr indent="-285750" lvl="0" marL="285750" rtl="0" algn="l">
              <a:spcBef>
                <a:spcPts val="0"/>
              </a:spcBef>
              <a:spcAft>
                <a:spcPts val="0"/>
              </a:spcAft>
              <a:buClr>
                <a:srgbClr val="3F3F3F"/>
              </a:buClr>
              <a:buSzPts val="1400"/>
              <a:buChar char="•"/>
            </a:pPr>
            <a:r>
              <a:rPr lang="en-US">
                <a:solidFill>
                  <a:srgbClr val="3F3F3F"/>
                </a:solidFill>
              </a:rPr>
              <a:t>Identifies optimal investment windows for high-risk and low-risk investors</a:t>
            </a:r>
            <a:endParaRPr>
              <a:solidFill>
                <a:srgbClr val="3F3F3F"/>
              </a:solidFill>
            </a:endParaRPr>
          </a:p>
          <a:p>
            <a:pPr indent="0" lvl="0" marL="457200" rtl="0" algn="l">
              <a:spcBef>
                <a:spcPts val="0"/>
              </a:spcBef>
              <a:spcAft>
                <a:spcPts val="0"/>
              </a:spcAft>
              <a:buNone/>
            </a:pPr>
            <a:r>
              <a:t/>
            </a:r>
            <a:endParaRPr>
              <a:solidFill>
                <a:srgbClr val="3F3F3F"/>
              </a:solidFill>
            </a:endParaRPr>
          </a:p>
        </p:txBody>
      </p:sp>
      <p:sp>
        <p:nvSpPr>
          <p:cNvPr id="117" name="Google Shape;117;p7"/>
          <p:cNvSpPr/>
          <p:nvPr/>
        </p:nvSpPr>
        <p:spPr>
          <a:xfrm>
            <a:off x="395535" y="1049480"/>
            <a:ext cx="2728800" cy="443700"/>
          </a:xfrm>
          <a:prstGeom prst="rect">
            <a:avLst/>
          </a:prstGeom>
          <a:solidFill>
            <a:schemeClr val="accent3"/>
          </a:solid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000000"/>
              </a:buClr>
              <a:buSzPts val="450"/>
              <a:buFont typeface="Arial"/>
              <a:buNone/>
            </a:pPr>
            <a:br>
              <a:rPr b="1" i="0" lang="en-US" sz="450" u="none" cap="none" strike="noStrike">
                <a:solidFill>
                  <a:schemeClr val="lt1"/>
                </a:solidFill>
              </a:rPr>
            </a:br>
            <a:r>
              <a:rPr b="1" i="0" lang="en-US" sz="450" u="none" cap="none" strike="noStrike">
                <a:solidFill>
                  <a:schemeClr val="lt1"/>
                </a:solidFill>
              </a:rPr>
              <a:t>                                                        </a:t>
            </a:r>
            <a:r>
              <a:rPr b="1" i="0" lang="en-US" sz="1800" u="none" cap="none" strike="noStrike">
                <a:solidFill>
                  <a:schemeClr val="lt1"/>
                </a:solidFill>
              </a:rPr>
              <a:t>Solution</a:t>
            </a:r>
            <a:endParaRPr b="1" i="0" sz="1800" u="none" cap="none" strike="noStrike">
              <a:solidFill>
                <a:schemeClr val="lt1"/>
              </a:solidFill>
            </a:endParaRPr>
          </a:p>
        </p:txBody>
      </p:sp>
      <p:sp>
        <p:nvSpPr>
          <p:cNvPr id="118" name="Google Shape;118;p7"/>
          <p:cNvSpPr/>
          <p:nvPr/>
        </p:nvSpPr>
        <p:spPr>
          <a:xfrm>
            <a:off x="3307350" y="1603225"/>
            <a:ext cx="2776800" cy="3117300"/>
          </a:xfrm>
          <a:prstGeom prst="rect">
            <a:avLst/>
          </a:prstGeom>
          <a:no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b="1" lang="en-US">
                <a:solidFill>
                  <a:schemeClr val="dk1"/>
                </a:solidFill>
              </a:rPr>
              <a:t>Enables investors and analysts to:</a:t>
            </a:r>
            <a:endParaRPr b="1">
              <a:solidFill>
                <a:schemeClr val="dk1"/>
              </a:solidFill>
            </a:endParaRPr>
          </a:p>
          <a:p>
            <a:pPr indent="0" lvl="0" marL="0" rtl="0" algn="l">
              <a:spcBef>
                <a:spcPts val="0"/>
              </a:spcBef>
              <a:spcAft>
                <a:spcPts val="0"/>
              </a:spcAft>
              <a:buNone/>
            </a:pPr>
            <a:r>
              <a:t/>
            </a:r>
            <a:endParaRPr b="1">
              <a:solidFill>
                <a:schemeClr val="dk1"/>
              </a:solidFill>
            </a:endParaRPr>
          </a:p>
          <a:p>
            <a:pPr indent="-285750" lvl="0" marL="285750" rtl="0" algn="l">
              <a:spcBef>
                <a:spcPts val="0"/>
              </a:spcBef>
              <a:spcAft>
                <a:spcPts val="0"/>
              </a:spcAft>
              <a:buClr>
                <a:srgbClr val="3F3F3F"/>
              </a:buClr>
              <a:buSzPts val="1400"/>
              <a:buChar char="•"/>
            </a:pPr>
            <a:r>
              <a:rPr lang="en-US">
                <a:solidFill>
                  <a:srgbClr val="3F3F3F"/>
                </a:solidFill>
              </a:rPr>
              <a:t>Understand weekly, and seasonal market patterns</a:t>
            </a:r>
            <a:endParaRPr>
              <a:solidFill>
                <a:srgbClr val="3F3F3F"/>
              </a:solidFill>
            </a:endParaRPr>
          </a:p>
          <a:p>
            <a:pPr indent="-285750" lvl="0" marL="285750" rtl="0" algn="l">
              <a:spcBef>
                <a:spcPts val="0"/>
              </a:spcBef>
              <a:spcAft>
                <a:spcPts val="0"/>
              </a:spcAft>
              <a:buClr>
                <a:srgbClr val="3F3F3F"/>
              </a:buClr>
              <a:buSzPts val="1400"/>
              <a:buChar char="•"/>
            </a:pPr>
            <a:r>
              <a:rPr lang="en-US">
                <a:solidFill>
                  <a:srgbClr val="3F3F3F"/>
                </a:solidFill>
              </a:rPr>
              <a:t>Compare BTC vs. BNB based on risk and activity levels</a:t>
            </a:r>
            <a:endParaRPr>
              <a:solidFill>
                <a:srgbClr val="3F3F3F"/>
              </a:solidFill>
            </a:endParaRPr>
          </a:p>
          <a:p>
            <a:pPr indent="-285750" lvl="0" marL="285750" rtl="0" algn="l">
              <a:spcBef>
                <a:spcPts val="0"/>
              </a:spcBef>
              <a:spcAft>
                <a:spcPts val="0"/>
              </a:spcAft>
              <a:buClr>
                <a:srgbClr val="3F3F3F"/>
              </a:buClr>
              <a:buSzPts val="1400"/>
              <a:buChar char="•"/>
            </a:pPr>
            <a:r>
              <a:rPr lang="en-US">
                <a:solidFill>
                  <a:srgbClr val="3F3F3F"/>
                </a:solidFill>
              </a:rPr>
              <a:t>Make data-driven, timing-based investment decisions</a:t>
            </a:r>
            <a:endParaRPr>
              <a:solidFill>
                <a:srgbClr val="3F3F3F"/>
              </a:solidFill>
            </a:endParaRPr>
          </a:p>
          <a:p>
            <a:pPr indent="0" lvl="0" marL="0" rtl="0" algn="l">
              <a:spcBef>
                <a:spcPts val="0"/>
              </a:spcBef>
              <a:spcAft>
                <a:spcPts val="0"/>
              </a:spcAft>
              <a:buNone/>
            </a:pPr>
            <a:r>
              <a:t/>
            </a:r>
            <a:endParaRPr>
              <a:solidFill>
                <a:srgbClr val="3F3F3F"/>
              </a:solidFill>
            </a:endParaRPr>
          </a:p>
          <a:p>
            <a:pPr indent="0" lvl="0" marL="0" rtl="0" algn="l">
              <a:spcBef>
                <a:spcPts val="0"/>
              </a:spcBef>
              <a:spcAft>
                <a:spcPts val="0"/>
              </a:spcAft>
              <a:buNone/>
            </a:pPr>
            <a:r>
              <a:t/>
            </a:r>
            <a:endParaRPr>
              <a:solidFill>
                <a:srgbClr val="3F3F3F"/>
              </a:solidFill>
            </a:endParaRPr>
          </a:p>
        </p:txBody>
      </p:sp>
      <p:sp>
        <p:nvSpPr>
          <p:cNvPr id="119" name="Google Shape;119;p7"/>
          <p:cNvSpPr/>
          <p:nvPr/>
        </p:nvSpPr>
        <p:spPr>
          <a:xfrm>
            <a:off x="3325075" y="1047925"/>
            <a:ext cx="2728800" cy="443700"/>
          </a:xfrm>
          <a:prstGeom prst="rect">
            <a:avLst/>
          </a:prstGeom>
          <a:solidFill>
            <a:schemeClr val="accent4"/>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rPr>
              <a:t>Value Proposition</a:t>
            </a:r>
            <a:endParaRPr b="1" i="0" sz="1800" u="none" cap="none" strike="noStrike">
              <a:solidFill>
                <a:schemeClr val="lt1"/>
              </a:solidFill>
            </a:endParaRPr>
          </a:p>
        </p:txBody>
      </p:sp>
      <p:sp>
        <p:nvSpPr>
          <p:cNvPr id="120" name="Google Shape;120;p7"/>
          <p:cNvSpPr/>
          <p:nvPr/>
        </p:nvSpPr>
        <p:spPr>
          <a:xfrm>
            <a:off x="212538" y="106501"/>
            <a:ext cx="3094800" cy="443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4C65"/>
                </a:solidFill>
              </a:rPr>
              <a:t>EXECUTIVE SUMMARY  </a:t>
            </a:r>
            <a:endParaRPr b="1" i="0" sz="2000" u="none" cap="none" strike="noStrike">
              <a:solidFill>
                <a:schemeClr val="dk1"/>
              </a:solidFil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endParaRPr>
          </a:p>
        </p:txBody>
      </p:sp>
      <p:pic>
        <p:nvPicPr>
          <p:cNvPr id="121" name="Google Shape;121;p7"/>
          <p:cNvPicPr preferRelativeResize="0"/>
          <p:nvPr/>
        </p:nvPicPr>
        <p:blipFill rotWithShape="1">
          <a:blip r:embed="rId4">
            <a:alphaModFix amt="60000"/>
          </a:blip>
          <a:srcRect b="11584" l="0" r="10897" t="13569"/>
          <a:stretch/>
        </p:blipFill>
        <p:spPr>
          <a:xfrm>
            <a:off x="8340938" y="4516119"/>
            <a:ext cx="803513" cy="610688"/>
          </a:xfrm>
          <a:prstGeom prst="rect">
            <a:avLst/>
          </a:prstGeom>
          <a:noFill/>
          <a:ln>
            <a:noFill/>
          </a:ln>
        </p:spPr>
      </p:pic>
      <p:pic>
        <p:nvPicPr>
          <p:cNvPr id="122" name="Google Shape;122;p7"/>
          <p:cNvPicPr preferRelativeResize="0"/>
          <p:nvPr/>
        </p:nvPicPr>
        <p:blipFill rotWithShape="1">
          <a:blip r:embed="rId5">
            <a:alphaModFix/>
          </a:blip>
          <a:srcRect b="0" l="0" r="0" t="0"/>
          <a:stretch/>
        </p:blipFill>
        <p:spPr>
          <a:xfrm>
            <a:off x="0" y="-1"/>
            <a:ext cx="9143999" cy="5143501"/>
          </a:xfrm>
          <a:prstGeom prst="rect">
            <a:avLst/>
          </a:prstGeom>
          <a:noFill/>
          <a:ln>
            <a:noFill/>
          </a:ln>
        </p:spPr>
      </p:pic>
      <p:sp>
        <p:nvSpPr>
          <p:cNvPr id="123" name="Google Shape;123;p7"/>
          <p:cNvSpPr txBox="1"/>
          <p:nvPr/>
        </p:nvSpPr>
        <p:spPr>
          <a:xfrm>
            <a:off x="1834350" y="1992450"/>
            <a:ext cx="5856600" cy="9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F0FEFE"/>
                </a:solidFill>
              </a:rPr>
              <a:t>02  </a:t>
            </a:r>
            <a:r>
              <a:rPr b="1" lang="en-US" sz="3200">
                <a:solidFill>
                  <a:schemeClr val="dk1"/>
                </a:solidFill>
                <a:latin typeface="Microsoft YaHei"/>
                <a:ea typeface="Microsoft YaHei"/>
                <a:cs typeface="Microsoft YaHei"/>
                <a:sym typeface="Microsoft YaHei"/>
              </a:rPr>
              <a:t>  </a:t>
            </a:r>
            <a:r>
              <a:rPr b="1" lang="en-US" sz="3200">
                <a:solidFill>
                  <a:srgbClr val="F0FEFE"/>
                </a:solidFill>
              </a:rPr>
              <a:t>Research objectives</a:t>
            </a:r>
            <a:r>
              <a:rPr b="1" lang="en-US" sz="3200">
                <a:solidFill>
                  <a:srgbClr val="F0FEFE"/>
                </a:solidFill>
              </a:rPr>
              <a:t> </a:t>
            </a:r>
            <a:endParaRPr b="1" sz="3200">
              <a:solidFill>
                <a:schemeClr val="dk1"/>
              </a:solidFill>
              <a:latin typeface="Microsoft YaHei"/>
              <a:ea typeface="Microsoft YaHei"/>
              <a:cs typeface="Microsoft YaHei"/>
              <a:sym typeface="Microsoft YaHe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p:nvPr/>
        </p:nvSpPr>
        <p:spPr>
          <a:xfrm>
            <a:off x="4953113" y="1616470"/>
            <a:ext cx="3316704" cy="2302562"/>
          </a:xfrm>
          <a:prstGeom prst="wedgeRoundRectCallout">
            <a:avLst>
              <a:gd fmla="val -20833" name="adj1"/>
              <a:gd fmla="val 62500" name="adj2"/>
              <a:gd fmla="val 0" name="adj3"/>
            </a:avLst>
          </a:prstGeom>
          <a:solidFill>
            <a:schemeClr val="accent1"/>
          </a:solidFill>
          <a:ln cap="flat" cmpd="sng" w="25400">
            <a:solidFill>
              <a:srgbClr val="004040"/>
            </a:solidFill>
            <a:prstDash val="solid"/>
            <a:round/>
            <a:headEnd len="sm" w="sm" type="none"/>
            <a:tailEnd len="sm" w="sm" type="none"/>
          </a:ln>
        </p:spPr>
        <p:txBody>
          <a:bodyPr anchorCtr="0" anchor="ctr" bIns="45700" lIns="91425" spcFirstLastPara="1" rIns="91425" wrap="square" tIns="45700">
            <a:noAutofit/>
          </a:bodyPr>
          <a:lstStyle/>
          <a:p>
            <a:pPr indent="-285750" lvl="0" marL="285750" rtl="0" algn="l">
              <a:spcBef>
                <a:spcPts val="0"/>
              </a:spcBef>
              <a:spcAft>
                <a:spcPts val="0"/>
              </a:spcAft>
              <a:buClr>
                <a:schemeClr val="lt1"/>
              </a:buClr>
              <a:buSzPts val="1500"/>
              <a:buChar char="•"/>
            </a:pPr>
            <a:r>
              <a:rPr lang="en-US" sz="1500">
                <a:solidFill>
                  <a:schemeClr val="lt1"/>
                </a:solidFill>
              </a:rPr>
              <a:t>When should high-risk and low-risk investors invest in BTC or BNB, based on time-based crypto trading patterns such as weekday, month, or season</a:t>
            </a:r>
            <a:r>
              <a:rPr lang="en-US" sz="1600">
                <a:solidFill>
                  <a:schemeClr val="lt1"/>
                </a:solidFill>
              </a:rPr>
              <a:t>?</a:t>
            </a:r>
            <a:endParaRPr b="0" i="0" sz="1800" u="none" cap="none" strike="noStrike">
              <a:solidFill>
                <a:schemeClr val="lt1"/>
              </a:solidFill>
              <a:latin typeface="Arial"/>
              <a:ea typeface="Arial"/>
              <a:cs typeface="Arial"/>
              <a:sym typeface="Arial"/>
            </a:endParaRPr>
          </a:p>
        </p:txBody>
      </p:sp>
      <p:sp>
        <p:nvSpPr>
          <p:cNvPr id="130" name="Google Shape;130;p6"/>
          <p:cNvSpPr/>
          <p:nvPr/>
        </p:nvSpPr>
        <p:spPr>
          <a:xfrm>
            <a:off x="1124375" y="1635646"/>
            <a:ext cx="3316704" cy="2302562"/>
          </a:xfrm>
          <a:prstGeom prst="wedgeRoundRectCallout">
            <a:avLst>
              <a:gd fmla="val -20833" name="adj1"/>
              <a:gd fmla="val 62500" name="adj2"/>
              <a:gd fmla="val 0" name="adj3"/>
            </a:avLst>
          </a:prstGeom>
          <a:solidFill>
            <a:schemeClr val="accent1"/>
          </a:solidFill>
          <a:ln cap="flat" cmpd="sng" w="25400">
            <a:solidFill>
              <a:srgbClr val="004040"/>
            </a:solidFill>
            <a:prstDash val="solid"/>
            <a:round/>
            <a:headEnd len="sm" w="sm" type="none"/>
            <a:tailEnd len="sm" w="sm" type="none"/>
          </a:ln>
        </p:spPr>
        <p:txBody>
          <a:bodyPr anchorCtr="0" anchor="ctr" bIns="45700" lIns="91425" spcFirstLastPara="1" rIns="91425" wrap="square" tIns="45700">
            <a:noAutofit/>
          </a:bodyPr>
          <a:lstStyle/>
          <a:p>
            <a:pPr indent="-285750" lvl="0" marL="285750" rtl="0" algn="l">
              <a:spcBef>
                <a:spcPts val="0"/>
              </a:spcBef>
              <a:spcAft>
                <a:spcPts val="0"/>
              </a:spcAft>
              <a:buClr>
                <a:schemeClr val="lt1"/>
              </a:buClr>
              <a:buSzPts val="1500"/>
              <a:buChar char="•"/>
            </a:pPr>
            <a:r>
              <a:rPr lang="en-US" sz="1500">
                <a:solidFill>
                  <a:schemeClr val="lt1"/>
                </a:solidFill>
              </a:rPr>
              <a:t>What types of data will be present in the financial data set of virtual currencies? What kind of database and data structure is most suitable for conducting short-term and long-term business analyses?</a:t>
            </a:r>
            <a:endParaRPr b="0" i="0" sz="1800" u="none" cap="none" strike="noStrike">
              <a:solidFill>
                <a:schemeClr val="lt1"/>
              </a:solidFill>
              <a:latin typeface="Arial"/>
              <a:ea typeface="Arial"/>
              <a:cs typeface="Arial"/>
              <a:sym typeface="Arial"/>
            </a:endParaRPr>
          </a:p>
        </p:txBody>
      </p:sp>
      <p:sp>
        <p:nvSpPr>
          <p:cNvPr id="131" name="Google Shape;131;p6"/>
          <p:cNvSpPr txBox="1"/>
          <p:nvPr/>
        </p:nvSpPr>
        <p:spPr>
          <a:xfrm>
            <a:off x="5882238" y="1545637"/>
            <a:ext cx="2387579" cy="279180"/>
          </a:xfrm>
          <a:prstGeom prst="rect">
            <a:avLst/>
          </a:prstGeom>
          <a:noFill/>
          <a:ln>
            <a:noFill/>
          </a:ln>
        </p:spPr>
        <p:txBody>
          <a:bodyPr anchorCtr="0" anchor="ctr" bIns="62400" lIns="120000" spcFirstLastPara="1" rIns="120000" wrap="square" tIns="62400">
            <a:normAutofit fontScale="77500" lnSpcReduction="20000"/>
          </a:bodyPr>
          <a:lstStyle/>
          <a:p>
            <a:pPr indent="0" lvl="0" marL="0" marR="0" rtl="0" algn="r">
              <a:lnSpc>
                <a:spcPct val="100000"/>
              </a:lnSpc>
              <a:spcBef>
                <a:spcPts val="0"/>
              </a:spcBef>
              <a:spcAft>
                <a:spcPts val="0"/>
              </a:spcAft>
              <a:buClr>
                <a:srgbClr val="000000"/>
              </a:buClr>
              <a:buSzPct val="100000"/>
              <a:buFont typeface="Arial"/>
              <a:buNone/>
            </a:pPr>
            <a:r>
              <a:t/>
            </a:r>
            <a:endParaRPr b="0" i="0" sz="1600" u="none" cap="none" strike="noStrike">
              <a:solidFill>
                <a:schemeClr val="dk1"/>
              </a:solidFill>
              <a:latin typeface="Arial"/>
              <a:ea typeface="Arial"/>
              <a:cs typeface="Arial"/>
              <a:sym typeface="Arial"/>
            </a:endParaRPr>
          </a:p>
        </p:txBody>
      </p:sp>
      <p:sp>
        <p:nvSpPr>
          <p:cNvPr id="132" name="Google Shape;132;p6"/>
          <p:cNvSpPr txBox="1"/>
          <p:nvPr/>
        </p:nvSpPr>
        <p:spPr>
          <a:xfrm>
            <a:off x="1210773" y="1235116"/>
            <a:ext cx="2387579" cy="279180"/>
          </a:xfrm>
          <a:prstGeom prst="rect">
            <a:avLst/>
          </a:prstGeom>
          <a:noFill/>
          <a:ln>
            <a:noFill/>
          </a:ln>
        </p:spPr>
        <p:txBody>
          <a:bodyPr anchorCtr="0" anchor="ctr" bIns="62400" lIns="120000" spcFirstLastPara="1" rIns="120000" wrap="square" tIns="624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 1:</a:t>
            </a:r>
            <a:endParaRPr b="1" i="0" sz="1600" u="none" cap="none" strike="noStrike">
              <a:solidFill>
                <a:schemeClr val="dk1"/>
              </a:solidFill>
              <a:latin typeface="Arial"/>
              <a:ea typeface="Arial"/>
              <a:cs typeface="Arial"/>
              <a:sym typeface="Arial"/>
            </a:endParaRPr>
          </a:p>
        </p:txBody>
      </p:sp>
      <p:sp>
        <p:nvSpPr>
          <p:cNvPr id="133" name="Google Shape;133;p6"/>
          <p:cNvSpPr/>
          <p:nvPr/>
        </p:nvSpPr>
        <p:spPr>
          <a:xfrm>
            <a:off x="235125" y="117201"/>
            <a:ext cx="4421700" cy="42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4C65"/>
                </a:solidFill>
              </a:rPr>
              <a:t>RESEARCH  OBJECTIVES</a:t>
            </a:r>
            <a:endParaRPr b="1" i="0" sz="2000" u="none" cap="none" strike="noStrike">
              <a:solidFill>
                <a:srgbClr val="004C65"/>
              </a:solidFill>
            </a:endParaRPr>
          </a:p>
          <a:p>
            <a:pPr indent="0" lvl="0" marL="0" marR="0" rtl="0" algn="l">
              <a:lnSpc>
                <a:spcPct val="100000"/>
              </a:lnSpc>
              <a:spcBef>
                <a:spcPts val="0"/>
              </a:spcBef>
              <a:spcAft>
                <a:spcPts val="0"/>
              </a:spcAft>
              <a:buClr>
                <a:srgbClr val="000000"/>
              </a:buClr>
              <a:buSzPts val="1800"/>
              <a:buFont typeface="Arial"/>
              <a:buNone/>
            </a:pPr>
            <a:br>
              <a:rPr b="1" i="0" lang="en-US" sz="1800" u="none" cap="none" strike="noStrike">
                <a:solidFill>
                  <a:schemeClr val="dk1"/>
                </a:solidFill>
              </a:rPr>
            </a:br>
            <a:endParaRPr b="1" i="0" sz="1800" u="none" cap="none" strike="noStrike">
              <a:solidFill>
                <a:srgbClr val="004C65"/>
              </a:solidFill>
            </a:endParaRPr>
          </a:p>
        </p:txBody>
      </p:sp>
      <p:pic>
        <p:nvPicPr>
          <p:cNvPr id="134" name="Google Shape;134;p6"/>
          <p:cNvPicPr preferRelativeResize="0"/>
          <p:nvPr/>
        </p:nvPicPr>
        <p:blipFill rotWithShape="1">
          <a:blip r:embed="rId3">
            <a:alphaModFix amt="60000"/>
          </a:blip>
          <a:srcRect b="11584" l="0" r="10897" t="13569"/>
          <a:stretch/>
        </p:blipFill>
        <p:spPr>
          <a:xfrm>
            <a:off x="8340938" y="4516119"/>
            <a:ext cx="803513" cy="610688"/>
          </a:xfrm>
          <a:prstGeom prst="rect">
            <a:avLst/>
          </a:prstGeom>
          <a:noFill/>
          <a:ln>
            <a:noFill/>
          </a:ln>
        </p:spPr>
      </p:pic>
      <p:sp>
        <p:nvSpPr>
          <p:cNvPr id="135" name="Google Shape;135;p6"/>
          <p:cNvSpPr txBox="1"/>
          <p:nvPr/>
        </p:nvSpPr>
        <p:spPr>
          <a:xfrm>
            <a:off x="5155434" y="1179993"/>
            <a:ext cx="45720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 2:</a:t>
            </a:r>
            <a:endParaRPr b="1" i="0" sz="1600" u="none" cap="none" strike="noStrike">
              <a:solidFill>
                <a:schemeClr val="dk1"/>
              </a:solidFill>
              <a:latin typeface="Arial"/>
              <a:ea typeface="Arial"/>
              <a:cs typeface="Arial"/>
              <a:sym typeface="Arial"/>
            </a:endParaRPr>
          </a:p>
        </p:txBody>
      </p:sp>
      <p:sp>
        <p:nvSpPr>
          <p:cNvPr id="136" name="Google Shape;136;p6"/>
          <p:cNvSpPr/>
          <p:nvPr/>
        </p:nvSpPr>
        <p:spPr>
          <a:xfrm>
            <a:off x="437197" y="618726"/>
            <a:ext cx="2986792" cy="710901"/>
          </a:xfrm>
          <a:prstGeom prst="rightArrow">
            <a:avLst>
              <a:gd fmla="val 50000" name="adj1"/>
              <a:gd fmla="val 50000" name="adj2"/>
            </a:avLst>
          </a:prstGeom>
          <a:solidFill>
            <a:schemeClr val="accent1"/>
          </a:solidFill>
          <a:ln cap="flat" cmpd="sng" w="25400">
            <a:solidFill>
              <a:srgbClr val="0040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Problems to be solved</a:t>
            </a:r>
            <a:r>
              <a:rPr b="0" i="0" lang="en-US" sz="1800" u="none" cap="none" strike="noStrike">
                <a:solidFill>
                  <a:schemeClr val="lt1"/>
                </a:solidFill>
                <a:latin typeface="Arial"/>
                <a:ea typeface="Arial"/>
                <a:cs typeface="Arial"/>
                <a:sym typeface="Arial"/>
              </a:rPr>
              <a:t>：</a:t>
            </a:r>
            <a:endParaRPr b="0" i="0" sz="1800" u="none" cap="none" strike="noStrike">
              <a:solidFill>
                <a:schemeClr val="lt1"/>
              </a:solidFill>
              <a:latin typeface="Arial"/>
              <a:ea typeface="Arial"/>
              <a:cs typeface="Arial"/>
              <a:sym typeface="Arial"/>
            </a:endParaRPr>
          </a:p>
        </p:txBody>
      </p:sp>
      <p:cxnSp>
        <p:nvCxnSpPr>
          <p:cNvPr id="137" name="Google Shape;137;p6"/>
          <p:cNvCxnSpPr/>
          <p:nvPr/>
        </p:nvCxnSpPr>
        <p:spPr>
          <a:xfrm>
            <a:off x="4716016" y="0"/>
            <a:ext cx="0" cy="5143500"/>
          </a:xfrm>
          <a:prstGeom prst="straightConnector1">
            <a:avLst/>
          </a:prstGeom>
          <a:noFill/>
          <a:ln cap="flat" cmpd="sng" w="9525">
            <a:solidFill>
              <a:srgbClr val="009898"/>
            </a:solidFill>
            <a:prstDash val="solid"/>
            <a:round/>
            <a:headEnd len="sm" w="sm" type="none"/>
            <a:tailEnd len="sm" w="sm" type="none"/>
          </a:ln>
        </p:spPr>
      </p:cxnSp>
      <p:sp>
        <p:nvSpPr>
          <p:cNvPr id="138" name="Google Shape;138;p6"/>
          <p:cNvSpPr/>
          <p:nvPr/>
        </p:nvSpPr>
        <p:spPr>
          <a:xfrm>
            <a:off x="460261" y="1514296"/>
            <a:ext cx="426875" cy="426875"/>
          </a:xfrm>
          <a:prstGeom prst="ellipse">
            <a:avLst/>
          </a:prstGeom>
          <a:solidFill>
            <a:schemeClr val="accent5"/>
          </a:solid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9" name="Google Shape;139;p6"/>
          <p:cNvSpPr/>
          <p:nvPr/>
        </p:nvSpPr>
        <p:spPr>
          <a:xfrm>
            <a:off x="583293" y="1653692"/>
            <a:ext cx="180812" cy="184489"/>
          </a:xfrm>
          <a:custGeom>
            <a:rect b="b" l="l" r="r" t="t"/>
            <a:pathLst>
              <a:path extrusionOk="0" h="196" w="192">
                <a:moveTo>
                  <a:pt x="155" y="0"/>
                </a:moveTo>
                <a:cubicBezTo>
                  <a:pt x="43" y="0"/>
                  <a:pt x="43" y="0"/>
                  <a:pt x="43" y="0"/>
                </a:cubicBezTo>
                <a:cubicBezTo>
                  <a:pt x="22" y="0"/>
                  <a:pt x="0" y="16"/>
                  <a:pt x="0" y="33"/>
                </a:cubicBezTo>
                <a:cubicBezTo>
                  <a:pt x="0" y="126"/>
                  <a:pt x="0" y="126"/>
                  <a:pt x="0" y="126"/>
                </a:cubicBezTo>
                <a:cubicBezTo>
                  <a:pt x="0" y="143"/>
                  <a:pt x="22" y="165"/>
                  <a:pt x="43" y="165"/>
                </a:cubicBezTo>
                <a:cubicBezTo>
                  <a:pt x="103" y="165"/>
                  <a:pt x="103" y="165"/>
                  <a:pt x="103" y="165"/>
                </a:cubicBezTo>
                <a:cubicBezTo>
                  <a:pt x="165" y="196"/>
                  <a:pt x="165" y="196"/>
                  <a:pt x="165" y="196"/>
                </a:cubicBezTo>
                <a:cubicBezTo>
                  <a:pt x="165" y="157"/>
                  <a:pt x="165" y="157"/>
                  <a:pt x="165" y="157"/>
                </a:cubicBezTo>
                <a:cubicBezTo>
                  <a:pt x="179" y="155"/>
                  <a:pt x="192" y="142"/>
                  <a:pt x="192" y="126"/>
                </a:cubicBezTo>
                <a:cubicBezTo>
                  <a:pt x="192" y="33"/>
                  <a:pt x="192" y="33"/>
                  <a:pt x="192" y="33"/>
                </a:cubicBezTo>
                <a:cubicBezTo>
                  <a:pt x="192" y="16"/>
                  <a:pt x="175" y="0"/>
                  <a:pt x="155" y="0"/>
                </a:cubicBezTo>
                <a:close/>
                <a:moveTo>
                  <a:pt x="140" y="121"/>
                </a:moveTo>
                <a:cubicBezTo>
                  <a:pt x="140" y="127"/>
                  <a:pt x="135" y="132"/>
                  <a:pt x="129" y="132"/>
                </a:cubicBezTo>
                <a:cubicBezTo>
                  <a:pt x="49" y="132"/>
                  <a:pt x="49" y="132"/>
                  <a:pt x="49" y="132"/>
                </a:cubicBezTo>
                <a:cubicBezTo>
                  <a:pt x="43" y="132"/>
                  <a:pt x="38" y="127"/>
                  <a:pt x="38" y="121"/>
                </a:cubicBezTo>
                <a:cubicBezTo>
                  <a:pt x="38" y="120"/>
                  <a:pt x="38" y="120"/>
                  <a:pt x="38" y="120"/>
                </a:cubicBezTo>
                <a:cubicBezTo>
                  <a:pt x="38" y="115"/>
                  <a:pt x="43" y="110"/>
                  <a:pt x="49" y="110"/>
                </a:cubicBezTo>
                <a:cubicBezTo>
                  <a:pt x="129" y="110"/>
                  <a:pt x="129" y="110"/>
                  <a:pt x="129" y="110"/>
                </a:cubicBezTo>
                <a:cubicBezTo>
                  <a:pt x="135" y="110"/>
                  <a:pt x="140" y="115"/>
                  <a:pt x="140" y="120"/>
                </a:cubicBezTo>
                <a:lnTo>
                  <a:pt x="140" y="121"/>
                </a:lnTo>
                <a:close/>
                <a:moveTo>
                  <a:pt x="168" y="88"/>
                </a:moveTo>
                <a:cubicBezTo>
                  <a:pt x="168" y="94"/>
                  <a:pt x="163" y="99"/>
                  <a:pt x="157" y="99"/>
                </a:cubicBezTo>
                <a:cubicBezTo>
                  <a:pt x="49" y="99"/>
                  <a:pt x="49" y="99"/>
                  <a:pt x="49" y="99"/>
                </a:cubicBezTo>
                <a:cubicBezTo>
                  <a:pt x="43" y="99"/>
                  <a:pt x="38" y="94"/>
                  <a:pt x="38" y="88"/>
                </a:cubicBezTo>
                <a:cubicBezTo>
                  <a:pt x="38" y="87"/>
                  <a:pt x="38" y="87"/>
                  <a:pt x="38" y="87"/>
                </a:cubicBezTo>
                <a:cubicBezTo>
                  <a:pt x="38" y="82"/>
                  <a:pt x="43" y="77"/>
                  <a:pt x="49" y="77"/>
                </a:cubicBezTo>
                <a:cubicBezTo>
                  <a:pt x="157" y="77"/>
                  <a:pt x="157" y="77"/>
                  <a:pt x="157" y="77"/>
                </a:cubicBezTo>
                <a:cubicBezTo>
                  <a:pt x="163" y="77"/>
                  <a:pt x="168" y="82"/>
                  <a:pt x="168" y="87"/>
                </a:cubicBezTo>
                <a:lnTo>
                  <a:pt x="168" y="88"/>
                </a:lnTo>
                <a:close/>
                <a:moveTo>
                  <a:pt x="168" y="44"/>
                </a:moveTo>
                <a:cubicBezTo>
                  <a:pt x="168" y="50"/>
                  <a:pt x="163" y="55"/>
                  <a:pt x="157" y="55"/>
                </a:cubicBezTo>
                <a:cubicBezTo>
                  <a:pt x="49" y="55"/>
                  <a:pt x="49" y="55"/>
                  <a:pt x="49" y="55"/>
                </a:cubicBezTo>
                <a:cubicBezTo>
                  <a:pt x="43" y="55"/>
                  <a:pt x="38" y="50"/>
                  <a:pt x="38" y="44"/>
                </a:cubicBezTo>
                <a:cubicBezTo>
                  <a:pt x="38" y="43"/>
                  <a:pt x="38" y="43"/>
                  <a:pt x="38" y="43"/>
                </a:cubicBezTo>
                <a:cubicBezTo>
                  <a:pt x="38" y="38"/>
                  <a:pt x="43" y="33"/>
                  <a:pt x="49" y="33"/>
                </a:cubicBezTo>
                <a:cubicBezTo>
                  <a:pt x="157" y="33"/>
                  <a:pt x="157" y="33"/>
                  <a:pt x="157" y="33"/>
                </a:cubicBezTo>
                <a:cubicBezTo>
                  <a:pt x="163" y="33"/>
                  <a:pt x="168" y="38"/>
                  <a:pt x="168" y="43"/>
                </a:cubicBezTo>
                <a:lnTo>
                  <a:pt x="168" y="44"/>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0" name="Google Shape;140;p6"/>
          <p:cNvSpPr/>
          <p:nvPr/>
        </p:nvSpPr>
        <p:spPr>
          <a:xfrm>
            <a:off x="8506913" y="1416534"/>
            <a:ext cx="426875" cy="426875"/>
          </a:xfrm>
          <a:prstGeom prst="ellipse">
            <a:avLst/>
          </a:prstGeom>
          <a:solidFill>
            <a:schemeClr val="accent5"/>
          </a:solid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1" name="Google Shape;141;p6"/>
          <p:cNvSpPr/>
          <p:nvPr/>
        </p:nvSpPr>
        <p:spPr>
          <a:xfrm>
            <a:off x="8629945" y="1555930"/>
            <a:ext cx="180812" cy="184489"/>
          </a:xfrm>
          <a:custGeom>
            <a:rect b="b" l="l" r="r" t="t"/>
            <a:pathLst>
              <a:path extrusionOk="0" h="196" w="192">
                <a:moveTo>
                  <a:pt x="155" y="0"/>
                </a:moveTo>
                <a:cubicBezTo>
                  <a:pt x="43" y="0"/>
                  <a:pt x="43" y="0"/>
                  <a:pt x="43" y="0"/>
                </a:cubicBezTo>
                <a:cubicBezTo>
                  <a:pt x="22" y="0"/>
                  <a:pt x="0" y="16"/>
                  <a:pt x="0" y="33"/>
                </a:cubicBezTo>
                <a:cubicBezTo>
                  <a:pt x="0" y="126"/>
                  <a:pt x="0" y="126"/>
                  <a:pt x="0" y="126"/>
                </a:cubicBezTo>
                <a:cubicBezTo>
                  <a:pt x="0" y="143"/>
                  <a:pt x="22" y="165"/>
                  <a:pt x="43" y="165"/>
                </a:cubicBezTo>
                <a:cubicBezTo>
                  <a:pt x="103" y="165"/>
                  <a:pt x="103" y="165"/>
                  <a:pt x="103" y="165"/>
                </a:cubicBezTo>
                <a:cubicBezTo>
                  <a:pt x="165" y="196"/>
                  <a:pt x="165" y="196"/>
                  <a:pt x="165" y="196"/>
                </a:cubicBezTo>
                <a:cubicBezTo>
                  <a:pt x="165" y="157"/>
                  <a:pt x="165" y="157"/>
                  <a:pt x="165" y="157"/>
                </a:cubicBezTo>
                <a:cubicBezTo>
                  <a:pt x="179" y="155"/>
                  <a:pt x="192" y="142"/>
                  <a:pt x="192" y="126"/>
                </a:cubicBezTo>
                <a:cubicBezTo>
                  <a:pt x="192" y="33"/>
                  <a:pt x="192" y="33"/>
                  <a:pt x="192" y="33"/>
                </a:cubicBezTo>
                <a:cubicBezTo>
                  <a:pt x="192" y="16"/>
                  <a:pt x="175" y="0"/>
                  <a:pt x="155" y="0"/>
                </a:cubicBezTo>
                <a:close/>
                <a:moveTo>
                  <a:pt x="140" y="121"/>
                </a:moveTo>
                <a:cubicBezTo>
                  <a:pt x="140" y="127"/>
                  <a:pt x="135" y="132"/>
                  <a:pt x="129" y="132"/>
                </a:cubicBezTo>
                <a:cubicBezTo>
                  <a:pt x="49" y="132"/>
                  <a:pt x="49" y="132"/>
                  <a:pt x="49" y="132"/>
                </a:cubicBezTo>
                <a:cubicBezTo>
                  <a:pt x="43" y="132"/>
                  <a:pt x="38" y="127"/>
                  <a:pt x="38" y="121"/>
                </a:cubicBezTo>
                <a:cubicBezTo>
                  <a:pt x="38" y="120"/>
                  <a:pt x="38" y="120"/>
                  <a:pt x="38" y="120"/>
                </a:cubicBezTo>
                <a:cubicBezTo>
                  <a:pt x="38" y="115"/>
                  <a:pt x="43" y="110"/>
                  <a:pt x="49" y="110"/>
                </a:cubicBezTo>
                <a:cubicBezTo>
                  <a:pt x="129" y="110"/>
                  <a:pt x="129" y="110"/>
                  <a:pt x="129" y="110"/>
                </a:cubicBezTo>
                <a:cubicBezTo>
                  <a:pt x="135" y="110"/>
                  <a:pt x="140" y="115"/>
                  <a:pt x="140" y="120"/>
                </a:cubicBezTo>
                <a:lnTo>
                  <a:pt x="140" y="121"/>
                </a:lnTo>
                <a:close/>
                <a:moveTo>
                  <a:pt x="168" y="88"/>
                </a:moveTo>
                <a:cubicBezTo>
                  <a:pt x="168" y="94"/>
                  <a:pt x="163" y="99"/>
                  <a:pt x="157" y="99"/>
                </a:cubicBezTo>
                <a:cubicBezTo>
                  <a:pt x="49" y="99"/>
                  <a:pt x="49" y="99"/>
                  <a:pt x="49" y="99"/>
                </a:cubicBezTo>
                <a:cubicBezTo>
                  <a:pt x="43" y="99"/>
                  <a:pt x="38" y="94"/>
                  <a:pt x="38" y="88"/>
                </a:cubicBezTo>
                <a:cubicBezTo>
                  <a:pt x="38" y="87"/>
                  <a:pt x="38" y="87"/>
                  <a:pt x="38" y="87"/>
                </a:cubicBezTo>
                <a:cubicBezTo>
                  <a:pt x="38" y="82"/>
                  <a:pt x="43" y="77"/>
                  <a:pt x="49" y="77"/>
                </a:cubicBezTo>
                <a:cubicBezTo>
                  <a:pt x="157" y="77"/>
                  <a:pt x="157" y="77"/>
                  <a:pt x="157" y="77"/>
                </a:cubicBezTo>
                <a:cubicBezTo>
                  <a:pt x="163" y="77"/>
                  <a:pt x="168" y="82"/>
                  <a:pt x="168" y="87"/>
                </a:cubicBezTo>
                <a:lnTo>
                  <a:pt x="168" y="88"/>
                </a:lnTo>
                <a:close/>
                <a:moveTo>
                  <a:pt x="168" y="44"/>
                </a:moveTo>
                <a:cubicBezTo>
                  <a:pt x="168" y="50"/>
                  <a:pt x="163" y="55"/>
                  <a:pt x="157" y="55"/>
                </a:cubicBezTo>
                <a:cubicBezTo>
                  <a:pt x="49" y="55"/>
                  <a:pt x="49" y="55"/>
                  <a:pt x="49" y="55"/>
                </a:cubicBezTo>
                <a:cubicBezTo>
                  <a:pt x="43" y="55"/>
                  <a:pt x="38" y="50"/>
                  <a:pt x="38" y="44"/>
                </a:cubicBezTo>
                <a:cubicBezTo>
                  <a:pt x="38" y="43"/>
                  <a:pt x="38" y="43"/>
                  <a:pt x="38" y="43"/>
                </a:cubicBezTo>
                <a:cubicBezTo>
                  <a:pt x="38" y="38"/>
                  <a:pt x="43" y="33"/>
                  <a:pt x="49" y="33"/>
                </a:cubicBezTo>
                <a:cubicBezTo>
                  <a:pt x="157" y="33"/>
                  <a:pt x="157" y="33"/>
                  <a:pt x="157" y="33"/>
                </a:cubicBezTo>
                <a:cubicBezTo>
                  <a:pt x="163" y="33"/>
                  <a:pt x="168" y="38"/>
                  <a:pt x="168" y="43"/>
                </a:cubicBezTo>
                <a:lnTo>
                  <a:pt x="168" y="44"/>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2" name="Google Shape;142;p6"/>
          <p:cNvSpPr/>
          <p:nvPr/>
        </p:nvSpPr>
        <p:spPr>
          <a:xfrm>
            <a:off x="453441" y="3813874"/>
            <a:ext cx="426875" cy="426875"/>
          </a:xfrm>
          <a:prstGeom prst="ellipse">
            <a:avLst/>
          </a:prstGeom>
          <a:solidFill>
            <a:schemeClr val="accent2"/>
          </a:solid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3" name="Google Shape;143;p6"/>
          <p:cNvSpPr/>
          <p:nvPr/>
        </p:nvSpPr>
        <p:spPr>
          <a:xfrm>
            <a:off x="576870" y="3925073"/>
            <a:ext cx="187524" cy="186929"/>
          </a:xfrm>
          <a:custGeom>
            <a:rect b="b" l="l" r="r" t="t"/>
            <a:pathLst>
              <a:path extrusionOk="0" h="204" w="205">
                <a:moveTo>
                  <a:pt x="198" y="170"/>
                </a:moveTo>
                <a:cubicBezTo>
                  <a:pt x="163" y="135"/>
                  <a:pt x="163" y="135"/>
                  <a:pt x="163" y="135"/>
                </a:cubicBezTo>
                <a:cubicBezTo>
                  <a:pt x="159" y="131"/>
                  <a:pt x="154" y="129"/>
                  <a:pt x="149" y="130"/>
                </a:cubicBezTo>
                <a:cubicBezTo>
                  <a:pt x="128" y="109"/>
                  <a:pt x="128" y="109"/>
                  <a:pt x="128" y="109"/>
                </a:cubicBezTo>
                <a:cubicBezTo>
                  <a:pt x="145" y="83"/>
                  <a:pt x="142" y="49"/>
                  <a:pt x="120" y="26"/>
                </a:cubicBezTo>
                <a:cubicBezTo>
                  <a:pt x="94" y="0"/>
                  <a:pt x="52" y="0"/>
                  <a:pt x="26" y="26"/>
                </a:cubicBezTo>
                <a:cubicBezTo>
                  <a:pt x="0" y="52"/>
                  <a:pt x="0" y="94"/>
                  <a:pt x="26" y="120"/>
                </a:cubicBezTo>
                <a:cubicBezTo>
                  <a:pt x="49" y="143"/>
                  <a:pt x="85" y="146"/>
                  <a:pt x="111" y="128"/>
                </a:cubicBezTo>
                <a:cubicBezTo>
                  <a:pt x="131" y="148"/>
                  <a:pt x="131" y="148"/>
                  <a:pt x="131" y="148"/>
                </a:cubicBezTo>
                <a:cubicBezTo>
                  <a:pt x="131" y="153"/>
                  <a:pt x="132" y="158"/>
                  <a:pt x="136" y="162"/>
                </a:cubicBezTo>
                <a:cubicBezTo>
                  <a:pt x="171" y="197"/>
                  <a:pt x="171" y="197"/>
                  <a:pt x="171" y="197"/>
                </a:cubicBezTo>
                <a:cubicBezTo>
                  <a:pt x="178" y="204"/>
                  <a:pt x="191" y="204"/>
                  <a:pt x="198" y="197"/>
                </a:cubicBezTo>
                <a:cubicBezTo>
                  <a:pt x="205" y="189"/>
                  <a:pt x="205" y="177"/>
                  <a:pt x="198" y="170"/>
                </a:cubicBezTo>
                <a:close/>
                <a:moveTo>
                  <a:pt x="45" y="101"/>
                </a:moveTo>
                <a:cubicBezTo>
                  <a:pt x="29" y="86"/>
                  <a:pt x="29" y="60"/>
                  <a:pt x="45" y="45"/>
                </a:cubicBezTo>
                <a:cubicBezTo>
                  <a:pt x="60" y="30"/>
                  <a:pt x="85" y="30"/>
                  <a:pt x="101" y="45"/>
                </a:cubicBezTo>
                <a:cubicBezTo>
                  <a:pt x="116" y="60"/>
                  <a:pt x="116" y="86"/>
                  <a:pt x="101" y="101"/>
                </a:cubicBezTo>
                <a:cubicBezTo>
                  <a:pt x="85" y="116"/>
                  <a:pt x="60" y="116"/>
                  <a:pt x="45" y="10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4" name="Google Shape;144;p6"/>
          <p:cNvSpPr/>
          <p:nvPr/>
        </p:nvSpPr>
        <p:spPr>
          <a:xfrm>
            <a:off x="8554604" y="3938208"/>
            <a:ext cx="426875" cy="426875"/>
          </a:xfrm>
          <a:prstGeom prst="ellipse">
            <a:avLst/>
          </a:prstGeom>
          <a:solidFill>
            <a:schemeClr val="accent2"/>
          </a:solid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5" name="Google Shape;145;p6"/>
          <p:cNvSpPr/>
          <p:nvPr/>
        </p:nvSpPr>
        <p:spPr>
          <a:xfrm>
            <a:off x="8678033" y="4049407"/>
            <a:ext cx="187524" cy="186929"/>
          </a:xfrm>
          <a:custGeom>
            <a:rect b="b" l="l" r="r" t="t"/>
            <a:pathLst>
              <a:path extrusionOk="0" h="204" w="205">
                <a:moveTo>
                  <a:pt x="198" y="170"/>
                </a:moveTo>
                <a:cubicBezTo>
                  <a:pt x="163" y="135"/>
                  <a:pt x="163" y="135"/>
                  <a:pt x="163" y="135"/>
                </a:cubicBezTo>
                <a:cubicBezTo>
                  <a:pt x="159" y="131"/>
                  <a:pt x="154" y="129"/>
                  <a:pt x="149" y="130"/>
                </a:cubicBezTo>
                <a:cubicBezTo>
                  <a:pt x="128" y="109"/>
                  <a:pt x="128" y="109"/>
                  <a:pt x="128" y="109"/>
                </a:cubicBezTo>
                <a:cubicBezTo>
                  <a:pt x="145" y="83"/>
                  <a:pt x="142" y="49"/>
                  <a:pt x="120" y="26"/>
                </a:cubicBezTo>
                <a:cubicBezTo>
                  <a:pt x="94" y="0"/>
                  <a:pt x="52" y="0"/>
                  <a:pt x="26" y="26"/>
                </a:cubicBezTo>
                <a:cubicBezTo>
                  <a:pt x="0" y="52"/>
                  <a:pt x="0" y="94"/>
                  <a:pt x="26" y="120"/>
                </a:cubicBezTo>
                <a:cubicBezTo>
                  <a:pt x="49" y="143"/>
                  <a:pt x="85" y="146"/>
                  <a:pt x="111" y="128"/>
                </a:cubicBezTo>
                <a:cubicBezTo>
                  <a:pt x="131" y="148"/>
                  <a:pt x="131" y="148"/>
                  <a:pt x="131" y="148"/>
                </a:cubicBezTo>
                <a:cubicBezTo>
                  <a:pt x="131" y="153"/>
                  <a:pt x="132" y="158"/>
                  <a:pt x="136" y="162"/>
                </a:cubicBezTo>
                <a:cubicBezTo>
                  <a:pt x="171" y="197"/>
                  <a:pt x="171" y="197"/>
                  <a:pt x="171" y="197"/>
                </a:cubicBezTo>
                <a:cubicBezTo>
                  <a:pt x="178" y="204"/>
                  <a:pt x="191" y="204"/>
                  <a:pt x="198" y="197"/>
                </a:cubicBezTo>
                <a:cubicBezTo>
                  <a:pt x="205" y="189"/>
                  <a:pt x="205" y="177"/>
                  <a:pt x="198" y="170"/>
                </a:cubicBezTo>
                <a:close/>
                <a:moveTo>
                  <a:pt x="45" y="101"/>
                </a:moveTo>
                <a:cubicBezTo>
                  <a:pt x="29" y="86"/>
                  <a:pt x="29" y="60"/>
                  <a:pt x="45" y="45"/>
                </a:cubicBezTo>
                <a:cubicBezTo>
                  <a:pt x="60" y="30"/>
                  <a:pt x="85" y="30"/>
                  <a:pt x="101" y="45"/>
                </a:cubicBezTo>
                <a:cubicBezTo>
                  <a:pt x="116" y="60"/>
                  <a:pt x="116" y="86"/>
                  <a:pt x="101" y="101"/>
                </a:cubicBezTo>
                <a:cubicBezTo>
                  <a:pt x="85" y="116"/>
                  <a:pt x="60" y="116"/>
                  <a:pt x="45" y="10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descr="A person holding a phone and looking at a computer&#10;&#10;AI-generated content may be incorrect." id="151" name="Google Shape;151;p8"/>
          <p:cNvPicPr preferRelativeResize="0"/>
          <p:nvPr/>
        </p:nvPicPr>
        <p:blipFill rotWithShape="1">
          <a:blip r:embed="rId3">
            <a:alphaModFix amt="20000"/>
          </a:blip>
          <a:srcRect b="0" l="0" r="0" t="0"/>
          <a:stretch/>
        </p:blipFill>
        <p:spPr>
          <a:xfrm>
            <a:off x="0" y="2142468"/>
            <a:ext cx="4457034" cy="2971356"/>
          </a:xfrm>
          <a:prstGeom prst="rect">
            <a:avLst/>
          </a:prstGeom>
          <a:noFill/>
          <a:ln>
            <a:noFill/>
          </a:ln>
        </p:spPr>
      </p:pic>
      <p:sp>
        <p:nvSpPr>
          <p:cNvPr id="152" name="Google Shape;152;p8"/>
          <p:cNvSpPr/>
          <p:nvPr/>
        </p:nvSpPr>
        <p:spPr>
          <a:xfrm>
            <a:off x="231925" y="102325"/>
            <a:ext cx="6725400" cy="425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004C65"/>
                </a:solidFill>
              </a:rPr>
              <a:t>RESEARCH OBJECTIVES</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4C6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br>
              <a:rPr b="0" i="0" lang="en-US" sz="2000" u="none" cap="none" strike="noStrike">
                <a:solidFill>
                  <a:schemeClr val="dk1"/>
                </a:solidFill>
                <a:latin typeface="Arial"/>
                <a:ea typeface="Arial"/>
                <a:cs typeface="Arial"/>
                <a:sym typeface="Arial"/>
              </a:rPr>
            </a:br>
            <a:r>
              <a:rPr b="0" i="0" lang="en-US" sz="2000" u="none" cap="none" strike="noStrike">
                <a:solidFill>
                  <a:srgbClr val="004C65"/>
                </a:solidFill>
                <a:latin typeface="Arial"/>
                <a:ea typeface="Arial"/>
                <a:cs typeface="Arial"/>
                <a:sym typeface="Arial"/>
              </a:rPr>
              <a:t>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53" name="Google Shape;153;p8"/>
          <p:cNvSpPr/>
          <p:nvPr/>
        </p:nvSpPr>
        <p:spPr>
          <a:xfrm>
            <a:off x="3587465" y="637075"/>
            <a:ext cx="1979400" cy="353700"/>
          </a:xfrm>
          <a:prstGeom prst="rect">
            <a:avLst/>
          </a:prstGeom>
          <a:solidFill>
            <a:schemeClr val="accent1"/>
          </a:solid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1665"/>
              <a:buFont typeface="Arial"/>
              <a:buNone/>
            </a:pPr>
            <a:r>
              <a:rPr b="1" i="0" lang="en-US" sz="1665" u="none" cap="none" strike="noStrike">
                <a:solidFill>
                  <a:schemeClr val="lt1"/>
                </a:solidFill>
                <a:latin typeface="Arial"/>
                <a:ea typeface="Arial"/>
                <a:cs typeface="Arial"/>
                <a:sym typeface="Arial"/>
              </a:rPr>
              <a:t>Dataset Structure</a:t>
            </a:r>
            <a:endParaRPr b="1" i="0" sz="1665" u="none" cap="none" strike="noStrike">
              <a:solidFill>
                <a:schemeClr val="lt1"/>
              </a:solidFill>
              <a:latin typeface="Arial"/>
              <a:ea typeface="Arial"/>
              <a:cs typeface="Arial"/>
              <a:sym typeface="Arial"/>
            </a:endParaRPr>
          </a:p>
        </p:txBody>
      </p:sp>
      <p:sp>
        <p:nvSpPr>
          <p:cNvPr id="154" name="Google Shape;154;p8"/>
          <p:cNvSpPr/>
          <p:nvPr/>
        </p:nvSpPr>
        <p:spPr>
          <a:xfrm>
            <a:off x="826440" y="636730"/>
            <a:ext cx="1979400" cy="338400"/>
          </a:xfrm>
          <a:prstGeom prst="rect">
            <a:avLst/>
          </a:prstGeom>
          <a:solidFill>
            <a:schemeClr val="accent1"/>
          </a:solid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1665"/>
              <a:buFont typeface="Arial"/>
              <a:buNone/>
            </a:pPr>
            <a:r>
              <a:rPr b="1" i="0" lang="en-US" sz="1665" u="none" cap="none" strike="noStrike">
                <a:solidFill>
                  <a:schemeClr val="lt1"/>
                </a:solidFill>
                <a:latin typeface="Arial"/>
                <a:ea typeface="Arial"/>
                <a:cs typeface="Arial"/>
                <a:sym typeface="Arial"/>
              </a:rPr>
              <a:t>Data Source</a:t>
            </a:r>
            <a:endParaRPr b="1" i="0" sz="1665" u="none" cap="none" strike="noStrike">
              <a:solidFill>
                <a:schemeClr val="lt1"/>
              </a:solidFill>
              <a:latin typeface="Arial"/>
              <a:ea typeface="Arial"/>
              <a:cs typeface="Arial"/>
              <a:sym typeface="Arial"/>
            </a:endParaRPr>
          </a:p>
        </p:txBody>
      </p:sp>
      <p:sp>
        <p:nvSpPr>
          <p:cNvPr id="155" name="Google Shape;155;p8"/>
          <p:cNvSpPr/>
          <p:nvPr/>
        </p:nvSpPr>
        <p:spPr>
          <a:xfrm>
            <a:off x="6391715" y="625363"/>
            <a:ext cx="2072100" cy="373500"/>
          </a:xfrm>
          <a:prstGeom prst="rect">
            <a:avLst/>
          </a:prstGeom>
          <a:solidFill>
            <a:schemeClr val="accent1"/>
          </a:solid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1800"/>
              <a:buFont typeface="Arial"/>
              <a:buNone/>
            </a:pPr>
            <a:r>
              <a:rPr b="1" i="0" lang="en-US" sz="1650" u="none" cap="none" strike="noStrike">
                <a:solidFill>
                  <a:schemeClr val="lt1"/>
                </a:solidFill>
                <a:latin typeface="Arial"/>
                <a:ea typeface="Arial"/>
                <a:cs typeface="Arial"/>
                <a:sym typeface="Arial"/>
              </a:rPr>
              <a:t>Key Fields</a:t>
            </a:r>
            <a:endParaRPr b="1" i="0" sz="1650" u="none" cap="none" strike="noStrike">
              <a:solidFill>
                <a:schemeClr val="lt1"/>
              </a:solidFill>
              <a:latin typeface="Arial"/>
              <a:ea typeface="Arial"/>
              <a:cs typeface="Arial"/>
              <a:sym typeface="Arial"/>
            </a:endParaRPr>
          </a:p>
        </p:txBody>
      </p:sp>
      <p:pic>
        <p:nvPicPr>
          <p:cNvPr id="156" name="Google Shape;156;p8"/>
          <p:cNvPicPr preferRelativeResize="0"/>
          <p:nvPr/>
        </p:nvPicPr>
        <p:blipFill rotWithShape="1">
          <a:blip r:embed="rId4">
            <a:alphaModFix/>
          </a:blip>
          <a:srcRect b="0" l="0" r="0" t="0"/>
          <a:stretch/>
        </p:blipFill>
        <p:spPr>
          <a:xfrm>
            <a:off x="5071270" y="3324605"/>
            <a:ext cx="18000" cy="108000"/>
          </a:xfrm>
          <a:prstGeom prst="rect">
            <a:avLst/>
          </a:prstGeom>
          <a:noFill/>
          <a:ln>
            <a:noFill/>
          </a:ln>
        </p:spPr>
      </p:pic>
      <p:pic>
        <p:nvPicPr>
          <p:cNvPr id="157" name="Google Shape;157;p8"/>
          <p:cNvPicPr preferRelativeResize="0"/>
          <p:nvPr/>
        </p:nvPicPr>
        <p:blipFill rotWithShape="1">
          <a:blip r:embed="rId5">
            <a:alphaModFix/>
          </a:blip>
          <a:srcRect b="0" l="0" r="0" t="0"/>
          <a:stretch/>
        </p:blipFill>
        <p:spPr>
          <a:xfrm>
            <a:off x="1903726" y="2405626"/>
            <a:ext cx="18000" cy="108000"/>
          </a:xfrm>
          <a:prstGeom prst="rect">
            <a:avLst/>
          </a:prstGeom>
          <a:noFill/>
          <a:ln>
            <a:noFill/>
          </a:ln>
        </p:spPr>
      </p:pic>
      <p:pic>
        <p:nvPicPr>
          <p:cNvPr id="158" name="Google Shape;158;p8"/>
          <p:cNvPicPr preferRelativeResize="0"/>
          <p:nvPr/>
        </p:nvPicPr>
        <p:blipFill rotWithShape="1">
          <a:blip r:embed="rId6">
            <a:alphaModFix amt="60000"/>
          </a:blip>
          <a:srcRect b="11584" l="0" r="10897" t="13569"/>
          <a:stretch/>
        </p:blipFill>
        <p:spPr>
          <a:xfrm>
            <a:off x="8340938" y="4516119"/>
            <a:ext cx="803513" cy="610688"/>
          </a:xfrm>
          <a:prstGeom prst="rect">
            <a:avLst/>
          </a:prstGeom>
          <a:noFill/>
          <a:ln>
            <a:noFill/>
          </a:ln>
        </p:spPr>
      </p:pic>
      <p:sp>
        <p:nvSpPr>
          <p:cNvPr id="159" name="Google Shape;159;p8"/>
          <p:cNvSpPr/>
          <p:nvPr/>
        </p:nvSpPr>
        <p:spPr>
          <a:xfrm>
            <a:off x="3369000" y="1066438"/>
            <a:ext cx="2406000" cy="2488800"/>
          </a:xfrm>
          <a:prstGeom prst="downArrowCallout">
            <a:avLst>
              <a:gd fmla="val 22446" name="adj1"/>
              <a:gd fmla="val 25000" name="adj2"/>
              <a:gd fmla="val 25000" name="adj3"/>
              <a:gd fmla="val 64977" name="adj4"/>
            </a:avLst>
          </a:prstGeom>
          <a:solidFill>
            <a:schemeClr val="accent1"/>
          </a:solidFill>
          <a:ln cap="flat" cmpd="sng" w="25400">
            <a:solidFill>
              <a:srgbClr val="004040"/>
            </a:solidFill>
            <a:prstDash val="solid"/>
            <a:round/>
            <a:headEnd len="sm" w="sm" type="none"/>
            <a:tailEnd len="sm" w="sm" type="none"/>
          </a:ln>
        </p:spPr>
        <p:txBody>
          <a:bodyPr anchorCtr="0" anchor="ctr" bIns="45700" lIns="91425" spcFirstLastPara="1" rIns="91425" wrap="square" tIns="45700">
            <a:noAutofit/>
          </a:bodyPr>
          <a:lstStyle/>
          <a:p>
            <a:pPr indent="-171450" lvl="0" marL="171450" rtl="0" algn="l">
              <a:spcBef>
                <a:spcPts val="0"/>
              </a:spcBef>
              <a:spcAft>
                <a:spcPts val="0"/>
              </a:spcAft>
              <a:buClr>
                <a:schemeClr val="lt1"/>
              </a:buClr>
              <a:buSzPts val="1200"/>
              <a:buChar char="•"/>
            </a:pPr>
            <a:r>
              <a:rPr b="1" lang="en-US" sz="1200">
                <a:solidFill>
                  <a:schemeClr val="lt1"/>
                </a:solidFill>
              </a:rPr>
              <a:t>~52,627 rows × 13 attributes per asset</a:t>
            </a:r>
            <a:endParaRPr b="1" sz="1200">
              <a:solidFill>
                <a:schemeClr val="lt1"/>
              </a:solidFill>
            </a:endParaRPr>
          </a:p>
          <a:p>
            <a:pPr indent="0" lvl="0" marL="457200" rtl="0" algn="l">
              <a:spcBef>
                <a:spcPts val="0"/>
              </a:spcBef>
              <a:spcAft>
                <a:spcPts val="0"/>
              </a:spcAft>
              <a:buNone/>
            </a:pPr>
            <a:r>
              <a:t/>
            </a:r>
            <a:endParaRPr b="1" sz="1200">
              <a:solidFill>
                <a:schemeClr val="lt1"/>
              </a:solidFill>
            </a:endParaRPr>
          </a:p>
          <a:p>
            <a:pPr indent="-171450" lvl="0" marL="171450" rtl="0" algn="l">
              <a:spcBef>
                <a:spcPts val="0"/>
              </a:spcBef>
              <a:spcAft>
                <a:spcPts val="0"/>
              </a:spcAft>
              <a:buClr>
                <a:schemeClr val="lt1"/>
              </a:buClr>
              <a:buSzPts val="1200"/>
              <a:buChar char="•"/>
            </a:pPr>
            <a:r>
              <a:rPr b="1" lang="en-US" sz="1200">
                <a:solidFill>
                  <a:schemeClr val="lt1"/>
                </a:solidFill>
              </a:rPr>
              <a:t>Columnar Parquet format (efficient for analytics)</a:t>
            </a:r>
            <a:endParaRPr b="1" sz="1200">
              <a:solidFill>
                <a:schemeClr val="lt1"/>
              </a:solidFill>
            </a:endParaRPr>
          </a:p>
          <a:p>
            <a:pPr indent="0" lvl="0" marL="0" rtl="0" algn="l">
              <a:spcBef>
                <a:spcPts val="0"/>
              </a:spcBef>
              <a:spcAft>
                <a:spcPts val="0"/>
              </a:spcAft>
              <a:buNone/>
            </a:pPr>
            <a:r>
              <a:t/>
            </a:r>
            <a:endParaRPr b="1" sz="1200">
              <a:solidFill>
                <a:schemeClr val="lt1"/>
              </a:solidFill>
            </a:endParaRPr>
          </a:p>
          <a:p>
            <a:pPr indent="0" lvl="0" marL="0" rtl="0" algn="l">
              <a:spcBef>
                <a:spcPts val="0"/>
              </a:spcBef>
              <a:spcAft>
                <a:spcPts val="0"/>
              </a:spcAft>
              <a:buNone/>
            </a:pPr>
            <a:r>
              <a:t/>
            </a:r>
            <a:endParaRPr b="1" sz="1200">
              <a:solidFill>
                <a:schemeClr val="lt1"/>
              </a:solidFill>
            </a:endParaRPr>
          </a:p>
          <a:p>
            <a:pPr indent="0" lvl="0" marL="0" rtl="0" algn="l">
              <a:spcBef>
                <a:spcPts val="0"/>
              </a:spcBef>
              <a:spcAft>
                <a:spcPts val="0"/>
              </a:spcAft>
              <a:buNone/>
            </a:pPr>
            <a:r>
              <a:t/>
            </a:r>
            <a:endParaRPr b="1" sz="1200">
              <a:solidFill>
                <a:schemeClr val="lt1"/>
              </a:solidFill>
            </a:endParaRPr>
          </a:p>
        </p:txBody>
      </p:sp>
      <p:sp>
        <p:nvSpPr>
          <p:cNvPr id="160" name="Google Shape;160;p8"/>
          <p:cNvSpPr/>
          <p:nvPr/>
        </p:nvSpPr>
        <p:spPr>
          <a:xfrm>
            <a:off x="569650" y="1050462"/>
            <a:ext cx="2493000" cy="2504700"/>
          </a:xfrm>
          <a:prstGeom prst="downArrowCallout">
            <a:avLst>
              <a:gd fmla="val 22446" name="adj1"/>
              <a:gd fmla="val 25000" name="adj2"/>
              <a:gd fmla="val 25000" name="adj3"/>
              <a:gd fmla="val 64977" name="adj4"/>
            </a:avLst>
          </a:prstGeom>
          <a:solidFill>
            <a:schemeClr val="accent1"/>
          </a:solidFill>
          <a:ln cap="flat" cmpd="sng" w="25400">
            <a:solidFill>
              <a:srgbClr val="004040"/>
            </a:solidFill>
            <a:prstDash val="solid"/>
            <a:round/>
            <a:headEnd len="sm" w="sm" type="none"/>
            <a:tailEnd len="sm" w="sm" type="none"/>
          </a:ln>
        </p:spPr>
        <p:txBody>
          <a:bodyPr anchorCtr="0" anchor="ctr" bIns="45700" lIns="91425" spcFirstLastPara="1" rIns="91425" wrap="square" tIns="45700">
            <a:noAutofit/>
          </a:bodyPr>
          <a:lstStyle/>
          <a:p>
            <a:pPr indent="-171450" lvl="0" marL="171450" rtl="0" algn="l">
              <a:spcBef>
                <a:spcPts val="0"/>
              </a:spcBef>
              <a:spcAft>
                <a:spcPts val="0"/>
              </a:spcAft>
              <a:buClr>
                <a:schemeClr val="lt1"/>
              </a:buClr>
              <a:buSzPts val="1200"/>
              <a:buChar char="•"/>
            </a:pPr>
            <a:r>
              <a:rPr b="1" lang="en-US" sz="1200">
                <a:solidFill>
                  <a:schemeClr val="lt1"/>
                </a:solidFill>
              </a:rPr>
              <a:t>Binance API – 30-minute OHLCV data</a:t>
            </a:r>
            <a:endParaRPr b="1" sz="1200">
              <a:solidFill>
                <a:schemeClr val="lt1"/>
              </a:solidFill>
            </a:endParaRPr>
          </a:p>
          <a:p>
            <a:pPr indent="0" lvl="0" marL="457200" rtl="0" algn="l">
              <a:spcBef>
                <a:spcPts val="0"/>
              </a:spcBef>
              <a:spcAft>
                <a:spcPts val="0"/>
              </a:spcAft>
              <a:buClr>
                <a:schemeClr val="dk1"/>
              </a:buClr>
              <a:buSzPts val="1100"/>
              <a:buFont typeface="Arial"/>
              <a:buNone/>
            </a:pPr>
            <a:r>
              <a:t/>
            </a:r>
            <a:endParaRPr b="1" sz="1200">
              <a:solidFill>
                <a:schemeClr val="lt1"/>
              </a:solidFill>
            </a:endParaRPr>
          </a:p>
          <a:p>
            <a:pPr indent="-171450" lvl="0" marL="171450" rtl="0" algn="l">
              <a:spcBef>
                <a:spcPts val="0"/>
              </a:spcBef>
              <a:spcAft>
                <a:spcPts val="0"/>
              </a:spcAft>
              <a:buClr>
                <a:schemeClr val="lt1"/>
              </a:buClr>
              <a:buSzPts val="1200"/>
              <a:buChar char="•"/>
            </a:pPr>
            <a:r>
              <a:rPr b="1" lang="en-US" sz="1200">
                <a:solidFill>
                  <a:schemeClr val="lt1"/>
                </a:solidFill>
              </a:rPr>
              <a:t>Assets: BTC/USDT and BNB/USDT</a:t>
            </a:r>
            <a:endParaRPr b="1" sz="1200">
              <a:solidFill>
                <a:schemeClr val="lt1"/>
              </a:solidFill>
            </a:endParaRPr>
          </a:p>
          <a:p>
            <a:pPr indent="0" lvl="0" marL="457200" rtl="0" algn="l">
              <a:spcBef>
                <a:spcPts val="0"/>
              </a:spcBef>
              <a:spcAft>
                <a:spcPts val="0"/>
              </a:spcAft>
              <a:buClr>
                <a:schemeClr val="dk1"/>
              </a:buClr>
              <a:buSzPts val="1100"/>
              <a:buFont typeface="Arial"/>
              <a:buNone/>
            </a:pPr>
            <a:r>
              <a:t/>
            </a:r>
            <a:endParaRPr b="1" sz="1200">
              <a:solidFill>
                <a:schemeClr val="lt1"/>
              </a:solidFill>
            </a:endParaRPr>
          </a:p>
          <a:p>
            <a:pPr indent="-171450" lvl="0" marL="171450" rtl="0" algn="l">
              <a:spcBef>
                <a:spcPts val="0"/>
              </a:spcBef>
              <a:spcAft>
                <a:spcPts val="0"/>
              </a:spcAft>
              <a:buClr>
                <a:schemeClr val="lt1"/>
              </a:buClr>
              <a:buSzPts val="1200"/>
              <a:buChar char="•"/>
            </a:pPr>
            <a:r>
              <a:rPr b="1" lang="en-US" sz="1200">
                <a:solidFill>
                  <a:schemeClr val="lt1"/>
                </a:solidFill>
              </a:rPr>
              <a:t>Time range: Nov 2022 – Oct 2025 (~3 years)</a:t>
            </a:r>
            <a:endParaRPr sz="1800">
              <a:solidFill>
                <a:schemeClr val="lt1"/>
              </a:solidFill>
            </a:endParaRPr>
          </a:p>
        </p:txBody>
      </p:sp>
      <p:sp>
        <p:nvSpPr>
          <p:cNvPr id="161" name="Google Shape;161;p8"/>
          <p:cNvSpPr/>
          <p:nvPr/>
        </p:nvSpPr>
        <p:spPr>
          <a:xfrm>
            <a:off x="6081350" y="1062850"/>
            <a:ext cx="2606400" cy="2488800"/>
          </a:xfrm>
          <a:prstGeom prst="downArrowCallout">
            <a:avLst>
              <a:gd fmla="val 23297" name="adj1"/>
              <a:gd fmla="val 25000" name="adj2"/>
              <a:gd fmla="val 25000" name="adj3"/>
              <a:gd fmla="val 64977" name="adj4"/>
            </a:avLst>
          </a:prstGeom>
          <a:solidFill>
            <a:schemeClr val="accent1"/>
          </a:solidFill>
          <a:ln cap="flat" cmpd="sng" w="25400">
            <a:solidFill>
              <a:srgbClr val="004040"/>
            </a:solidFill>
            <a:prstDash val="solid"/>
            <a:round/>
            <a:headEnd len="sm" w="sm" type="none"/>
            <a:tailEnd len="sm" w="sm" type="none"/>
          </a:ln>
        </p:spPr>
        <p:txBody>
          <a:bodyPr anchorCtr="0" anchor="ctr" bIns="45700" lIns="91425" spcFirstLastPara="1" rIns="91425" wrap="square" tIns="45700">
            <a:noAutofit/>
          </a:bodyPr>
          <a:lstStyle/>
          <a:p>
            <a:pPr indent="-171450" lvl="0" marL="171450" marR="0" rtl="0" algn="l">
              <a:lnSpc>
                <a:spcPct val="100000"/>
              </a:lnSpc>
              <a:spcBef>
                <a:spcPts val="0"/>
              </a:spcBef>
              <a:spcAft>
                <a:spcPts val="0"/>
              </a:spcAft>
              <a:buClr>
                <a:schemeClr val="lt1"/>
              </a:buClr>
              <a:buSzPts val="1200"/>
              <a:buChar char="•"/>
            </a:pPr>
            <a:r>
              <a:rPr b="1" lang="en-US" sz="1200">
                <a:solidFill>
                  <a:schemeClr val="lt1"/>
                </a:solidFill>
              </a:rPr>
              <a:t>Price: open, high, low, close</a:t>
            </a:r>
            <a:endParaRPr b="1" sz="1200">
              <a:solidFill>
                <a:schemeClr val="lt1"/>
              </a:solidFill>
            </a:endParaRPr>
          </a:p>
          <a:p>
            <a:pPr indent="-171450" lvl="0" marL="171450" marR="0" rtl="0" algn="l">
              <a:lnSpc>
                <a:spcPct val="100000"/>
              </a:lnSpc>
              <a:spcBef>
                <a:spcPts val="0"/>
              </a:spcBef>
              <a:spcAft>
                <a:spcPts val="0"/>
              </a:spcAft>
              <a:buClr>
                <a:schemeClr val="lt1"/>
              </a:buClr>
              <a:buSzPts val="1200"/>
              <a:buChar char="•"/>
            </a:pPr>
            <a:r>
              <a:rPr b="1" lang="en-US" sz="1200">
                <a:solidFill>
                  <a:schemeClr val="lt1"/>
                </a:solidFill>
              </a:rPr>
              <a:t>Volume: volume, quote_asset_volume</a:t>
            </a:r>
            <a:endParaRPr b="1" sz="1200">
              <a:solidFill>
                <a:schemeClr val="lt1"/>
              </a:solidFill>
            </a:endParaRPr>
          </a:p>
          <a:p>
            <a:pPr indent="-171450" lvl="0" marL="171450" marR="0" rtl="0" algn="l">
              <a:lnSpc>
                <a:spcPct val="100000"/>
              </a:lnSpc>
              <a:spcBef>
                <a:spcPts val="0"/>
              </a:spcBef>
              <a:spcAft>
                <a:spcPts val="0"/>
              </a:spcAft>
              <a:buClr>
                <a:schemeClr val="lt1"/>
              </a:buClr>
              <a:buSzPts val="1200"/>
              <a:buChar char="•"/>
            </a:pPr>
            <a:r>
              <a:rPr b="1" lang="en-US" sz="1200">
                <a:solidFill>
                  <a:schemeClr val="lt1"/>
                </a:solidFill>
              </a:rPr>
              <a:t>Market activity: num_trades, taker_buy_base / taker_buy_quote</a:t>
            </a:r>
            <a:endParaRPr b="1" sz="1200">
              <a:solidFill>
                <a:schemeClr val="lt1"/>
              </a:solidFill>
            </a:endParaRPr>
          </a:p>
          <a:p>
            <a:pPr indent="-171450" lvl="0" marL="171450" marR="0" rtl="0" algn="l">
              <a:lnSpc>
                <a:spcPct val="100000"/>
              </a:lnSpc>
              <a:spcBef>
                <a:spcPts val="0"/>
              </a:spcBef>
              <a:spcAft>
                <a:spcPts val="0"/>
              </a:spcAft>
              <a:buClr>
                <a:schemeClr val="lt1"/>
              </a:buClr>
              <a:buSzPts val="1200"/>
              <a:buChar char="•"/>
            </a:pPr>
            <a:r>
              <a:rPr b="1" lang="en-US" sz="1200">
                <a:solidFill>
                  <a:schemeClr val="lt1"/>
                </a:solidFill>
              </a:rPr>
              <a:t>Timestamp: open_time, close_time</a:t>
            </a:r>
            <a:endParaRPr b="1" sz="1000">
              <a:solidFill>
                <a:schemeClr val="lt1"/>
              </a:solidFill>
            </a:endParaRPr>
          </a:p>
        </p:txBody>
      </p:sp>
      <p:graphicFrame>
        <p:nvGraphicFramePr>
          <p:cNvPr id="162" name="Google Shape;162;p8"/>
          <p:cNvGraphicFramePr/>
          <p:nvPr/>
        </p:nvGraphicFramePr>
        <p:xfrm>
          <a:off x="774688" y="3567552"/>
          <a:ext cx="3000000" cy="3000000"/>
        </p:xfrm>
        <a:graphic>
          <a:graphicData uri="http://schemas.openxmlformats.org/drawingml/2006/table">
            <a:tbl>
              <a:tblPr bandRow="1" firstRow="1">
                <a:noFill/>
                <a:tableStyleId>{805C218C-16F3-43E4-B6F6-F02CF8C38FA4}</a:tableStyleId>
              </a:tblPr>
              <a:tblGrid>
                <a:gridCol w="1898650"/>
                <a:gridCol w="1898650"/>
                <a:gridCol w="1898650"/>
                <a:gridCol w="1898650"/>
              </a:tblGrid>
              <a:tr h="354950">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latin typeface="Arial"/>
                          <a:ea typeface="Arial"/>
                          <a:cs typeface="Arial"/>
                          <a:sym typeface="Arial"/>
                        </a:rPr>
                        <a:t>Asset</a:t>
                      </a:r>
                      <a:endParaRPr b="0" i="0" sz="1800" u="none" cap="none" strike="noStrike">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latin typeface="Arial"/>
                          <a:ea typeface="Arial"/>
                          <a:cs typeface="Arial"/>
                          <a:sym typeface="Arial"/>
                        </a:rPr>
                        <a:t>Rows</a:t>
                      </a:r>
                      <a:endParaRPr b="0" i="0" sz="1800" u="none" cap="none" strike="noStrike">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latin typeface="Arial"/>
                          <a:ea typeface="Arial"/>
                          <a:cs typeface="Arial"/>
                          <a:sym typeface="Arial"/>
                        </a:rPr>
                        <a:t>Columns</a:t>
                      </a:r>
                      <a:endParaRPr b="0" i="0" sz="1800" u="none" cap="none" strike="noStrike">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latin typeface="Arial"/>
                          <a:ea typeface="Arial"/>
                          <a:cs typeface="Arial"/>
                          <a:sym typeface="Arial"/>
                        </a:rPr>
                        <a:t>Years</a:t>
                      </a:r>
                      <a:endParaRPr b="0" i="0" sz="1800" u="none" cap="none" strike="noStrike">
                        <a:latin typeface="Arial"/>
                        <a:ea typeface="Arial"/>
                        <a:cs typeface="Arial"/>
                        <a:sym typeface="Arial"/>
                      </a:endParaRPr>
                    </a:p>
                  </a:txBody>
                  <a:tcPr marT="45725" marB="45725" marR="91450" marL="91450"/>
                </a:tc>
              </a:tr>
              <a:tr h="46392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latin typeface="Arial"/>
                          <a:ea typeface="Arial"/>
                          <a:cs typeface="Arial"/>
                          <a:sym typeface="Arial"/>
                        </a:rPr>
                        <a:t>BTC</a:t>
                      </a:r>
                      <a:endParaRPr b="0" i="0" sz="1800" u="none" cap="none" strike="noStrike">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latin typeface="Arial"/>
                          <a:ea typeface="Arial"/>
                          <a:cs typeface="Arial"/>
                          <a:sym typeface="Arial"/>
                        </a:rPr>
                        <a:t>52627</a:t>
                      </a:r>
                      <a:endParaRPr sz="1800" u="none" cap="none" strike="noStrike">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latin typeface="Arial"/>
                          <a:ea typeface="Arial"/>
                          <a:cs typeface="Arial"/>
                          <a:sym typeface="Arial"/>
                        </a:rPr>
                        <a:t>13</a:t>
                      </a:r>
                      <a:endParaRPr sz="1800" u="none" cap="none" strike="noStrike">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latin typeface="Arial"/>
                          <a:ea typeface="Arial"/>
                          <a:cs typeface="Arial"/>
                          <a:sym typeface="Arial"/>
                        </a:rPr>
                        <a:t>3</a:t>
                      </a:r>
                      <a:endParaRPr sz="1800" u="none" cap="none" strike="noStrike">
                        <a:latin typeface="Arial"/>
                        <a:ea typeface="Arial"/>
                        <a:cs typeface="Arial"/>
                        <a:sym typeface="Arial"/>
                      </a:endParaRPr>
                    </a:p>
                  </a:txBody>
                  <a:tcPr marT="45725" marB="45725" marR="91450" marL="91450"/>
                </a:tc>
              </a:tr>
              <a:tr h="46392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latin typeface="Arial"/>
                          <a:ea typeface="Arial"/>
                          <a:cs typeface="Arial"/>
                          <a:sym typeface="Arial"/>
                        </a:rPr>
                        <a:t>BNB</a:t>
                      </a:r>
                      <a:endParaRPr b="0" i="0" sz="1800" u="none" cap="none" strike="noStrike">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latin typeface="Arial"/>
                          <a:ea typeface="Arial"/>
                          <a:cs typeface="Arial"/>
                          <a:sym typeface="Arial"/>
                        </a:rPr>
                        <a:t>52627</a:t>
                      </a:r>
                      <a:endParaRPr sz="1800" u="none" cap="none" strike="noStrike">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latin typeface="Arial"/>
                          <a:ea typeface="Arial"/>
                          <a:cs typeface="Arial"/>
                          <a:sym typeface="Arial"/>
                        </a:rPr>
                        <a:t>13</a:t>
                      </a:r>
                      <a:endParaRPr b="0" i="0" sz="1800" u="none" cap="none" strike="noStrike">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latin typeface="Arial"/>
                          <a:ea typeface="Arial"/>
                          <a:cs typeface="Arial"/>
                          <a:sym typeface="Arial"/>
                        </a:rPr>
                        <a:t>3</a:t>
                      </a:r>
                      <a:endParaRPr b="0" i="0" sz="1800" u="none" cap="none" strike="noStrike">
                        <a:latin typeface="Arial"/>
                        <a:ea typeface="Arial"/>
                        <a:cs typeface="Arial"/>
                        <a:sym typeface="Arial"/>
                      </a:endParaRPr>
                    </a:p>
                  </a:txBody>
                  <a:tcPr marT="45725" marB="45725" marR="91450" marL="9145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descr="A diagram of a software process&#10;&#10;AI-generated content may be incorrect." id="168" name="Google Shape;168;g3af27d324c4_1_33"/>
          <p:cNvPicPr preferRelativeResize="0"/>
          <p:nvPr/>
        </p:nvPicPr>
        <p:blipFill rotWithShape="1">
          <a:blip r:embed="rId3">
            <a:alphaModFix/>
          </a:blip>
          <a:srcRect b="0" l="0" r="0" t="0"/>
          <a:stretch/>
        </p:blipFill>
        <p:spPr>
          <a:xfrm>
            <a:off x="6101239" y="512986"/>
            <a:ext cx="3042762" cy="4564140"/>
          </a:xfrm>
          <a:prstGeom prst="rect">
            <a:avLst/>
          </a:prstGeom>
          <a:noFill/>
          <a:ln>
            <a:noFill/>
          </a:ln>
        </p:spPr>
      </p:pic>
      <p:sp>
        <p:nvSpPr>
          <p:cNvPr id="169" name="Google Shape;169;g3af27d324c4_1_33"/>
          <p:cNvSpPr/>
          <p:nvPr/>
        </p:nvSpPr>
        <p:spPr>
          <a:xfrm>
            <a:off x="395535" y="1603260"/>
            <a:ext cx="2728800" cy="3117300"/>
          </a:xfrm>
          <a:prstGeom prst="rect">
            <a:avLst/>
          </a:prstGeom>
          <a:no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b="1" lang="en-US">
                <a:solidFill>
                  <a:schemeClr val="dk1"/>
                </a:solidFill>
              </a:rPr>
              <a:t>An integrated platform that provides:</a:t>
            </a:r>
            <a:endParaRPr b="1">
              <a:solidFill>
                <a:schemeClr val="dk1"/>
              </a:solidFill>
            </a:endParaRPr>
          </a:p>
          <a:p>
            <a:pPr indent="0" lvl="0" marL="0" rtl="0" algn="l">
              <a:spcBef>
                <a:spcPts val="0"/>
              </a:spcBef>
              <a:spcAft>
                <a:spcPts val="0"/>
              </a:spcAft>
              <a:buNone/>
            </a:pPr>
            <a:r>
              <a:t/>
            </a:r>
            <a:endParaRPr b="1">
              <a:solidFill>
                <a:schemeClr val="dk1"/>
              </a:solidFill>
            </a:endParaRPr>
          </a:p>
          <a:p>
            <a:pPr indent="-285750" lvl="0" marL="285750" rtl="0" algn="l">
              <a:spcBef>
                <a:spcPts val="0"/>
              </a:spcBef>
              <a:spcAft>
                <a:spcPts val="0"/>
              </a:spcAft>
              <a:buClr>
                <a:srgbClr val="3F3F3F"/>
              </a:buClr>
              <a:buSzPts val="1400"/>
              <a:buChar char="•"/>
            </a:pPr>
            <a:r>
              <a:rPr lang="en-US">
                <a:solidFill>
                  <a:srgbClr val="3F3F3F"/>
                </a:solidFill>
              </a:rPr>
              <a:t>Structures BTC/BNB OHLCV data for analytical use</a:t>
            </a:r>
            <a:endParaRPr>
              <a:solidFill>
                <a:srgbClr val="3F3F3F"/>
              </a:solidFill>
            </a:endParaRPr>
          </a:p>
          <a:p>
            <a:pPr indent="-285750" lvl="0" marL="285750" rtl="0" algn="l">
              <a:spcBef>
                <a:spcPts val="0"/>
              </a:spcBef>
              <a:spcAft>
                <a:spcPts val="0"/>
              </a:spcAft>
              <a:buClr>
                <a:srgbClr val="3F3F3F"/>
              </a:buClr>
              <a:buSzPts val="1400"/>
              <a:buChar char="•"/>
            </a:pPr>
            <a:r>
              <a:rPr lang="en-US">
                <a:solidFill>
                  <a:srgbClr val="3F3F3F"/>
                </a:solidFill>
              </a:rPr>
              <a:t>Provides time-based insights on volatility and trading activity</a:t>
            </a:r>
            <a:endParaRPr>
              <a:solidFill>
                <a:srgbClr val="3F3F3F"/>
              </a:solidFill>
            </a:endParaRPr>
          </a:p>
          <a:p>
            <a:pPr indent="-285750" lvl="0" marL="285750" rtl="0" algn="l">
              <a:spcBef>
                <a:spcPts val="0"/>
              </a:spcBef>
              <a:spcAft>
                <a:spcPts val="0"/>
              </a:spcAft>
              <a:buClr>
                <a:srgbClr val="3F3F3F"/>
              </a:buClr>
              <a:buSzPts val="1400"/>
              <a:buChar char="•"/>
            </a:pPr>
            <a:r>
              <a:rPr lang="en-US">
                <a:solidFill>
                  <a:srgbClr val="3F3F3F"/>
                </a:solidFill>
              </a:rPr>
              <a:t>Identifies optimal investment windows for high-risk and low-risk investors</a:t>
            </a:r>
            <a:endParaRPr>
              <a:solidFill>
                <a:srgbClr val="3F3F3F"/>
              </a:solidFill>
            </a:endParaRPr>
          </a:p>
          <a:p>
            <a:pPr indent="0" lvl="0" marL="457200" rtl="0" algn="l">
              <a:spcBef>
                <a:spcPts val="0"/>
              </a:spcBef>
              <a:spcAft>
                <a:spcPts val="0"/>
              </a:spcAft>
              <a:buNone/>
            </a:pPr>
            <a:r>
              <a:t/>
            </a:r>
            <a:endParaRPr>
              <a:solidFill>
                <a:srgbClr val="3F3F3F"/>
              </a:solidFill>
            </a:endParaRPr>
          </a:p>
        </p:txBody>
      </p:sp>
      <p:sp>
        <p:nvSpPr>
          <p:cNvPr id="170" name="Google Shape;170;g3af27d324c4_1_33"/>
          <p:cNvSpPr/>
          <p:nvPr/>
        </p:nvSpPr>
        <p:spPr>
          <a:xfrm>
            <a:off x="395535" y="1049480"/>
            <a:ext cx="2728800" cy="4437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00000"/>
              </a:buClr>
              <a:buSzPts val="450"/>
              <a:buFont typeface="Arial"/>
              <a:buNone/>
            </a:pPr>
            <a:br>
              <a:rPr b="1" i="0" lang="en-US" sz="450" u="none" cap="none" strike="noStrike">
                <a:solidFill>
                  <a:schemeClr val="lt1"/>
                </a:solidFill>
              </a:rPr>
            </a:br>
            <a:r>
              <a:rPr b="1" i="0" lang="en-US" sz="450" u="none" cap="none" strike="noStrike">
                <a:solidFill>
                  <a:schemeClr val="lt1"/>
                </a:solidFill>
              </a:rPr>
              <a:t>                                                        </a:t>
            </a:r>
            <a:r>
              <a:rPr b="1" i="0" lang="en-US" sz="1800" u="none" cap="none" strike="noStrike">
                <a:solidFill>
                  <a:schemeClr val="lt1"/>
                </a:solidFill>
              </a:rPr>
              <a:t>Solution</a:t>
            </a:r>
            <a:endParaRPr b="1" i="0" sz="1800" u="none" cap="none" strike="noStrike">
              <a:solidFill>
                <a:schemeClr val="lt1"/>
              </a:solidFill>
            </a:endParaRPr>
          </a:p>
        </p:txBody>
      </p:sp>
      <p:sp>
        <p:nvSpPr>
          <p:cNvPr id="171" name="Google Shape;171;g3af27d324c4_1_33"/>
          <p:cNvSpPr/>
          <p:nvPr/>
        </p:nvSpPr>
        <p:spPr>
          <a:xfrm>
            <a:off x="3307350" y="1603225"/>
            <a:ext cx="2776800" cy="3117300"/>
          </a:xfrm>
          <a:prstGeom prst="rect">
            <a:avLst/>
          </a:prstGeom>
          <a:no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b="1" lang="en-US">
                <a:solidFill>
                  <a:schemeClr val="dk1"/>
                </a:solidFill>
              </a:rPr>
              <a:t>Enables investors and analysts to:</a:t>
            </a:r>
            <a:endParaRPr b="1">
              <a:solidFill>
                <a:schemeClr val="dk1"/>
              </a:solidFill>
            </a:endParaRPr>
          </a:p>
          <a:p>
            <a:pPr indent="0" lvl="0" marL="0" rtl="0" algn="l">
              <a:spcBef>
                <a:spcPts val="0"/>
              </a:spcBef>
              <a:spcAft>
                <a:spcPts val="0"/>
              </a:spcAft>
              <a:buNone/>
            </a:pPr>
            <a:r>
              <a:t/>
            </a:r>
            <a:endParaRPr b="1">
              <a:solidFill>
                <a:schemeClr val="dk1"/>
              </a:solidFill>
            </a:endParaRPr>
          </a:p>
          <a:p>
            <a:pPr indent="-285750" lvl="0" marL="285750" rtl="0" algn="l">
              <a:spcBef>
                <a:spcPts val="0"/>
              </a:spcBef>
              <a:spcAft>
                <a:spcPts val="0"/>
              </a:spcAft>
              <a:buClr>
                <a:srgbClr val="3F3F3F"/>
              </a:buClr>
              <a:buSzPts val="1400"/>
              <a:buChar char="•"/>
            </a:pPr>
            <a:r>
              <a:rPr lang="en-US">
                <a:solidFill>
                  <a:srgbClr val="3F3F3F"/>
                </a:solidFill>
              </a:rPr>
              <a:t>Understand weekly, and seasonal market patterns</a:t>
            </a:r>
            <a:endParaRPr>
              <a:solidFill>
                <a:srgbClr val="3F3F3F"/>
              </a:solidFill>
            </a:endParaRPr>
          </a:p>
          <a:p>
            <a:pPr indent="-285750" lvl="0" marL="285750" rtl="0" algn="l">
              <a:spcBef>
                <a:spcPts val="0"/>
              </a:spcBef>
              <a:spcAft>
                <a:spcPts val="0"/>
              </a:spcAft>
              <a:buClr>
                <a:srgbClr val="3F3F3F"/>
              </a:buClr>
              <a:buSzPts val="1400"/>
              <a:buChar char="•"/>
            </a:pPr>
            <a:r>
              <a:rPr lang="en-US">
                <a:solidFill>
                  <a:srgbClr val="3F3F3F"/>
                </a:solidFill>
              </a:rPr>
              <a:t>Compare BTC vs. BNB based on risk and activity levels</a:t>
            </a:r>
            <a:endParaRPr>
              <a:solidFill>
                <a:srgbClr val="3F3F3F"/>
              </a:solidFill>
            </a:endParaRPr>
          </a:p>
          <a:p>
            <a:pPr indent="-285750" lvl="0" marL="285750" rtl="0" algn="l">
              <a:spcBef>
                <a:spcPts val="0"/>
              </a:spcBef>
              <a:spcAft>
                <a:spcPts val="0"/>
              </a:spcAft>
              <a:buClr>
                <a:srgbClr val="3F3F3F"/>
              </a:buClr>
              <a:buSzPts val="1400"/>
              <a:buChar char="•"/>
            </a:pPr>
            <a:r>
              <a:rPr lang="en-US">
                <a:solidFill>
                  <a:srgbClr val="3F3F3F"/>
                </a:solidFill>
              </a:rPr>
              <a:t>Make data-driven, timing-based investment decisions</a:t>
            </a:r>
            <a:endParaRPr>
              <a:solidFill>
                <a:srgbClr val="3F3F3F"/>
              </a:solidFill>
            </a:endParaRPr>
          </a:p>
          <a:p>
            <a:pPr indent="0" lvl="0" marL="0" rtl="0" algn="l">
              <a:spcBef>
                <a:spcPts val="0"/>
              </a:spcBef>
              <a:spcAft>
                <a:spcPts val="0"/>
              </a:spcAft>
              <a:buNone/>
            </a:pPr>
            <a:r>
              <a:t/>
            </a:r>
            <a:endParaRPr>
              <a:solidFill>
                <a:srgbClr val="3F3F3F"/>
              </a:solidFill>
            </a:endParaRPr>
          </a:p>
          <a:p>
            <a:pPr indent="0" lvl="0" marL="0" rtl="0" algn="l">
              <a:spcBef>
                <a:spcPts val="0"/>
              </a:spcBef>
              <a:spcAft>
                <a:spcPts val="0"/>
              </a:spcAft>
              <a:buNone/>
            </a:pPr>
            <a:r>
              <a:t/>
            </a:r>
            <a:endParaRPr>
              <a:solidFill>
                <a:srgbClr val="3F3F3F"/>
              </a:solidFill>
            </a:endParaRPr>
          </a:p>
        </p:txBody>
      </p:sp>
      <p:sp>
        <p:nvSpPr>
          <p:cNvPr id="172" name="Google Shape;172;g3af27d324c4_1_33"/>
          <p:cNvSpPr/>
          <p:nvPr/>
        </p:nvSpPr>
        <p:spPr>
          <a:xfrm>
            <a:off x="3325075" y="1047925"/>
            <a:ext cx="2728800" cy="4437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rPr>
              <a:t>Value Proposition</a:t>
            </a:r>
            <a:endParaRPr b="1" i="0" sz="1800" u="none" cap="none" strike="noStrike">
              <a:solidFill>
                <a:schemeClr val="lt1"/>
              </a:solidFill>
            </a:endParaRPr>
          </a:p>
        </p:txBody>
      </p:sp>
      <p:sp>
        <p:nvSpPr>
          <p:cNvPr id="173" name="Google Shape;173;g3af27d324c4_1_33"/>
          <p:cNvSpPr/>
          <p:nvPr/>
        </p:nvSpPr>
        <p:spPr>
          <a:xfrm>
            <a:off x="212538" y="106501"/>
            <a:ext cx="3094800" cy="443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4C65"/>
                </a:solidFill>
              </a:rPr>
              <a:t>EXECUTIVE SUMMARY  </a:t>
            </a:r>
            <a:endParaRPr b="1" i="0" sz="2000" u="none" cap="none" strike="noStrike">
              <a:solidFill>
                <a:schemeClr val="dk1"/>
              </a:solidFil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endParaRPr>
          </a:p>
        </p:txBody>
      </p:sp>
      <p:pic>
        <p:nvPicPr>
          <p:cNvPr id="174" name="Google Shape;174;g3af27d324c4_1_33"/>
          <p:cNvPicPr preferRelativeResize="0"/>
          <p:nvPr/>
        </p:nvPicPr>
        <p:blipFill rotWithShape="1">
          <a:blip r:embed="rId4">
            <a:alphaModFix amt="60000"/>
          </a:blip>
          <a:srcRect b="11585" l="0" r="10897" t="13569"/>
          <a:stretch/>
        </p:blipFill>
        <p:spPr>
          <a:xfrm>
            <a:off x="8340938" y="4516119"/>
            <a:ext cx="803513" cy="610688"/>
          </a:xfrm>
          <a:prstGeom prst="rect">
            <a:avLst/>
          </a:prstGeom>
          <a:noFill/>
          <a:ln>
            <a:noFill/>
          </a:ln>
        </p:spPr>
      </p:pic>
      <p:pic>
        <p:nvPicPr>
          <p:cNvPr id="175" name="Google Shape;175;g3af27d324c4_1_33"/>
          <p:cNvPicPr preferRelativeResize="0"/>
          <p:nvPr/>
        </p:nvPicPr>
        <p:blipFill rotWithShape="1">
          <a:blip r:embed="rId5">
            <a:alphaModFix/>
          </a:blip>
          <a:srcRect b="0" l="0" r="0" t="0"/>
          <a:stretch/>
        </p:blipFill>
        <p:spPr>
          <a:xfrm>
            <a:off x="0" y="-1"/>
            <a:ext cx="9143999" cy="5143501"/>
          </a:xfrm>
          <a:prstGeom prst="rect">
            <a:avLst/>
          </a:prstGeom>
          <a:noFill/>
          <a:ln>
            <a:noFill/>
          </a:ln>
        </p:spPr>
      </p:pic>
      <p:sp>
        <p:nvSpPr>
          <p:cNvPr id="176" name="Google Shape;176;g3af27d324c4_1_33"/>
          <p:cNvSpPr txBox="1"/>
          <p:nvPr/>
        </p:nvSpPr>
        <p:spPr>
          <a:xfrm>
            <a:off x="2711300" y="1992450"/>
            <a:ext cx="4948200" cy="9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F0FEFE"/>
                </a:solidFill>
              </a:rPr>
              <a:t>03  </a:t>
            </a:r>
            <a:r>
              <a:rPr b="1" lang="en-US" sz="3200">
                <a:solidFill>
                  <a:schemeClr val="dk1"/>
                </a:solidFill>
                <a:latin typeface="Microsoft YaHei"/>
                <a:ea typeface="Microsoft YaHei"/>
                <a:cs typeface="Microsoft YaHei"/>
                <a:sym typeface="Microsoft YaHei"/>
              </a:rPr>
              <a:t>   </a:t>
            </a:r>
            <a:r>
              <a:rPr b="1" lang="en-US" sz="3200">
                <a:solidFill>
                  <a:srgbClr val="F0FEFE"/>
                </a:solidFill>
              </a:rPr>
              <a:t>Data Profile</a:t>
            </a:r>
            <a:endParaRPr b="1" sz="3200">
              <a:solidFill>
                <a:schemeClr val="dk1"/>
              </a:solidFill>
              <a:latin typeface="Microsoft YaHei"/>
              <a:ea typeface="Microsoft YaHei"/>
              <a:cs typeface="Microsoft YaHei"/>
              <a:sym typeface="Microsoft YaHe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9"/>
          <p:cNvSpPr/>
          <p:nvPr/>
        </p:nvSpPr>
        <p:spPr>
          <a:xfrm>
            <a:off x="7777550" y="179525"/>
            <a:ext cx="865800" cy="82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icrosoft YaHei"/>
              <a:ea typeface="Microsoft YaHei"/>
              <a:cs typeface="Microsoft YaHei"/>
              <a:sym typeface="Microsoft YaHei"/>
            </a:endParaRPr>
          </a:p>
        </p:txBody>
      </p:sp>
      <p:sp>
        <p:nvSpPr>
          <p:cNvPr id="183" name="Google Shape;183;p9"/>
          <p:cNvSpPr/>
          <p:nvPr/>
        </p:nvSpPr>
        <p:spPr>
          <a:xfrm>
            <a:off x="5672450" y="179525"/>
            <a:ext cx="865800" cy="82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icrosoft YaHei"/>
              <a:ea typeface="Microsoft YaHei"/>
              <a:cs typeface="Microsoft YaHei"/>
              <a:sym typeface="Microsoft YaHei"/>
            </a:endParaRPr>
          </a:p>
        </p:txBody>
      </p:sp>
      <p:sp>
        <p:nvSpPr>
          <p:cNvPr id="184" name="Google Shape;184;p9"/>
          <p:cNvSpPr/>
          <p:nvPr/>
        </p:nvSpPr>
        <p:spPr>
          <a:xfrm>
            <a:off x="486250" y="4141225"/>
            <a:ext cx="865800" cy="82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icrosoft YaHei"/>
              <a:ea typeface="Microsoft YaHei"/>
              <a:cs typeface="Microsoft YaHei"/>
              <a:sym typeface="Microsoft YaHei"/>
            </a:endParaRPr>
          </a:p>
        </p:txBody>
      </p:sp>
      <p:sp>
        <p:nvSpPr>
          <p:cNvPr id="185" name="Google Shape;185;p9"/>
          <p:cNvSpPr/>
          <p:nvPr/>
        </p:nvSpPr>
        <p:spPr>
          <a:xfrm>
            <a:off x="2765950" y="4141225"/>
            <a:ext cx="865800" cy="82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icrosoft YaHei"/>
              <a:ea typeface="Microsoft YaHei"/>
              <a:cs typeface="Microsoft YaHei"/>
              <a:sym typeface="Microsoft YaHei"/>
            </a:endParaRPr>
          </a:p>
        </p:txBody>
      </p:sp>
      <p:sp>
        <p:nvSpPr>
          <p:cNvPr id="186" name="Google Shape;186;p9"/>
          <p:cNvSpPr/>
          <p:nvPr/>
        </p:nvSpPr>
        <p:spPr>
          <a:xfrm>
            <a:off x="486250" y="1002725"/>
            <a:ext cx="3145500" cy="3530100"/>
          </a:xfrm>
          <a:prstGeom prst="rect">
            <a:avLst/>
          </a:prstGeom>
          <a:solidFill>
            <a:srgbClr val="D8D8D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1600">
                <a:solidFill>
                  <a:schemeClr val="accent3"/>
                </a:solidFill>
              </a:rPr>
              <a:t>Outliers &amp; Anomalies</a:t>
            </a:r>
            <a:endParaRPr b="1" sz="1600">
              <a:solidFill>
                <a:schemeClr val="accent3"/>
              </a:solidFill>
            </a:endParaRPr>
          </a:p>
          <a:p>
            <a:pPr indent="0" lvl="0" marL="0" rtl="0" algn="l">
              <a:spcBef>
                <a:spcPts val="0"/>
              </a:spcBef>
              <a:spcAft>
                <a:spcPts val="0"/>
              </a:spcAft>
              <a:buNone/>
            </a:pPr>
            <a:r>
              <a:t/>
            </a:r>
            <a:endParaRPr b="1" sz="1600">
              <a:solidFill>
                <a:schemeClr val="accent3"/>
              </a:solidFill>
            </a:endParaRPr>
          </a:p>
          <a:p>
            <a:pPr indent="-276225" lvl="0" marL="428625" rtl="0" algn="l">
              <a:spcBef>
                <a:spcPts val="0"/>
              </a:spcBef>
              <a:spcAft>
                <a:spcPts val="0"/>
              </a:spcAft>
              <a:buClr>
                <a:srgbClr val="3F3F3F"/>
              </a:buClr>
              <a:buSzPts val="1200"/>
              <a:buChar char="•"/>
            </a:pPr>
            <a:r>
              <a:rPr lang="en-US" sz="1200">
                <a:solidFill>
                  <a:srgbClr val="3F3F3F"/>
                </a:solidFill>
              </a:rPr>
              <a:t>No missing OHLCV values across BTC/BNB datasets.</a:t>
            </a:r>
            <a:endParaRPr sz="1200">
              <a:solidFill>
                <a:srgbClr val="3F3F3F"/>
              </a:solidFill>
            </a:endParaRPr>
          </a:p>
          <a:p>
            <a:pPr indent="0" lvl="0" marL="914400" rtl="0" algn="l">
              <a:spcBef>
                <a:spcPts val="0"/>
              </a:spcBef>
              <a:spcAft>
                <a:spcPts val="0"/>
              </a:spcAft>
              <a:buClr>
                <a:schemeClr val="dk1"/>
              </a:buClr>
              <a:buSzPts val="1350"/>
              <a:buFont typeface="Arial"/>
              <a:buNone/>
            </a:pPr>
            <a:r>
              <a:t/>
            </a:r>
            <a:endParaRPr sz="1200">
              <a:solidFill>
                <a:srgbClr val="3F3F3F"/>
              </a:solidFill>
            </a:endParaRPr>
          </a:p>
          <a:p>
            <a:pPr indent="-276225" lvl="0" marL="428625" rtl="0" algn="l">
              <a:spcBef>
                <a:spcPts val="0"/>
              </a:spcBef>
              <a:spcAft>
                <a:spcPts val="0"/>
              </a:spcAft>
              <a:buClr>
                <a:srgbClr val="3F3F3F"/>
              </a:buClr>
              <a:buSzPts val="1200"/>
              <a:buChar char="•"/>
            </a:pPr>
            <a:r>
              <a:rPr lang="en-US" sz="1200">
                <a:solidFill>
                  <a:srgbClr val="3F3F3F"/>
                </a:solidFill>
              </a:rPr>
              <a:t>Removed duplicated candles based on (symbol, interval, open_time).</a:t>
            </a:r>
            <a:br>
              <a:rPr lang="en-US" sz="1200">
                <a:solidFill>
                  <a:srgbClr val="3F3F3F"/>
                </a:solidFill>
              </a:rPr>
            </a:br>
            <a:endParaRPr sz="1200">
              <a:solidFill>
                <a:srgbClr val="3F3F3F"/>
              </a:solidFill>
            </a:endParaRPr>
          </a:p>
          <a:p>
            <a:pPr indent="-276225" lvl="0" marL="428625" rtl="0" algn="l">
              <a:spcBef>
                <a:spcPts val="0"/>
              </a:spcBef>
              <a:spcAft>
                <a:spcPts val="0"/>
              </a:spcAft>
              <a:buClr>
                <a:srgbClr val="3F3F3F"/>
              </a:buClr>
              <a:buSzPts val="1200"/>
              <a:buChar char="•"/>
            </a:pPr>
            <a:r>
              <a:rPr lang="en-US" sz="1200">
                <a:solidFill>
                  <a:srgbClr val="3F3F3F"/>
                </a:solidFill>
              </a:rPr>
              <a:t>Zero-volume rows handled using VWAP adjustment.</a:t>
            </a:r>
            <a:endParaRPr sz="1200">
              <a:solidFill>
                <a:srgbClr val="3F3F3F"/>
              </a:solidFill>
            </a:endParaRPr>
          </a:p>
          <a:p>
            <a:pPr indent="-228600" lvl="0" marL="457200" rtl="0" algn="l">
              <a:spcBef>
                <a:spcPts val="0"/>
              </a:spcBef>
              <a:spcAft>
                <a:spcPts val="0"/>
              </a:spcAft>
              <a:buClr>
                <a:srgbClr val="3F3F3F"/>
              </a:buClr>
              <a:buSzPts val="1350"/>
              <a:buFont typeface="Arial"/>
              <a:buNone/>
            </a:pPr>
            <a:r>
              <a:t/>
            </a:r>
            <a:endParaRPr sz="1200">
              <a:solidFill>
                <a:srgbClr val="3F3F3F"/>
              </a:solidFill>
            </a:endParaRPr>
          </a:p>
          <a:p>
            <a:pPr indent="-276225" lvl="0" marL="428625" rtl="0" algn="l">
              <a:spcBef>
                <a:spcPts val="0"/>
              </a:spcBef>
              <a:spcAft>
                <a:spcPts val="0"/>
              </a:spcAft>
              <a:buClr>
                <a:srgbClr val="3F3F3F"/>
              </a:buClr>
              <a:buSzPts val="1200"/>
              <a:buChar char="•"/>
            </a:pPr>
            <a:r>
              <a:rPr lang="en-US" sz="1200">
                <a:solidFill>
                  <a:srgbClr val="3F3F3F"/>
                </a:solidFill>
              </a:rPr>
              <a:t>Verified integrity: no negative prices, no null volumes.</a:t>
            </a:r>
            <a:endParaRPr sz="1200">
              <a:solidFill>
                <a:srgbClr val="3F3F3F"/>
              </a:solidFill>
            </a:endParaRPr>
          </a:p>
          <a:p>
            <a:pPr indent="0" lvl="0" marL="0" rtl="0" algn="l">
              <a:spcBef>
                <a:spcPts val="0"/>
              </a:spcBef>
              <a:spcAft>
                <a:spcPts val="0"/>
              </a:spcAft>
              <a:buNone/>
            </a:pPr>
            <a:r>
              <a:t/>
            </a:r>
            <a:endParaRPr sz="1200">
              <a:solidFill>
                <a:srgbClr val="3F3F3F"/>
              </a:solidFill>
            </a:endParaRPr>
          </a:p>
          <a:p>
            <a:pPr indent="0" lvl="0" marL="0" rtl="0" algn="l">
              <a:spcBef>
                <a:spcPts val="0"/>
              </a:spcBef>
              <a:spcAft>
                <a:spcPts val="0"/>
              </a:spcAft>
              <a:buNone/>
            </a:pPr>
            <a:r>
              <a:t/>
            </a:r>
            <a:endParaRPr sz="1200">
              <a:solidFill>
                <a:srgbClr val="3F3F3F"/>
              </a:solidFill>
            </a:endParaRPr>
          </a:p>
          <a:p>
            <a:pPr indent="0" lvl="0" marL="0" rtl="0" algn="l">
              <a:spcBef>
                <a:spcPts val="0"/>
              </a:spcBef>
              <a:spcAft>
                <a:spcPts val="0"/>
              </a:spcAft>
              <a:buNone/>
            </a:pPr>
            <a:r>
              <a:t/>
            </a:r>
            <a:endParaRPr sz="1200">
              <a:solidFill>
                <a:srgbClr val="3F3F3F"/>
              </a:solidFill>
            </a:endParaRPr>
          </a:p>
          <a:p>
            <a:pPr indent="0" lvl="0" marL="0" rtl="0" algn="l">
              <a:spcBef>
                <a:spcPts val="0"/>
              </a:spcBef>
              <a:spcAft>
                <a:spcPts val="0"/>
              </a:spcAft>
              <a:buNone/>
            </a:pPr>
            <a:r>
              <a:t/>
            </a:r>
            <a:endParaRPr sz="1200">
              <a:solidFill>
                <a:srgbClr val="3F3F3F"/>
              </a:solidFill>
            </a:endParaRPr>
          </a:p>
          <a:p>
            <a:pPr indent="0" lvl="0" marL="0" rtl="0" algn="l">
              <a:spcBef>
                <a:spcPts val="0"/>
              </a:spcBef>
              <a:spcAft>
                <a:spcPts val="0"/>
              </a:spcAft>
              <a:buNone/>
            </a:pPr>
            <a:r>
              <a:t/>
            </a:r>
            <a:endParaRPr sz="1200">
              <a:solidFill>
                <a:srgbClr val="3F3F3F"/>
              </a:solidFill>
            </a:endParaRPr>
          </a:p>
        </p:txBody>
      </p:sp>
      <p:sp>
        <p:nvSpPr>
          <p:cNvPr id="187" name="Google Shape;187;p9"/>
          <p:cNvSpPr/>
          <p:nvPr/>
        </p:nvSpPr>
        <p:spPr>
          <a:xfrm>
            <a:off x="5672450" y="3392625"/>
            <a:ext cx="2970900" cy="1571700"/>
          </a:xfrm>
          <a:prstGeom prst="rect">
            <a:avLst/>
          </a:prstGeom>
          <a:solidFill>
            <a:srgbClr val="D8D8D8"/>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1600">
                <a:solidFill>
                  <a:schemeClr val="accent4"/>
                </a:solidFill>
              </a:rPr>
              <a:t> Methods</a:t>
            </a:r>
            <a:endParaRPr b="1" sz="1600">
              <a:solidFill>
                <a:schemeClr val="accent4"/>
              </a:solidFill>
            </a:endParaRPr>
          </a:p>
          <a:p>
            <a:pPr indent="0" lvl="0" marL="0" rtl="0" algn="l">
              <a:lnSpc>
                <a:spcPct val="90000"/>
              </a:lnSpc>
              <a:spcBef>
                <a:spcPts val="0"/>
              </a:spcBef>
              <a:spcAft>
                <a:spcPts val="0"/>
              </a:spcAft>
              <a:buNone/>
            </a:pPr>
            <a:r>
              <a:t/>
            </a:r>
            <a:endParaRPr b="1" sz="1600">
              <a:solidFill>
                <a:schemeClr val="accent4"/>
              </a:solidFill>
            </a:endParaRPr>
          </a:p>
          <a:p>
            <a:pPr indent="-273875" lvl="0" marL="426085" rtl="0" algn="l">
              <a:spcBef>
                <a:spcPts val="0"/>
              </a:spcBef>
              <a:spcAft>
                <a:spcPts val="0"/>
              </a:spcAft>
              <a:buClr>
                <a:srgbClr val="3F3F3F"/>
              </a:buClr>
              <a:buSzPts val="1200"/>
              <a:buChar char="•"/>
            </a:pPr>
            <a:r>
              <a:rPr lang="en-US" sz="1200">
                <a:solidFill>
                  <a:srgbClr val="3F3F3F"/>
                </a:solidFill>
              </a:rPr>
              <a:t>BTC and BNB datasets share identical schema.</a:t>
            </a:r>
            <a:br>
              <a:rPr lang="en-US" sz="1200">
                <a:solidFill>
                  <a:srgbClr val="3F3F3F"/>
                </a:solidFill>
              </a:rPr>
            </a:br>
            <a:endParaRPr sz="1200">
              <a:solidFill>
                <a:srgbClr val="3F3F3F"/>
              </a:solidFill>
            </a:endParaRPr>
          </a:p>
          <a:p>
            <a:pPr indent="-273875" lvl="0" marL="426085" rtl="0" algn="l">
              <a:spcBef>
                <a:spcPts val="0"/>
              </a:spcBef>
              <a:spcAft>
                <a:spcPts val="0"/>
              </a:spcAft>
              <a:buClr>
                <a:srgbClr val="3F3F3F"/>
              </a:buClr>
              <a:buSzPts val="1200"/>
              <a:buChar char="•"/>
            </a:pPr>
            <a:r>
              <a:rPr lang="en-US" sz="1200">
                <a:solidFill>
                  <a:srgbClr val="3F3F3F"/>
                </a:solidFill>
              </a:rPr>
              <a:t>No merging/joining needed; analyzed independently.</a:t>
            </a:r>
            <a:endParaRPr sz="1800">
              <a:solidFill>
                <a:schemeClr val="dk1"/>
              </a:solidFill>
            </a:endParaRPr>
          </a:p>
        </p:txBody>
      </p:sp>
      <p:sp>
        <p:nvSpPr>
          <p:cNvPr id="188" name="Google Shape;188;p9"/>
          <p:cNvSpPr/>
          <p:nvPr/>
        </p:nvSpPr>
        <p:spPr>
          <a:xfrm>
            <a:off x="5672450" y="585588"/>
            <a:ext cx="2970900" cy="2674500"/>
          </a:xfrm>
          <a:prstGeom prst="rect">
            <a:avLst/>
          </a:prstGeom>
          <a:solidFill>
            <a:srgbClr val="D8D8D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1600">
                <a:solidFill>
                  <a:schemeClr val="accent4"/>
                </a:solidFill>
              </a:rPr>
              <a:t>Aggregations</a:t>
            </a:r>
            <a:endParaRPr b="1" sz="1600">
              <a:solidFill>
                <a:schemeClr val="accent4"/>
              </a:solidFill>
            </a:endParaRPr>
          </a:p>
          <a:p>
            <a:pPr indent="0" lvl="0" marL="0" rtl="0" algn="l">
              <a:spcBef>
                <a:spcPts val="0"/>
              </a:spcBef>
              <a:spcAft>
                <a:spcPts val="0"/>
              </a:spcAft>
              <a:buNone/>
            </a:pPr>
            <a:r>
              <a:t/>
            </a:r>
            <a:endParaRPr b="1" sz="1600">
              <a:solidFill>
                <a:schemeClr val="accent4"/>
              </a:solidFill>
            </a:endParaRPr>
          </a:p>
          <a:p>
            <a:pPr indent="-306070" lvl="0" marL="457200" rtl="0" algn="l">
              <a:spcBef>
                <a:spcPts val="0"/>
              </a:spcBef>
              <a:spcAft>
                <a:spcPts val="0"/>
              </a:spcAft>
              <a:buClr>
                <a:srgbClr val="3F3F3F"/>
              </a:buClr>
              <a:buSzPts val="1200"/>
              <a:buChar char="•"/>
            </a:pPr>
            <a:r>
              <a:rPr lang="en-US" sz="1200">
                <a:solidFill>
                  <a:srgbClr val="3F3F3F"/>
                </a:solidFill>
              </a:rPr>
              <a:t>Computed 30-minute log returns.</a:t>
            </a:r>
            <a:endParaRPr sz="1200">
              <a:solidFill>
                <a:srgbClr val="3F3F3F"/>
              </a:solidFill>
            </a:endParaRPr>
          </a:p>
          <a:p>
            <a:pPr indent="0" lvl="0" marL="457200" rtl="0" algn="l">
              <a:spcBef>
                <a:spcPts val="0"/>
              </a:spcBef>
              <a:spcAft>
                <a:spcPts val="0"/>
              </a:spcAft>
              <a:buClr>
                <a:schemeClr val="dk1"/>
              </a:buClr>
              <a:buSzPts val="1100"/>
              <a:buFont typeface="Arial"/>
              <a:buNone/>
            </a:pPr>
            <a:r>
              <a:t/>
            </a:r>
            <a:endParaRPr sz="1200">
              <a:solidFill>
                <a:srgbClr val="3F3F3F"/>
              </a:solidFill>
            </a:endParaRPr>
          </a:p>
          <a:p>
            <a:pPr indent="-306070" lvl="0" marL="457200" rtl="0" algn="l">
              <a:spcBef>
                <a:spcPts val="0"/>
              </a:spcBef>
              <a:spcAft>
                <a:spcPts val="0"/>
              </a:spcAft>
              <a:buClr>
                <a:srgbClr val="3F3F3F"/>
              </a:buClr>
              <a:buSzPts val="1200"/>
              <a:buChar char="•"/>
            </a:pPr>
            <a:r>
              <a:rPr lang="en-US" sz="1200">
                <a:solidFill>
                  <a:srgbClr val="3F3F3F"/>
                </a:solidFill>
              </a:rPr>
              <a:t>Generated 30-day rolling volatility.</a:t>
            </a:r>
            <a:br>
              <a:rPr lang="en-US" sz="1200">
                <a:solidFill>
                  <a:srgbClr val="3F3F3F"/>
                </a:solidFill>
              </a:rPr>
            </a:br>
            <a:endParaRPr sz="1200">
              <a:solidFill>
                <a:srgbClr val="3F3F3F"/>
              </a:solidFill>
            </a:endParaRPr>
          </a:p>
          <a:p>
            <a:pPr indent="-306070" lvl="0" marL="457200" rtl="0" algn="l">
              <a:spcBef>
                <a:spcPts val="0"/>
              </a:spcBef>
              <a:spcAft>
                <a:spcPts val="0"/>
              </a:spcAft>
              <a:buClr>
                <a:srgbClr val="3F3F3F"/>
              </a:buClr>
              <a:buSzPts val="1200"/>
              <a:buChar char="•"/>
            </a:pPr>
            <a:r>
              <a:rPr lang="en-US" sz="1200">
                <a:solidFill>
                  <a:srgbClr val="3F3F3F"/>
                </a:solidFill>
              </a:rPr>
              <a:t>Derived VWAP &amp; daily aggregated OHLC metrics.</a:t>
            </a:r>
            <a:endParaRPr sz="1200">
              <a:solidFill>
                <a:srgbClr val="3F3F3F"/>
              </a:solidFill>
            </a:endParaRPr>
          </a:p>
          <a:p>
            <a:pPr indent="0" lvl="0" marL="457200" rtl="0" algn="l">
              <a:spcBef>
                <a:spcPts val="0"/>
              </a:spcBef>
              <a:spcAft>
                <a:spcPts val="0"/>
              </a:spcAft>
              <a:buClr>
                <a:schemeClr val="dk1"/>
              </a:buClr>
              <a:buSzPts val="1100"/>
              <a:buFont typeface="Arial"/>
              <a:buNone/>
            </a:pPr>
            <a:r>
              <a:t/>
            </a:r>
            <a:endParaRPr sz="1200">
              <a:solidFill>
                <a:srgbClr val="3F3F3F"/>
              </a:solidFill>
            </a:endParaRPr>
          </a:p>
          <a:p>
            <a:pPr indent="-276225" lvl="0" marL="427355" rtl="0" algn="l">
              <a:spcBef>
                <a:spcPts val="0"/>
              </a:spcBef>
              <a:spcAft>
                <a:spcPts val="0"/>
              </a:spcAft>
              <a:buClr>
                <a:srgbClr val="3F3F3F"/>
              </a:buClr>
              <a:buSzPts val="1200"/>
              <a:buChar char="•"/>
            </a:pPr>
            <a:r>
              <a:rPr lang="en-US" sz="1200">
                <a:solidFill>
                  <a:srgbClr val="3F3F3F"/>
                </a:solidFill>
              </a:rPr>
              <a:t> Created daily summary table   (fact_ohlcv_daily) for high-level  analytics.</a:t>
            </a:r>
            <a:endParaRPr sz="1200">
              <a:solidFill>
                <a:srgbClr val="3F3F3F"/>
              </a:solidFill>
            </a:endParaRPr>
          </a:p>
          <a:p>
            <a:pPr indent="0" lvl="0" marL="0" marR="0" rtl="0" algn="ctr">
              <a:lnSpc>
                <a:spcPct val="100000"/>
              </a:lnSpc>
              <a:spcBef>
                <a:spcPts val="0"/>
              </a:spcBef>
              <a:spcAft>
                <a:spcPts val="0"/>
              </a:spcAft>
              <a:buClr>
                <a:srgbClr val="000000"/>
              </a:buClr>
              <a:buSzPts val="1800"/>
              <a:buFont typeface="Arial"/>
              <a:buNone/>
            </a:pPr>
            <a:r>
              <a:t/>
            </a:r>
            <a:endParaRPr sz="1800">
              <a:solidFill>
                <a:schemeClr val="dk1"/>
              </a:solidFill>
            </a:endParaRPr>
          </a:p>
        </p:txBody>
      </p:sp>
      <p:sp>
        <p:nvSpPr>
          <p:cNvPr id="189" name="Google Shape;189;p9"/>
          <p:cNvSpPr/>
          <p:nvPr/>
        </p:nvSpPr>
        <p:spPr>
          <a:xfrm rot="2700000">
            <a:off x="4530887" y="2899495"/>
            <a:ext cx="731856" cy="731856"/>
          </a:xfrm>
          <a:prstGeom prst="frame">
            <a:avLst>
              <a:gd fmla="val 12500" name="adj1"/>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0" name="Google Shape;190;p9"/>
          <p:cNvSpPr/>
          <p:nvPr/>
        </p:nvSpPr>
        <p:spPr>
          <a:xfrm rot="2700000">
            <a:off x="4005339" y="2319913"/>
            <a:ext cx="731856" cy="731856"/>
          </a:xfrm>
          <a:prstGeom prst="frame">
            <a:avLst>
              <a:gd fmla="val 12500" name="adj1"/>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1" name="Google Shape;191;p9"/>
          <p:cNvSpPr/>
          <p:nvPr/>
        </p:nvSpPr>
        <p:spPr>
          <a:xfrm rot="2700000">
            <a:off x="4567010" y="1795604"/>
            <a:ext cx="731856" cy="731856"/>
          </a:xfrm>
          <a:prstGeom prst="frame">
            <a:avLst>
              <a:gd fmla="val 12500" name="adj1"/>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2" name="Google Shape;192;p9"/>
          <p:cNvSpPr/>
          <p:nvPr/>
        </p:nvSpPr>
        <p:spPr>
          <a:xfrm rot="2700000">
            <a:off x="4005339" y="1222816"/>
            <a:ext cx="731856" cy="731856"/>
          </a:xfrm>
          <a:prstGeom prst="frame">
            <a:avLst>
              <a:gd fmla="val 12500" name="adj1"/>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3" name="Google Shape;193;p9"/>
          <p:cNvSpPr/>
          <p:nvPr/>
        </p:nvSpPr>
        <p:spPr>
          <a:xfrm>
            <a:off x="4800908" y="1996990"/>
            <a:ext cx="264580" cy="254288"/>
          </a:xfrm>
          <a:custGeom>
            <a:rect b="b" l="l" r="r" t="t"/>
            <a:pathLst>
              <a:path extrusionOk="0" h="598324" w="597921">
                <a:moveTo>
                  <a:pt x="297615" y="96957"/>
                </a:moveTo>
                <a:cubicBezTo>
                  <a:pt x="311959" y="96957"/>
                  <a:pt x="323434" y="108416"/>
                  <a:pt x="323434" y="122740"/>
                </a:cubicBezTo>
                <a:lnTo>
                  <a:pt x="323434" y="289852"/>
                </a:lnTo>
                <a:lnTo>
                  <a:pt x="462572" y="289852"/>
                </a:lnTo>
                <a:cubicBezTo>
                  <a:pt x="476438" y="289852"/>
                  <a:pt x="487913" y="301311"/>
                  <a:pt x="487913" y="315157"/>
                </a:cubicBezTo>
                <a:cubicBezTo>
                  <a:pt x="487913" y="329004"/>
                  <a:pt x="476438" y="340463"/>
                  <a:pt x="462572" y="340463"/>
                </a:cubicBezTo>
                <a:lnTo>
                  <a:pt x="297615" y="340463"/>
                </a:lnTo>
                <a:cubicBezTo>
                  <a:pt x="283749" y="340463"/>
                  <a:pt x="272274" y="329004"/>
                  <a:pt x="272274" y="315157"/>
                </a:cubicBezTo>
                <a:lnTo>
                  <a:pt x="272274" y="122740"/>
                </a:lnTo>
                <a:cubicBezTo>
                  <a:pt x="272274" y="108416"/>
                  <a:pt x="283749" y="96957"/>
                  <a:pt x="297615" y="96957"/>
                </a:cubicBezTo>
                <a:close/>
                <a:moveTo>
                  <a:pt x="298127" y="0"/>
                </a:moveTo>
                <a:cubicBezTo>
                  <a:pt x="463564" y="0"/>
                  <a:pt x="597921" y="134181"/>
                  <a:pt x="597921" y="299401"/>
                </a:cubicBezTo>
                <a:cubicBezTo>
                  <a:pt x="597921" y="464143"/>
                  <a:pt x="463564" y="598324"/>
                  <a:pt x="298127" y="598324"/>
                </a:cubicBezTo>
                <a:cubicBezTo>
                  <a:pt x="188155" y="598324"/>
                  <a:pt x="87268" y="538635"/>
                  <a:pt x="35150" y="442177"/>
                </a:cubicBezTo>
                <a:cubicBezTo>
                  <a:pt x="33238" y="438835"/>
                  <a:pt x="32760" y="435492"/>
                  <a:pt x="34194" y="432149"/>
                </a:cubicBezTo>
                <a:cubicBezTo>
                  <a:pt x="35150" y="428807"/>
                  <a:pt x="37541" y="425942"/>
                  <a:pt x="40410" y="424509"/>
                </a:cubicBezTo>
                <a:lnTo>
                  <a:pt x="74836" y="407796"/>
                </a:lnTo>
                <a:cubicBezTo>
                  <a:pt x="81052" y="404931"/>
                  <a:pt x="88702" y="407319"/>
                  <a:pt x="91571" y="413049"/>
                </a:cubicBezTo>
                <a:cubicBezTo>
                  <a:pt x="133169" y="488018"/>
                  <a:pt x="212540" y="534815"/>
                  <a:pt x="298127" y="534815"/>
                </a:cubicBezTo>
                <a:cubicBezTo>
                  <a:pt x="428181" y="534815"/>
                  <a:pt x="534328" y="429284"/>
                  <a:pt x="534328" y="299401"/>
                </a:cubicBezTo>
                <a:cubicBezTo>
                  <a:pt x="534328" y="169517"/>
                  <a:pt x="428181" y="63509"/>
                  <a:pt x="298127" y="63509"/>
                </a:cubicBezTo>
                <a:cubicBezTo>
                  <a:pt x="242185" y="63509"/>
                  <a:pt x="187677" y="83565"/>
                  <a:pt x="145123" y="120333"/>
                </a:cubicBezTo>
                <a:lnTo>
                  <a:pt x="200587" y="142299"/>
                </a:lnTo>
                <a:cubicBezTo>
                  <a:pt x="204890" y="144209"/>
                  <a:pt x="207759" y="148029"/>
                  <a:pt x="208237" y="152327"/>
                </a:cubicBezTo>
                <a:cubicBezTo>
                  <a:pt x="208715" y="157102"/>
                  <a:pt x="207281" y="161399"/>
                  <a:pt x="203456" y="164265"/>
                </a:cubicBezTo>
                <a:lnTo>
                  <a:pt x="48060" y="285553"/>
                </a:lnTo>
                <a:cubicBezTo>
                  <a:pt x="44235" y="288418"/>
                  <a:pt x="39454" y="289373"/>
                  <a:pt x="35150" y="287463"/>
                </a:cubicBezTo>
                <a:cubicBezTo>
                  <a:pt x="31325" y="285553"/>
                  <a:pt x="27978" y="281733"/>
                  <a:pt x="27500" y="277435"/>
                </a:cubicBezTo>
                <a:lnTo>
                  <a:pt x="246" y="82132"/>
                </a:lnTo>
                <a:cubicBezTo>
                  <a:pt x="-710" y="77835"/>
                  <a:pt x="1203" y="73060"/>
                  <a:pt x="4550" y="70194"/>
                </a:cubicBezTo>
                <a:cubicBezTo>
                  <a:pt x="8375" y="67807"/>
                  <a:pt x="13156" y="66852"/>
                  <a:pt x="17459" y="68762"/>
                </a:cubicBezTo>
                <a:lnTo>
                  <a:pt x="80574" y="94070"/>
                </a:lnTo>
                <a:cubicBezTo>
                  <a:pt x="137472" y="33426"/>
                  <a:pt x="214931" y="0"/>
                  <a:pt x="298127" y="0"/>
                </a:cubicBezTo>
                <a:close/>
              </a:path>
            </a:pathLst>
          </a:custGeom>
          <a:solidFill>
            <a:schemeClr val="accent3"/>
          </a:solidFill>
          <a:ln>
            <a:noFill/>
          </a:ln>
        </p:spPr>
        <p:txBody>
          <a:bodyPr anchorCtr="0" anchor="t" bIns="91400" lIns="182825" spcFirstLastPara="1" rIns="182825" wrap="square" tIns="91400">
            <a:noAutofit/>
          </a:bodyPr>
          <a:lstStyle/>
          <a:p>
            <a:pPr indent="0" lvl="0" marL="0" marR="0" rtl="0" algn="l">
              <a:lnSpc>
                <a:spcPct val="100000"/>
              </a:lnSpc>
              <a:spcBef>
                <a:spcPts val="0"/>
              </a:spcBef>
              <a:spcAft>
                <a:spcPts val="0"/>
              </a:spcAft>
              <a:buClr>
                <a:srgbClr val="000000"/>
              </a:buClr>
              <a:buSzPts val="7200"/>
              <a:buFont typeface="Arial"/>
              <a:buNone/>
            </a:pPr>
            <a:r>
              <a:t/>
            </a:r>
            <a:endParaRPr b="0" i="0" sz="7200" u="none" cap="none" strike="noStrike">
              <a:solidFill>
                <a:schemeClr val="dk1"/>
              </a:solidFill>
              <a:latin typeface="Arial"/>
              <a:ea typeface="Arial"/>
              <a:cs typeface="Arial"/>
              <a:sym typeface="Arial"/>
            </a:endParaRPr>
          </a:p>
        </p:txBody>
      </p:sp>
      <p:sp>
        <p:nvSpPr>
          <p:cNvPr id="194" name="Google Shape;194;p9"/>
          <p:cNvSpPr/>
          <p:nvPr/>
        </p:nvSpPr>
        <p:spPr>
          <a:xfrm>
            <a:off x="4239224" y="2558674"/>
            <a:ext cx="264081" cy="254354"/>
          </a:xfrm>
          <a:custGeom>
            <a:rect b="b" l="l" r="r" t="t"/>
            <a:pathLst>
              <a:path extrusionOk="0" h="6826" w="6826">
                <a:moveTo>
                  <a:pt x="1263" y="5234"/>
                </a:moveTo>
                <a:cubicBezTo>
                  <a:pt x="1316" y="5493"/>
                  <a:pt x="1546" y="5689"/>
                  <a:pt x="1820" y="5689"/>
                </a:cubicBezTo>
                <a:cubicBezTo>
                  <a:pt x="2114" y="5689"/>
                  <a:pt x="2354" y="5464"/>
                  <a:pt x="2383" y="5178"/>
                </a:cubicBezTo>
                <a:lnTo>
                  <a:pt x="3568" y="4191"/>
                </a:lnTo>
                <a:cubicBezTo>
                  <a:pt x="3652" y="4401"/>
                  <a:pt x="3856" y="4551"/>
                  <a:pt x="4096" y="4551"/>
                </a:cubicBezTo>
                <a:cubicBezTo>
                  <a:pt x="4348" y="4551"/>
                  <a:pt x="4560" y="4385"/>
                  <a:pt x="4635" y="4157"/>
                </a:cubicBezTo>
                <a:lnTo>
                  <a:pt x="5696" y="4736"/>
                </a:lnTo>
                <a:cubicBezTo>
                  <a:pt x="5732" y="5016"/>
                  <a:pt x="5969" y="5234"/>
                  <a:pt x="6258" y="5234"/>
                </a:cubicBezTo>
                <a:cubicBezTo>
                  <a:pt x="6571" y="5234"/>
                  <a:pt x="6827" y="4979"/>
                  <a:pt x="6827" y="4665"/>
                </a:cubicBezTo>
                <a:cubicBezTo>
                  <a:pt x="6827" y="4351"/>
                  <a:pt x="6571" y="4096"/>
                  <a:pt x="6258" y="4096"/>
                </a:cubicBezTo>
                <a:cubicBezTo>
                  <a:pt x="6006" y="4096"/>
                  <a:pt x="5794" y="4262"/>
                  <a:pt x="5719" y="4490"/>
                </a:cubicBezTo>
                <a:lnTo>
                  <a:pt x="4658" y="3911"/>
                </a:lnTo>
                <a:cubicBezTo>
                  <a:pt x="4622" y="3631"/>
                  <a:pt x="4385" y="3413"/>
                  <a:pt x="4096" y="3413"/>
                </a:cubicBezTo>
                <a:cubicBezTo>
                  <a:pt x="3802" y="3413"/>
                  <a:pt x="3563" y="3638"/>
                  <a:pt x="3533" y="3924"/>
                </a:cubicBezTo>
                <a:lnTo>
                  <a:pt x="2348" y="4911"/>
                </a:lnTo>
                <a:cubicBezTo>
                  <a:pt x="2265" y="4701"/>
                  <a:pt x="2060" y="4551"/>
                  <a:pt x="1820" y="4551"/>
                </a:cubicBezTo>
                <a:cubicBezTo>
                  <a:pt x="1546" y="4551"/>
                  <a:pt x="1316" y="4747"/>
                  <a:pt x="1263" y="5006"/>
                </a:cubicBezTo>
                <a:lnTo>
                  <a:pt x="455" y="5006"/>
                </a:lnTo>
                <a:lnTo>
                  <a:pt x="455" y="4551"/>
                </a:lnTo>
                <a:lnTo>
                  <a:pt x="569" y="4551"/>
                </a:lnTo>
                <a:cubicBezTo>
                  <a:pt x="632" y="4551"/>
                  <a:pt x="683" y="4500"/>
                  <a:pt x="683" y="4437"/>
                </a:cubicBezTo>
                <a:cubicBezTo>
                  <a:pt x="683" y="4374"/>
                  <a:pt x="632" y="4324"/>
                  <a:pt x="569" y="4324"/>
                </a:cubicBezTo>
                <a:lnTo>
                  <a:pt x="455" y="4324"/>
                </a:lnTo>
                <a:lnTo>
                  <a:pt x="455" y="3982"/>
                </a:lnTo>
                <a:lnTo>
                  <a:pt x="569" y="3982"/>
                </a:lnTo>
                <a:cubicBezTo>
                  <a:pt x="632" y="3982"/>
                  <a:pt x="683" y="3931"/>
                  <a:pt x="683" y="3868"/>
                </a:cubicBezTo>
                <a:cubicBezTo>
                  <a:pt x="683" y="3806"/>
                  <a:pt x="632" y="3755"/>
                  <a:pt x="569" y="3755"/>
                </a:cubicBezTo>
                <a:lnTo>
                  <a:pt x="480" y="3755"/>
                </a:lnTo>
                <a:lnTo>
                  <a:pt x="1407" y="2416"/>
                </a:lnTo>
                <a:cubicBezTo>
                  <a:pt x="1494" y="2470"/>
                  <a:pt x="1596" y="2503"/>
                  <a:pt x="1707" y="2503"/>
                </a:cubicBezTo>
                <a:cubicBezTo>
                  <a:pt x="1888" y="2503"/>
                  <a:pt x="2048" y="2416"/>
                  <a:pt x="2152" y="2284"/>
                </a:cubicBezTo>
                <a:lnTo>
                  <a:pt x="2752" y="2584"/>
                </a:lnTo>
                <a:cubicBezTo>
                  <a:pt x="2740" y="2631"/>
                  <a:pt x="2731" y="2680"/>
                  <a:pt x="2731" y="2731"/>
                </a:cubicBezTo>
                <a:cubicBezTo>
                  <a:pt x="2731" y="3044"/>
                  <a:pt x="2986" y="3300"/>
                  <a:pt x="3300" y="3300"/>
                </a:cubicBezTo>
                <a:cubicBezTo>
                  <a:pt x="3613" y="3300"/>
                  <a:pt x="3868" y="3044"/>
                  <a:pt x="3868" y="2731"/>
                </a:cubicBezTo>
                <a:cubicBezTo>
                  <a:pt x="3868" y="2608"/>
                  <a:pt x="3829" y="2496"/>
                  <a:pt x="3763" y="2403"/>
                </a:cubicBezTo>
                <a:lnTo>
                  <a:pt x="4488" y="1055"/>
                </a:lnTo>
                <a:cubicBezTo>
                  <a:pt x="4574" y="1107"/>
                  <a:pt x="4672" y="1138"/>
                  <a:pt x="4779" y="1138"/>
                </a:cubicBezTo>
                <a:cubicBezTo>
                  <a:pt x="4891" y="1138"/>
                  <a:pt x="4995" y="1104"/>
                  <a:pt x="5083" y="1048"/>
                </a:cubicBezTo>
                <a:lnTo>
                  <a:pt x="5827" y="2004"/>
                </a:lnTo>
                <a:cubicBezTo>
                  <a:pt x="5829" y="2007"/>
                  <a:pt x="5833" y="2009"/>
                  <a:pt x="5836" y="2011"/>
                </a:cubicBezTo>
                <a:cubicBezTo>
                  <a:pt x="5745" y="2112"/>
                  <a:pt x="5689" y="2244"/>
                  <a:pt x="5689" y="2389"/>
                </a:cubicBezTo>
                <a:cubicBezTo>
                  <a:pt x="5689" y="2703"/>
                  <a:pt x="5944" y="2958"/>
                  <a:pt x="6258" y="2958"/>
                </a:cubicBezTo>
                <a:cubicBezTo>
                  <a:pt x="6571" y="2958"/>
                  <a:pt x="6827" y="2703"/>
                  <a:pt x="6827" y="2389"/>
                </a:cubicBezTo>
                <a:cubicBezTo>
                  <a:pt x="6827" y="2076"/>
                  <a:pt x="6571" y="1820"/>
                  <a:pt x="6258" y="1820"/>
                </a:cubicBezTo>
                <a:cubicBezTo>
                  <a:pt x="6170" y="1820"/>
                  <a:pt x="6087" y="1842"/>
                  <a:pt x="6013" y="1878"/>
                </a:cubicBezTo>
                <a:cubicBezTo>
                  <a:pt x="6010" y="1874"/>
                  <a:pt x="6010" y="1869"/>
                  <a:pt x="6006" y="1864"/>
                </a:cubicBezTo>
                <a:lnTo>
                  <a:pt x="5248" y="890"/>
                </a:lnTo>
                <a:cubicBezTo>
                  <a:pt x="5311" y="798"/>
                  <a:pt x="5348" y="688"/>
                  <a:pt x="5348" y="569"/>
                </a:cubicBezTo>
                <a:cubicBezTo>
                  <a:pt x="5348" y="255"/>
                  <a:pt x="5092" y="0"/>
                  <a:pt x="4779" y="0"/>
                </a:cubicBezTo>
                <a:cubicBezTo>
                  <a:pt x="4465" y="0"/>
                  <a:pt x="4210" y="255"/>
                  <a:pt x="4210" y="569"/>
                </a:cubicBezTo>
                <a:cubicBezTo>
                  <a:pt x="4210" y="691"/>
                  <a:pt x="4249" y="804"/>
                  <a:pt x="4315" y="897"/>
                </a:cubicBezTo>
                <a:lnTo>
                  <a:pt x="3590" y="2244"/>
                </a:lnTo>
                <a:cubicBezTo>
                  <a:pt x="3505" y="2193"/>
                  <a:pt x="3406" y="2162"/>
                  <a:pt x="3300" y="2162"/>
                </a:cubicBezTo>
                <a:cubicBezTo>
                  <a:pt x="3118" y="2162"/>
                  <a:pt x="2959" y="2248"/>
                  <a:pt x="2854" y="2381"/>
                </a:cubicBezTo>
                <a:lnTo>
                  <a:pt x="2254" y="2081"/>
                </a:lnTo>
                <a:cubicBezTo>
                  <a:pt x="2267" y="2034"/>
                  <a:pt x="2276" y="1985"/>
                  <a:pt x="2276" y="1934"/>
                </a:cubicBezTo>
                <a:cubicBezTo>
                  <a:pt x="2276" y="1621"/>
                  <a:pt x="2020" y="1365"/>
                  <a:pt x="1707" y="1365"/>
                </a:cubicBezTo>
                <a:cubicBezTo>
                  <a:pt x="1393" y="1365"/>
                  <a:pt x="1138" y="1621"/>
                  <a:pt x="1138" y="1934"/>
                </a:cubicBezTo>
                <a:cubicBezTo>
                  <a:pt x="1138" y="2054"/>
                  <a:pt x="1176" y="2166"/>
                  <a:pt x="1239" y="2257"/>
                </a:cubicBezTo>
                <a:lnTo>
                  <a:pt x="593" y="3191"/>
                </a:lnTo>
                <a:cubicBezTo>
                  <a:pt x="585" y="3189"/>
                  <a:pt x="578" y="3186"/>
                  <a:pt x="569" y="3186"/>
                </a:cubicBezTo>
                <a:lnTo>
                  <a:pt x="455" y="3186"/>
                </a:lnTo>
                <a:lnTo>
                  <a:pt x="455" y="2844"/>
                </a:lnTo>
                <a:lnTo>
                  <a:pt x="569" y="2844"/>
                </a:lnTo>
                <a:cubicBezTo>
                  <a:pt x="632" y="2844"/>
                  <a:pt x="683" y="2794"/>
                  <a:pt x="683" y="2731"/>
                </a:cubicBezTo>
                <a:cubicBezTo>
                  <a:pt x="683" y="2668"/>
                  <a:pt x="632" y="2617"/>
                  <a:pt x="569" y="2617"/>
                </a:cubicBezTo>
                <a:lnTo>
                  <a:pt x="455" y="2617"/>
                </a:lnTo>
                <a:lnTo>
                  <a:pt x="455" y="2276"/>
                </a:lnTo>
                <a:lnTo>
                  <a:pt x="569" y="2276"/>
                </a:lnTo>
                <a:cubicBezTo>
                  <a:pt x="632" y="2276"/>
                  <a:pt x="683" y="2225"/>
                  <a:pt x="683" y="2162"/>
                </a:cubicBezTo>
                <a:cubicBezTo>
                  <a:pt x="683" y="2099"/>
                  <a:pt x="632" y="2048"/>
                  <a:pt x="569" y="2048"/>
                </a:cubicBezTo>
                <a:lnTo>
                  <a:pt x="455" y="2048"/>
                </a:lnTo>
                <a:lnTo>
                  <a:pt x="455" y="1707"/>
                </a:lnTo>
                <a:lnTo>
                  <a:pt x="569" y="1707"/>
                </a:lnTo>
                <a:cubicBezTo>
                  <a:pt x="632" y="1707"/>
                  <a:pt x="683" y="1656"/>
                  <a:pt x="683" y="1593"/>
                </a:cubicBezTo>
                <a:cubicBezTo>
                  <a:pt x="683" y="1530"/>
                  <a:pt x="632" y="1479"/>
                  <a:pt x="569" y="1479"/>
                </a:cubicBezTo>
                <a:lnTo>
                  <a:pt x="455" y="1479"/>
                </a:lnTo>
                <a:lnTo>
                  <a:pt x="455" y="1138"/>
                </a:lnTo>
                <a:lnTo>
                  <a:pt x="569" y="1138"/>
                </a:lnTo>
                <a:cubicBezTo>
                  <a:pt x="632" y="1138"/>
                  <a:pt x="683" y="1087"/>
                  <a:pt x="683" y="1024"/>
                </a:cubicBezTo>
                <a:cubicBezTo>
                  <a:pt x="683" y="961"/>
                  <a:pt x="632" y="910"/>
                  <a:pt x="569" y="910"/>
                </a:cubicBezTo>
                <a:lnTo>
                  <a:pt x="455" y="910"/>
                </a:lnTo>
                <a:lnTo>
                  <a:pt x="455" y="569"/>
                </a:lnTo>
                <a:lnTo>
                  <a:pt x="569" y="569"/>
                </a:lnTo>
                <a:cubicBezTo>
                  <a:pt x="632" y="569"/>
                  <a:pt x="683" y="518"/>
                  <a:pt x="683" y="455"/>
                </a:cubicBezTo>
                <a:cubicBezTo>
                  <a:pt x="683" y="392"/>
                  <a:pt x="632" y="341"/>
                  <a:pt x="569" y="341"/>
                </a:cubicBezTo>
                <a:lnTo>
                  <a:pt x="455" y="341"/>
                </a:lnTo>
                <a:lnTo>
                  <a:pt x="455" y="114"/>
                </a:lnTo>
                <a:cubicBezTo>
                  <a:pt x="455" y="51"/>
                  <a:pt x="404" y="0"/>
                  <a:pt x="341" y="0"/>
                </a:cubicBezTo>
                <a:cubicBezTo>
                  <a:pt x="278" y="0"/>
                  <a:pt x="228" y="51"/>
                  <a:pt x="228" y="114"/>
                </a:cubicBezTo>
                <a:lnTo>
                  <a:pt x="228" y="341"/>
                </a:lnTo>
                <a:lnTo>
                  <a:pt x="114" y="341"/>
                </a:lnTo>
                <a:cubicBezTo>
                  <a:pt x="51" y="341"/>
                  <a:pt x="0" y="392"/>
                  <a:pt x="0" y="455"/>
                </a:cubicBezTo>
                <a:cubicBezTo>
                  <a:pt x="0" y="518"/>
                  <a:pt x="51" y="569"/>
                  <a:pt x="114" y="569"/>
                </a:cubicBezTo>
                <a:lnTo>
                  <a:pt x="228" y="569"/>
                </a:lnTo>
                <a:lnTo>
                  <a:pt x="228" y="910"/>
                </a:lnTo>
                <a:lnTo>
                  <a:pt x="114" y="910"/>
                </a:lnTo>
                <a:cubicBezTo>
                  <a:pt x="51" y="910"/>
                  <a:pt x="0" y="961"/>
                  <a:pt x="0" y="1024"/>
                </a:cubicBezTo>
                <a:cubicBezTo>
                  <a:pt x="0" y="1087"/>
                  <a:pt x="51" y="1138"/>
                  <a:pt x="114" y="1138"/>
                </a:cubicBezTo>
                <a:lnTo>
                  <a:pt x="228" y="1138"/>
                </a:lnTo>
                <a:lnTo>
                  <a:pt x="228" y="1479"/>
                </a:lnTo>
                <a:lnTo>
                  <a:pt x="114" y="1479"/>
                </a:lnTo>
                <a:cubicBezTo>
                  <a:pt x="51" y="1479"/>
                  <a:pt x="0" y="1530"/>
                  <a:pt x="0" y="1593"/>
                </a:cubicBezTo>
                <a:cubicBezTo>
                  <a:pt x="0" y="1656"/>
                  <a:pt x="51" y="1707"/>
                  <a:pt x="114" y="1707"/>
                </a:cubicBezTo>
                <a:lnTo>
                  <a:pt x="228" y="1707"/>
                </a:lnTo>
                <a:lnTo>
                  <a:pt x="228" y="2048"/>
                </a:lnTo>
                <a:lnTo>
                  <a:pt x="114" y="2048"/>
                </a:lnTo>
                <a:cubicBezTo>
                  <a:pt x="51" y="2048"/>
                  <a:pt x="0" y="2099"/>
                  <a:pt x="0" y="2162"/>
                </a:cubicBezTo>
                <a:cubicBezTo>
                  <a:pt x="0" y="2225"/>
                  <a:pt x="51" y="2276"/>
                  <a:pt x="114" y="2276"/>
                </a:cubicBezTo>
                <a:lnTo>
                  <a:pt x="228" y="2276"/>
                </a:lnTo>
                <a:lnTo>
                  <a:pt x="228" y="2617"/>
                </a:lnTo>
                <a:lnTo>
                  <a:pt x="114" y="2617"/>
                </a:lnTo>
                <a:cubicBezTo>
                  <a:pt x="51" y="2617"/>
                  <a:pt x="0" y="2668"/>
                  <a:pt x="0" y="2731"/>
                </a:cubicBezTo>
                <a:cubicBezTo>
                  <a:pt x="0" y="2794"/>
                  <a:pt x="51" y="2844"/>
                  <a:pt x="114" y="2844"/>
                </a:cubicBezTo>
                <a:lnTo>
                  <a:pt x="228" y="2844"/>
                </a:lnTo>
                <a:lnTo>
                  <a:pt x="228" y="3186"/>
                </a:lnTo>
                <a:lnTo>
                  <a:pt x="114" y="3186"/>
                </a:lnTo>
                <a:cubicBezTo>
                  <a:pt x="51" y="3186"/>
                  <a:pt x="0" y="3237"/>
                  <a:pt x="0" y="3300"/>
                </a:cubicBezTo>
                <a:cubicBezTo>
                  <a:pt x="0" y="3362"/>
                  <a:pt x="51" y="3413"/>
                  <a:pt x="114" y="3413"/>
                </a:cubicBezTo>
                <a:lnTo>
                  <a:pt x="228" y="3413"/>
                </a:lnTo>
                <a:lnTo>
                  <a:pt x="228" y="3755"/>
                </a:lnTo>
                <a:lnTo>
                  <a:pt x="114" y="3755"/>
                </a:lnTo>
                <a:cubicBezTo>
                  <a:pt x="51" y="3755"/>
                  <a:pt x="0" y="3806"/>
                  <a:pt x="0" y="3868"/>
                </a:cubicBezTo>
                <a:cubicBezTo>
                  <a:pt x="0" y="3931"/>
                  <a:pt x="51" y="3982"/>
                  <a:pt x="114" y="3982"/>
                </a:cubicBezTo>
                <a:lnTo>
                  <a:pt x="228" y="3982"/>
                </a:lnTo>
                <a:lnTo>
                  <a:pt x="228" y="4324"/>
                </a:lnTo>
                <a:lnTo>
                  <a:pt x="114" y="4324"/>
                </a:lnTo>
                <a:cubicBezTo>
                  <a:pt x="51" y="4324"/>
                  <a:pt x="0" y="4374"/>
                  <a:pt x="0" y="4437"/>
                </a:cubicBezTo>
                <a:cubicBezTo>
                  <a:pt x="0" y="4500"/>
                  <a:pt x="51" y="4551"/>
                  <a:pt x="114" y="4551"/>
                </a:cubicBezTo>
                <a:lnTo>
                  <a:pt x="228" y="4551"/>
                </a:lnTo>
                <a:lnTo>
                  <a:pt x="228" y="4892"/>
                </a:lnTo>
                <a:lnTo>
                  <a:pt x="114" y="4892"/>
                </a:lnTo>
                <a:cubicBezTo>
                  <a:pt x="51" y="4892"/>
                  <a:pt x="0" y="4943"/>
                  <a:pt x="0" y="5006"/>
                </a:cubicBezTo>
                <a:cubicBezTo>
                  <a:pt x="0" y="5069"/>
                  <a:pt x="51" y="5120"/>
                  <a:pt x="114" y="5120"/>
                </a:cubicBezTo>
                <a:lnTo>
                  <a:pt x="228" y="5120"/>
                </a:lnTo>
                <a:lnTo>
                  <a:pt x="228" y="5461"/>
                </a:lnTo>
                <a:lnTo>
                  <a:pt x="114" y="5461"/>
                </a:lnTo>
                <a:cubicBezTo>
                  <a:pt x="51" y="5461"/>
                  <a:pt x="0" y="5512"/>
                  <a:pt x="0" y="5575"/>
                </a:cubicBezTo>
                <a:cubicBezTo>
                  <a:pt x="0" y="5638"/>
                  <a:pt x="51" y="5689"/>
                  <a:pt x="114" y="5689"/>
                </a:cubicBezTo>
                <a:lnTo>
                  <a:pt x="228" y="5689"/>
                </a:lnTo>
                <a:lnTo>
                  <a:pt x="228" y="6030"/>
                </a:lnTo>
                <a:lnTo>
                  <a:pt x="114" y="6030"/>
                </a:lnTo>
                <a:cubicBezTo>
                  <a:pt x="51" y="6030"/>
                  <a:pt x="0" y="6081"/>
                  <a:pt x="0" y="6144"/>
                </a:cubicBezTo>
                <a:cubicBezTo>
                  <a:pt x="0" y="6207"/>
                  <a:pt x="51" y="6258"/>
                  <a:pt x="114" y="6258"/>
                </a:cubicBezTo>
                <a:lnTo>
                  <a:pt x="228" y="6258"/>
                </a:lnTo>
                <a:lnTo>
                  <a:pt x="228" y="6485"/>
                </a:lnTo>
                <a:cubicBezTo>
                  <a:pt x="228" y="6548"/>
                  <a:pt x="278" y="6599"/>
                  <a:pt x="341" y="6599"/>
                </a:cubicBezTo>
                <a:lnTo>
                  <a:pt x="683" y="6599"/>
                </a:lnTo>
                <a:lnTo>
                  <a:pt x="683" y="6713"/>
                </a:lnTo>
                <a:cubicBezTo>
                  <a:pt x="683" y="6776"/>
                  <a:pt x="734" y="6827"/>
                  <a:pt x="796" y="6827"/>
                </a:cubicBezTo>
                <a:cubicBezTo>
                  <a:pt x="859" y="6827"/>
                  <a:pt x="910" y="6776"/>
                  <a:pt x="910" y="6713"/>
                </a:cubicBezTo>
                <a:lnTo>
                  <a:pt x="910" y="6599"/>
                </a:lnTo>
                <a:lnTo>
                  <a:pt x="1252" y="6599"/>
                </a:lnTo>
                <a:lnTo>
                  <a:pt x="1252" y="6713"/>
                </a:lnTo>
                <a:cubicBezTo>
                  <a:pt x="1252" y="6776"/>
                  <a:pt x="1302" y="6827"/>
                  <a:pt x="1365" y="6827"/>
                </a:cubicBezTo>
                <a:cubicBezTo>
                  <a:pt x="1428" y="6827"/>
                  <a:pt x="1479" y="6776"/>
                  <a:pt x="1479" y="6713"/>
                </a:cubicBezTo>
                <a:lnTo>
                  <a:pt x="1479" y="6599"/>
                </a:lnTo>
                <a:lnTo>
                  <a:pt x="1820" y="6599"/>
                </a:lnTo>
                <a:lnTo>
                  <a:pt x="1820" y="6713"/>
                </a:lnTo>
                <a:cubicBezTo>
                  <a:pt x="1820" y="6776"/>
                  <a:pt x="1871" y="6827"/>
                  <a:pt x="1934" y="6827"/>
                </a:cubicBezTo>
                <a:cubicBezTo>
                  <a:pt x="1997" y="6827"/>
                  <a:pt x="2048" y="6776"/>
                  <a:pt x="2048" y="6713"/>
                </a:cubicBezTo>
                <a:lnTo>
                  <a:pt x="2048" y="6599"/>
                </a:lnTo>
                <a:lnTo>
                  <a:pt x="2389" y="6599"/>
                </a:lnTo>
                <a:lnTo>
                  <a:pt x="2389" y="6713"/>
                </a:lnTo>
                <a:cubicBezTo>
                  <a:pt x="2389" y="6776"/>
                  <a:pt x="2440" y="6827"/>
                  <a:pt x="2503" y="6827"/>
                </a:cubicBezTo>
                <a:cubicBezTo>
                  <a:pt x="2566" y="6827"/>
                  <a:pt x="2617" y="6776"/>
                  <a:pt x="2617" y="6713"/>
                </a:cubicBezTo>
                <a:lnTo>
                  <a:pt x="2617" y="6599"/>
                </a:lnTo>
                <a:lnTo>
                  <a:pt x="2958" y="6599"/>
                </a:lnTo>
                <a:lnTo>
                  <a:pt x="2958" y="6713"/>
                </a:lnTo>
                <a:cubicBezTo>
                  <a:pt x="2958" y="6776"/>
                  <a:pt x="3009" y="6827"/>
                  <a:pt x="3072" y="6827"/>
                </a:cubicBezTo>
                <a:cubicBezTo>
                  <a:pt x="3135" y="6827"/>
                  <a:pt x="3186" y="6776"/>
                  <a:pt x="3186" y="6713"/>
                </a:cubicBezTo>
                <a:lnTo>
                  <a:pt x="3186" y="6599"/>
                </a:lnTo>
                <a:lnTo>
                  <a:pt x="3527" y="6599"/>
                </a:lnTo>
                <a:lnTo>
                  <a:pt x="3527" y="6713"/>
                </a:lnTo>
                <a:cubicBezTo>
                  <a:pt x="3527" y="6776"/>
                  <a:pt x="3578" y="6827"/>
                  <a:pt x="3641" y="6827"/>
                </a:cubicBezTo>
                <a:cubicBezTo>
                  <a:pt x="3704" y="6827"/>
                  <a:pt x="3755" y="6776"/>
                  <a:pt x="3755" y="6713"/>
                </a:cubicBezTo>
                <a:lnTo>
                  <a:pt x="3755" y="6599"/>
                </a:lnTo>
                <a:lnTo>
                  <a:pt x="4096" y="6599"/>
                </a:lnTo>
                <a:lnTo>
                  <a:pt x="4096" y="6713"/>
                </a:lnTo>
                <a:cubicBezTo>
                  <a:pt x="4096" y="6776"/>
                  <a:pt x="4147" y="6827"/>
                  <a:pt x="4210" y="6827"/>
                </a:cubicBezTo>
                <a:cubicBezTo>
                  <a:pt x="4273" y="6827"/>
                  <a:pt x="4323" y="6776"/>
                  <a:pt x="4323" y="6713"/>
                </a:cubicBezTo>
                <a:lnTo>
                  <a:pt x="4323" y="6599"/>
                </a:lnTo>
                <a:lnTo>
                  <a:pt x="4665" y="6599"/>
                </a:lnTo>
                <a:lnTo>
                  <a:pt x="4665" y="6713"/>
                </a:lnTo>
                <a:cubicBezTo>
                  <a:pt x="4665" y="6776"/>
                  <a:pt x="4716" y="6827"/>
                  <a:pt x="4779" y="6827"/>
                </a:cubicBezTo>
                <a:cubicBezTo>
                  <a:pt x="4842" y="6827"/>
                  <a:pt x="4892" y="6776"/>
                  <a:pt x="4892" y="6713"/>
                </a:cubicBezTo>
                <a:lnTo>
                  <a:pt x="4892" y="6599"/>
                </a:lnTo>
                <a:lnTo>
                  <a:pt x="5234" y="6599"/>
                </a:lnTo>
                <a:lnTo>
                  <a:pt x="5234" y="6713"/>
                </a:lnTo>
                <a:cubicBezTo>
                  <a:pt x="5234" y="6776"/>
                  <a:pt x="5285" y="6827"/>
                  <a:pt x="5347" y="6827"/>
                </a:cubicBezTo>
                <a:cubicBezTo>
                  <a:pt x="5410" y="6827"/>
                  <a:pt x="5461" y="6776"/>
                  <a:pt x="5461" y="6713"/>
                </a:cubicBezTo>
                <a:lnTo>
                  <a:pt x="5461" y="6599"/>
                </a:lnTo>
                <a:lnTo>
                  <a:pt x="5803" y="6599"/>
                </a:lnTo>
                <a:lnTo>
                  <a:pt x="5803" y="6713"/>
                </a:lnTo>
                <a:cubicBezTo>
                  <a:pt x="5803" y="6776"/>
                  <a:pt x="5853" y="6827"/>
                  <a:pt x="5916" y="6827"/>
                </a:cubicBezTo>
                <a:cubicBezTo>
                  <a:pt x="5979" y="6827"/>
                  <a:pt x="6030" y="6776"/>
                  <a:pt x="6030" y="6713"/>
                </a:cubicBezTo>
                <a:lnTo>
                  <a:pt x="6030" y="6599"/>
                </a:lnTo>
                <a:lnTo>
                  <a:pt x="6371" y="6599"/>
                </a:lnTo>
                <a:lnTo>
                  <a:pt x="6371" y="6713"/>
                </a:lnTo>
                <a:cubicBezTo>
                  <a:pt x="6371" y="6776"/>
                  <a:pt x="6422" y="6827"/>
                  <a:pt x="6485" y="6827"/>
                </a:cubicBezTo>
                <a:cubicBezTo>
                  <a:pt x="6548" y="6827"/>
                  <a:pt x="6599" y="6776"/>
                  <a:pt x="6599" y="6713"/>
                </a:cubicBezTo>
                <a:lnTo>
                  <a:pt x="6599" y="6599"/>
                </a:lnTo>
                <a:lnTo>
                  <a:pt x="6713" y="6599"/>
                </a:lnTo>
                <a:cubicBezTo>
                  <a:pt x="6776" y="6599"/>
                  <a:pt x="6827" y="6548"/>
                  <a:pt x="6827" y="6485"/>
                </a:cubicBezTo>
                <a:cubicBezTo>
                  <a:pt x="6827" y="6422"/>
                  <a:pt x="6776" y="6372"/>
                  <a:pt x="6713" y="6372"/>
                </a:cubicBezTo>
                <a:lnTo>
                  <a:pt x="6599" y="6372"/>
                </a:lnTo>
                <a:lnTo>
                  <a:pt x="6599" y="6258"/>
                </a:lnTo>
                <a:cubicBezTo>
                  <a:pt x="6599" y="6195"/>
                  <a:pt x="6548" y="6144"/>
                  <a:pt x="6485" y="6144"/>
                </a:cubicBezTo>
                <a:cubicBezTo>
                  <a:pt x="6422" y="6144"/>
                  <a:pt x="6371" y="6195"/>
                  <a:pt x="6371" y="6258"/>
                </a:cubicBezTo>
                <a:lnTo>
                  <a:pt x="6371" y="6372"/>
                </a:lnTo>
                <a:lnTo>
                  <a:pt x="6030" y="6372"/>
                </a:lnTo>
                <a:lnTo>
                  <a:pt x="6030" y="6258"/>
                </a:lnTo>
                <a:cubicBezTo>
                  <a:pt x="6030" y="6195"/>
                  <a:pt x="5979" y="6144"/>
                  <a:pt x="5916" y="6144"/>
                </a:cubicBezTo>
                <a:cubicBezTo>
                  <a:pt x="5853" y="6144"/>
                  <a:pt x="5803" y="6195"/>
                  <a:pt x="5803" y="6258"/>
                </a:cubicBezTo>
                <a:lnTo>
                  <a:pt x="5803" y="6372"/>
                </a:lnTo>
                <a:lnTo>
                  <a:pt x="5461" y="6372"/>
                </a:lnTo>
                <a:lnTo>
                  <a:pt x="5461" y="6258"/>
                </a:lnTo>
                <a:cubicBezTo>
                  <a:pt x="5461" y="6195"/>
                  <a:pt x="5410" y="6144"/>
                  <a:pt x="5347" y="6144"/>
                </a:cubicBezTo>
                <a:cubicBezTo>
                  <a:pt x="5285" y="6144"/>
                  <a:pt x="5234" y="6195"/>
                  <a:pt x="5234" y="6258"/>
                </a:cubicBezTo>
                <a:lnTo>
                  <a:pt x="5234" y="6372"/>
                </a:lnTo>
                <a:lnTo>
                  <a:pt x="4892" y="6372"/>
                </a:lnTo>
                <a:lnTo>
                  <a:pt x="4892" y="6258"/>
                </a:lnTo>
                <a:cubicBezTo>
                  <a:pt x="4892" y="6195"/>
                  <a:pt x="4842" y="6144"/>
                  <a:pt x="4779" y="6144"/>
                </a:cubicBezTo>
                <a:cubicBezTo>
                  <a:pt x="4716" y="6144"/>
                  <a:pt x="4665" y="6195"/>
                  <a:pt x="4665" y="6258"/>
                </a:cubicBezTo>
                <a:lnTo>
                  <a:pt x="4665" y="6372"/>
                </a:lnTo>
                <a:lnTo>
                  <a:pt x="4323" y="6372"/>
                </a:lnTo>
                <a:lnTo>
                  <a:pt x="4323" y="6258"/>
                </a:lnTo>
                <a:cubicBezTo>
                  <a:pt x="4323" y="6195"/>
                  <a:pt x="4273" y="6144"/>
                  <a:pt x="4210" y="6144"/>
                </a:cubicBezTo>
                <a:cubicBezTo>
                  <a:pt x="4147" y="6144"/>
                  <a:pt x="4096" y="6195"/>
                  <a:pt x="4096" y="6258"/>
                </a:cubicBezTo>
                <a:lnTo>
                  <a:pt x="4096" y="6372"/>
                </a:lnTo>
                <a:lnTo>
                  <a:pt x="3755" y="6372"/>
                </a:lnTo>
                <a:lnTo>
                  <a:pt x="3755" y="6258"/>
                </a:lnTo>
                <a:cubicBezTo>
                  <a:pt x="3755" y="6195"/>
                  <a:pt x="3704" y="6144"/>
                  <a:pt x="3641" y="6144"/>
                </a:cubicBezTo>
                <a:cubicBezTo>
                  <a:pt x="3578" y="6144"/>
                  <a:pt x="3527" y="6195"/>
                  <a:pt x="3527" y="6258"/>
                </a:cubicBezTo>
                <a:lnTo>
                  <a:pt x="3527" y="6372"/>
                </a:lnTo>
                <a:lnTo>
                  <a:pt x="3186" y="6372"/>
                </a:lnTo>
                <a:lnTo>
                  <a:pt x="3186" y="6258"/>
                </a:lnTo>
                <a:cubicBezTo>
                  <a:pt x="3186" y="6195"/>
                  <a:pt x="3135" y="6144"/>
                  <a:pt x="3072" y="6144"/>
                </a:cubicBezTo>
                <a:cubicBezTo>
                  <a:pt x="3009" y="6144"/>
                  <a:pt x="2958" y="6195"/>
                  <a:pt x="2958" y="6258"/>
                </a:cubicBezTo>
                <a:lnTo>
                  <a:pt x="2958" y="6372"/>
                </a:lnTo>
                <a:lnTo>
                  <a:pt x="2617" y="6372"/>
                </a:lnTo>
                <a:lnTo>
                  <a:pt x="2617" y="6258"/>
                </a:lnTo>
                <a:cubicBezTo>
                  <a:pt x="2617" y="6195"/>
                  <a:pt x="2566" y="6144"/>
                  <a:pt x="2503" y="6144"/>
                </a:cubicBezTo>
                <a:cubicBezTo>
                  <a:pt x="2440" y="6144"/>
                  <a:pt x="2389" y="6195"/>
                  <a:pt x="2389" y="6258"/>
                </a:cubicBezTo>
                <a:lnTo>
                  <a:pt x="2389" y="6372"/>
                </a:lnTo>
                <a:lnTo>
                  <a:pt x="2048" y="6372"/>
                </a:lnTo>
                <a:lnTo>
                  <a:pt x="2048" y="6258"/>
                </a:lnTo>
                <a:cubicBezTo>
                  <a:pt x="2048" y="6195"/>
                  <a:pt x="1997" y="6144"/>
                  <a:pt x="1934" y="6144"/>
                </a:cubicBezTo>
                <a:cubicBezTo>
                  <a:pt x="1871" y="6144"/>
                  <a:pt x="1820" y="6195"/>
                  <a:pt x="1820" y="6258"/>
                </a:cubicBezTo>
                <a:lnTo>
                  <a:pt x="1820" y="6372"/>
                </a:lnTo>
                <a:lnTo>
                  <a:pt x="1479" y="6372"/>
                </a:lnTo>
                <a:lnTo>
                  <a:pt x="1479" y="6258"/>
                </a:lnTo>
                <a:cubicBezTo>
                  <a:pt x="1479" y="6195"/>
                  <a:pt x="1428" y="6144"/>
                  <a:pt x="1365" y="6144"/>
                </a:cubicBezTo>
                <a:cubicBezTo>
                  <a:pt x="1302" y="6144"/>
                  <a:pt x="1252" y="6195"/>
                  <a:pt x="1252" y="6258"/>
                </a:cubicBezTo>
                <a:lnTo>
                  <a:pt x="1252" y="6372"/>
                </a:lnTo>
                <a:lnTo>
                  <a:pt x="910" y="6372"/>
                </a:lnTo>
                <a:lnTo>
                  <a:pt x="910" y="6258"/>
                </a:lnTo>
                <a:cubicBezTo>
                  <a:pt x="910" y="6195"/>
                  <a:pt x="859" y="6144"/>
                  <a:pt x="796" y="6144"/>
                </a:cubicBezTo>
                <a:cubicBezTo>
                  <a:pt x="734" y="6144"/>
                  <a:pt x="683" y="6195"/>
                  <a:pt x="683" y="6258"/>
                </a:cubicBezTo>
                <a:lnTo>
                  <a:pt x="683" y="6372"/>
                </a:lnTo>
                <a:lnTo>
                  <a:pt x="455" y="6372"/>
                </a:lnTo>
                <a:lnTo>
                  <a:pt x="455" y="5234"/>
                </a:lnTo>
                <a:lnTo>
                  <a:pt x="1263" y="5234"/>
                </a:lnTo>
                <a:close/>
              </a:path>
            </a:pathLst>
          </a:custGeom>
          <a:solidFill>
            <a:schemeClr val="accent2"/>
          </a:solidFill>
          <a:ln>
            <a:noFill/>
          </a:ln>
        </p:spPr>
        <p:txBody>
          <a:bodyPr anchorCtr="0" anchor="t" bIns="91400" lIns="288000" spcFirstLastPara="1" rIns="182825" wrap="square" tIns="91400">
            <a:noAutofit/>
          </a:bodyPr>
          <a:lstStyle/>
          <a:p>
            <a:pPr indent="0" lvl="0" marL="0" marR="0" rtl="0" algn="l">
              <a:lnSpc>
                <a:spcPct val="15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95" name="Google Shape;195;p9"/>
          <p:cNvSpPr/>
          <p:nvPr/>
        </p:nvSpPr>
        <p:spPr>
          <a:xfrm>
            <a:off x="4764772" y="3138257"/>
            <a:ext cx="264081" cy="254364"/>
          </a:xfrm>
          <a:custGeom>
            <a:rect b="b" l="l" r="r" t="t"/>
            <a:pathLst>
              <a:path extrusionOk="0" h="5912" w="6826">
                <a:moveTo>
                  <a:pt x="3413" y="0"/>
                </a:moveTo>
                <a:lnTo>
                  <a:pt x="0" y="5912"/>
                </a:lnTo>
                <a:lnTo>
                  <a:pt x="6827" y="5912"/>
                </a:lnTo>
                <a:lnTo>
                  <a:pt x="3413" y="0"/>
                </a:lnTo>
                <a:close/>
                <a:moveTo>
                  <a:pt x="3413" y="972"/>
                </a:moveTo>
                <a:lnTo>
                  <a:pt x="4489" y="2835"/>
                </a:lnTo>
                <a:lnTo>
                  <a:pt x="2338" y="2835"/>
                </a:lnTo>
                <a:lnTo>
                  <a:pt x="3413" y="972"/>
                </a:lnTo>
                <a:close/>
                <a:moveTo>
                  <a:pt x="842" y="5426"/>
                </a:moveTo>
                <a:lnTo>
                  <a:pt x="1917" y="3564"/>
                </a:lnTo>
                <a:lnTo>
                  <a:pt x="2993" y="5426"/>
                </a:lnTo>
                <a:lnTo>
                  <a:pt x="842" y="5426"/>
                </a:lnTo>
                <a:close/>
                <a:moveTo>
                  <a:pt x="2338" y="3321"/>
                </a:moveTo>
                <a:lnTo>
                  <a:pt x="4489" y="3321"/>
                </a:lnTo>
                <a:lnTo>
                  <a:pt x="3413" y="5183"/>
                </a:lnTo>
                <a:lnTo>
                  <a:pt x="2338" y="3321"/>
                </a:lnTo>
                <a:close/>
                <a:moveTo>
                  <a:pt x="4910" y="3564"/>
                </a:moveTo>
                <a:lnTo>
                  <a:pt x="5985" y="5426"/>
                </a:lnTo>
                <a:lnTo>
                  <a:pt x="3834" y="5426"/>
                </a:lnTo>
                <a:lnTo>
                  <a:pt x="4910" y="356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6" name="Google Shape;196;p9"/>
          <p:cNvSpPr/>
          <p:nvPr/>
        </p:nvSpPr>
        <p:spPr>
          <a:xfrm>
            <a:off x="4239224" y="1461578"/>
            <a:ext cx="263461" cy="254823"/>
          </a:xfrm>
          <a:custGeom>
            <a:rect b="b" l="l" r="r" t="t"/>
            <a:pathLst>
              <a:path extrusionOk="0" h="606722" w="582235">
                <a:moveTo>
                  <a:pt x="0" y="404481"/>
                </a:moveTo>
                <a:lnTo>
                  <a:pt x="101261" y="404481"/>
                </a:lnTo>
                <a:lnTo>
                  <a:pt x="101261" y="606722"/>
                </a:lnTo>
                <a:lnTo>
                  <a:pt x="0" y="606722"/>
                </a:lnTo>
                <a:close/>
                <a:moveTo>
                  <a:pt x="151927" y="328623"/>
                </a:moveTo>
                <a:lnTo>
                  <a:pt x="253188" y="328623"/>
                </a:lnTo>
                <a:lnTo>
                  <a:pt x="253188" y="606722"/>
                </a:lnTo>
                <a:lnTo>
                  <a:pt x="151927" y="606722"/>
                </a:lnTo>
                <a:close/>
                <a:moveTo>
                  <a:pt x="303855" y="252766"/>
                </a:moveTo>
                <a:lnTo>
                  <a:pt x="405046" y="252766"/>
                </a:lnTo>
                <a:lnTo>
                  <a:pt x="405046" y="606722"/>
                </a:lnTo>
                <a:lnTo>
                  <a:pt x="303855" y="606722"/>
                </a:lnTo>
                <a:close/>
                <a:moveTo>
                  <a:pt x="455711" y="202241"/>
                </a:moveTo>
                <a:lnTo>
                  <a:pt x="556972" y="202241"/>
                </a:lnTo>
                <a:lnTo>
                  <a:pt x="556972" y="606722"/>
                </a:lnTo>
                <a:lnTo>
                  <a:pt x="455711" y="606722"/>
                </a:lnTo>
                <a:close/>
                <a:moveTo>
                  <a:pt x="455697" y="0"/>
                </a:moveTo>
                <a:lnTo>
                  <a:pt x="556785" y="0"/>
                </a:lnTo>
                <a:lnTo>
                  <a:pt x="556874" y="0"/>
                </a:lnTo>
                <a:lnTo>
                  <a:pt x="556963" y="0"/>
                </a:lnTo>
                <a:cubicBezTo>
                  <a:pt x="557230" y="0"/>
                  <a:pt x="557408" y="0"/>
                  <a:pt x="557675" y="0"/>
                </a:cubicBezTo>
                <a:cubicBezTo>
                  <a:pt x="558298" y="89"/>
                  <a:pt x="558832" y="89"/>
                  <a:pt x="559366" y="89"/>
                </a:cubicBezTo>
                <a:cubicBezTo>
                  <a:pt x="559811" y="178"/>
                  <a:pt x="560256" y="267"/>
                  <a:pt x="560611" y="267"/>
                </a:cubicBezTo>
                <a:cubicBezTo>
                  <a:pt x="561056" y="356"/>
                  <a:pt x="561412" y="444"/>
                  <a:pt x="561857" y="444"/>
                </a:cubicBezTo>
                <a:cubicBezTo>
                  <a:pt x="562302" y="533"/>
                  <a:pt x="562747" y="711"/>
                  <a:pt x="563192" y="800"/>
                </a:cubicBezTo>
                <a:cubicBezTo>
                  <a:pt x="563548" y="889"/>
                  <a:pt x="563904" y="978"/>
                  <a:pt x="564171" y="1067"/>
                </a:cubicBezTo>
                <a:cubicBezTo>
                  <a:pt x="564616" y="1156"/>
                  <a:pt x="565061" y="1333"/>
                  <a:pt x="565506" y="1511"/>
                </a:cubicBezTo>
                <a:cubicBezTo>
                  <a:pt x="565862" y="1600"/>
                  <a:pt x="566218" y="1778"/>
                  <a:pt x="566574" y="1867"/>
                </a:cubicBezTo>
                <a:cubicBezTo>
                  <a:pt x="566929" y="2044"/>
                  <a:pt x="567285" y="2222"/>
                  <a:pt x="567730" y="2400"/>
                </a:cubicBezTo>
                <a:cubicBezTo>
                  <a:pt x="568086" y="2578"/>
                  <a:pt x="568442" y="2755"/>
                  <a:pt x="568798" y="2933"/>
                </a:cubicBezTo>
                <a:cubicBezTo>
                  <a:pt x="569154" y="3111"/>
                  <a:pt x="569421" y="3289"/>
                  <a:pt x="569777" y="3467"/>
                </a:cubicBezTo>
                <a:cubicBezTo>
                  <a:pt x="570133" y="3733"/>
                  <a:pt x="570578" y="4000"/>
                  <a:pt x="570934" y="4178"/>
                </a:cubicBezTo>
                <a:cubicBezTo>
                  <a:pt x="571201" y="4444"/>
                  <a:pt x="571557" y="4622"/>
                  <a:pt x="571824" y="4800"/>
                </a:cubicBezTo>
                <a:cubicBezTo>
                  <a:pt x="572180" y="5155"/>
                  <a:pt x="572536" y="5422"/>
                  <a:pt x="572891" y="5689"/>
                </a:cubicBezTo>
                <a:cubicBezTo>
                  <a:pt x="573247" y="5955"/>
                  <a:pt x="573514" y="6222"/>
                  <a:pt x="573781" y="6489"/>
                </a:cubicBezTo>
                <a:cubicBezTo>
                  <a:pt x="574137" y="6755"/>
                  <a:pt x="574493" y="7022"/>
                  <a:pt x="574760" y="7289"/>
                </a:cubicBezTo>
                <a:cubicBezTo>
                  <a:pt x="575205" y="7733"/>
                  <a:pt x="575561" y="8178"/>
                  <a:pt x="575917" y="8533"/>
                </a:cubicBezTo>
                <a:cubicBezTo>
                  <a:pt x="576095" y="8711"/>
                  <a:pt x="576273" y="8889"/>
                  <a:pt x="576451" y="9066"/>
                </a:cubicBezTo>
                <a:cubicBezTo>
                  <a:pt x="576451" y="9155"/>
                  <a:pt x="576451" y="9155"/>
                  <a:pt x="576451" y="9155"/>
                </a:cubicBezTo>
                <a:cubicBezTo>
                  <a:pt x="576985" y="9777"/>
                  <a:pt x="577519" y="10489"/>
                  <a:pt x="577964" y="11200"/>
                </a:cubicBezTo>
                <a:cubicBezTo>
                  <a:pt x="577964" y="11200"/>
                  <a:pt x="578053" y="11289"/>
                  <a:pt x="578053" y="11289"/>
                </a:cubicBezTo>
                <a:cubicBezTo>
                  <a:pt x="578498" y="12000"/>
                  <a:pt x="578854" y="12622"/>
                  <a:pt x="579209" y="13244"/>
                </a:cubicBezTo>
                <a:cubicBezTo>
                  <a:pt x="579387" y="13600"/>
                  <a:pt x="579565" y="13955"/>
                  <a:pt x="579743" y="14222"/>
                </a:cubicBezTo>
                <a:cubicBezTo>
                  <a:pt x="579921" y="14666"/>
                  <a:pt x="580099" y="15111"/>
                  <a:pt x="580277" y="15555"/>
                </a:cubicBezTo>
                <a:cubicBezTo>
                  <a:pt x="580455" y="15911"/>
                  <a:pt x="580633" y="16266"/>
                  <a:pt x="580722" y="16711"/>
                </a:cubicBezTo>
                <a:cubicBezTo>
                  <a:pt x="580900" y="17066"/>
                  <a:pt x="581078" y="17422"/>
                  <a:pt x="581167" y="17866"/>
                </a:cubicBezTo>
                <a:cubicBezTo>
                  <a:pt x="581256" y="18311"/>
                  <a:pt x="581434" y="18755"/>
                  <a:pt x="581523" y="19199"/>
                </a:cubicBezTo>
                <a:cubicBezTo>
                  <a:pt x="581612" y="19555"/>
                  <a:pt x="581701" y="19910"/>
                  <a:pt x="581790" y="20266"/>
                </a:cubicBezTo>
                <a:cubicBezTo>
                  <a:pt x="581879" y="20977"/>
                  <a:pt x="582057" y="21777"/>
                  <a:pt x="582146" y="22488"/>
                </a:cubicBezTo>
                <a:cubicBezTo>
                  <a:pt x="582146" y="22577"/>
                  <a:pt x="582146" y="22666"/>
                  <a:pt x="582146" y="22666"/>
                </a:cubicBezTo>
                <a:cubicBezTo>
                  <a:pt x="582235" y="23555"/>
                  <a:pt x="582235" y="24355"/>
                  <a:pt x="582235" y="25244"/>
                </a:cubicBezTo>
                <a:lnTo>
                  <a:pt x="582235" y="126396"/>
                </a:lnTo>
                <a:cubicBezTo>
                  <a:pt x="582235" y="140351"/>
                  <a:pt x="570934" y="151728"/>
                  <a:pt x="556963" y="151728"/>
                </a:cubicBezTo>
                <a:cubicBezTo>
                  <a:pt x="542992" y="151728"/>
                  <a:pt x="531691" y="140351"/>
                  <a:pt x="531691" y="126396"/>
                </a:cubicBezTo>
                <a:lnTo>
                  <a:pt x="531691" y="79286"/>
                </a:lnTo>
                <a:lnTo>
                  <a:pt x="421260" y="171106"/>
                </a:lnTo>
                <a:cubicBezTo>
                  <a:pt x="410582" y="180083"/>
                  <a:pt x="394564" y="178572"/>
                  <a:pt x="385666" y="167906"/>
                </a:cubicBezTo>
                <a:cubicBezTo>
                  <a:pt x="376678" y="157150"/>
                  <a:pt x="378191" y="141240"/>
                  <a:pt x="388869" y="132262"/>
                </a:cubicBezTo>
                <a:lnTo>
                  <a:pt x="487020" y="50576"/>
                </a:lnTo>
                <a:lnTo>
                  <a:pt x="455697" y="50576"/>
                </a:lnTo>
                <a:cubicBezTo>
                  <a:pt x="441727" y="50576"/>
                  <a:pt x="430425" y="39288"/>
                  <a:pt x="430425" y="25244"/>
                </a:cubicBezTo>
                <a:cubicBezTo>
                  <a:pt x="430425" y="11289"/>
                  <a:pt x="441727" y="0"/>
                  <a:pt x="455697" y="0"/>
                </a:cubicBezTo>
                <a:close/>
              </a:path>
            </a:pathLst>
          </a:custGeom>
          <a:solidFill>
            <a:schemeClr val="accent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400"/>
              <a:buFont typeface="Arial"/>
              <a:buNone/>
            </a:pPr>
            <a:r>
              <a:t/>
            </a:r>
            <a:endParaRPr b="0" i="0" sz="6400" u="none" cap="none" strike="noStrike">
              <a:solidFill>
                <a:srgbClr val="000000"/>
              </a:solidFill>
              <a:latin typeface="Arial"/>
              <a:ea typeface="Arial"/>
              <a:cs typeface="Arial"/>
              <a:sym typeface="Arial"/>
            </a:endParaRPr>
          </a:p>
        </p:txBody>
      </p:sp>
      <p:sp>
        <p:nvSpPr>
          <p:cNvPr id="197" name="Google Shape;197;p9"/>
          <p:cNvSpPr/>
          <p:nvPr/>
        </p:nvSpPr>
        <p:spPr>
          <a:xfrm>
            <a:off x="243115" y="114690"/>
            <a:ext cx="2839200" cy="398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4C65"/>
                </a:solidFill>
              </a:rPr>
              <a:t>DATA PROFILE</a:t>
            </a:r>
            <a:endParaRPr b="1" i="0" sz="2000" u="none" cap="none" strike="noStrike">
              <a:solidFill>
                <a:srgbClr val="004C65"/>
              </a:solidFill>
            </a:endParaRPr>
          </a:p>
        </p:txBody>
      </p:sp>
      <p:pic>
        <p:nvPicPr>
          <p:cNvPr id="198" name="Google Shape;198;p9"/>
          <p:cNvPicPr preferRelativeResize="0"/>
          <p:nvPr/>
        </p:nvPicPr>
        <p:blipFill rotWithShape="1">
          <a:blip r:embed="rId3">
            <a:alphaModFix amt="60000"/>
          </a:blip>
          <a:srcRect b="11584" l="0" r="10897" t="13569"/>
          <a:stretch/>
        </p:blipFill>
        <p:spPr>
          <a:xfrm>
            <a:off x="8340488" y="4532819"/>
            <a:ext cx="803513" cy="61068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0"/>
          <p:cNvSpPr txBox="1"/>
          <p:nvPr/>
        </p:nvSpPr>
        <p:spPr>
          <a:xfrm>
            <a:off x="228125" y="134275"/>
            <a:ext cx="2059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4C65"/>
              </a:buClr>
              <a:buSzPts val="2000"/>
              <a:buFont typeface="Arial"/>
              <a:buNone/>
            </a:pPr>
            <a:r>
              <a:rPr b="1" i="0" lang="en-US" sz="2000" u="none" cap="none" strike="noStrike">
                <a:solidFill>
                  <a:srgbClr val="004C65"/>
                </a:solidFill>
              </a:rPr>
              <a:t>DATA PROFILE</a:t>
            </a:r>
            <a:endParaRPr b="1" i="0" sz="1800" u="none" cap="none" strike="noStrike">
              <a:solidFill>
                <a:schemeClr val="dk1"/>
              </a:solidFill>
            </a:endParaRPr>
          </a:p>
        </p:txBody>
      </p:sp>
      <p:pic>
        <p:nvPicPr>
          <p:cNvPr id="204" name="Google Shape;204;p10"/>
          <p:cNvPicPr preferRelativeResize="0"/>
          <p:nvPr/>
        </p:nvPicPr>
        <p:blipFill rotWithShape="1">
          <a:blip r:embed="rId3">
            <a:alphaModFix/>
          </a:blip>
          <a:srcRect b="0" l="0" r="0" t="0"/>
          <a:stretch/>
        </p:blipFill>
        <p:spPr>
          <a:xfrm>
            <a:off x="784179" y="652790"/>
            <a:ext cx="7575655" cy="3678664"/>
          </a:xfrm>
          <a:prstGeom prst="rect">
            <a:avLst/>
          </a:prstGeom>
          <a:noFill/>
          <a:ln>
            <a:noFill/>
          </a:ln>
        </p:spPr>
      </p:pic>
      <p:sp>
        <p:nvSpPr>
          <p:cNvPr id="205" name="Google Shape;205;p10"/>
          <p:cNvSpPr txBox="1"/>
          <p:nvPr/>
        </p:nvSpPr>
        <p:spPr>
          <a:xfrm>
            <a:off x="932497" y="4449765"/>
            <a:ext cx="7638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595959"/>
                </a:solidFill>
                <a:latin typeface="Arial"/>
                <a:ea typeface="Arial"/>
                <a:cs typeface="Arial"/>
                <a:sym typeface="Arial"/>
              </a:rPr>
              <a:t>BTC and BNB follow similar overall trends, but BTC exhibits significantly stronger growth and higher volatility, indicating greater risk and forecasting value.</a:t>
            </a:r>
            <a:endParaRPr b="0" i="1" sz="1400" u="none" cap="none" strike="noStrike">
              <a:solidFill>
                <a:srgbClr val="595959"/>
              </a:solidFill>
              <a:latin typeface="Arial"/>
              <a:ea typeface="Arial"/>
              <a:cs typeface="Arial"/>
              <a:sym typeface="Arial"/>
            </a:endParaRPr>
          </a:p>
        </p:txBody>
      </p:sp>
      <p:pic>
        <p:nvPicPr>
          <p:cNvPr id="206" name="Google Shape;206;p10"/>
          <p:cNvPicPr preferRelativeResize="0"/>
          <p:nvPr/>
        </p:nvPicPr>
        <p:blipFill rotWithShape="1">
          <a:blip r:embed="rId4">
            <a:alphaModFix amt="60000"/>
          </a:blip>
          <a:srcRect b="11584" l="0" r="10897" t="13569"/>
          <a:stretch/>
        </p:blipFill>
        <p:spPr>
          <a:xfrm>
            <a:off x="8340938" y="4516119"/>
            <a:ext cx="803513" cy="61068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1"/>
          <p:cNvSpPr txBox="1"/>
          <p:nvPr/>
        </p:nvSpPr>
        <p:spPr>
          <a:xfrm>
            <a:off x="213450" y="100875"/>
            <a:ext cx="23841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4C65"/>
              </a:buClr>
              <a:buSzPts val="2000"/>
              <a:buFont typeface="Arial"/>
              <a:buNone/>
            </a:pPr>
            <a:r>
              <a:rPr b="1" i="0" lang="en-US" sz="2000" u="none" cap="none" strike="noStrike">
                <a:solidFill>
                  <a:srgbClr val="004C65"/>
                </a:solidFill>
              </a:rPr>
              <a:t>DATA PROFILE</a:t>
            </a:r>
            <a:endParaRPr b="1" i="0" sz="1800" u="none" cap="none" strike="noStrike">
              <a:solidFill>
                <a:schemeClr val="dk1"/>
              </a:solidFill>
            </a:endParaRPr>
          </a:p>
        </p:txBody>
      </p:sp>
      <p:pic>
        <p:nvPicPr>
          <p:cNvPr id="212" name="Google Shape;212;p11"/>
          <p:cNvPicPr preferRelativeResize="0"/>
          <p:nvPr/>
        </p:nvPicPr>
        <p:blipFill rotWithShape="1">
          <a:blip r:embed="rId3">
            <a:alphaModFix/>
          </a:blip>
          <a:srcRect b="0" l="0" r="0" t="0"/>
          <a:stretch/>
        </p:blipFill>
        <p:spPr>
          <a:xfrm>
            <a:off x="0" y="560492"/>
            <a:ext cx="5544615" cy="4022515"/>
          </a:xfrm>
          <a:prstGeom prst="rect">
            <a:avLst/>
          </a:prstGeom>
          <a:noFill/>
          <a:ln>
            <a:noFill/>
          </a:ln>
        </p:spPr>
      </p:pic>
      <p:sp>
        <p:nvSpPr>
          <p:cNvPr id="213" name="Google Shape;213;p11"/>
          <p:cNvSpPr txBox="1"/>
          <p:nvPr/>
        </p:nvSpPr>
        <p:spPr>
          <a:xfrm>
            <a:off x="5728291" y="842347"/>
            <a:ext cx="32037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95959"/>
              </a:buClr>
              <a:buSzPts val="1600"/>
              <a:buFont typeface="Arial"/>
              <a:buNone/>
            </a:pPr>
            <a:r>
              <a:rPr b="0" i="1" lang="en-US" u="none" cap="none" strike="noStrike">
                <a:solidFill>
                  <a:srgbClr val="595959"/>
                </a:solidFill>
                <a:latin typeface="Arial"/>
                <a:ea typeface="Arial"/>
                <a:cs typeface="Arial"/>
                <a:sym typeface="Arial"/>
              </a:rPr>
              <a:t>BTC daily returns cluster near zero but display clear fat-tailed behavior, highlighting the asset’s exposure to extreme price movements.</a:t>
            </a:r>
            <a:endParaRPr b="0" i="1" sz="1600" u="none" cap="none" strike="noStrike">
              <a:solidFill>
                <a:schemeClr val="dk1"/>
              </a:solidFill>
              <a:latin typeface="Arial"/>
              <a:ea typeface="Arial"/>
              <a:cs typeface="Arial"/>
              <a:sym typeface="Arial"/>
            </a:endParaRPr>
          </a:p>
        </p:txBody>
      </p:sp>
      <p:pic>
        <p:nvPicPr>
          <p:cNvPr id="214" name="Google Shape;214;p11"/>
          <p:cNvPicPr preferRelativeResize="0"/>
          <p:nvPr/>
        </p:nvPicPr>
        <p:blipFill rotWithShape="1">
          <a:blip r:embed="rId4">
            <a:alphaModFix amt="60000"/>
          </a:blip>
          <a:srcRect b="11584" l="0" r="10897" t="13569"/>
          <a:stretch/>
        </p:blipFill>
        <p:spPr>
          <a:xfrm>
            <a:off x="8340938" y="4516119"/>
            <a:ext cx="803513" cy="610688"/>
          </a:xfrm>
          <a:prstGeom prst="rect">
            <a:avLst/>
          </a:prstGeom>
          <a:noFill/>
          <a:ln>
            <a:noFill/>
          </a:ln>
        </p:spPr>
      </p:pic>
      <p:pic>
        <p:nvPicPr>
          <p:cNvPr descr="A group of people standing in front of a graph&#10;&#10;AI-generated content may be incorrect." id="215" name="Google Shape;215;p11"/>
          <p:cNvPicPr preferRelativeResize="0"/>
          <p:nvPr/>
        </p:nvPicPr>
        <p:blipFill rotWithShape="1">
          <a:blip r:embed="rId5">
            <a:alphaModFix amt="20000"/>
          </a:blip>
          <a:srcRect b="0" l="0" r="0" t="0"/>
          <a:stretch/>
        </p:blipFill>
        <p:spPr>
          <a:xfrm>
            <a:off x="4860032" y="2475738"/>
            <a:ext cx="4464496" cy="297633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af27d324c4_1_46"/>
          <p:cNvSpPr/>
          <p:nvPr/>
        </p:nvSpPr>
        <p:spPr>
          <a:xfrm>
            <a:off x="1115616" y="1779662"/>
            <a:ext cx="6624600" cy="1368300"/>
          </a:xfrm>
          <a:prstGeom prst="rect">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pic>
        <p:nvPicPr>
          <p:cNvPr id="222" name="Google Shape;222;g3af27d324c4_1_46"/>
          <p:cNvPicPr preferRelativeResize="0"/>
          <p:nvPr/>
        </p:nvPicPr>
        <p:blipFill rotWithShape="1">
          <a:blip r:embed="rId3">
            <a:alphaModFix/>
          </a:blip>
          <a:srcRect b="0" l="0" r="0" t="0"/>
          <a:stretch/>
        </p:blipFill>
        <p:spPr>
          <a:xfrm>
            <a:off x="0" y="-1"/>
            <a:ext cx="9143999" cy="5143501"/>
          </a:xfrm>
          <a:prstGeom prst="rect">
            <a:avLst/>
          </a:prstGeom>
          <a:noFill/>
          <a:ln>
            <a:noFill/>
          </a:ln>
        </p:spPr>
      </p:pic>
      <p:sp>
        <p:nvSpPr>
          <p:cNvPr id="223" name="Google Shape;223;g3af27d324c4_1_46"/>
          <p:cNvSpPr/>
          <p:nvPr/>
        </p:nvSpPr>
        <p:spPr>
          <a:xfrm>
            <a:off x="1597531" y="2920769"/>
            <a:ext cx="1031700" cy="10317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224" name="Google Shape;224;g3af27d324c4_1_46"/>
          <p:cNvSpPr/>
          <p:nvPr/>
        </p:nvSpPr>
        <p:spPr>
          <a:xfrm>
            <a:off x="3419872" y="3219822"/>
            <a:ext cx="433800" cy="4338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225" name="Google Shape;225;g3af27d324c4_1_46"/>
          <p:cNvSpPr/>
          <p:nvPr/>
        </p:nvSpPr>
        <p:spPr>
          <a:xfrm>
            <a:off x="5348099" y="1263746"/>
            <a:ext cx="516000" cy="5160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226" name="Google Shape;226;g3af27d324c4_1_46"/>
          <p:cNvSpPr/>
          <p:nvPr/>
        </p:nvSpPr>
        <p:spPr>
          <a:xfrm>
            <a:off x="7170441" y="1562800"/>
            <a:ext cx="216900" cy="2169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pic>
        <p:nvPicPr>
          <p:cNvPr id="227" name="Google Shape;227;g3af27d324c4_1_46"/>
          <p:cNvPicPr preferRelativeResize="0"/>
          <p:nvPr/>
        </p:nvPicPr>
        <p:blipFill rotWithShape="1">
          <a:blip r:embed="rId4">
            <a:alphaModFix amt="60000"/>
          </a:blip>
          <a:srcRect b="11585" l="0" r="10897" t="13569"/>
          <a:stretch/>
        </p:blipFill>
        <p:spPr>
          <a:xfrm>
            <a:off x="8340487" y="4532812"/>
            <a:ext cx="803513" cy="610688"/>
          </a:xfrm>
          <a:prstGeom prst="rect">
            <a:avLst/>
          </a:prstGeom>
          <a:noFill/>
          <a:ln>
            <a:noFill/>
          </a:ln>
        </p:spPr>
      </p:pic>
      <p:sp>
        <p:nvSpPr>
          <p:cNvPr id="228" name="Google Shape;228;g3af27d324c4_1_46"/>
          <p:cNvSpPr txBox="1"/>
          <p:nvPr/>
        </p:nvSpPr>
        <p:spPr>
          <a:xfrm>
            <a:off x="1814325" y="1968500"/>
            <a:ext cx="5925900" cy="9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F0FEFE"/>
                </a:solidFill>
              </a:rPr>
              <a:t>04  </a:t>
            </a:r>
            <a:r>
              <a:rPr b="1" lang="en-US" sz="3200">
                <a:solidFill>
                  <a:schemeClr val="dk1"/>
                </a:solidFill>
                <a:latin typeface="Microsoft YaHei"/>
                <a:ea typeface="Microsoft YaHei"/>
                <a:cs typeface="Microsoft YaHei"/>
                <a:sym typeface="Microsoft YaHei"/>
              </a:rPr>
              <a:t>  </a:t>
            </a:r>
            <a:r>
              <a:rPr b="1" lang="en-US" sz="3200">
                <a:solidFill>
                  <a:srgbClr val="F0FEFE"/>
                </a:solidFill>
              </a:rPr>
              <a:t>Methodology  &amp;  Tools</a:t>
            </a:r>
            <a:endParaRPr b="1" sz="3200">
              <a:solidFill>
                <a:srgbClr val="F0FEF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4"/>
          <p:cNvSpPr/>
          <p:nvPr/>
        </p:nvSpPr>
        <p:spPr>
          <a:xfrm>
            <a:off x="755575" y="2946344"/>
            <a:ext cx="7168785" cy="1705729"/>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rPr b="1" lang="en-US" sz="1800" u="sng">
                <a:solidFill>
                  <a:schemeClr val="dk1"/>
                </a:solidFill>
              </a:rPr>
              <a:t>Why OLAP for this project?</a:t>
            </a:r>
            <a:endParaRPr sz="1600">
              <a:solidFill>
                <a:srgbClr val="3F3F3F"/>
              </a:solidFill>
            </a:endParaRPr>
          </a:p>
          <a:p>
            <a:pPr indent="0" lvl="0" marL="0" rtl="0" algn="l">
              <a:spcBef>
                <a:spcPts val="0"/>
              </a:spcBef>
              <a:spcAft>
                <a:spcPts val="0"/>
              </a:spcAft>
              <a:buClr>
                <a:schemeClr val="dk1"/>
              </a:buClr>
              <a:buSzPts val="1600"/>
              <a:buFont typeface="Arial"/>
              <a:buNone/>
            </a:pPr>
            <a:r>
              <a:rPr lang="en-US" sz="1600">
                <a:solidFill>
                  <a:srgbClr val="3F3F3F"/>
                </a:solidFill>
              </a:rPr>
              <a:t>– The dataset is time-series OHLCV data requiring historical lookback and analytical queries.</a:t>
            </a:r>
            <a:endParaRPr sz="1600">
              <a:solidFill>
                <a:srgbClr val="3F3F3F"/>
              </a:solidFill>
            </a:endParaRPr>
          </a:p>
          <a:p>
            <a:pPr indent="0" lvl="0" marL="0" rtl="0" algn="l">
              <a:spcBef>
                <a:spcPts val="0"/>
              </a:spcBef>
              <a:spcAft>
                <a:spcPts val="0"/>
              </a:spcAft>
              <a:buClr>
                <a:schemeClr val="dk1"/>
              </a:buClr>
              <a:buSzPts val="1600"/>
              <a:buFont typeface="Arial"/>
              <a:buNone/>
            </a:pPr>
            <a:r>
              <a:t/>
            </a:r>
            <a:endParaRPr sz="1600">
              <a:solidFill>
                <a:srgbClr val="3F3F3F"/>
              </a:solidFill>
            </a:endParaRPr>
          </a:p>
          <a:p>
            <a:pPr indent="0" lvl="0" marL="0" rtl="0" algn="l">
              <a:spcBef>
                <a:spcPts val="0"/>
              </a:spcBef>
              <a:spcAft>
                <a:spcPts val="0"/>
              </a:spcAft>
              <a:buClr>
                <a:schemeClr val="dk1"/>
              </a:buClr>
              <a:buSzPts val="1600"/>
              <a:buFont typeface="Arial"/>
              <a:buNone/>
            </a:pPr>
            <a:r>
              <a:rPr lang="en-US" sz="1600">
                <a:solidFill>
                  <a:srgbClr val="3F3F3F"/>
                </a:solidFill>
              </a:rPr>
              <a:t>– We perform aggregations (daily candles), dimensional modeling, and reporting → OLAP fits.</a:t>
            </a:r>
            <a:endParaRPr sz="1800">
              <a:solidFill>
                <a:schemeClr val="dk1"/>
              </a:solidFill>
            </a:endParaRPr>
          </a:p>
        </p:txBody>
      </p:sp>
      <p:sp>
        <p:nvSpPr>
          <p:cNvPr id="235" name="Google Shape;235;p14"/>
          <p:cNvSpPr/>
          <p:nvPr/>
        </p:nvSpPr>
        <p:spPr>
          <a:xfrm>
            <a:off x="755575" y="577501"/>
            <a:ext cx="7168800" cy="1705800"/>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90000"/>
              </a:lnSpc>
              <a:spcBef>
                <a:spcPts val="1000"/>
              </a:spcBef>
              <a:spcAft>
                <a:spcPts val="0"/>
              </a:spcAft>
              <a:buClr>
                <a:schemeClr val="dk1"/>
              </a:buClr>
              <a:buSzPts val="1600"/>
              <a:buFont typeface="Arial"/>
              <a:buNone/>
            </a:pPr>
            <a:r>
              <a:rPr b="1" lang="en-US" sz="1800" u="sng">
                <a:solidFill>
                  <a:schemeClr val="dk1"/>
                </a:solidFill>
              </a:rPr>
              <a:t>OLTP vs OLAP</a:t>
            </a:r>
            <a:endParaRPr b="1" sz="1800" u="sng">
              <a:solidFill>
                <a:schemeClr val="dk1"/>
              </a:solidFill>
            </a:endParaRPr>
          </a:p>
          <a:p>
            <a:pPr indent="0" lvl="0" marL="0" rtl="0" algn="l">
              <a:lnSpc>
                <a:spcPct val="90000"/>
              </a:lnSpc>
              <a:spcBef>
                <a:spcPts val="0"/>
              </a:spcBef>
              <a:spcAft>
                <a:spcPts val="0"/>
              </a:spcAft>
              <a:buClr>
                <a:schemeClr val="dk1"/>
              </a:buClr>
              <a:buSzPts val="1600"/>
              <a:buFont typeface="Arial"/>
              <a:buNone/>
            </a:pPr>
            <a:r>
              <a:rPr lang="en-US" sz="1600">
                <a:solidFill>
                  <a:srgbClr val="3F3F3F"/>
                </a:solidFill>
              </a:rPr>
              <a:t>– OLTP systems optimize fast writes &amp; transactions (e.g., Binance API raw ingestions).</a:t>
            </a:r>
            <a:endParaRPr sz="1600">
              <a:solidFill>
                <a:srgbClr val="3F3F3F"/>
              </a:solidFill>
            </a:endParaRPr>
          </a:p>
          <a:p>
            <a:pPr indent="0" lvl="0" marL="0" rtl="0" algn="l">
              <a:lnSpc>
                <a:spcPct val="90000"/>
              </a:lnSpc>
              <a:spcBef>
                <a:spcPts val="0"/>
              </a:spcBef>
              <a:spcAft>
                <a:spcPts val="0"/>
              </a:spcAft>
              <a:buClr>
                <a:schemeClr val="dk1"/>
              </a:buClr>
              <a:buSzPts val="1600"/>
              <a:buFont typeface="Arial"/>
              <a:buNone/>
            </a:pPr>
            <a:r>
              <a:t/>
            </a:r>
            <a:endParaRPr sz="1600">
              <a:solidFill>
                <a:srgbClr val="3F3F3F"/>
              </a:solidFill>
            </a:endParaRPr>
          </a:p>
          <a:p>
            <a:pPr indent="0" lvl="0" marL="0" rtl="0" algn="l">
              <a:lnSpc>
                <a:spcPct val="90000"/>
              </a:lnSpc>
              <a:spcBef>
                <a:spcPts val="0"/>
              </a:spcBef>
              <a:spcAft>
                <a:spcPts val="0"/>
              </a:spcAft>
              <a:buClr>
                <a:schemeClr val="dk1"/>
              </a:buClr>
              <a:buSzPts val="1600"/>
              <a:buFont typeface="Arial"/>
              <a:buNone/>
            </a:pPr>
            <a:r>
              <a:rPr lang="en-US" sz="1600">
                <a:solidFill>
                  <a:srgbClr val="3F3F3F"/>
                </a:solidFill>
              </a:rPr>
              <a:t>– OLAP systems optimize analytical queries, aggregations, and historical reporting.</a:t>
            </a:r>
            <a:endParaRPr sz="1000">
              <a:solidFill>
                <a:schemeClr val="dk1"/>
              </a:solidFill>
            </a:endParaRPr>
          </a:p>
          <a:p>
            <a:pPr indent="0" lvl="0" marL="0" rtl="0" algn="l">
              <a:lnSpc>
                <a:spcPct val="90000"/>
              </a:lnSpc>
              <a:spcBef>
                <a:spcPts val="0"/>
              </a:spcBef>
              <a:spcAft>
                <a:spcPts val="0"/>
              </a:spcAft>
              <a:buClr>
                <a:schemeClr val="dk1"/>
              </a:buClr>
              <a:buSzPts val="1600"/>
              <a:buFont typeface="Arial"/>
              <a:buNone/>
            </a:pPr>
            <a:r>
              <a:t/>
            </a:r>
            <a:endParaRPr sz="1000">
              <a:solidFill>
                <a:schemeClr val="dk1"/>
              </a:solidFill>
            </a:endParaRPr>
          </a:p>
        </p:txBody>
      </p:sp>
      <p:sp>
        <p:nvSpPr>
          <p:cNvPr id="236" name="Google Shape;236;p14"/>
          <p:cNvSpPr/>
          <p:nvPr/>
        </p:nvSpPr>
        <p:spPr>
          <a:xfrm>
            <a:off x="2205047" y="2464367"/>
            <a:ext cx="2366392" cy="107383"/>
          </a:xfrm>
          <a:custGeom>
            <a:rect b="b" l="l" r="r" t="t"/>
            <a:pathLst>
              <a:path extrusionOk="0" h="8" w="165">
                <a:moveTo>
                  <a:pt x="165" y="0"/>
                </a:moveTo>
                <a:cubicBezTo>
                  <a:pt x="0" y="0"/>
                  <a:pt x="0" y="0"/>
                  <a:pt x="0" y="0"/>
                </a:cubicBezTo>
                <a:cubicBezTo>
                  <a:pt x="0" y="3"/>
                  <a:pt x="0" y="3"/>
                  <a:pt x="0" y="5"/>
                </a:cubicBezTo>
                <a:cubicBezTo>
                  <a:pt x="0" y="6"/>
                  <a:pt x="0" y="7"/>
                  <a:pt x="0" y="8"/>
                </a:cubicBezTo>
                <a:cubicBezTo>
                  <a:pt x="165" y="8"/>
                  <a:pt x="165" y="8"/>
                  <a:pt x="165" y="8"/>
                </a:cubicBezTo>
                <a:cubicBezTo>
                  <a:pt x="165" y="7"/>
                  <a:pt x="165" y="6"/>
                  <a:pt x="165" y="5"/>
                </a:cubicBezTo>
                <a:cubicBezTo>
                  <a:pt x="165" y="3"/>
                  <a:pt x="165" y="3"/>
                  <a:pt x="165"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7" name="Google Shape;237;p14"/>
          <p:cNvSpPr/>
          <p:nvPr/>
        </p:nvSpPr>
        <p:spPr>
          <a:xfrm>
            <a:off x="5212094" y="2464367"/>
            <a:ext cx="2352594" cy="107383"/>
          </a:xfrm>
          <a:custGeom>
            <a:rect b="b" l="l" r="r" t="t"/>
            <a:pathLst>
              <a:path extrusionOk="0" h="8" w="164">
                <a:moveTo>
                  <a:pt x="164" y="0"/>
                </a:moveTo>
                <a:cubicBezTo>
                  <a:pt x="0" y="0"/>
                  <a:pt x="0" y="0"/>
                  <a:pt x="0" y="0"/>
                </a:cubicBezTo>
                <a:cubicBezTo>
                  <a:pt x="0" y="3"/>
                  <a:pt x="0" y="3"/>
                  <a:pt x="0" y="5"/>
                </a:cubicBezTo>
                <a:cubicBezTo>
                  <a:pt x="0" y="6"/>
                  <a:pt x="0" y="7"/>
                  <a:pt x="0" y="8"/>
                </a:cubicBezTo>
                <a:cubicBezTo>
                  <a:pt x="164" y="8"/>
                  <a:pt x="164" y="8"/>
                  <a:pt x="164" y="8"/>
                </a:cubicBezTo>
                <a:cubicBezTo>
                  <a:pt x="164" y="7"/>
                  <a:pt x="164" y="6"/>
                  <a:pt x="164" y="5"/>
                </a:cubicBezTo>
                <a:cubicBezTo>
                  <a:pt x="164" y="3"/>
                  <a:pt x="164" y="3"/>
                  <a:pt x="16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8" name="Google Shape;238;p14"/>
          <p:cNvSpPr/>
          <p:nvPr/>
        </p:nvSpPr>
        <p:spPr>
          <a:xfrm>
            <a:off x="3694868" y="2464367"/>
            <a:ext cx="2407788" cy="107383"/>
          </a:xfrm>
          <a:custGeom>
            <a:rect b="b" l="l" r="r" t="t"/>
            <a:pathLst>
              <a:path extrusionOk="0" h="8" w="168">
                <a:moveTo>
                  <a:pt x="168" y="0"/>
                </a:moveTo>
                <a:cubicBezTo>
                  <a:pt x="0" y="0"/>
                  <a:pt x="0" y="0"/>
                  <a:pt x="0" y="0"/>
                </a:cubicBezTo>
                <a:cubicBezTo>
                  <a:pt x="1" y="3"/>
                  <a:pt x="1" y="3"/>
                  <a:pt x="1" y="5"/>
                </a:cubicBezTo>
                <a:cubicBezTo>
                  <a:pt x="1" y="6"/>
                  <a:pt x="1" y="7"/>
                  <a:pt x="0" y="8"/>
                </a:cubicBezTo>
                <a:cubicBezTo>
                  <a:pt x="168" y="8"/>
                  <a:pt x="168" y="8"/>
                  <a:pt x="168" y="8"/>
                </a:cubicBezTo>
                <a:cubicBezTo>
                  <a:pt x="168" y="7"/>
                  <a:pt x="168" y="6"/>
                  <a:pt x="168" y="5"/>
                </a:cubicBezTo>
                <a:cubicBezTo>
                  <a:pt x="168" y="3"/>
                  <a:pt x="168" y="3"/>
                  <a:pt x="168"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9" name="Google Shape;239;p14"/>
          <p:cNvSpPr/>
          <p:nvPr/>
        </p:nvSpPr>
        <p:spPr>
          <a:xfrm>
            <a:off x="0" y="2464367"/>
            <a:ext cx="3060768" cy="107383"/>
          </a:xfrm>
          <a:custGeom>
            <a:rect b="b" l="l" r="r" t="t"/>
            <a:pathLst>
              <a:path extrusionOk="0" h="8" w="162">
                <a:moveTo>
                  <a:pt x="162" y="5"/>
                </a:moveTo>
                <a:cubicBezTo>
                  <a:pt x="162" y="3"/>
                  <a:pt x="162" y="3"/>
                  <a:pt x="162" y="0"/>
                </a:cubicBezTo>
                <a:cubicBezTo>
                  <a:pt x="3" y="0"/>
                  <a:pt x="3" y="0"/>
                  <a:pt x="3" y="0"/>
                </a:cubicBezTo>
                <a:cubicBezTo>
                  <a:pt x="2" y="0"/>
                  <a:pt x="0" y="3"/>
                  <a:pt x="0" y="5"/>
                </a:cubicBezTo>
                <a:cubicBezTo>
                  <a:pt x="0" y="6"/>
                  <a:pt x="2" y="8"/>
                  <a:pt x="3" y="8"/>
                </a:cubicBezTo>
                <a:cubicBezTo>
                  <a:pt x="86" y="8"/>
                  <a:pt x="86" y="8"/>
                  <a:pt x="86" y="8"/>
                </a:cubicBezTo>
                <a:cubicBezTo>
                  <a:pt x="87" y="8"/>
                  <a:pt x="87" y="8"/>
                  <a:pt x="87" y="8"/>
                </a:cubicBezTo>
                <a:cubicBezTo>
                  <a:pt x="91" y="5"/>
                  <a:pt x="98" y="3"/>
                  <a:pt x="104" y="5"/>
                </a:cubicBezTo>
                <a:cubicBezTo>
                  <a:pt x="106" y="6"/>
                  <a:pt x="108" y="7"/>
                  <a:pt x="110" y="8"/>
                </a:cubicBezTo>
                <a:cubicBezTo>
                  <a:pt x="110" y="8"/>
                  <a:pt x="110" y="8"/>
                  <a:pt x="110" y="8"/>
                </a:cubicBezTo>
                <a:cubicBezTo>
                  <a:pt x="162" y="8"/>
                  <a:pt x="162" y="8"/>
                  <a:pt x="162" y="8"/>
                </a:cubicBezTo>
                <a:cubicBezTo>
                  <a:pt x="162" y="7"/>
                  <a:pt x="162" y="6"/>
                  <a:pt x="162" y="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0" name="Google Shape;240;p14"/>
          <p:cNvSpPr/>
          <p:nvPr/>
        </p:nvSpPr>
        <p:spPr>
          <a:xfrm>
            <a:off x="6729317" y="2464367"/>
            <a:ext cx="2414683" cy="107383"/>
          </a:xfrm>
          <a:custGeom>
            <a:rect b="b" l="l" r="r" t="t"/>
            <a:pathLst>
              <a:path extrusionOk="0" h="8" w="168">
                <a:moveTo>
                  <a:pt x="164" y="0"/>
                </a:moveTo>
                <a:cubicBezTo>
                  <a:pt x="166" y="0"/>
                  <a:pt x="166" y="0"/>
                  <a:pt x="166" y="0"/>
                </a:cubicBezTo>
                <a:cubicBezTo>
                  <a:pt x="166" y="0"/>
                  <a:pt x="166" y="0"/>
                  <a:pt x="166" y="0"/>
                </a:cubicBezTo>
                <a:cubicBezTo>
                  <a:pt x="164" y="0"/>
                  <a:pt x="164" y="0"/>
                  <a:pt x="164" y="0"/>
                </a:cubicBezTo>
                <a:cubicBezTo>
                  <a:pt x="6" y="0"/>
                  <a:pt x="6" y="0"/>
                  <a:pt x="6" y="0"/>
                </a:cubicBezTo>
                <a:cubicBezTo>
                  <a:pt x="0" y="0"/>
                  <a:pt x="0" y="0"/>
                  <a:pt x="0" y="0"/>
                </a:cubicBezTo>
                <a:cubicBezTo>
                  <a:pt x="0" y="3"/>
                  <a:pt x="0" y="3"/>
                  <a:pt x="0" y="5"/>
                </a:cubicBezTo>
                <a:cubicBezTo>
                  <a:pt x="0" y="6"/>
                  <a:pt x="0" y="7"/>
                  <a:pt x="0" y="8"/>
                </a:cubicBezTo>
                <a:cubicBezTo>
                  <a:pt x="6" y="8"/>
                  <a:pt x="6" y="8"/>
                  <a:pt x="6" y="8"/>
                </a:cubicBezTo>
                <a:cubicBezTo>
                  <a:pt x="8" y="8"/>
                  <a:pt x="8" y="8"/>
                  <a:pt x="8" y="8"/>
                </a:cubicBezTo>
                <a:cubicBezTo>
                  <a:pt x="58" y="8"/>
                  <a:pt x="58" y="8"/>
                  <a:pt x="58" y="8"/>
                </a:cubicBezTo>
                <a:cubicBezTo>
                  <a:pt x="58" y="8"/>
                  <a:pt x="58" y="8"/>
                  <a:pt x="58" y="8"/>
                </a:cubicBezTo>
                <a:cubicBezTo>
                  <a:pt x="61" y="7"/>
                  <a:pt x="62" y="6"/>
                  <a:pt x="64" y="5"/>
                </a:cubicBezTo>
                <a:cubicBezTo>
                  <a:pt x="70" y="3"/>
                  <a:pt x="76" y="5"/>
                  <a:pt x="81" y="8"/>
                </a:cubicBezTo>
                <a:cubicBezTo>
                  <a:pt x="82" y="8"/>
                  <a:pt x="82" y="8"/>
                  <a:pt x="82" y="8"/>
                </a:cubicBezTo>
                <a:cubicBezTo>
                  <a:pt x="164" y="8"/>
                  <a:pt x="164" y="8"/>
                  <a:pt x="164" y="8"/>
                </a:cubicBezTo>
                <a:cubicBezTo>
                  <a:pt x="166" y="8"/>
                  <a:pt x="168" y="6"/>
                  <a:pt x="168" y="5"/>
                </a:cubicBezTo>
                <a:cubicBezTo>
                  <a:pt x="168" y="3"/>
                  <a:pt x="166" y="0"/>
                  <a:pt x="164"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1" name="Google Shape;241;p14"/>
          <p:cNvSpPr/>
          <p:nvPr/>
        </p:nvSpPr>
        <p:spPr>
          <a:xfrm>
            <a:off x="226328" y="123478"/>
            <a:ext cx="44046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4C65"/>
                </a:solidFill>
              </a:rPr>
              <a:t>DATABASE TYPE &amp; RATIONALE</a:t>
            </a:r>
            <a:endParaRPr b="1" i="0" sz="2000" u="none" cap="none" strike="noStrike">
              <a:solidFill>
                <a:srgbClr val="004C65"/>
              </a:solidFill>
            </a:endParaRPr>
          </a:p>
        </p:txBody>
      </p:sp>
      <p:pic>
        <p:nvPicPr>
          <p:cNvPr id="242" name="Google Shape;242;p14"/>
          <p:cNvPicPr preferRelativeResize="0"/>
          <p:nvPr/>
        </p:nvPicPr>
        <p:blipFill rotWithShape="1">
          <a:blip r:embed="rId3">
            <a:alphaModFix amt="60000"/>
          </a:blip>
          <a:srcRect b="11584" l="0" r="10897" t="13569"/>
          <a:stretch/>
        </p:blipFill>
        <p:spPr>
          <a:xfrm>
            <a:off x="8340487" y="4532812"/>
            <a:ext cx="803513" cy="610688"/>
          </a:xfrm>
          <a:prstGeom prst="rect">
            <a:avLst/>
          </a:prstGeom>
          <a:noFill/>
          <a:ln>
            <a:noFill/>
          </a:ln>
        </p:spPr>
      </p:pic>
      <p:pic>
        <p:nvPicPr>
          <p:cNvPr id="243" name="Google Shape;243;p14"/>
          <p:cNvPicPr preferRelativeResize="0"/>
          <p:nvPr/>
        </p:nvPicPr>
        <p:blipFill rotWithShape="1">
          <a:blip r:embed="rId4">
            <a:alphaModFix/>
          </a:blip>
          <a:srcRect b="7792" l="8914" r="11579" t="13071"/>
          <a:stretch/>
        </p:blipFill>
        <p:spPr>
          <a:xfrm rot="900000">
            <a:off x="8205800" y="784419"/>
            <a:ext cx="807854" cy="851743"/>
          </a:xfrm>
          <a:prstGeom prst="ellipse">
            <a:avLst/>
          </a:prstGeom>
          <a:noFill/>
          <a:ln>
            <a:noFill/>
          </a:ln>
        </p:spPr>
      </p:pic>
      <p:pic>
        <p:nvPicPr>
          <p:cNvPr id="244" name="Google Shape;244;p14"/>
          <p:cNvPicPr preferRelativeResize="0"/>
          <p:nvPr/>
        </p:nvPicPr>
        <p:blipFill rotWithShape="1">
          <a:blip r:embed="rId5">
            <a:alphaModFix/>
          </a:blip>
          <a:srcRect b="10653" l="8203" r="5576" t="12979"/>
          <a:stretch/>
        </p:blipFill>
        <p:spPr>
          <a:xfrm rot="-1260000">
            <a:off x="8158868" y="3276274"/>
            <a:ext cx="821966" cy="821966"/>
          </a:xfrm>
          <a:prstGeom prst="ellipse">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3"/>
          <p:cNvSpPr txBox="1"/>
          <p:nvPr/>
        </p:nvSpPr>
        <p:spPr>
          <a:xfrm>
            <a:off x="231804" y="111150"/>
            <a:ext cx="2384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4C65"/>
              </a:buClr>
              <a:buSzPts val="2000"/>
              <a:buFont typeface="Arial"/>
              <a:buNone/>
            </a:pPr>
            <a:r>
              <a:rPr b="1" i="0" lang="en-US" sz="2000" u="none" cap="none" strike="noStrike">
                <a:solidFill>
                  <a:srgbClr val="004C65"/>
                </a:solidFill>
              </a:rPr>
              <a:t>DATA PLATFORM</a:t>
            </a:r>
            <a:endParaRPr b="1" i="0" sz="1800" u="none" cap="none" strike="noStrike">
              <a:solidFill>
                <a:schemeClr val="dk1"/>
              </a:solidFill>
            </a:endParaRPr>
          </a:p>
        </p:txBody>
      </p:sp>
      <p:pic>
        <p:nvPicPr>
          <p:cNvPr id="250" name="Google Shape;250;p13"/>
          <p:cNvPicPr preferRelativeResize="0"/>
          <p:nvPr/>
        </p:nvPicPr>
        <p:blipFill rotWithShape="1">
          <a:blip r:embed="rId3">
            <a:alphaModFix amt="60000"/>
          </a:blip>
          <a:srcRect b="11584" l="0" r="10897" t="13569"/>
          <a:stretch/>
        </p:blipFill>
        <p:spPr>
          <a:xfrm>
            <a:off x="8340938" y="4516119"/>
            <a:ext cx="803513" cy="610688"/>
          </a:xfrm>
          <a:prstGeom prst="rect">
            <a:avLst/>
          </a:prstGeom>
          <a:noFill/>
          <a:ln>
            <a:noFill/>
          </a:ln>
        </p:spPr>
      </p:pic>
      <p:pic>
        <p:nvPicPr>
          <p:cNvPr id="251" name="Google Shape;251;p13"/>
          <p:cNvPicPr preferRelativeResize="0"/>
          <p:nvPr/>
        </p:nvPicPr>
        <p:blipFill rotWithShape="1">
          <a:blip r:embed="rId4">
            <a:alphaModFix/>
          </a:blip>
          <a:srcRect b="0" l="0" r="0" t="0"/>
          <a:stretch/>
        </p:blipFill>
        <p:spPr>
          <a:xfrm>
            <a:off x="274698" y="1023578"/>
            <a:ext cx="8594603" cy="3096344"/>
          </a:xfrm>
          <a:prstGeom prst="rect">
            <a:avLst/>
          </a:prstGeom>
          <a:noFill/>
          <a:ln>
            <a:noFill/>
          </a:ln>
        </p:spPr>
      </p:pic>
      <p:sp>
        <p:nvSpPr>
          <p:cNvPr id="252" name="Google Shape;252;p13"/>
          <p:cNvSpPr/>
          <p:nvPr/>
        </p:nvSpPr>
        <p:spPr>
          <a:xfrm>
            <a:off x="3131840" y="2859782"/>
            <a:ext cx="117727" cy="360040"/>
          </a:xfrm>
          <a:prstGeom prst="downArrow">
            <a:avLst>
              <a:gd fmla="val 50000" name="adj1"/>
              <a:gd fmla="val 50000" name="adj2"/>
            </a:avLst>
          </a:prstGeom>
          <a:solidFill>
            <a:schemeClr val="accent1"/>
          </a:solidFill>
          <a:ln cap="flat" cmpd="sng" w="25400">
            <a:solidFill>
              <a:srgbClr val="0040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3" name="Google Shape;253;p13"/>
          <p:cNvSpPr/>
          <p:nvPr/>
        </p:nvSpPr>
        <p:spPr>
          <a:xfrm>
            <a:off x="3779912" y="2859782"/>
            <a:ext cx="72008" cy="360040"/>
          </a:xfrm>
          <a:prstGeom prst="upArrow">
            <a:avLst>
              <a:gd fmla="val 50000" name="adj1"/>
              <a:gd fmla="val 42173" name="adj2"/>
            </a:avLst>
          </a:prstGeom>
          <a:solidFill>
            <a:schemeClr val="accent1"/>
          </a:solidFill>
          <a:ln cap="flat" cmpd="sng" w="25400">
            <a:solidFill>
              <a:srgbClr val="0040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4" name="Google Shape;254;p13"/>
          <p:cNvSpPr/>
          <p:nvPr/>
        </p:nvSpPr>
        <p:spPr>
          <a:xfrm>
            <a:off x="3563888" y="1923678"/>
            <a:ext cx="4248472" cy="432048"/>
          </a:xfrm>
          <a:prstGeom prst="curvedDownArrow">
            <a:avLst>
              <a:gd fmla="val 25000" name="adj1"/>
              <a:gd fmla="val 50000" name="adj2"/>
              <a:gd fmla="val 25000" name="adj3"/>
            </a:avLst>
          </a:prstGeom>
          <a:solidFill>
            <a:schemeClr val="accent1"/>
          </a:solidFill>
          <a:ln cap="flat" cmpd="sng" w="25400">
            <a:solidFill>
              <a:srgbClr val="0040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5" name="Google Shape;255;p13"/>
          <p:cNvSpPr/>
          <p:nvPr/>
        </p:nvSpPr>
        <p:spPr>
          <a:xfrm>
            <a:off x="1136750" y="4012750"/>
            <a:ext cx="6675600" cy="578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900" u="none" cap="none" strike="noStrike">
              <a:solidFill>
                <a:srgbClr val="000000"/>
              </a:solidFill>
              <a:latin typeface="Arial"/>
              <a:ea typeface="Arial"/>
              <a:cs typeface="Arial"/>
              <a:sym typeface="Arial"/>
            </a:endParaRPr>
          </a:p>
        </p:txBody>
      </p:sp>
      <p:sp>
        <p:nvSpPr>
          <p:cNvPr id="256" name="Google Shape;256;p13"/>
          <p:cNvSpPr/>
          <p:nvPr/>
        </p:nvSpPr>
        <p:spPr>
          <a:xfrm>
            <a:off x="1136750" y="445475"/>
            <a:ext cx="6675600" cy="578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US" sz="1900">
                <a:solidFill>
                  <a:schemeClr val="dk1"/>
                </a:solidFill>
              </a:rPr>
              <a:t>Our process</a:t>
            </a:r>
            <a:r>
              <a:rPr lang="en-US" sz="1900">
                <a:solidFill>
                  <a:schemeClr val="dk1"/>
                </a:solidFill>
              </a:rPr>
              <a:t>！</a:t>
            </a:r>
            <a:endParaRPr b="0" i="0" sz="1400" u="none" cap="none" strike="noStrike">
              <a:solidFill>
                <a:srgbClr val="000000"/>
              </a:solidFill>
              <a:latin typeface="Arial"/>
              <a:ea typeface="Arial"/>
              <a:cs typeface="Arial"/>
              <a:sym typeface="Arial"/>
            </a:endParaRPr>
          </a:p>
        </p:txBody>
      </p:sp>
      <p:pic>
        <p:nvPicPr>
          <p:cNvPr id="257" name="Google Shape;257;p13"/>
          <p:cNvPicPr preferRelativeResize="0"/>
          <p:nvPr/>
        </p:nvPicPr>
        <p:blipFill>
          <a:blip r:embed="rId5">
            <a:alphaModFix/>
          </a:blip>
          <a:stretch>
            <a:fillRect/>
          </a:stretch>
        </p:blipFill>
        <p:spPr>
          <a:xfrm>
            <a:off x="396525" y="3940100"/>
            <a:ext cx="3824401" cy="1053075"/>
          </a:xfrm>
          <a:prstGeom prst="rect">
            <a:avLst/>
          </a:prstGeom>
          <a:noFill/>
          <a:ln>
            <a:noFill/>
          </a:ln>
        </p:spPr>
      </p:pic>
      <p:sp>
        <p:nvSpPr>
          <p:cNvPr id="258" name="Google Shape;258;p13"/>
          <p:cNvSpPr/>
          <p:nvPr/>
        </p:nvSpPr>
        <p:spPr>
          <a:xfrm flipH="1" rot="-10558746">
            <a:off x="292383" y="2170415"/>
            <a:ext cx="492011" cy="1738913"/>
          </a:xfrm>
          <a:prstGeom prst="curvedRightArrow">
            <a:avLst>
              <a:gd fmla="val 25000" name="adj1"/>
              <a:gd fmla="val 50000" name="adj2"/>
              <a:gd fmla="val 25000" name="adj3"/>
            </a:avLst>
          </a:prstGeom>
          <a:solidFill>
            <a:srgbClr val="004040"/>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Microsoft YaHei"/>
              <a:ea typeface="Microsoft YaHei"/>
              <a:cs typeface="Microsoft YaHei"/>
              <a:sym typeface="Microsoft YaHe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5"/>
          <p:cNvSpPr/>
          <p:nvPr/>
        </p:nvSpPr>
        <p:spPr>
          <a:xfrm>
            <a:off x="234804" y="122607"/>
            <a:ext cx="48186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4C65"/>
                </a:solidFill>
              </a:rPr>
              <a:t>DATA MODELING &amp; SCHEMA DESIGN</a:t>
            </a:r>
            <a:endParaRPr b="1" i="0" sz="2000" u="none" cap="none" strike="noStrike">
              <a:solidFill>
                <a:srgbClr val="004C65"/>
              </a:solidFill>
            </a:endParaRPr>
          </a:p>
        </p:txBody>
      </p:sp>
      <p:pic>
        <p:nvPicPr>
          <p:cNvPr id="265" name="Google Shape;265;p15"/>
          <p:cNvPicPr preferRelativeResize="0"/>
          <p:nvPr/>
        </p:nvPicPr>
        <p:blipFill rotWithShape="1">
          <a:blip r:embed="rId3">
            <a:alphaModFix/>
          </a:blip>
          <a:srcRect b="0" l="0" r="0" t="0"/>
          <a:stretch/>
        </p:blipFill>
        <p:spPr>
          <a:xfrm>
            <a:off x="173801" y="798123"/>
            <a:ext cx="5447708" cy="4176662"/>
          </a:xfrm>
          <a:prstGeom prst="rect">
            <a:avLst/>
          </a:prstGeom>
          <a:noFill/>
          <a:ln>
            <a:noFill/>
          </a:ln>
        </p:spPr>
      </p:pic>
      <p:sp>
        <p:nvSpPr>
          <p:cNvPr id="266" name="Google Shape;266;p15"/>
          <p:cNvSpPr/>
          <p:nvPr/>
        </p:nvSpPr>
        <p:spPr>
          <a:xfrm>
            <a:off x="5558725" y="559075"/>
            <a:ext cx="3344700" cy="2776500"/>
          </a:xfrm>
          <a:prstGeom prst="rect">
            <a:avLst/>
          </a:prstGeom>
          <a:noFill/>
          <a:ln>
            <a:noFill/>
          </a:ln>
        </p:spPr>
        <p:txBody>
          <a:bodyPr anchorCtr="0" anchor="ctr" bIns="45700" lIns="91425" spcFirstLastPara="1" rIns="91425" wrap="square" tIns="45700">
            <a:spAutoFit/>
          </a:bodyPr>
          <a:lstStyle/>
          <a:p>
            <a:pPr indent="0" lvl="0" marL="0" rtl="0" algn="l">
              <a:spcBef>
                <a:spcPts val="0"/>
              </a:spcBef>
              <a:spcAft>
                <a:spcPts val="0"/>
              </a:spcAft>
              <a:buNone/>
            </a:pPr>
            <a:r>
              <a:rPr b="1" lang="en-US" sz="1800" u="sng">
                <a:solidFill>
                  <a:schemeClr val="dk1"/>
                </a:solidFill>
              </a:rPr>
              <a:t>Overview of Star Schema：</a:t>
            </a:r>
            <a:endParaRPr b="1" sz="1800" u="sng">
              <a:solidFill>
                <a:schemeClr val="dk1"/>
              </a:solidFill>
            </a:endParaRPr>
          </a:p>
          <a:p>
            <a:pPr indent="0" lvl="0" marL="0" marR="0" rtl="0" algn="l">
              <a:lnSpc>
                <a:spcPct val="100000"/>
              </a:lnSpc>
              <a:spcBef>
                <a:spcPts val="0"/>
              </a:spcBef>
              <a:spcAft>
                <a:spcPts val="0"/>
              </a:spcAft>
              <a:buNone/>
            </a:pPr>
            <a:r>
              <a:t/>
            </a:r>
            <a:endParaRPr sz="1200">
              <a:solidFill>
                <a:srgbClr val="3F3F3F"/>
              </a:solidFill>
            </a:endParaRPr>
          </a:p>
          <a:p>
            <a:pPr indent="-304800" lvl="0" marL="457200" marR="0" rtl="0" algn="l">
              <a:lnSpc>
                <a:spcPct val="100000"/>
              </a:lnSpc>
              <a:spcBef>
                <a:spcPts val="0"/>
              </a:spcBef>
              <a:spcAft>
                <a:spcPts val="0"/>
              </a:spcAft>
              <a:buClr>
                <a:srgbClr val="3F3F3F"/>
              </a:buClr>
              <a:buSzPts val="1200"/>
              <a:buFont typeface="Arial"/>
              <a:buChar char="●"/>
            </a:pPr>
            <a:r>
              <a:rPr lang="en-US" sz="1200">
                <a:solidFill>
                  <a:srgbClr val="3F3F3F"/>
                </a:solidFill>
              </a:rPr>
              <a:t>Two fact tables store 30-minute and daily OHLCV metrics.</a:t>
            </a:r>
            <a:endParaRPr sz="1200">
              <a:solidFill>
                <a:srgbClr val="3F3F3F"/>
              </a:solidFill>
            </a:endParaRPr>
          </a:p>
          <a:p>
            <a:pPr indent="0" lvl="0" marL="0" marR="0" rtl="0" algn="l">
              <a:lnSpc>
                <a:spcPct val="100000"/>
              </a:lnSpc>
              <a:spcBef>
                <a:spcPts val="0"/>
              </a:spcBef>
              <a:spcAft>
                <a:spcPts val="0"/>
              </a:spcAft>
              <a:buClr>
                <a:schemeClr val="dk1"/>
              </a:buClr>
              <a:buSzPts val="1200"/>
              <a:buFont typeface="Arial"/>
              <a:buNone/>
            </a:pPr>
            <a:r>
              <a:t/>
            </a:r>
            <a:endParaRPr sz="1200">
              <a:solidFill>
                <a:srgbClr val="3F3F3F"/>
              </a:solidFill>
            </a:endParaRPr>
          </a:p>
          <a:p>
            <a:pPr indent="-304800" lvl="0" marL="457200" marR="0" rtl="0" algn="l">
              <a:lnSpc>
                <a:spcPct val="100000"/>
              </a:lnSpc>
              <a:spcBef>
                <a:spcPts val="0"/>
              </a:spcBef>
              <a:spcAft>
                <a:spcPts val="0"/>
              </a:spcAft>
              <a:buClr>
                <a:srgbClr val="3F3F3F"/>
              </a:buClr>
              <a:buSzPts val="1200"/>
              <a:buFont typeface="Arial"/>
              <a:buChar char="●"/>
            </a:pPr>
            <a:r>
              <a:rPr lang="en-US" sz="1200">
                <a:solidFill>
                  <a:srgbClr val="3F3F3F"/>
                </a:solidFill>
              </a:rPr>
              <a:t>Dimension tables (symbol, date, time, season) provide analytical context.</a:t>
            </a:r>
            <a:endParaRPr sz="1200">
              <a:solidFill>
                <a:srgbClr val="3F3F3F"/>
              </a:solidFill>
            </a:endParaRPr>
          </a:p>
          <a:p>
            <a:pPr indent="0" lvl="0" marL="0" marR="0" rtl="0" algn="l">
              <a:lnSpc>
                <a:spcPct val="100000"/>
              </a:lnSpc>
              <a:spcBef>
                <a:spcPts val="0"/>
              </a:spcBef>
              <a:spcAft>
                <a:spcPts val="0"/>
              </a:spcAft>
              <a:buClr>
                <a:schemeClr val="dk1"/>
              </a:buClr>
              <a:buSzPts val="1200"/>
              <a:buFont typeface="Arial"/>
              <a:buNone/>
            </a:pPr>
            <a:r>
              <a:t/>
            </a:r>
            <a:endParaRPr sz="1200">
              <a:solidFill>
                <a:srgbClr val="3F3F3F"/>
              </a:solidFill>
            </a:endParaRPr>
          </a:p>
          <a:p>
            <a:pPr indent="-304800" lvl="0" marL="457200" marR="0" rtl="0" algn="l">
              <a:lnSpc>
                <a:spcPct val="100000"/>
              </a:lnSpc>
              <a:spcBef>
                <a:spcPts val="0"/>
              </a:spcBef>
              <a:spcAft>
                <a:spcPts val="0"/>
              </a:spcAft>
              <a:buClr>
                <a:srgbClr val="3F3F3F"/>
              </a:buClr>
              <a:buSzPts val="1200"/>
              <a:buFont typeface="Arial"/>
              <a:buChar char="●"/>
            </a:pPr>
            <a:r>
              <a:rPr lang="en-US" sz="1200">
                <a:solidFill>
                  <a:srgbClr val="3F3F3F"/>
                </a:solidFill>
              </a:rPr>
              <a:t>Supports multi-dimensional analysis across symbols, time, and seasons.</a:t>
            </a:r>
            <a:endParaRPr sz="1200">
              <a:solidFill>
                <a:srgbClr val="3F3F3F"/>
              </a:solidFill>
            </a:endParaRPr>
          </a:p>
          <a:p>
            <a:pPr indent="0" lvl="0" marL="0" marR="0" rtl="0" algn="l">
              <a:lnSpc>
                <a:spcPct val="100000"/>
              </a:lnSpc>
              <a:spcBef>
                <a:spcPts val="0"/>
              </a:spcBef>
              <a:spcAft>
                <a:spcPts val="0"/>
              </a:spcAft>
              <a:buClr>
                <a:schemeClr val="dk1"/>
              </a:buClr>
              <a:buSzPts val="1200"/>
              <a:buFont typeface="Arial"/>
              <a:buNone/>
            </a:pPr>
            <a:r>
              <a:t/>
            </a:r>
            <a:endParaRPr sz="1200">
              <a:solidFill>
                <a:srgbClr val="3F3F3F"/>
              </a:solidFill>
            </a:endParaRPr>
          </a:p>
          <a:p>
            <a:pPr indent="-317500" lvl="0" marL="457200" marR="0" rtl="0" algn="l">
              <a:lnSpc>
                <a:spcPct val="100000"/>
              </a:lnSpc>
              <a:spcBef>
                <a:spcPts val="0"/>
              </a:spcBef>
              <a:spcAft>
                <a:spcPts val="0"/>
              </a:spcAft>
              <a:buSzPts val="1400"/>
              <a:buFont typeface="Arial"/>
              <a:buChar char="●"/>
            </a:pPr>
            <a:r>
              <a:rPr lang="en-US" sz="1200">
                <a:solidFill>
                  <a:srgbClr val="3F3F3F"/>
                </a:solidFill>
              </a:rPr>
              <a:t>Simple, extensible structure ideal for BI dashboards and ML forecasting.</a:t>
            </a:r>
            <a:endParaRPr sz="1200">
              <a:solidFill>
                <a:srgbClr val="3F3F3F"/>
              </a:solidFill>
            </a:endParaRPr>
          </a:p>
        </p:txBody>
      </p:sp>
      <p:pic>
        <p:nvPicPr>
          <p:cNvPr descr="A computer screen with a dollar sign&#10;&#10;AI-generated content may be incorrect." id="267" name="Google Shape;267;p15"/>
          <p:cNvPicPr preferRelativeResize="0"/>
          <p:nvPr/>
        </p:nvPicPr>
        <p:blipFill rotWithShape="1">
          <a:blip r:embed="rId4">
            <a:alphaModFix amt="35000"/>
          </a:blip>
          <a:srcRect b="0" l="0" r="0" t="0"/>
          <a:stretch/>
        </p:blipFill>
        <p:spPr>
          <a:xfrm>
            <a:off x="6006825" y="3165875"/>
            <a:ext cx="2376274" cy="2240274"/>
          </a:xfrm>
          <a:prstGeom prst="rect">
            <a:avLst/>
          </a:prstGeom>
          <a:noFill/>
          <a:ln>
            <a:noFill/>
          </a:ln>
        </p:spPr>
      </p:pic>
      <p:pic>
        <p:nvPicPr>
          <p:cNvPr id="268" name="Google Shape;268;p15"/>
          <p:cNvPicPr preferRelativeResize="0"/>
          <p:nvPr/>
        </p:nvPicPr>
        <p:blipFill rotWithShape="1">
          <a:blip r:embed="rId5">
            <a:alphaModFix amt="60000"/>
          </a:blip>
          <a:srcRect b="11584" l="0" r="10897" t="13569"/>
          <a:stretch/>
        </p:blipFill>
        <p:spPr>
          <a:xfrm>
            <a:off x="8340487" y="4532812"/>
            <a:ext cx="803513" cy="61068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6"/>
          <p:cNvSpPr/>
          <p:nvPr/>
        </p:nvSpPr>
        <p:spPr>
          <a:xfrm>
            <a:off x="3239087" y="3720627"/>
            <a:ext cx="5503156" cy="121985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rPr b="1" lang="en-US" sz="1600" u="sng">
                <a:solidFill>
                  <a:schemeClr val="accent3"/>
                </a:solidFill>
              </a:rPr>
              <a:t>Daily Aggregation</a:t>
            </a:r>
            <a:endParaRPr sz="1200">
              <a:solidFill>
                <a:srgbClr val="3F3F3F"/>
              </a:solidFill>
            </a:endParaRPr>
          </a:p>
          <a:p>
            <a:pPr indent="-304800" lvl="0" marL="457200" rtl="0" algn="l">
              <a:spcBef>
                <a:spcPts val="0"/>
              </a:spcBef>
              <a:spcAft>
                <a:spcPts val="0"/>
              </a:spcAft>
              <a:buClr>
                <a:srgbClr val="3F3F3F"/>
              </a:buClr>
              <a:buSzPts val="1200"/>
              <a:buChar char="●"/>
            </a:pPr>
            <a:r>
              <a:rPr lang="en-US" sz="1200">
                <a:solidFill>
                  <a:srgbClr val="3F3F3F"/>
                </a:solidFill>
              </a:rPr>
              <a:t>SQL job aggregates 30-minute candles into daily OHLCV in fact_ohlcv_daily:</a:t>
            </a:r>
            <a:endParaRPr sz="1200">
              <a:solidFill>
                <a:srgbClr val="3F3F3F"/>
              </a:solidFill>
            </a:endParaRPr>
          </a:p>
          <a:p>
            <a:pPr indent="-304800" lvl="0" marL="457200" rtl="0" algn="l">
              <a:spcBef>
                <a:spcPts val="0"/>
              </a:spcBef>
              <a:spcAft>
                <a:spcPts val="0"/>
              </a:spcAft>
              <a:buClr>
                <a:srgbClr val="3F3F3F"/>
              </a:buClr>
              <a:buSzPts val="1200"/>
              <a:buChar char="➔"/>
            </a:pPr>
            <a:r>
              <a:rPr lang="en-US" sz="1200">
                <a:solidFill>
                  <a:srgbClr val="3F3F3F"/>
                </a:solidFill>
              </a:rPr>
              <a:t>Computes open, high, low, close, volume, quote volume.</a:t>
            </a:r>
            <a:endParaRPr sz="1200">
              <a:solidFill>
                <a:srgbClr val="3F3F3F"/>
              </a:solidFill>
            </a:endParaRPr>
          </a:p>
          <a:p>
            <a:pPr indent="-304800" lvl="0" marL="457200" rtl="0" algn="l">
              <a:spcBef>
                <a:spcPts val="0"/>
              </a:spcBef>
              <a:spcAft>
                <a:spcPts val="0"/>
              </a:spcAft>
              <a:buClr>
                <a:srgbClr val="3F3F3F"/>
              </a:buClr>
              <a:buSzPts val="1200"/>
              <a:buChar char="●"/>
            </a:pPr>
            <a:r>
              <a:rPr lang="en-US" sz="1200">
                <a:solidFill>
                  <a:srgbClr val="3F3F3F"/>
                </a:solidFill>
              </a:rPr>
              <a:t>Adds season_id by joining with dim_date to support seasonal analytics.</a:t>
            </a:r>
            <a:endParaRPr sz="1800">
              <a:solidFill>
                <a:schemeClr val="dk1"/>
              </a:solidFill>
            </a:endParaRPr>
          </a:p>
        </p:txBody>
      </p:sp>
      <p:sp>
        <p:nvSpPr>
          <p:cNvPr id="275" name="Google Shape;275;p16"/>
          <p:cNvSpPr/>
          <p:nvPr/>
        </p:nvSpPr>
        <p:spPr>
          <a:xfrm>
            <a:off x="1479837" y="2176270"/>
            <a:ext cx="6550781" cy="1301179"/>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rPr b="1" lang="en-US" sz="1600" u="sng">
                <a:solidFill>
                  <a:schemeClr val="accent2"/>
                </a:solidFill>
              </a:rPr>
              <a:t> Load Into MySQL</a:t>
            </a:r>
            <a:endParaRPr sz="1200">
              <a:solidFill>
                <a:srgbClr val="3F3F3F"/>
              </a:solidFill>
            </a:endParaRPr>
          </a:p>
          <a:p>
            <a:pPr indent="-304800" lvl="0" marL="457200" rtl="0" algn="l">
              <a:spcBef>
                <a:spcPts val="0"/>
              </a:spcBef>
              <a:spcAft>
                <a:spcPts val="0"/>
              </a:spcAft>
              <a:buClr>
                <a:srgbClr val="3F3F3F"/>
              </a:buClr>
              <a:buSzPts val="1200"/>
              <a:buChar char="●"/>
            </a:pPr>
            <a:r>
              <a:rPr lang="en-US" sz="1200">
                <a:solidFill>
                  <a:srgbClr val="3F3F3F"/>
                </a:solidFill>
              </a:rPr>
              <a:t>Second Python script loads Parquet into MySQL:</a:t>
            </a:r>
            <a:endParaRPr sz="1200">
              <a:solidFill>
                <a:srgbClr val="3F3F3F"/>
              </a:solidFill>
            </a:endParaRPr>
          </a:p>
          <a:p>
            <a:pPr indent="-304800" lvl="0" marL="457200" rtl="0" algn="l">
              <a:spcBef>
                <a:spcPts val="0"/>
              </a:spcBef>
              <a:spcAft>
                <a:spcPts val="0"/>
              </a:spcAft>
              <a:buClr>
                <a:srgbClr val="3F3F3F"/>
              </a:buClr>
              <a:buSzPts val="1200"/>
              <a:buChar char="➔"/>
            </a:pPr>
            <a:r>
              <a:rPr lang="en-US" sz="1200">
                <a:solidFill>
                  <a:srgbClr val="3F3F3F"/>
                </a:solidFill>
              </a:rPr>
              <a:t>Populates dim_symbol, dim_date, dim_datetime.</a:t>
            </a:r>
            <a:endParaRPr sz="1200">
              <a:solidFill>
                <a:srgbClr val="3F3F3F"/>
              </a:solidFill>
            </a:endParaRPr>
          </a:p>
          <a:p>
            <a:pPr indent="-304800" lvl="0" marL="457200" rtl="0" algn="l">
              <a:spcBef>
                <a:spcPts val="0"/>
              </a:spcBef>
              <a:spcAft>
                <a:spcPts val="0"/>
              </a:spcAft>
              <a:buClr>
                <a:srgbClr val="3F3F3F"/>
              </a:buClr>
              <a:buSzPts val="1200"/>
              <a:buChar char="➔"/>
            </a:pPr>
            <a:r>
              <a:rPr lang="en-US" sz="1200">
                <a:solidFill>
                  <a:srgbClr val="3F3F3F"/>
                </a:solidFill>
              </a:rPr>
              <a:t>Inserts normalized OHLCV records into fact_ohlcv.</a:t>
            </a:r>
            <a:endParaRPr sz="1200">
              <a:solidFill>
                <a:srgbClr val="3F3F3F"/>
              </a:solidFill>
            </a:endParaRPr>
          </a:p>
          <a:p>
            <a:pPr indent="-304800" lvl="0" marL="457200" rtl="0" algn="l">
              <a:spcBef>
                <a:spcPts val="0"/>
              </a:spcBef>
              <a:spcAft>
                <a:spcPts val="0"/>
              </a:spcAft>
              <a:buClr>
                <a:srgbClr val="3F3F3F"/>
              </a:buClr>
              <a:buSzPts val="1200"/>
              <a:buChar char="➔"/>
            </a:pPr>
            <a:r>
              <a:rPr lang="en-US" sz="1200">
                <a:solidFill>
                  <a:srgbClr val="3F3F3F"/>
                </a:solidFill>
              </a:rPr>
              <a:t>VWAP generated column handled inside MySQL.</a:t>
            </a:r>
            <a:endParaRPr sz="1800">
              <a:solidFill>
                <a:schemeClr val="dk1"/>
              </a:solidFill>
            </a:endParaRPr>
          </a:p>
        </p:txBody>
      </p:sp>
      <p:sp>
        <p:nvSpPr>
          <p:cNvPr id="276" name="Google Shape;276;p16"/>
          <p:cNvSpPr/>
          <p:nvPr/>
        </p:nvSpPr>
        <p:spPr>
          <a:xfrm>
            <a:off x="198755" y="838835"/>
            <a:ext cx="7240270" cy="1220470"/>
          </a:xfrm>
          <a:prstGeom prst="rect">
            <a:avLst/>
          </a:prstGeom>
          <a:no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rPr b="1" lang="en-US" sz="1600">
                <a:solidFill>
                  <a:schemeClr val="accent1"/>
                </a:solidFill>
              </a:rPr>
              <a:t>Data Extraction</a:t>
            </a:r>
            <a:endParaRPr sz="1200">
              <a:solidFill>
                <a:srgbClr val="3F3F3F"/>
              </a:solidFill>
            </a:endParaRPr>
          </a:p>
          <a:p>
            <a:pPr indent="-304800" lvl="0" marL="457200" rtl="0" algn="l">
              <a:lnSpc>
                <a:spcPct val="120000"/>
              </a:lnSpc>
              <a:spcBef>
                <a:spcPts val="0"/>
              </a:spcBef>
              <a:spcAft>
                <a:spcPts val="0"/>
              </a:spcAft>
              <a:buClr>
                <a:srgbClr val="3F3F3F"/>
              </a:buClr>
              <a:buSzPts val="1200"/>
              <a:buChar char="●"/>
            </a:pPr>
            <a:r>
              <a:rPr lang="en-US" sz="1200">
                <a:solidFill>
                  <a:srgbClr val="3F3F3F"/>
                </a:solidFill>
              </a:rPr>
              <a:t>Python script retrieves OHLCV data for multiple crypto pairs (BTCUSDT, BNBUSDT).</a:t>
            </a:r>
            <a:endParaRPr sz="1200">
              <a:solidFill>
                <a:srgbClr val="3F3F3F"/>
              </a:solidFill>
            </a:endParaRPr>
          </a:p>
          <a:p>
            <a:pPr indent="-304800" lvl="0" marL="457200" rtl="0" algn="l">
              <a:lnSpc>
                <a:spcPct val="120000"/>
              </a:lnSpc>
              <a:spcBef>
                <a:spcPts val="0"/>
              </a:spcBef>
              <a:spcAft>
                <a:spcPts val="0"/>
              </a:spcAft>
              <a:buClr>
                <a:srgbClr val="3F3F3F"/>
              </a:buClr>
              <a:buSzPts val="1200"/>
              <a:buChar char="●"/>
            </a:pPr>
            <a:r>
              <a:rPr lang="en-US" sz="1200">
                <a:solidFill>
                  <a:srgbClr val="3F3F3F"/>
                </a:solidFill>
              </a:rPr>
              <a:t>Uses Binance /klines endpoint with pagination logic to fetch historical 30-minute candles.</a:t>
            </a:r>
            <a:endParaRPr sz="1200">
              <a:solidFill>
                <a:srgbClr val="3F3F3F"/>
              </a:solidFill>
            </a:endParaRPr>
          </a:p>
          <a:p>
            <a:pPr indent="-304800" lvl="0" marL="457200" rtl="0" algn="l">
              <a:lnSpc>
                <a:spcPct val="120000"/>
              </a:lnSpc>
              <a:spcBef>
                <a:spcPts val="0"/>
              </a:spcBef>
              <a:spcAft>
                <a:spcPts val="0"/>
              </a:spcAft>
              <a:buClr>
                <a:srgbClr val="3F3F3F"/>
              </a:buClr>
              <a:buSzPts val="1200"/>
              <a:buChar char="●"/>
            </a:pPr>
            <a:r>
              <a:rPr lang="en-US" sz="1200">
                <a:solidFill>
                  <a:srgbClr val="3F3F3F"/>
                </a:solidFill>
              </a:rPr>
              <a:t>Converts timestamps and cleans numeric fields.</a:t>
            </a:r>
            <a:endParaRPr sz="1200">
              <a:solidFill>
                <a:srgbClr val="3F3F3F"/>
              </a:solidFill>
            </a:endParaRPr>
          </a:p>
          <a:p>
            <a:pPr indent="-304800" lvl="0" marL="457200" rtl="0" algn="l">
              <a:lnSpc>
                <a:spcPct val="120000"/>
              </a:lnSpc>
              <a:spcBef>
                <a:spcPts val="0"/>
              </a:spcBef>
              <a:spcAft>
                <a:spcPts val="0"/>
              </a:spcAft>
              <a:buClr>
                <a:srgbClr val="3F3F3F"/>
              </a:buClr>
              <a:buSzPts val="1200"/>
              <a:buChar char="●"/>
            </a:pPr>
            <a:r>
              <a:rPr lang="en-US" sz="1200">
                <a:solidFill>
                  <a:srgbClr val="3F3F3F"/>
                </a:solidFill>
              </a:rPr>
              <a:t>Raw OHLCV data stored as Parquet files.</a:t>
            </a:r>
            <a:endParaRPr sz="100">
              <a:solidFill>
                <a:schemeClr val="dk1"/>
              </a:solidFill>
            </a:endParaRPr>
          </a:p>
        </p:txBody>
      </p:sp>
      <p:pic>
        <p:nvPicPr>
          <p:cNvPr id="277" name="Google Shape;277;p16"/>
          <p:cNvPicPr preferRelativeResize="0"/>
          <p:nvPr/>
        </p:nvPicPr>
        <p:blipFill rotWithShape="1">
          <a:blip r:embed="rId3">
            <a:alphaModFix amt="60000"/>
          </a:blip>
          <a:srcRect b="11584" l="0" r="10897" t="13569"/>
          <a:stretch/>
        </p:blipFill>
        <p:spPr>
          <a:xfrm>
            <a:off x="8340487" y="4573517"/>
            <a:ext cx="803513" cy="610688"/>
          </a:xfrm>
          <a:prstGeom prst="rect">
            <a:avLst/>
          </a:prstGeom>
          <a:noFill/>
          <a:ln>
            <a:noFill/>
          </a:ln>
        </p:spPr>
      </p:pic>
      <p:sp>
        <p:nvSpPr>
          <p:cNvPr id="278" name="Google Shape;278;p16"/>
          <p:cNvSpPr/>
          <p:nvPr/>
        </p:nvSpPr>
        <p:spPr>
          <a:xfrm>
            <a:off x="494019" y="4667828"/>
            <a:ext cx="597197" cy="486881"/>
          </a:xfrm>
          <a:custGeom>
            <a:rect b="b" l="l" r="r" t="t"/>
            <a:pathLst>
              <a:path extrusionOk="0" h="21600" w="21600">
                <a:moveTo>
                  <a:pt x="929" y="0"/>
                </a:moveTo>
                <a:cubicBezTo>
                  <a:pt x="405" y="0"/>
                  <a:pt x="0" y="539"/>
                  <a:pt x="0" y="1200"/>
                </a:cubicBezTo>
                <a:cubicBezTo>
                  <a:pt x="0" y="1894"/>
                  <a:pt x="405" y="2446"/>
                  <a:pt x="929" y="2446"/>
                </a:cubicBezTo>
                <a:cubicBezTo>
                  <a:pt x="929" y="2446"/>
                  <a:pt x="931" y="2446"/>
                  <a:pt x="20666" y="2446"/>
                </a:cubicBezTo>
                <a:cubicBezTo>
                  <a:pt x="21183" y="2446"/>
                  <a:pt x="21600" y="1894"/>
                  <a:pt x="21600" y="1200"/>
                </a:cubicBezTo>
                <a:cubicBezTo>
                  <a:pt x="21599" y="540"/>
                  <a:pt x="21183" y="0"/>
                  <a:pt x="20666" y="0"/>
                </a:cubicBezTo>
                <a:cubicBezTo>
                  <a:pt x="20666" y="0"/>
                  <a:pt x="20664" y="0"/>
                  <a:pt x="929" y="0"/>
                </a:cubicBezTo>
                <a:close/>
                <a:moveTo>
                  <a:pt x="1060" y="3701"/>
                </a:moveTo>
                <a:cubicBezTo>
                  <a:pt x="572" y="3701"/>
                  <a:pt x="157" y="4235"/>
                  <a:pt x="157" y="4888"/>
                </a:cubicBezTo>
                <a:cubicBezTo>
                  <a:pt x="157" y="5541"/>
                  <a:pt x="572" y="6065"/>
                  <a:pt x="1060" y="6065"/>
                </a:cubicBezTo>
                <a:cubicBezTo>
                  <a:pt x="1060" y="6065"/>
                  <a:pt x="1061" y="6065"/>
                  <a:pt x="20512" y="6065"/>
                </a:cubicBezTo>
                <a:cubicBezTo>
                  <a:pt x="20993" y="6065"/>
                  <a:pt x="21408" y="5541"/>
                  <a:pt x="21408" y="4888"/>
                </a:cubicBezTo>
                <a:cubicBezTo>
                  <a:pt x="21408" y="4235"/>
                  <a:pt x="20993" y="3701"/>
                  <a:pt x="20512" y="3701"/>
                </a:cubicBezTo>
                <a:cubicBezTo>
                  <a:pt x="20512" y="3701"/>
                  <a:pt x="20512" y="3701"/>
                  <a:pt x="1060" y="3701"/>
                </a:cubicBezTo>
                <a:close/>
                <a:moveTo>
                  <a:pt x="1060" y="7357"/>
                </a:moveTo>
                <a:cubicBezTo>
                  <a:pt x="572" y="7357"/>
                  <a:pt x="157" y="7899"/>
                  <a:pt x="157" y="8553"/>
                </a:cubicBezTo>
                <a:cubicBezTo>
                  <a:pt x="157" y="9224"/>
                  <a:pt x="572" y="9804"/>
                  <a:pt x="1060" y="9804"/>
                </a:cubicBezTo>
                <a:cubicBezTo>
                  <a:pt x="1060" y="9804"/>
                  <a:pt x="1061" y="9804"/>
                  <a:pt x="20512" y="9804"/>
                </a:cubicBezTo>
                <a:cubicBezTo>
                  <a:pt x="20993" y="9804"/>
                  <a:pt x="21408" y="9224"/>
                  <a:pt x="21408" y="8553"/>
                </a:cubicBezTo>
                <a:cubicBezTo>
                  <a:pt x="21408" y="7899"/>
                  <a:pt x="20993" y="7357"/>
                  <a:pt x="20512" y="7357"/>
                </a:cubicBezTo>
                <a:cubicBezTo>
                  <a:pt x="20512" y="7357"/>
                  <a:pt x="20512" y="7357"/>
                  <a:pt x="1060" y="7357"/>
                </a:cubicBezTo>
                <a:close/>
                <a:moveTo>
                  <a:pt x="1060" y="11018"/>
                </a:moveTo>
                <a:cubicBezTo>
                  <a:pt x="572" y="11018"/>
                  <a:pt x="157" y="11559"/>
                  <a:pt x="157" y="12264"/>
                </a:cubicBezTo>
                <a:cubicBezTo>
                  <a:pt x="157" y="12927"/>
                  <a:pt x="572" y="13460"/>
                  <a:pt x="1060" y="13460"/>
                </a:cubicBezTo>
                <a:cubicBezTo>
                  <a:pt x="1060" y="13460"/>
                  <a:pt x="1061" y="13460"/>
                  <a:pt x="20512" y="13460"/>
                </a:cubicBezTo>
                <a:cubicBezTo>
                  <a:pt x="20993" y="13460"/>
                  <a:pt x="21408" y="12927"/>
                  <a:pt x="21408" y="12264"/>
                </a:cubicBezTo>
                <a:cubicBezTo>
                  <a:pt x="21408" y="11559"/>
                  <a:pt x="20993" y="11018"/>
                  <a:pt x="20512" y="11018"/>
                </a:cubicBezTo>
                <a:cubicBezTo>
                  <a:pt x="20512" y="11018"/>
                  <a:pt x="20512" y="11018"/>
                  <a:pt x="1060" y="11018"/>
                </a:cubicBezTo>
                <a:close/>
                <a:moveTo>
                  <a:pt x="1060" y="14288"/>
                </a:moveTo>
                <a:cubicBezTo>
                  <a:pt x="537" y="14288"/>
                  <a:pt x="157" y="14653"/>
                  <a:pt x="157" y="15060"/>
                </a:cubicBezTo>
                <a:cubicBezTo>
                  <a:pt x="157" y="15419"/>
                  <a:pt x="448" y="15691"/>
                  <a:pt x="862" y="15764"/>
                </a:cubicBezTo>
                <a:cubicBezTo>
                  <a:pt x="890" y="15838"/>
                  <a:pt x="913" y="15920"/>
                  <a:pt x="967" y="15985"/>
                </a:cubicBezTo>
                <a:cubicBezTo>
                  <a:pt x="1168" y="16270"/>
                  <a:pt x="3031" y="18643"/>
                  <a:pt x="3512" y="19222"/>
                </a:cubicBezTo>
                <a:cubicBezTo>
                  <a:pt x="4048" y="19222"/>
                  <a:pt x="3551" y="19222"/>
                  <a:pt x="4048" y="19222"/>
                </a:cubicBezTo>
                <a:cubicBezTo>
                  <a:pt x="4040" y="19300"/>
                  <a:pt x="4029" y="19377"/>
                  <a:pt x="4029" y="19457"/>
                </a:cubicBezTo>
                <a:cubicBezTo>
                  <a:pt x="4029" y="20631"/>
                  <a:pt x="4887" y="21599"/>
                  <a:pt x="5919" y="21599"/>
                </a:cubicBezTo>
                <a:cubicBezTo>
                  <a:pt x="5919" y="21599"/>
                  <a:pt x="5918" y="21599"/>
                  <a:pt x="15512" y="21599"/>
                </a:cubicBezTo>
                <a:cubicBezTo>
                  <a:pt x="16543" y="21599"/>
                  <a:pt x="17412" y="20631"/>
                  <a:pt x="17412" y="19457"/>
                </a:cubicBezTo>
                <a:cubicBezTo>
                  <a:pt x="17412" y="19377"/>
                  <a:pt x="17398" y="19300"/>
                  <a:pt x="17390" y="19222"/>
                </a:cubicBezTo>
                <a:cubicBezTo>
                  <a:pt x="17391" y="19222"/>
                  <a:pt x="17956" y="19222"/>
                  <a:pt x="17956" y="19222"/>
                </a:cubicBezTo>
                <a:cubicBezTo>
                  <a:pt x="18164" y="18971"/>
                  <a:pt x="18505" y="18557"/>
                  <a:pt x="19129" y="17806"/>
                </a:cubicBezTo>
                <a:cubicBezTo>
                  <a:pt x="19887" y="16852"/>
                  <a:pt x="20351" y="16215"/>
                  <a:pt x="20572" y="15759"/>
                </a:cubicBezTo>
                <a:cubicBezTo>
                  <a:pt x="20965" y="15672"/>
                  <a:pt x="21251" y="15404"/>
                  <a:pt x="21251" y="15060"/>
                </a:cubicBezTo>
                <a:cubicBezTo>
                  <a:pt x="21251" y="14653"/>
                  <a:pt x="20841" y="14288"/>
                  <a:pt x="20317" y="14288"/>
                </a:cubicBezTo>
                <a:cubicBezTo>
                  <a:pt x="20317" y="14288"/>
                  <a:pt x="20319" y="14288"/>
                  <a:pt x="1060" y="14288"/>
                </a:cubicBezTo>
                <a:close/>
              </a:path>
            </a:pathLst>
          </a:custGeom>
          <a:solidFill>
            <a:srgbClr val="D9D9D9"/>
          </a:solidFill>
          <a:ln cap="flat" cmpd="sng" w="9525">
            <a:solidFill>
              <a:srgbClr val="F2F2F2"/>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9" name="Google Shape;279;p16"/>
          <p:cNvSpPr/>
          <p:nvPr/>
        </p:nvSpPr>
        <p:spPr>
          <a:xfrm>
            <a:off x="576963" y="2880802"/>
            <a:ext cx="909067" cy="573557"/>
          </a:xfrm>
          <a:custGeom>
            <a:rect b="b" l="l" r="r" t="t"/>
            <a:pathLst>
              <a:path extrusionOk="0" h="21600" w="21600">
                <a:moveTo>
                  <a:pt x="0" y="0"/>
                </a:moveTo>
                <a:lnTo>
                  <a:pt x="21599" y="21599"/>
                </a:lnTo>
                <a:lnTo>
                  <a:pt x="17459" y="7583"/>
                </a:lnTo>
                <a:lnTo>
                  <a:pt x="8049" y="0"/>
                </a:lnTo>
                <a:lnTo>
                  <a:pt x="0" y="0"/>
                </a:lnTo>
              </a:path>
            </a:pathLst>
          </a:custGeom>
          <a:solidFill>
            <a:srgbClr val="007272"/>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0" name="Google Shape;280;p16"/>
          <p:cNvSpPr/>
          <p:nvPr/>
        </p:nvSpPr>
        <p:spPr>
          <a:xfrm>
            <a:off x="107500" y="3350264"/>
            <a:ext cx="1378530" cy="405181"/>
          </a:xfrm>
          <a:custGeom>
            <a:rect b="b" l="l" r="r" t="t"/>
            <a:pathLst>
              <a:path extrusionOk="0" h="21600" w="21600">
                <a:moveTo>
                  <a:pt x="0" y="0"/>
                </a:moveTo>
                <a:lnTo>
                  <a:pt x="21600" y="9248"/>
                </a:lnTo>
                <a:lnTo>
                  <a:pt x="21372" y="19161"/>
                </a:lnTo>
                <a:lnTo>
                  <a:pt x="15" y="21599"/>
                </a:lnTo>
                <a:lnTo>
                  <a:pt x="0" y="0"/>
                </a:lnTo>
              </a:path>
            </a:pathLst>
          </a:custGeom>
          <a:solidFill>
            <a:srgbClr val="007272"/>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1" name="Google Shape;281;p16"/>
          <p:cNvSpPr/>
          <p:nvPr/>
        </p:nvSpPr>
        <p:spPr>
          <a:xfrm>
            <a:off x="213668" y="3082771"/>
            <a:ext cx="1272362" cy="999474"/>
          </a:xfrm>
          <a:custGeom>
            <a:rect b="b" l="l" r="r" t="t"/>
            <a:pathLst>
              <a:path extrusionOk="0" h="21600" w="21600">
                <a:moveTo>
                  <a:pt x="18640" y="0"/>
                </a:moveTo>
                <a:lnTo>
                  <a:pt x="0" y="19721"/>
                </a:lnTo>
                <a:lnTo>
                  <a:pt x="830" y="21599"/>
                </a:lnTo>
                <a:lnTo>
                  <a:pt x="21599" y="8054"/>
                </a:lnTo>
                <a:lnTo>
                  <a:pt x="18640" y="0"/>
                </a:lnTo>
              </a:path>
            </a:pathLst>
          </a:custGeom>
          <a:solidFill>
            <a:schemeClr val="accent2"/>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2" name="Google Shape;282;p16"/>
          <p:cNvSpPr/>
          <p:nvPr/>
        </p:nvSpPr>
        <p:spPr>
          <a:xfrm>
            <a:off x="213668" y="3998056"/>
            <a:ext cx="1025188" cy="406840"/>
          </a:xfrm>
          <a:custGeom>
            <a:rect b="b" l="l" r="r" t="t"/>
            <a:pathLst>
              <a:path extrusionOk="0" h="21600" w="21600">
                <a:moveTo>
                  <a:pt x="0" y="0"/>
                </a:moveTo>
                <a:lnTo>
                  <a:pt x="21599" y="11535"/>
                </a:lnTo>
                <a:lnTo>
                  <a:pt x="20330" y="21599"/>
                </a:lnTo>
                <a:lnTo>
                  <a:pt x="1030" y="4601"/>
                </a:lnTo>
                <a:lnTo>
                  <a:pt x="0" y="0"/>
                </a:lnTo>
              </a:path>
            </a:pathLst>
          </a:custGeom>
          <a:solidFill>
            <a:srgbClr val="007297"/>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3" name="Google Shape;283;p16"/>
          <p:cNvSpPr/>
          <p:nvPr/>
        </p:nvSpPr>
        <p:spPr>
          <a:xfrm>
            <a:off x="354259" y="3524032"/>
            <a:ext cx="1130942" cy="823218"/>
          </a:xfrm>
          <a:custGeom>
            <a:rect b="b" l="l" r="r" t="t"/>
            <a:pathLst>
              <a:path extrusionOk="0" h="21600" w="21600">
                <a:moveTo>
                  <a:pt x="21599" y="0"/>
                </a:moveTo>
                <a:lnTo>
                  <a:pt x="0" y="19114"/>
                </a:lnTo>
                <a:lnTo>
                  <a:pt x="512" y="21600"/>
                </a:lnTo>
                <a:lnTo>
                  <a:pt x="21322" y="4893"/>
                </a:lnTo>
                <a:lnTo>
                  <a:pt x="21599" y="0"/>
                </a:lnTo>
              </a:path>
            </a:pathLst>
          </a:custGeom>
          <a:solidFill>
            <a:schemeClr val="accent2"/>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4" name="Google Shape;284;p16"/>
          <p:cNvSpPr/>
          <p:nvPr/>
        </p:nvSpPr>
        <p:spPr>
          <a:xfrm>
            <a:off x="354259" y="4254353"/>
            <a:ext cx="773868" cy="359562"/>
          </a:xfrm>
          <a:custGeom>
            <a:rect b="b" l="l" r="r" t="t"/>
            <a:pathLst>
              <a:path extrusionOk="0" h="21600" w="21600">
                <a:moveTo>
                  <a:pt x="0" y="0"/>
                </a:moveTo>
                <a:lnTo>
                  <a:pt x="21600" y="18339"/>
                </a:lnTo>
                <a:lnTo>
                  <a:pt x="20424" y="21600"/>
                </a:lnTo>
                <a:lnTo>
                  <a:pt x="748" y="5676"/>
                </a:lnTo>
                <a:lnTo>
                  <a:pt x="0" y="0"/>
                </a:lnTo>
              </a:path>
            </a:pathLst>
          </a:custGeom>
          <a:solidFill>
            <a:srgbClr val="02515A"/>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5" name="Google Shape;285;p16"/>
          <p:cNvSpPr/>
          <p:nvPr/>
        </p:nvSpPr>
        <p:spPr>
          <a:xfrm>
            <a:off x="107500" y="2880802"/>
            <a:ext cx="807460" cy="873814"/>
          </a:xfrm>
          <a:custGeom>
            <a:rect b="b" l="l" r="r" t="t"/>
            <a:pathLst>
              <a:path extrusionOk="0" h="21600" w="21600">
                <a:moveTo>
                  <a:pt x="12537" y="0"/>
                </a:moveTo>
                <a:lnTo>
                  <a:pt x="0" y="11569"/>
                </a:lnTo>
                <a:lnTo>
                  <a:pt x="26" y="21600"/>
                </a:lnTo>
                <a:lnTo>
                  <a:pt x="21600" y="0"/>
                </a:lnTo>
                <a:lnTo>
                  <a:pt x="12537" y="0"/>
                </a:lnTo>
              </a:path>
            </a:pathLst>
          </a:cu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6" name="Google Shape;286;p16"/>
          <p:cNvSpPr/>
          <p:nvPr/>
        </p:nvSpPr>
        <p:spPr>
          <a:xfrm>
            <a:off x="457109" y="4215784"/>
            <a:ext cx="780503" cy="397301"/>
          </a:xfrm>
          <a:custGeom>
            <a:rect b="b" l="l" r="r" t="t"/>
            <a:pathLst>
              <a:path extrusionOk="0" h="21600" w="21600">
                <a:moveTo>
                  <a:pt x="1367" y="21600"/>
                </a:moveTo>
                <a:lnTo>
                  <a:pt x="19935" y="10310"/>
                </a:lnTo>
                <a:lnTo>
                  <a:pt x="21600" y="0"/>
                </a:lnTo>
                <a:lnTo>
                  <a:pt x="0" y="19113"/>
                </a:lnTo>
                <a:lnTo>
                  <a:pt x="1367" y="21600"/>
                </a:lnTo>
              </a:path>
            </a:pathLst>
          </a:custGeom>
          <a:solidFill>
            <a:schemeClr val="accent3"/>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7" name="Google Shape;287;p16"/>
          <p:cNvSpPr/>
          <p:nvPr/>
        </p:nvSpPr>
        <p:spPr>
          <a:xfrm>
            <a:off x="457109" y="4560416"/>
            <a:ext cx="671017" cy="52670"/>
          </a:xfrm>
          <a:custGeom>
            <a:rect b="b" l="l" r="r" t="t"/>
            <a:pathLst>
              <a:path extrusionOk="0" h="21600" w="21600">
                <a:moveTo>
                  <a:pt x="0" y="3389"/>
                </a:moveTo>
                <a:lnTo>
                  <a:pt x="21599" y="0"/>
                </a:lnTo>
                <a:lnTo>
                  <a:pt x="20245" y="21600"/>
                </a:lnTo>
                <a:lnTo>
                  <a:pt x="1591" y="21600"/>
                </a:lnTo>
                <a:lnTo>
                  <a:pt x="0" y="3389"/>
                </a:lnTo>
              </a:path>
            </a:pathLst>
          </a:custGeom>
          <a:solidFill>
            <a:schemeClr val="accent3"/>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8" name="Google Shape;288;p16"/>
          <p:cNvSpPr/>
          <p:nvPr/>
        </p:nvSpPr>
        <p:spPr>
          <a:xfrm>
            <a:off x="305780" y="449375"/>
            <a:ext cx="5137800" cy="3309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dk1"/>
                </a:solidFill>
                <a:latin typeface="Arial"/>
                <a:ea typeface="Arial"/>
                <a:cs typeface="Arial"/>
                <a:sym typeface="Arial"/>
              </a:rPr>
              <a:t>From Binance API to MySQL Warehouse</a:t>
            </a:r>
            <a:endParaRPr b="0" i="0" sz="1800" u="sng" cap="none" strike="noStrike">
              <a:solidFill>
                <a:schemeClr val="dk1"/>
              </a:solidFill>
              <a:latin typeface="Arial"/>
              <a:ea typeface="Arial"/>
              <a:cs typeface="Arial"/>
              <a:sym typeface="Arial"/>
            </a:endParaRPr>
          </a:p>
        </p:txBody>
      </p:sp>
      <p:sp>
        <p:nvSpPr>
          <p:cNvPr id="289" name="Google Shape;289;p16"/>
          <p:cNvSpPr/>
          <p:nvPr/>
        </p:nvSpPr>
        <p:spPr>
          <a:xfrm>
            <a:off x="213673" y="95369"/>
            <a:ext cx="5229900" cy="39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4C65"/>
                </a:solidFill>
              </a:rPr>
              <a:t>AUTOMATED DATA PIPELINE:</a:t>
            </a:r>
            <a:br>
              <a:rPr b="1" i="0" lang="en-US" sz="1800" u="none" cap="none" strike="noStrike">
                <a:solidFill>
                  <a:schemeClr val="dk1"/>
                </a:solidFill>
              </a:rPr>
            </a:br>
            <a:endParaRPr b="1" i="0" sz="1800" u="none" cap="none" strike="noStrike">
              <a:solidFill>
                <a:srgbClr val="004C65"/>
              </a:solidFill>
            </a:endParaRPr>
          </a:p>
        </p:txBody>
      </p:sp>
      <p:sp>
        <p:nvSpPr>
          <p:cNvPr id="290" name="Google Shape;290;p16"/>
          <p:cNvSpPr/>
          <p:nvPr/>
        </p:nvSpPr>
        <p:spPr>
          <a:xfrm flipH="1" rot="10800000">
            <a:off x="7499203" y="1197759"/>
            <a:ext cx="457174" cy="970149"/>
          </a:xfrm>
          <a:prstGeom prst="bentUpArrow">
            <a:avLst>
              <a:gd fmla="val 25000" name="adj1"/>
              <a:gd fmla="val 25000" name="adj2"/>
              <a:gd fmla="val 25000" name="adj3"/>
            </a:avLst>
          </a:prstGeom>
          <a:solidFill>
            <a:schemeClr val="accent1"/>
          </a:solidFill>
          <a:ln cap="flat" cmpd="sng" w="25400">
            <a:solidFill>
              <a:srgbClr val="0040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91" name="Google Shape;291;p16"/>
          <p:cNvSpPr/>
          <p:nvPr/>
        </p:nvSpPr>
        <p:spPr>
          <a:xfrm flipH="1" rot="10800000">
            <a:off x="8081168" y="2704152"/>
            <a:ext cx="457174" cy="970149"/>
          </a:xfrm>
          <a:prstGeom prst="bentUpArrow">
            <a:avLst>
              <a:gd fmla="val 25000" name="adj1"/>
              <a:gd fmla="val 25000" name="adj2"/>
              <a:gd fmla="val 25000" name="adj3"/>
            </a:avLst>
          </a:prstGeom>
          <a:solidFill>
            <a:schemeClr val="accent1"/>
          </a:solidFill>
          <a:ln cap="flat" cmpd="sng" w="25400">
            <a:solidFill>
              <a:srgbClr val="0040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af27d324c4_1_58"/>
          <p:cNvSpPr/>
          <p:nvPr/>
        </p:nvSpPr>
        <p:spPr>
          <a:xfrm>
            <a:off x="1115616" y="1779662"/>
            <a:ext cx="6624600" cy="1368300"/>
          </a:xfrm>
          <a:prstGeom prst="rect">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pic>
        <p:nvPicPr>
          <p:cNvPr id="298" name="Google Shape;298;g3af27d324c4_1_58"/>
          <p:cNvPicPr preferRelativeResize="0"/>
          <p:nvPr/>
        </p:nvPicPr>
        <p:blipFill rotWithShape="1">
          <a:blip r:embed="rId3">
            <a:alphaModFix/>
          </a:blip>
          <a:srcRect b="0" l="0" r="0" t="0"/>
          <a:stretch/>
        </p:blipFill>
        <p:spPr>
          <a:xfrm>
            <a:off x="0" y="-1"/>
            <a:ext cx="9143999" cy="5143501"/>
          </a:xfrm>
          <a:prstGeom prst="rect">
            <a:avLst/>
          </a:prstGeom>
          <a:noFill/>
          <a:ln>
            <a:noFill/>
          </a:ln>
        </p:spPr>
      </p:pic>
      <p:sp>
        <p:nvSpPr>
          <p:cNvPr id="299" name="Google Shape;299;g3af27d324c4_1_58"/>
          <p:cNvSpPr/>
          <p:nvPr/>
        </p:nvSpPr>
        <p:spPr>
          <a:xfrm>
            <a:off x="1597531" y="2920769"/>
            <a:ext cx="1031700" cy="10317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300" name="Google Shape;300;g3af27d324c4_1_58"/>
          <p:cNvSpPr/>
          <p:nvPr/>
        </p:nvSpPr>
        <p:spPr>
          <a:xfrm>
            <a:off x="3419872" y="3219822"/>
            <a:ext cx="433800" cy="4338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301" name="Google Shape;301;g3af27d324c4_1_58"/>
          <p:cNvSpPr/>
          <p:nvPr/>
        </p:nvSpPr>
        <p:spPr>
          <a:xfrm>
            <a:off x="5348099" y="1263746"/>
            <a:ext cx="516000" cy="5160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302" name="Google Shape;302;g3af27d324c4_1_58"/>
          <p:cNvSpPr/>
          <p:nvPr/>
        </p:nvSpPr>
        <p:spPr>
          <a:xfrm>
            <a:off x="7170441" y="1562800"/>
            <a:ext cx="216900" cy="2169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pic>
        <p:nvPicPr>
          <p:cNvPr id="303" name="Google Shape;303;g3af27d324c4_1_58"/>
          <p:cNvPicPr preferRelativeResize="0"/>
          <p:nvPr/>
        </p:nvPicPr>
        <p:blipFill rotWithShape="1">
          <a:blip r:embed="rId4">
            <a:alphaModFix amt="60000"/>
          </a:blip>
          <a:srcRect b="11585" l="0" r="10897" t="13569"/>
          <a:stretch/>
        </p:blipFill>
        <p:spPr>
          <a:xfrm>
            <a:off x="8340487" y="4532812"/>
            <a:ext cx="803513" cy="610688"/>
          </a:xfrm>
          <a:prstGeom prst="rect">
            <a:avLst/>
          </a:prstGeom>
          <a:noFill/>
          <a:ln>
            <a:noFill/>
          </a:ln>
        </p:spPr>
      </p:pic>
      <p:sp>
        <p:nvSpPr>
          <p:cNvPr id="304" name="Google Shape;304;g3af27d324c4_1_58"/>
          <p:cNvSpPr txBox="1"/>
          <p:nvPr/>
        </p:nvSpPr>
        <p:spPr>
          <a:xfrm>
            <a:off x="2935300" y="2004463"/>
            <a:ext cx="5925900" cy="9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F0FEFE"/>
                </a:solidFill>
              </a:rPr>
              <a:t>05  </a:t>
            </a:r>
            <a:r>
              <a:rPr b="1" lang="en-US" sz="3200">
                <a:solidFill>
                  <a:schemeClr val="dk1"/>
                </a:solidFill>
                <a:latin typeface="Microsoft YaHei"/>
                <a:ea typeface="Microsoft YaHei"/>
                <a:cs typeface="Microsoft YaHei"/>
                <a:sym typeface="Microsoft YaHei"/>
              </a:rPr>
              <a:t>   </a:t>
            </a:r>
            <a:r>
              <a:rPr b="1" lang="en-US" sz="3200">
                <a:solidFill>
                  <a:srgbClr val="F0FEFE"/>
                </a:solidFill>
              </a:rPr>
              <a:t>Insights</a:t>
            </a:r>
            <a:endParaRPr b="1" sz="3200">
              <a:solidFill>
                <a:srgbClr val="F0FEFE"/>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8"/>
          <p:cNvSpPr/>
          <p:nvPr/>
        </p:nvSpPr>
        <p:spPr>
          <a:xfrm>
            <a:off x="5372100" y="579675"/>
            <a:ext cx="3673800" cy="3026400"/>
          </a:xfrm>
          <a:prstGeom prst="foldedCorner">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u="sng">
                <a:solidFill>
                  <a:schemeClr val="dk1"/>
                </a:solidFill>
              </a:rPr>
              <a:t>Key Insights</a:t>
            </a:r>
            <a:endParaRPr b="1" u="sng">
              <a:solidFill>
                <a:schemeClr val="dk1"/>
              </a:solidFill>
            </a:endParaRPr>
          </a:p>
          <a:p>
            <a:pPr indent="-304800" lvl="0" marL="457200" rtl="0" algn="l">
              <a:spcBef>
                <a:spcPts val="1200"/>
              </a:spcBef>
              <a:spcAft>
                <a:spcPts val="0"/>
              </a:spcAft>
              <a:buClr>
                <a:schemeClr val="dk1"/>
              </a:buClr>
              <a:buSzPts val="1200"/>
              <a:buChar char="●"/>
            </a:pPr>
            <a:r>
              <a:rPr lang="en-US" sz="1200">
                <a:solidFill>
                  <a:schemeClr val="dk1"/>
                </a:solidFill>
              </a:rPr>
              <a:t>BTC exhibits significantly higher </a:t>
            </a:r>
            <a:r>
              <a:rPr b="1" lang="en-US" sz="1200">
                <a:solidFill>
                  <a:schemeClr val="dk1"/>
                </a:solidFill>
              </a:rPr>
              <a:t>price volatility</a:t>
            </a:r>
            <a:r>
              <a:rPr lang="en-US" sz="1200">
                <a:solidFill>
                  <a:schemeClr val="dk1"/>
                </a:solidFill>
              </a:rPr>
              <a:t> across all time periods, while BNB remains more stable.</a:t>
            </a:r>
            <a:br>
              <a:rPr lang="en-US" sz="1200">
                <a:solidFill>
                  <a:schemeClr val="dk1"/>
                </a:solidFill>
              </a:rPr>
            </a:br>
            <a:endParaRPr sz="1200">
              <a:solidFill>
                <a:schemeClr val="dk1"/>
              </a:solidFill>
            </a:endParaRPr>
          </a:p>
          <a:p>
            <a:pPr indent="-304800" lvl="0" marL="457200" rtl="0" algn="l">
              <a:spcBef>
                <a:spcPts val="0"/>
              </a:spcBef>
              <a:spcAft>
                <a:spcPts val="0"/>
              </a:spcAft>
              <a:buClr>
                <a:schemeClr val="dk1"/>
              </a:buClr>
              <a:buSzPts val="1200"/>
              <a:buChar char="●"/>
            </a:pPr>
            <a:r>
              <a:rPr lang="en-US" sz="1200">
                <a:solidFill>
                  <a:schemeClr val="dk1"/>
                </a:solidFill>
              </a:rPr>
              <a:t>BNB shows consistently lower </a:t>
            </a:r>
            <a:r>
              <a:rPr b="1" lang="en-US" sz="1200">
                <a:solidFill>
                  <a:schemeClr val="dk1"/>
                </a:solidFill>
              </a:rPr>
              <a:t>trading volume</a:t>
            </a:r>
            <a:r>
              <a:rPr lang="en-US" sz="1200">
                <a:solidFill>
                  <a:schemeClr val="dk1"/>
                </a:solidFill>
              </a:rPr>
              <a:t>, suggesting a smaller but more stable user base.</a:t>
            </a:r>
            <a:br>
              <a:rPr lang="en-US" sz="1200">
                <a:solidFill>
                  <a:schemeClr val="dk1"/>
                </a:solidFill>
              </a:rPr>
            </a:br>
            <a:endParaRPr sz="1200">
              <a:solidFill>
                <a:schemeClr val="dk1"/>
              </a:solidFill>
            </a:endParaRPr>
          </a:p>
          <a:p>
            <a:pPr indent="-304800" lvl="0" marL="457200" rtl="0" algn="l">
              <a:spcBef>
                <a:spcPts val="0"/>
              </a:spcBef>
              <a:spcAft>
                <a:spcPts val="0"/>
              </a:spcAft>
              <a:buClr>
                <a:schemeClr val="dk1"/>
              </a:buClr>
              <a:buSzPts val="1200"/>
              <a:buChar char="●"/>
            </a:pPr>
            <a:r>
              <a:rPr b="1" lang="en-US" sz="1200">
                <a:solidFill>
                  <a:schemeClr val="dk1"/>
                </a:solidFill>
              </a:rPr>
              <a:t>Market activity (volume) </a:t>
            </a:r>
            <a:r>
              <a:rPr lang="en-US" sz="1200">
                <a:solidFill>
                  <a:schemeClr val="dk1"/>
                </a:solidFill>
              </a:rPr>
              <a:t>has gradually declined for both assets, indicating potential market cooling or reduced speculative trading.</a:t>
            </a:r>
            <a:endParaRPr>
              <a:latin typeface="Microsoft YaHei"/>
              <a:ea typeface="Microsoft YaHei"/>
              <a:cs typeface="Microsoft YaHei"/>
              <a:sym typeface="Microsoft YaHei"/>
            </a:endParaRPr>
          </a:p>
        </p:txBody>
      </p:sp>
      <p:sp>
        <p:nvSpPr>
          <p:cNvPr id="311" name="Google Shape;311;p18"/>
          <p:cNvSpPr/>
          <p:nvPr/>
        </p:nvSpPr>
        <p:spPr>
          <a:xfrm>
            <a:off x="218500" y="106500"/>
            <a:ext cx="4146000" cy="38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4C65"/>
                </a:solidFill>
              </a:rPr>
              <a:t>INSIGHTS &amp; DASHBOARDS</a:t>
            </a:r>
            <a:endParaRPr b="1" i="0" sz="2000" u="none" cap="none" strike="noStrike">
              <a:solidFill>
                <a:srgbClr val="004C65"/>
              </a:solidFill>
            </a:endParaRPr>
          </a:p>
        </p:txBody>
      </p:sp>
      <p:pic>
        <p:nvPicPr>
          <p:cNvPr id="312" name="Google Shape;312;p18"/>
          <p:cNvPicPr preferRelativeResize="0"/>
          <p:nvPr/>
        </p:nvPicPr>
        <p:blipFill rotWithShape="1">
          <a:blip r:embed="rId3">
            <a:alphaModFix/>
          </a:blip>
          <a:srcRect b="0" l="0" r="0" t="0"/>
          <a:stretch/>
        </p:blipFill>
        <p:spPr>
          <a:xfrm>
            <a:off x="5320970" y="4558356"/>
            <a:ext cx="3823029" cy="585143"/>
          </a:xfrm>
          <a:prstGeom prst="rect">
            <a:avLst/>
          </a:prstGeom>
          <a:noFill/>
          <a:ln>
            <a:noFill/>
          </a:ln>
        </p:spPr>
      </p:pic>
      <p:pic>
        <p:nvPicPr>
          <p:cNvPr id="313" name="Google Shape;313;p18"/>
          <p:cNvPicPr preferRelativeResize="0"/>
          <p:nvPr/>
        </p:nvPicPr>
        <p:blipFill rotWithShape="1">
          <a:blip r:embed="rId4">
            <a:alphaModFix amt="60000"/>
          </a:blip>
          <a:srcRect b="11584" l="0" r="10897" t="13569"/>
          <a:stretch/>
        </p:blipFill>
        <p:spPr>
          <a:xfrm>
            <a:off x="8340487" y="4532812"/>
            <a:ext cx="803513" cy="610688"/>
          </a:xfrm>
          <a:prstGeom prst="rect">
            <a:avLst/>
          </a:prstGeom>
          <a:noFill/>
          <a:ln>
            <a:noFill/>
          </a:ln>
        </p:spPr>
      </p:pic>
      <p:pic>
        <p:nvPicPr>
          <p:cNvPr id="314" name="Google Shape;314;p18"/>
          <p:cNvPicPr preferRelativeResize="0"/>
          <p:nvPr/>
        </p:nvPicPr>
        <p:blipFill>
          <a:blip r:embed="rId5">
            <a:alphaModFix/>
          </a:blip>
          <a:stretch>
            <a:fillRect/>
          </a:stretch>
        </p:blipFill>
        <p:spPr>
          <a:xfrm>
            <a:off x="218500" y="650550"/>
            <a:ext cx="4782073" cy="4150049"/>
          </a:xfrm>
          <a:prstGeom prst="rect">
            <a:avLst/>
          </a:prstGeom>
          <a:noFill/>
          <a:ln>
            <a:noFill/>
          </a:ln>
        </p:spPr>
      </p:pic>
      <p:pic>
        <p:nvPicPr>
          <p:cNvPr id="315" name="Google Shape;315;p18"/>
          <p:cNvPicPr preferRelativeResize="0"/>
          <p:nvPr/>
        </p:nvPicPr>
        <p:blipFill rotWithShape="1">
          <a:blip r:embed="rId6">
            <a:alphaModFix/>
          </a:blip>
          <a:srcRect b="0" l="0" r="0" t="0"/>
          <a:stretch/>
        </p:blipFill>
        <p:spPr>
          <a:xfrm>
            <a:off x="5388429" y="-55750"/>
            <a:ext cx="3790534" cy="59600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9"/>
          <p:cNvSpPr/>
          <p:nvPr/>
        </p:nvSpPr>
        <p:spPr>
          <a:xfrm>
            <a:off x="5388425" y="710300"/>
            <a:ext cx="3714900" cy="3744600"/>
          </a:xfrm>
          <a:prstGeom prst="foldedCorner">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04800" lvl="0" marL="457200" rtl="0" algn="l">
              <a:spcBef>
                <a:spcPts val="0"/>
              </a:spcBef>
              <a:spcAft>
                <a:spcPts val="0"/>
              </a:spcAft>
              <a:buClr>
                <a:schemeClr val="dk1"/>
              </a:buClr>
              <a:buSzPts val="1200"/>
              <a:buChar char="●"/>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304800" lvl="0" marL="457200" rtl="0" algn="l">
              <a:spcBef>
                <a:spcPts val="0"/>
              </a:spcBef>
              <a:spcAft>
                <a:spcPts val="0"/>
              </a:spcAft>
              <a:buClr>
                <a:schemeClr val="dk1"/>
              </a:buClr>
              <a:buSzPts val="1200"/>
              <a:buChar char="●"/>
            </a:pPr>
            <a:r>
              <a:rPr lang="en-US" sz="1200">
                <a:solidFill>
                  <a:schemeClr val="dk1"/>
                </a:solidFill>
              </a:rPr>
              <a:t>BTC and BNB follow completely different seasonal patterns. BTC volatility is lowest in Winter and Fall, suggesting more stable price behavior in colder seasons. BNB volatility peaks in Winter and Fall, showing the opposite seasonal pattern compared to BTC.</a:t>
            </a:r>
            <a:endParaRPr sz="1200">
              <a:solidFill>
                <a:schemeClr val="dk1"/>
              </a:solidFill>
            </a:endParaRPr>
          </a:p>
          <a:p>
            <a:pPr indent="0" lvl="0" marL="457200" rtl="0" algn="l">
              <a:spcBef>
                <a:spcPts val="0"/>
              </a:spcBef>
              <a:spcAft>
                <a:spcPts val="0"/>
              </a:spcAft>
              <a:buClr>
                <a:schemeClr val="dk1"/>
              </a:buClr>
              <a:buSzPts val="1100"/>
              <a:buFont typeface="Arial"/>
              <a:buNone/>
            </a:pPr>
            <a:r>
              <a:t/>
            </a:r>
            <a:endParaRPr sz="1200">
              <a:solidFill>
                <a:schemeClr val="dk1"/>
              </a:solidFill>
            </a:endParaRPr>
          </a:p>
          <a:p>
            <a:pPr indent="-304800" lvl="0" marL="457200" rtl="0" algn="l">
              <a:spcBef>
                <a:spcPts val="0"/>
              </a:spcBef>
              <a:spcAft>
                <a:spcPts val="0"/>
              </a:spcAft>
              <a:buClr>
                <a:srgbClr val="595959"/>
              </a:buClr>
              <a:buSzPts val="1200"/>
              <a:buChar char="●"/>
            </a:pPr>
            <a:r>
              <a:rPr lang="en-US" sz="1200">
                <a:solidFill>
                  <a:schemeClr val="dk1"/>
                </a:solidFill>
              </a:rPr>
              <a:t>BTC’s average daily return is higher than BNB’s average daily return in Fall, Spring, Summer, and Winter. </a:t>
            </a:r>
            <a:endParaRPr sz="1200">
              <a:solidFill>
                <a:schemeClr val="dk1"/>
              </a:solidFill>
            </a:endParaRPr>
          </a:p>
          <a:p>
            <a:pPr indent="0" lvl="0" marL="457200" rtl="0" algn="l">
              <a:spcBef>
                <a:spcPts val="0"/>
              </a:spcBef>
              <a:spcAft>
                <a:spcPts val="0"/>
              </a:spcAft>
              <a:buClr>
                <a:schemeClr val="dk1"/>
              </a:buClr>
              <a:buSzPts val="1100"/>
              <a:buFont typeface="Arial"/>
              <a:buNone/>
            </a:pPr>
            <a:r>
              <a:t/>
            </a:r>
            <a:endParaRPr sz="1200">
              <a:solidFill>
                <a:schemeClr val="dk1"/>
              </a:solidFill>
            </a:endParaRPr>
          </a:p>
          <a:p>
            <a:pPr indent="-304800" lvl="0" marL="457200" rtl="0" algn="l">
              <a:spcBef>
                <a:spcPts val="0"/>
              </a:spcBef>
              <a:spcAft>
                <a:spcPts val="0"/>
              </a:spcAft>
              <a:buClr>
                <a:srgbClr val="595959"/>
              </a:buClr>
              <a:buSzPts val="1200"/>
              <a:buChar char="●"/>
            </a:pPr>
            <a:r>
              <a:rPr lang="en-US" sz="1200">
                <a:solidFill>
                  <a:schemeClr val="dk1"/>
                </a:solidFill>
              </a:rPr>
              <a:t>BTC delivers its highest returns in Fall (+0.29%) and Winter (+0.26%), while BNB performs well in Spring season (+0.20%).</a:t>
            </a:r>
            <a:endParaRPr sz="1200">
              <a:solidFill>
                <a:schemeClr val="dk1"/>
              </a:solidFill>
            </a:endParaRPr>
          </a:p>
          <a:p>
            <a:pPr indent="0" lvl="0" marL="457200" rtl="0" algn="l">
              <a:spcBef>
                <a:spcPts val="0"/>
              </a:spcBef>
              <a:spcAft>
                <a:spcPts val="0"/>
              </a:spcAft>
              <a:buClr>
                <a:schemeClr val="dk1"/>
              </a:buClr>
              <a:buSzPts val="1100"/>
              <a:buFont typeface="Arial"/>
              <a:buNone/>
            </a:pPr>
            <a:r>
              <a:t/>
            </a:r>
            <a:endParaRPr sz="1200">
              <a:solidFill>
                <a:schemeClr val="dk1"/>
              </a:solidFill>
            </a:endParaRPr>
          </a:p>
          <a:p>
            <a:pPr indent="-304800" lvl="0" marL="457200" rtl="0" algn="l">
              <a:spcBef>
                <a:spcPts val="0"/>
              </a:spcBef>
              <a:spcAft>
                <a:spcPts val="0"/>
              </a:spcAft>
              <a:buClr>
                <a:srgbClr val="595959"/>
              </a:buClr>
              <a:buSzPts val="1200"/>
              <a:buChar char="●"/>
            </a:pPr>
            <a:r>
              <a:rPr lang="en-US" sz="1200">
                <a:solidFill>
                  <a:schemeClr val="dk1"/>
                </a:solidFill>
              </a:rPr>
              <a:t>Both BTC and BNB show negative average daily returns in Summer, making it the least favorable season for investors.</a:t>
            </a:r>
            <a:endParaRPr sz="1200">
              <a:solidFill>
                <a:schemeClr val="dk1"/>
              </a:solidFill>
            </a:endParaRPr>
          </a:p>
          <a:p>
            <a:pPr indent="0" lvl="0" marL="457200" rtl="0" algn="l">
              <a:spcBef>
                <a:spcPts val="0"/>
              </a:spcBef>
              <a:spcAft>
                <a:spcPts val="0"/>
              </a:spcAft>
              <a:buNone/>
            </a:pPr>
            <a:r>
              <a:t/>
            </a:r>
            <a:endParaRPr sz="1200">
              <a:solidFill>
                <a:schemeClr val="dk1"/>
              </a:solidFill>
            </a:endParaRPr>
          </a:p>
        </p:txBody>
      </p:sp>
      <p:pic>
        <p:nvPicPr>
          <p:cNvPr id="322" name="Google Shape;322;p19"/>
          <p:cNvPicPr preferRelativeResize="0"/>
          <p:nvPr/>
        </p:nvPicPr>
        <p:blipFill rotWithShape="1">
          <a:blip r:embed="rId3">
            <a:alphaModFix/>
          </a:blip>
          <a:srcRect b="0" l="0" r="0" t="0"/>
          <a:stretch/>
        </p:blipFill>
        <p:spPr>
          <a:xfrm>
            <a:off x="5388429" y="-55750"/>
            <a:ext cx="3790534" cy="596007"/>
          </a:xfrm>
          <a:prstGeom prst="rect">
            <a:avLst/>
          </a:prstGeom>
          <a:noFill/>
          <a:ln>
            <a:noFill/>
          </a:ln>
        </p:spPr>
      </p:pic>
      <p:pic>
        <p:nvPicPr>
          <p:cNvPr id="323" name="Google Shape;323;p19"/>
          <p:cNvPicPr preferRelativeResize="0"/>
          <p:nvPr/>
        </p:nvPicPr>
        <p:blipFill rotWithShape="1">
          <a:blip r:embed="rId4">
            <a:alphaModFix/>
          </a:blip>
          <a:srcRect b="0" l="0" r="0" t="0"/>
          <a:stretch/>
        </p:blipFill>
        <p:spPr>
          <a:xfrm>
            <a:off x="5320970" y="4558356"/>
            <a:ext cx="3823029" cy="585143"/>
          </a:xfrm>
          <a:prstGeom prst="rect">
            <a:avLst/>
          </a:prstGeom>
          <a:noFill/>
          <a:ln>
            <a:noFill/>
          </a:ln>
        </p:spPr>
      </p:pic>
      <p:pic>
        <p:nvPicPr>
          <p:cNvPr id="324" name="Google Shape;324;p19"/>
          <p:cNvPicPr preferRelativeResize="0"/>
          <p:nvPr/>
        </p:nvPicPr>
        <p:blipFill rotWithShape="1">
          <a:blip r:embed="rId5">
            <a:alphaModFix amt="60000"/>
          </a:blip>
          <a:srcRect b="11584" l="0" r="10897" t="13569"/>
          <a:stretch/>
        </p:blipFill>
        <p:spPr>
          <a:xfrm>
            <a:off x="8340487" y="4532812"/>
            <a:ext cx="803513" cy="610688"/>
          </a:xfrm>
          <a:prstGeom prst="rect">
            <a:avLst/>
          </a:prstGeom>
          <a:noFill/>
          <a:ln>
            <a:noFill/>
          </a:ln>
        </p:spPr>
      </p:pic>
      <p:sp>
        <p:nvSpPr>
          <p:cNvPr id="325" name="Google Shape;325;p19"/>
          <p:cNvSpPr/>
          <p:nvPr/>
        </p:nvSpPr>
        <p:spPr>
          <a:xfrm>
            <a:off x="213725" y="114850"/>
            <a:ext cx="4048200" cy="36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4C65"/>
                </a:solidFill>
              </a:rPr>
              <a:t>INSIGHTS &amp; DASHBOARDS</a:t>
            </a:r>
            <a:endParaRPr b="1" i="0" sz="2000" u="none" cap="none" strike="noStrike">
              <a:solidFill>
                <a:srgbClr val="004C65"/>
              </a:solidFill>
            </a:endParaRPr>
          </a:p>
          <a:p>
            <a:pPr indent="0" lvl="0" marL="0" marR="0" rtl="0" algn="l">
              <a:lnSpc>
                <a:spcPct val="100000"/>
              </a:lnSpc>
              <a:spcBef>
                <a:spcPts val="0"/>
              </a:spcBef>
              <a:spcAft>
                <a:spcPts val="0"/>
              </a:spcAft>
              <a:buClr>
                <a:srgbClr val="000000"/>
              </a:buClr>
              <a:buSzPts val="2000"/>
              <a:buFont typeface="Arial"/>
              <a:buNone/>
            </a:pPr>
            <a:br>
              <a:rPr b="1" i="0" lang="en-US" sz="2000" u="none" cap="none" strike="noStrike">
                <a:solidFill>
                  <a:schemeClr val="dk1"/>
                </a:solidFill>
              </a:rPr>
            </a:br>
            <a:endParaRPr b="1" i="0" sz="2000" u="none" cap="none" strike="noStrike">
              <a:solidFill>
                <a:srgbClr val="004C65"/>
              </a:solidFill>
            </a:endParaRPr>
          </a:p>
        </p:txBody>
      </p:sp>
      <p:pic>
        <p:nvPicPr>
          <p:cNvPr id="326" name="Google Shape;326;p19"/>
          <p:cNvPicPr preferRelativeResize="0"/>
          <p:nvPr/>
        </p:nvPicPr>
        <p:blipFill>
          <a:blip r:embed="rId6">
            <a:alphaModFix/>
          </a:blip>
          <a:stretch>
            <a:fillRect/>
          </a:stretch>
        </p:blipFill>
        <p:spPr>
          <a:xfrm>
            <a:off x="213725" y="689325"/>
            <a:ext cx="4416905" cy="41142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0"/>
          <p:cNvSpPr/>
          <p:nvPr/>
        </p:nvSpPr>
        <p:spPr>
          <a:xfrm>
            <a:off x="5363925" y="693975"/>
            <a:ext cx="3723000" cy="3037200"/>
          </a:xfrm>
          <a:prstGeom prst="foldedCorner">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lang="en-US" sz="1200">
                <a:solidFill>
                  <a:schemeClr val="dk1"/>
                </a:solidFill>
              </a:rPr>
              <a:t>BNB shows a “high-risk, low-return” profile, it does not deliver higher returns to justify the risk. The average seasonal returns are generally lower than BTC.</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304800" lvl="0" marL="457200" rtl="0" algn="l">
              <a:spcBef>
                <a:spcPts val="0"/>
              </a:spcBef>
              <a:spcAft>
                <a:spcPts val="0"/>
              </a:spcAft>
              <a:buClr>
                <a:schemeClr val="dk1"/>
              </a:buClr>
              <a:buSzPts val="1200"/>
              <a:buChar char="●"/>
            </a:pPr>
            <a:r>
              <a:rPr lang="en-US" sz="1200">
                <a:solidFill>
                  <a:schemeClr val="dk1"/>
                </a:solidFill>
              </a:rPr>
              <a:t>For low-risk investors, BTC is a better option, and Fall is the best risk-return season for investment. </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304800" lvl="0" marL="457200" rtl="0" algn="l">
              <a:spcBef>
                <a:spcPts val="0"/>
              </a:spcBef>
              <a:spcAft>
                <a:spcPts val="0"/>
              </a:spcAft>
              <a:buClr>
                <a:schemeClr val="dk1"/>
              </a:buClr>
              <a:buSzPts val="1200"/>
              <a:buChar char="●"/>
            </a:pPr>
            <a:r>
              <a:rPr lang="en-US" sz="1200">
                <a:solidFill>
                  <a:schemeClr val="dk1"/>
                </a:solidFill>
              </a:rPr>
              <a:t>Summer is clearly unattractive: it combines the highest volatility with negative average returns. Neither low-risk nor high-risk investors are really rewarded in Summer.</a:t>
            </a:r>
            <a:endParaRPr>
              <a:latin typeface="Microsoft YaHei"/>
              <a:ea typeface="Microsoft YaHei"/>
              <a:cs typeface="Microsoft YaHei"/>
              <a:sym typeface="Microsoft YaHei"/>
            </a:endParaRPr>
          </a:p>
        </p:txBody>
      </p:sp>
      <p:pic>
        <p:nvPicPr>
          <p:cNvPr id="333" name="Google Shape;333;p20"/>
          <p:cNvPicPr preferRelativeResize="0"/>
          <p:nvPr/>
        </p:nvPicPr>
        <p:blipFill rotWithShape="1">
          <a:blip r:embed="rId3">
            <a:alphaModFix/>
          </a:blip>
          <a:srcRect b="0" l="0" r="0" t="0"/>
          <a:stretch/>
        </p:blipFill>
        <p:spPr>
          <a:xfrm>
            <a:off x="5320970" y="4558356"/>
            <a:ext cx="3823029" cy="585143"/>
          </a:xfrm>
          <a:prstGeom prst="rect">
            <a:avLst/>
          </a:prstGeom>
          <a:noFill/>
          <a:ln>
            <a:noFill/>
          </a:ln>
        </p:spPr>
      </p:pic>
      <p:pic>
        <p:nvPicPr>
          <p:cNvPr id="334" name="Google Shape;334;p20"/>
          <p:cNvPicPr preferRelativeResize="0"/>
          <p:nvPr/>
        </p:nvPicPr>
        <p:blipFill rotWithShape="1">
          <a:blip r:embed="rId4">
            <a:alphaModFix amt="60000"/>
          </a:blip>
          <a:srcRect b="11584" l="0" r="10897" t="13569"/>
          <a:stretch/>
        </p:blipFill>
        <p:spPr>
          <a:xfrm>
            <a:off x="8340487" y="4532812"/>
            <a:ext cx="803513" cy="610688"/>
          </a:xfrm>
          <a:prstGeom prst="rect">
            <a:avLst/>
          </a:prstGeom>
          <a:noFill/>
          <a:ln>
            <a:noFill/>
          </a:ln>
        </p:spPr>
      </p:pic>
      <p:pic>
        <p:nvPicPr>
          <p:cNvPr id="335" name="Google Shape;335;p20"/>
          <p:cNvPicPr preferRelativeResize="0"/>
          <p:nvPr/>
        </p:nvPicPr>
        <p:blipFill rotWithShape="1">
          <a:blip r:embed="rId5">
            <a:alphaModFix/>
          </a:blip>
          <a:srcRect b="0" l="0" r="0" t="0"/>
          <a:stretch/>
        </p:blipFill>
        <p:spPr>
          <a:xfrm>
            <a:off x="193275" y="571350"/>
            <a:ext cx="4979501" cy="4166724"/>
          </a:xfrm>
          <a:prstGeom prst="rect">
            <a:avLst/>
          </a:prstGeom>
          <a:noFill/>
          <a:ln>
            <a:noFill/>
          </a:ln>
        </p:spPr>
      </p:pic>
      <p:sp>
        <p:nvSpPr>
          <p:cNvPr id="336" name="Google Shape;336;p20"/>
          <p:cNvSpPr/>
          <p:nvPr/>
        </p:nvSpPr>
        <p:spPr>
          <a:xfrm>
            <a:off x="234825" y="118900"/>
            <a:ext cx="4464600" cy="35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4C65"/>
                </a:solidFill>
              </a:rPr>
              <a:t>INSIGHTS &amp; DASHBOARDS</a:t>
            </a:r>
            <a:endParaRPr b="1" i="0" sz="2000" u="none" cap="none" strike="noStrike">
              <a:solidFill>
                <a:srgbClr val="004C65"/>
              </a:solidFill>
            </a:endParaRPr>
          </a:p>
          <a:p>
            <a:pPr indent="0" lvl="0" marL="0" marR="0" rtl="0" algn="l">
              <a:lnSpc>
                <a:spcPct val="100000"/>
              </a:lnSpc>
              <a:spcBef>
                <a:spcPts val="0"/>
              </a:spcBef>
              <a:spcAft>
                <a:spcPts val="0"/>
              </a:spcAft>
              <a:buClr>
                <a:srgbClr val="000000"/>
              </a:buClr>
              <a:buSzPts val="1800"/>
              <a:buFont typeface="Arial"/>
              <a:buNone/>
            </a:pPr>
            <a:br>
              <a:rPr b="1" i="0" lang="en-US" sz="1800" u="none" cap="none" strike="noStrike">
                <a:solidFill>
                  <a:schemeClr val="dk1"/>
                </a:solidFill>
              </a:rPr>
            </a:br>
            <a:endParaRPr b="1" i="0" sz="1800" u="none" cap="none" strike="noStrike">
              <a:solidFill>
                <a:srgbClr val="004C65"/>
              </a:solidFill>
            </a:endParaRPr>
          </a:p>
        </p:txBody>
      </p:sp>
      <p:pic>
        <p:nvPicPr>
          <p:cNvPr id="337" name="Google Shape;337;p20"/>
          <p:cNvPicPr preferRelativeResize="0"/>
          <p:nvPr/>
        </p:nvPicPr>
        <p:blipFill rotWithShape="1">
          <a:blip r:embed="rId6">
            <a:alphaModFix/>
          </a:blip>
          <a:srcRect b="0" l="0" r="0" t="0"/>
          <a:stretch/>
        </p:blipFill>
        <p:spPr>
          <a:xfrm>
            <a:off x="5388429" y="-55750"/>
            <a:ext cx="3790534" cy="59600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aeafdf28a2_1_6"/>
          <p:cNvSpPr/>
          <p:nvPr/>
        </p:nvSpPr>
        <p:spPr>
          <a:xfrm>
            <a:off x="5396600" y="767450"/>
            <a:ext cx="3665700" cy="3225000"/>
          </a:xfrm>
          <a:prstGeom prst="foldedCorner">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lang="en-US" sz="1200">
                <a:solidFill>
                  <a:schemeClr val="dk1"/>
                </a:solidFill>
              </a:rPr>
              <a:t>Monthly performance is highly dispersed, especially for BNB. In March, BNB has the highest daily return and also the highest volatility. </a:t>
            </a:r>
            <a:endParaRPr sz="1200">
              <a:solidFill>
                <a:schemeClr val="dk1"/>
              </a:solidFill>
            </a:endParaRPr>
          </a:p>
          <a:p>
            <a:pPr indent="0" lvl="0" marL="457200" rtl="0" algn="l">
              <a:spcBef>
                <a:spcPts val="0"/>
              </a:spcBef>
              <a:spcAft>
                <a:spcPts val="0"/>
              </a:spcAft>
              <a:buClr>
                <a:schemeClr val="dk1"/>
              </a:buClr>
              <a:buSzPts val="1100"/>
              <a:buFont typeface="Arial"/>
              <a:buNone/>
            </a:pPr>
            <a:r>
              <a:t/>
            </a:r>
            <a:endParaRPr sz="1200">
              <a:solidFill>
                <a:schemeClr val="dk1"/>
              </a:solidFill>
            </a:endParaRPr>
          </a:p>
          <a:p>
            <a:pPr indent="-304800" lvl="0" marL="457200" rtl="0" algn="l">
              <a:spcBef>
                <a:spcPts val="0"/>
              </a:spcBef>
              <a:spcAft>
                <a:spcPts val="0"/>
              </a:spcAft>
              <a:buClr>
                <a:schemeClr val="dk1"/>
              </a:buClr>
              <a:buSzPts val="1200"/>
              <a:buChar char="●"/>
            </a:pPr>
            <a:r>
              <a:rPr lang="en-US" sz="1200">
                <a:solidFill>
                  <a:schemeClr val="dk1"/>
                </a:solidFill>
              </a:rPr>
              <a:t>Both BTC and BNB show weaker performance from June to August (summer seasons), with lower or negative returns.</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304800" lvl="0" marL="457200" rtl="0" algn="l">
              <a:spcBef>
                <a:spcPts val="0"/>
              </a:spcBef>
              <a:spcAft>
                <a:spcPts val="0"/>
              </a:spcAft>
              <a:buClr>
                <a:schemeClr val="dk1"/>
              </a:buClr>
              <a:buSzPts val="1200"/>
              <a:buChar char="●"/>
            </a:pPr>
            <a:r>
              <a:rPr lang="en-US" sz="1200">
                <a:solidFill>
                  <a:schemeClr val="dk1"/>
                </a:solidFill>
              </a:rPr>
              <a:t>For a similar level of volatility, BTC tends to produce higher or more stable returns than BNB.</a:t>
            </a:r>
            <a:endParaRPr>
              <a:latin typeface="Microsoft YaHei"/>
              <a:ea typeface="Microsoft YaHei"/>
              <a:cs typeface="Microsoft YaHei"/>
              <a:sym typeface="Microsoft YaHei"/>
            </a:endParaRPr>
          </a:p>
        </p:txBody>
      </p:sp>
      <p:pic>
        <p:nvPicPr>
          <p:cNvPr id="344" name="Google Shape;344;g3aeafdf28a2_1_6"/>
          <p:cNvPicPr preferRelativeResize="0"/>
          <p:nvPr/>
        </p:nvPicPr>
        <p:blipFill rotWithShape="1">
          <a:blip r:embed="rId3">
            <a:alphaModFix/>
          </a:blip>
          <a:srcRect b="0" l="0" r="0" t="0"/>
          <a:stretch/>
        </p:blipFill>
        <p:spPr>
          <a:xfrm>
            <a:off x="5320970" y="4558356"/>
            <a:ext cx="3823029" cy="585143"/>
          </a:xfrm>
          <a:prstGeom prst="rect">
            <a:avLst/>
          </a:prstGeom>
          <a:noFill/>
          <a:ln>
            <a:noFill/>
          </a:ln>
        </p:spPr>
      </p:pic>
      <p:pic>
        <p:nvPicPr>
          <p:cNvPr id="345" name="Google Shape;345;g3aeafdf28a2_1_6"/>
          <p:cNvPicPr preferRelativeResize="0"/>
          <p:nvPr/>
        </p:nvPicPr>
        <p:blipFill rotWithShape="1">
          <a:blip r:embed="rId4">
            <a:alphaModFix amt="60000"/>
          </a:blip>
          <a:srcRect b="11585" l="0" r="10897" t="13569"/>
          <a:stretch/>
        </p:blipFill>
        <p:spPr>
          <a:xfrm>
            <a:off x="8340487" y="4532812"/>
            <a:ext cx="803513" cy="610688"/>
          </a:xfrm>
          <a:prstGeom prst="rect">
            <a:avLst/>
          </a:prstGeom>
          <a:noFill/>
          <a:ln>
            <a:noFill/>
          </a:ln>
        </p:spPr>
      </p:pic>
      <p:sp>
        <p:nvSpPr>
          <p:cNvPr id="346" name="Google Shape;346;g3aeafdf28a2_1_6"/>
          <p:cNvSpPr/>
          <p:nvPr/>
        </p:nvSpPr>
        <p:spPr>
          <a:xfrm>
            <a:off x="226325" y="118900"/>
            <a:ext cx="4464600" cy="35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4C65"/>
                </a:solidFill>
              </a:rPr>
              <a:t>INSIGHTS &amp; DASHBOARDS</a:t>
            </a:r>
            <a:endParaRPr b="1" i="0" sz="2000" u="none" cap="none" strike="noStrike">
              <a:solidFill>
                <a:srgbClr val="004C65"/>
              </a:solidFill>
            </a:endParaRPr>
          </a:p>
          <a:p>
            <a:pPr indent="0" lvl="0" marL="0" marR="0" rtl="0" algn="l">
              <a:lnSpc>
                <a:spcPct val="100000"/>
              </a:lnSpc>
              <a:spcBef>
                <a:spcPts val="0"/>
              </a:spcBef>
              <a:spcAft>
                <a:spcPts val="0"/>
              </a:spcAft>
              <a:buClr>
                <a:srgbClr val="000000"/>
              </a:buClr>
              <a:buSzPts val="1800"/>
              <a:buFont typeface="Arial"/>
              <a:buNone/>
            </a:pPr>
            <a:br>
              <a:rPr b="1" i="0" lang="en-US" sz="1800" u="none" cap="none" strike="noStrike">
                <a:solidFill>
                  <a:schemeClr val="dk1"/>
                </a:solidFill>
              </a:rPr>
            </a:br>
            <a:endParaRPr b="1" i="0" sz="1800" u="none" cap="none" strike="noStrike">
              <a:solidFill>
                <a:srgbClr val="004C65"/>
              </a:solidFill>
            </a:endParaRPr>
          </a:p>
        </p:txBody>
      </p:sp>
      <p:pic>
        <p:nvPicPr>
          <p:cNvPr id="347" name="Google Shape;347;g3aeafdf28a2_1_6"/>
          <p:cNvPicPr preferRelativeResize="0"/>
          <p:nvPr/>
        </p:nvPicPr>
        <p:blipFill>
          <a:blip r:embed="rId5">
            <a:alphaModFix/>
          </a:blip>
          <a:stretch>
            <a:fillRect/>
          </a:stretch>
        </p:blipFill>
        <p:spPr>
          <a:xfrm>
            <a:off x="173425" y="751125"/>
            <a:ext cx="4798551" cy="3781675"/>
          </a:xfrm>
          <a:prstGeom prst="rect">
            <a:avLst/>
          </a:prstGeom>
          <a:noFill/>
          <a:ln>
            <a:noFill/>
          </a:ln>
        </p:spPr>
      </p:pic>
      <p:pic>
        <p:nvPicPr>
          <p:cNvPr id="348" name="Google Shape;348;g3aeafdf28a2_1_6"/>
          <p:cNvPicPr preferRelativeResize="0"/>
          <p:nvPr/>
        </p:nvPicPr>
        <p:blipFill rotWithShape="1">
          <a:blip r:embed="rId6">
            <a:alphaModFix/>
          </a:blip>
          <a:srcRect b="0" l="0" r="0" t="0"/>
          <a:stretch/>
        </p:blipFill>
        <p:spPr>
          <a:xfrm>
            <a:off x="5388429" y="-55750"/>
            <a:ext cx="3790534" cy="59600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3aeafdf28a2_1_18"/>
          <p:cNvSpPr/>
          <p:nvPr/>
        </p:nvSpPr>
        <p:spPr>
          <a:xfrm>
            <a:off x="5396600" y="751125"/>
            <a:ext cx="3665700" cy="2057400"/>
          </a:xfrm>
          <a:prstGeom prst="foldedCorner">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lang="en-US" sz="1200">
                <a:solidFill>
                  <a:schemeClr val="dk1"/>
                </a:solidFill>
              </a:rPr>
              <a:t>For both BTC and BNB, Wednesday (2) clearly has the highest returns with highest weekday volatility. </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304800" lvl="0" marL="457200" rtl="0" algn="l">
              <a:spcBef>
                <a:spcPts val="0"/>
              </a:spcBef>
              <a:spcAft>
                <a:spcPts val="0"/>
              </a:spcAft>
              <a:buClr>
                <a:schemeClr val="dk1"/>
              </a:buClr>
              <a:buSzPts val="1200"/>
              <a:buChar char="●"/>
            </a:pPr>
            <a:r>
              <a:rPr lang="en-US" sz="1200">
                <a:solidFill>
                  <a:schemeClr val="dk1"/>
                </a:solidFill>
              </a:rPr>
              <a:t>Monday (0) shows the widest performance gap between BTC and BNB. BTC delivers positive high returns, while BNB shows negative returns.</a:t>
            </a:r>
            <a:endParaRPr>
              <a:latin typeface="Microsoft YaHei"/>
              <a:ea typeface="Microsoft YaHei"/>
              <a:cs typeface="Microsoft YaHei"/>
              <a:sym typeface="Microsoft YaHei"/>
            </a:endParaRPr>
          </a:p>
        </p:txBody>
      </p:sp>
      <p:pic>
        <p:nvPicPr>
          <p:cNvPr id="355" name="Google Shape;355;g3aeafdf28a2_1_18"/>
          <p:cNvPicPr preferRelativeResize="0"/>
          <p:nvPr/>
        </p:nvPicPr>
        <p:blipFill rotWithShape="1">
          <a:blip r:embed="rId3">
            <a:alphaModFix/>
          </a:blip>
          <a:srcRect b="0" l="0" r="0" t="0"/>
          <a:stretch/>
        </p:blipFill>
        <p:spPr>
          <a:xfrm>
            <a:off x="5320970" y="4558356"/>
            <a:ext cx="3823029" cy="585143"/>
          </a:xfrm>
          <a:prstGeom prst="rect">
            <a:avLst/>
          </a:prstGeom>
          <a:noFill/>
          <a:ln>
            <a:noFill/>
          </a:ln>
        </p:spPr>
      </p:pic>
      <p:pic>
        <p:nvPicPr>
          <p:cNvPr id="356" name="Google Shape;356;g3aeafdf28a2_1_18"/>
          <p:cNvPicPr preferRelativeResize="0"/>
          <p:nvPr/>
        </p:nvPicPr>
        <p:blipFill rotWithShape="1">
          <a:blip r:embed="rId4">
            <a:alphaModFix amt="60000"/>
          </a:blip>
          <a:srcRect b="11585" l="0" r="10897" t="13569"/>
          <a:stretch/>
        </p:blipFill>
        <p:spPr>
          <a:xfrm>
            <a:off x="8340487" y="4532812"/>
            <a:ext cx="803513" cy="610688"/>
          </a:xfrm>
          <a:prstGeom prst="rect">
            <a:avLst/>
          </a:prstGeom>
          <a:noFill/>
          <a:ln>
            <a:noFill/>
          </a:ln>
        </p:spPr>
      </p:pic>
      <p:sp>
        <p:nvSpPr>
          <p:cNvPr id="357" name="Google Shape;357;g3aeafdf28a2_1_18"/>
          <p:cNvSpPr/>
          <p:nvPr/>
        </p:nvSpPr>
        <p:spPr>
          <a:xfrm>
            <a:off x="226325" y="118900"/>
            <a:ext cx="4464600" cy="35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4C65"/>
                </a:solidFill>
              </a:rPr>
              <a:t>INSIGHTS &amp; DASHBOARDS</a:t>
            </a:r>
            <a:endParaRPr b="1" i="0" sz="2000" u="none" cap="none" strike="noStrike">
              <a:solidFill>
                <a:srgbClr val="004C65"/>
              </a:solidFill>
            </a:endParaRPr>
          </a:p>
          <a:p>
            <a:pPr indent="0" lvl="0" marL="0" marR="0" rtl="0" algn="l">
              <a:lnSpc>
                <a:spcPct val="100000"/>
              </a:lnSpc>
              <a:spcBef>
                <a:spcPts val="0"/>
              </a:spcBef>
              <a:spcAft>
                <a:spcPts val="0"/>
              </a:spcAft>
              <a:buClr>
                <a:srgbClr val="000000"/>
              </a:buClr>
              <a:buSzPts val="1800"/>
              <a:buFont typeface="Arial"/>
              <a:buNone/>
            </a:pPr>
            <a:br>
              <a:rPr b="1" i="0" lang="en-US" sz="1800" u="none" cap="none" strike="noStrike">
                <a:solidFill>
                  <a:schemeClr val="dk1"/>
                </a:solidFill>
              </a:rPr>
            </a:br>
            <a:endParaRPr b="1" i="0" sz="1800" u="none" cap="none" strike="noStrike">
              <a:solidFill>
                <a:srgbClr val="004C65"/>
              </a:solidFill>
            </a:endParaRPr>
          </a:p>
        </p:txBody>
      </p:sp>
      <p:pic>
        <p:nvPicPr>
          <p:cNvPr id="358" name="Google Shape;358;g3aeafdf28a2_1_18"/>
          <p:cNvPicPr preferRelativeResize="0"/>
          <p:nvPr/>
        </p:nvPicPr>
        <p:blipFill>
          <a:blip r:embed="rId5">
            <a:alphaModFix/>
          </a:blip>
          <a:stretch>
            <a:fillRect/>
          </a:stretch>
        </p:blipFill>
        <p:spPr>
          <a:xfrm>
            <a:off x="154125" y="708650"/>
            <a:ext cx="4913800" cy="3961324"/>
          </a:xfrm>
          <a:prstGeom prst="rect">
            <a:avLst/>
          </a:prstGeom>
          <a:noFill/>
          <a:ln>
            <a:noFill/>
          </a:ln>
        </p:spPr>
      </p:pic>
      <p:pic>
        <p:nvPicPr>
          <p:cNvPr id="359" name="Google Shape;359;g3aeafdf28a2_1_18"/>
          <p:cNvPicPr preferRelativeResize="0"/>
          <p:nvPr/>
        </p:nvPicPr>
        <p:blipFill rotWithShape="1">
          <a:blip r:embed="rId6">
            <a:alphaModFix/>
          </a:blip>
          <a:srcRect b="0" l="0" r="0" t="0"/>
          <a:stretch/>
        </p:blipFill>
        <p:spPr>
          <a:xfrm>
            <a:off x="5388429" y="-55750"/>
            <a:ext cx="3790534" cy="59600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g3af27d324c4_1_70"/>
          <p:cNvSpPr/>
          <p:nvPr/>
        </p:nvSpPr>
        <p:spPr>
          <a:xfrm>
            <a:off x="1115616" y="1779662"/>
            <a:ext cx="6624600" cy="1368300"/>
          </a:xfrm>
          <a:prstGeom prst="rect">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pic>
        <p:nvPicPr>
          <p:cNvPr id="366" name="Google Shape;366;g3af27d324c4_1_70"/>
          <p:cNvPicPr preferRelativeResize="0"/>
          <p:nvPr/>
        </p:nvPicPr>
        <p:blipFill rotWithShape="1">
          <a:blip r:embed="rId3">
            <a:alphaModFix/>
          </a:blip>
          <a:srcRect b="0" l="0" r="0" t="0"/>
          <a:stretch/>
        </p:blipFill>
        <p:spPr>
          <a:xfrm>
            <a:off x="0" y="-1"/>
            <a:ext cx="9143999" cy="5143501"/>
          </a:xfrm>
          <a:prstGeom prst="rect">
            <a:avLst/>
          </a:prstGeom>
          <a:noFill/>
          <a:ln>
            <a:noFill/>
          </a:ln>
        </p:spPr>
      </p:pic>
      <p:sp>
        <p:nvSpPr>
          <p:cNvPr id="367" name="Google Shape;367;g3af27d324c4_1_70"/>
          <p:cNvSpPr/>
          <p:nvPr/>
        </p:nvSpPr>
        <p:spPr>
          <a:xfrm>
            <a:off x="1597531" y="2920769"/>
            <a:ext cx="1031700" cy="10317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368" name="Google Shape;368;g3af27d324c4_1_70"/>
          <p:cNvSpPr/>
          <p:nvPr/>
        </p:nvSpPr>
        <p:spPr>
          <a:xfrm>
            <a:off x="3419872" y="3219822"/>
            <a:ext cx="433800" cy="4338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369" name="Google Shape;369;g3af27d324c4_1_70"/>
          <p:cNvSpPr/>
          <p:nvPr/>
        </p:nvSpPr>
        <p:spPr>
          <a:xfrm>
            <a:off x="5348099" y="1263746"/>
            <a:ext cx="516000" cy="5160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370" name="Google Shape;370;g3af27d324c4_1_70"/>
          <p:cNvSpPr/>
          <p:nvPr/>
        </p:nvSpPr>
        <p:spPr>
          <a:xfrm>
            <a:off x="7170441" y="1562800"/>
            <a:ext cx="216900" cy="2169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pic>
        <p:nvPicPr>
          <p:cNvPr id="371" name="Google Shape;371;g3af27d324c4_1_70"/>
          <p:cNvPicPr preferRelativeResize="0"/>
          <p:nvPr/>
        </p:nvPicPr>
        <p:blipFill rotWithShape="1">
          <a:blip r:embed="rId4">
            <a:alphaModFix amt="60000"/>
          </a:blip>
          <a:srcRect b="11585" l="0" r="10897" t="13569"/>
          <a:stretch/>
        </p:blipFill>
        <p:spPr>
          <a:xfrm>
            <a:off x="8340487" y="4532812"/>
            <a:ext cx="803513" cy="610688"/>
          </a:xfrm>
          <a:prstGeom prst="rect">
            <a:avLst/>
          </a:prstGeom>
          <a:noFill/>
          <a:ln>
            <a:noFill/>
          </a:ln>
        </p:spPr>
      </p:pic>
      <p:sp>
        <p:nvSpPr>
          <p:cNvPr id="372" name="Google Shape;372;g3af27d324c4_1_70"/>
          <p:cNvSpPr txBox="1"/>
          <p:nvPr/>
        </p:nvSpPr>
        <p:spPr>
          <a:xfrm>
            <a:off x="2168550" y="1968500"/>
            <a:ext cx="5925900" cy="9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F0FEFE"/>
                </a:solidFill>
              </a:rPr>
              <a:t>06    </a:t>
            </a:r>
            <a:r>
              <a:rPr b="1" lang="en-US" sz="3200">
                <a:solidFill>
                  <a:srgbClr val="F0FEFE"/>
                </a:solidFill>
              </a:rPr>
              <a:t>Recommendations</a:t>
            </a:r>
            <a:r>
              <a:rPr b="1" lang="en-US" sz="3200">
                <a:solidFill>
                  <a:srgbClr val="F0FEFE"/>
                </a:solidFill>
              </a:rPr>
              <a:t> </a:t>
            </a:r>
            <a:r>
              <a:rPr b="1" lang="en-US" sz="3200">
                <a:solidFill>
                  <a:schemeClr val="dk1"/>
                </a:solidFill>
                <a:latin typeface="Microsoft YaHei"/>
                <a:ea typeface="Microsoft YaHei"/>
                <a:cs typeface="Microsoft YaHei"/>
                <a:sym typeface="Microsoft YaHei"/>
              </a:rPr>
              <a:t>              </a:t>
            </a:r>
            <a:endParaRPr b="1" sz="3200">
              <a:solidFill>
                <a:srgbClr val="F0FEFE"/>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2"/>
          <p:cNvSpPr/>
          <p:nvPr/>
        </p:nvSpPr>
        <p:spPr>
          <a:xfrm>
            <a:off x="294225" y="3997225"/>
            <a:ext cx="3735600" cy="844200"/>
          </a:xfrm>
          <a:prstGeom prst="roundRect">
            <a:avLst>
              <a:gd fmla="val 16667" name="adj"/>
            </a:avLst>
          </a:prstGeom>
          <a:solidFill>
            <a:srgbClr val="D8D8D8"/>
          </a:solidFill>
          <a:ln cap="flat" cmpd="sng" w="9525">
            <a:solidFill>
              <a:schemeClr val="accent2"/>
            </a:solidFill>
            <a:prstDash val="solid"/>
            <a:round/>
            <a:headEnd len="sm" w="sm" type="none"/>
            <a:tailEnd len="sm" w="sm" type="none"/>
          </a:ln>
          <a:effectLst>
            <a:outerShdw blurRad="40000" rotWithShape="0" dir="5400000" dist="20000">
              <a:srgbClr val="000000">
                <a:alpha val="37250"/>
              </a:srgbClr>
            </a:outerShdw>
          </a:effectLst>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dk1"/>
              </a:buClr>
              <a:buSzPts val="953"/>
              <a:buFont typeface="Arial"/>
              <a:buNone/>
            </a:pPr>
            <a:r>
              <a:rPr lang="en-US" sz="1200">
                <a:solidFill>
                  <a:srgbClr val="3F3F3F"/>
                </a:solidFill>
              </a:rPr>
              <a:t>Columnar compression enables fast reads and efficient storage, while supporting future cloud data-lake migration.</a:t>
            </a:r>
            <a:endParaRPr b="0" i="0" sz="1800" u="none" cap="none" strike="noStrike">
              <a:solidFill>
                <a:schemeClr val="dk1"/>
              </a:solidFill>
              <a:latin typeface="Arial"/>
              <a:ea typeface="Arial"/>
              <a:cs typeface="Arial"/>
              <a:sym typeface="Arial"/>
            </a:endParaRPr>
          </a:p>
        </p:txBody>
      </p:sp>
      <p:sp>
        <p:nvSpPr>
          <p:cNvPr id="379" name="Google Shape;379;p22"/>
          <p:cNvSpPr/>
          <p:nvPr/>
        </p:nvSpPr>
        <p:spPr>
          <a:xfrm>
            <a:off x="294225" y="2564300"/>
            <a:ext cx="3735600" cy="966900"/>
          </a:xfrm>
          <a:prstGeom prst="roundRect">
            <a:avLst>
              <a:gd fmla="val 16667" name="adj"/>
            </a:avLst>
          </a:prstGeom>
          <a:solidFill>
            <a:srgbClr val="D8D8D8"/>
          </a:solidFill>
          <a:ln cap="flat" cmpd="sng" w="9525">
            <a:solidFill>
              <a:schemeClr val="accent2"/>
            </a:solidFill>
            <a:prstDash val="solid"/>
            <a:round/>
            <a:headEnd len="sm" w="sm" type="none"/>
            <a:tailEnd len="sm" w="sm" type="none"/>
          </a:ln>
          <a:effectLst>
            <a:outerShdw blurRad="40000" rotWithShape="0" dir="5400000" dist="20000">
              <a:srgbClr val="000000">
                <a:alpha val="37250"/>
              </a:srgbClr>
            </a:outerShdw>
          </a:effectLst>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dk1"/>
              </a:buClr>
              <a:buSzPts val="953"/>
              <a:buFont typeface="Arial"/>
              <a:buNone/>
            </a:pPr>
            <a:r>
              <a:rPr lang="en-US" sz="1200">
                <a:solidFill>
                  <a:srgbClr val="3F3F3F"/>
                </a:solidFill>
              </a:rPr>
              <a:t>API → Parquet → MySQL → Tableau is clean, maintainable, and easily extendable to additional trading pairs</a:t>
            </a:r>
            <a:r>
              <a:rPr lang="en-US" sz="1200">
                <a:solidFill>
                  <a:schemeClr val="dk1"/>
                </a:solidFill>
              </a:rPr>
              <a:t>.</a:t>
            </a:r>
            <a:endParaRPr b="0" i="0" sz="1800" u="none" cap="none" strike="noStrike">
              <a:solidFill>
                <a:schemeClr val="dk1"/>
              </a:solidFill>
              <a:latin typeface="Arial"/>
              <a:ea typeface="Arial"/>
              <a:cs typeface="Arial"/>
              <a:sym typeface="Arial"/>
            </a:endParaRPr>
          </a:p>
        </p:txBody>
      </p:sp>
      <p:sp>
        <p:nvSpPr>
          <p:cNvPr id="380" name="Google Shape;380;p22"/>
          <p:cNvSpPr/>
          <p:nvPr/>
        </p:nvSpPr>
        <p:spPr>
          <a:xfrm>
            <a:off x="294225" y="934875"/>
            <a:ext cx="3735600" cy="1163400"/>
          </a:xfrm>
          <a:prstGeom prst="roundRect">
            <a:avLst>
              <a:gd fmla="val 16667" name="adj"/>
            </a:avLst>
          </a:prstGeom>
          <a:solidFill>
            <a:srgbClr val="D8D8D8"/>
          </a:solidFill>
          <a:ln cap="flat" cmpd="sng" w="9525">
            <a:solidFill>
              <a:schemeClr val="accent2"/>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dk1"/>
              </a:buClr>
              <a:buSzPts val="953"/>
              <a:buFont typeface="Arial"/>
              <a:buNone/>
            </a:pPr>
            <a:r>
              <a:rPr lang="en-US" sz="1200">
                <a:solidFill>
                  <a:srgbClr val="3F3F3F"/>
                </a:solidFill>
              </a:rPr>
              <a:t>OHLCV is structured time-series data requiring historical lookbacks and aggregations; MySQL with a star schema provides efficient analytical performance.</a:t>
            </a:r>
            <a:endParaRPr b="0" i="0" sz="1800" u="none" cap="none" strike="noStrike">
              <a:solidFill>
                <a:schemeClr val="dk1"/>
              </a:solidFill>
              <a:latin typeface="Arial"/>
              <a:ea typeface="Arial"/>
              <a:cs typeface="Arial"/>
              <a:sym typeface="Arial"/>
            </a:endParaRPr>
          </a:p>
        </p:txBody>
      </p:sp>
      <p:grpSp>
        <p:nvGrpSpPr>
          <p:cNvPr id="381" name="Google Shape;381;p22"/>
          <p:cNvGrpSpPr/>
          <p:nvPr/>
        </p:nvGrpSpPr>
        <p:grpSpPr>
          <a:xfrm>
            <a:off x="282450" y="633476"/>
            <a:ext cx="8199771" cy="3830728"/>
            <a:chOff x="-3788547" y="1106728"/>
            <a:chExt cx="12046087" cy="5627631"/>
          </a:xfrm>
        </p:grpSpPr>
        <p:sp>
          <p:nvSpPr>
            <p:cNvPr id="382" name="Google Shape;382;p22"/>
            <p:cNvSpPr txBox="1"/>
            <p:nvPr/>
          </p:nvSpPr>
          <p:spPr>
            <a:xfrm>
              <a:off x="-3788547" y="5560304"/>
              <a:ext cx="4759200" cy="489300"/>
            </a:xfrm>
            <a:prstGeom prst="rect">
              <a:avLst/>
            </a:prstGeom>
            <a:noFill/>
            <a:ln>
              <a:noFill/>
            </a:ln>
          </p:spPr>
          <p:txBody>
            <a:bodyPr anchorCtr="0" anchor="ctr" bIns="41475" lIns="82975" spcFirstLastPara="1" rIns="82975" wrap="square" tIns="41475">
              <a:noAutofit/>
            </a:bodyPr>
            <a:lstStyle/>
            <a:p>
              <a:pPr indent="0" lvl="0" marL="0" marR="0" rtl="0" algn="l">
                <a:lnSpc>
                  <a:spcPct val="100000"/>
                </a:lnSpc>
                <a:spcBef>
                  <a:spcPts val="0"/>
                </a:spcBef>
                <a:spcAft>
                  <a:spcPts val="0"/>
                </a:spcAft>
                <a:buClr>
                  <a:srgbClr val="000000"/>
                </a:buClr>
                <a:buSzPts val="1089"/>
                <a:buFont typeface="Arial"/>
                <a:buNone/>
              </a:pPr>
              <a:r>
                <a:rPr b="1" i="0" lang="en-US" sz="1300" u="sng" cap="none" strike="noStrike">
                  <a:solidFill>
                    <a:schemeClr val="accent2"/>
                  </a:solidFill>
                  <a:latin typeface="Arial"/>
                  <a:ea typeface="Arial"/>
                  <a:cs typeface="Arial"/>
                  <a:sym typeface="Arial"/>
                </a:rPr>
                <a:t>Parquet as an Intermediate Layer：</a:t>
              </a:r>
              <a:endParaRPr b="1" i="0" sz="1300" u="sng" cap="none" strike="noStrike">
                <a:solidFill>
                  <a:schemeClr val="accent2"/>
                </a:solidFill>
                <a:latin typeface="Arial"/>
                <a:ea typeface="Arial"/>
                <a:cs typeface="Arial"/>
                <a:sym typeface="Arial"/>
              </a:endParaRPr>
            </a:p>
          </p:txBody>
        </p:sp>
        <p:grpSp>
          <p:nvGrpSpPr>
            <p:cNvPr id="383" name="Google Shape;383;p22"/>
            <p:cNvGrpSpPr/>
            <p:nvPr/>
          </p:nvGrpSpPr>
          <p:grpSpPr>
            <a:xfrm>
              <a:off x="3934461" y="1326760"/>
              <a:ext cx="4323079" cy="4712486"/>
              <a:chOff x="0" y="0"/>
              <a:chExt cx="8646155" cy="9424966"/>
            </a:xfrm>
          </p:grpSpPr>
          <p:sp>
            <p:nvSpPr>
              <p:cNvPr id="384" name="Google Shape;384;p22"/>
              <p:cNvSpPr/>
              <p:nvPr/>
            </p:nvSpPr>
            <p:spPr>
              <a:xfrm>
                <a:off x="991777" y="2576577"/>
                <a:ext cx="1204752" cy="978290"/>
              </a:xfrm>
              <a:custGeom>
                <a:rect b="b" l="l" r="r" t="t"/>
                <a:pathLst>
                  <a:path extrusionOk="0" h="21600" w="21600">
                    <a:moveTo>
                      <a:pt x="16872" y="19598"/>
                    </a:moveTo>
                    <a:cubicBezTo>
                      <a:pt x="16872" y="19598"/>
                      <a:pt x="17025" y="19232"/>
                      <a:pt x="17253" y="18684"/>
                    </a:cubicBezTo>
                    <a:cubicBezTo>
                      <a:pt x="17504" y="18150"/>
                      <a:pt x="17837" y="17437"/>
                      <a:pt x="18171" y="16724"/>
                    </a:cubicBezTo>
                    <a:cubicBezTo>
                      <a:pt x="18492" y="16003"/>
                      <a:pt x="18888" y="15335"/>
                      <a:pt x="19147" y="14807"/>
                    </a:cubicBezTo>
                    <a:cubicBezTo>
                      <a:pt x="19416" y="14286"/>
                      <a:pt x="19595" y="13938"/>
                      <a:pt x="19595" y="13938"/>
                    </a:cubicBezTo>
                    <a:lnTo>
                      <a:pt x="18405" y="12951"/>
                    </a:lnTo>
                    <a:cubicBezTo>
                      <a:pt x="18405" y="12951"/>
                      <a:pt x="18221" y="13309"/>
                      <a:pt x="17944" y="13846"/>
                    </a:cubicBezTo>
                    <a:cubicBezTo>
                      <a:pt x="17677" y="14389"/>
                      <a:pt x="17270" y="15077"/>
                      <a:pt x="16939" y="15820"/>
                    </a:cubicBezTo>
                    <a:cubicBezTo>
                      <a:pt x="16595" y="16554"/>
                      <a:pt x="16252" y="17287"/>
                      <a:pt x="15994" y="17838"/>
                    </a:cubicBezTo>
                    <a:cubicBezTo>
                      <a:pt x="15759" y="18402"/>
                      <a:pt x="15602" y="18779"/>
                      <a:pt x="15602" y="18779"/>
                    </a:cubicBezTo>
                    <a:cubicBezTo>
                      <a:pt x="15602" y="18779"/>
                      <a:pt x="16872" y="19598"/>
                      <a:pt x="16872" y="19598"/>
                    </a:cubicBezTo>
                    <a:close/>
                    <a:moveTo>
                      <a:pt x="14631" y="18153"/>
                    </a:moveTo>
                    <a:cubicBezTo>
                      <a:pt x="14631" y="18153"/>
                      <a:pt x="14792" y="17769"/>
                      <a:pt x="15033" y="17192"/>
                    </a:cubicBezTo>
                    <a:cubicBezTo>
                      <a:pt x="15296" y="16629"/>
                      <a:pt x="15647" y="15879"/>
                      <a:pt x="15998" y="15129"/>
                    </a:cubicBezTo>
                    <a:cubicBezTo>
                      <a:pt x="16337" y="14370"/>
                      <a:pt x="16752" y="13666"/>
                      <a:pt x="17026" y="13111"/>
                    </a:cubicBezTo>
                    <a:cubicBezTo>
                      <a:pt x="17308" y="12563"/>
                      <a:pt x="17497" y="12197"/>
                      <a:pt x="17497" y="12197"/>
                    </a:cubicBezTo>
                    <a:lnTo>
                      <a:pt x="16307" y="11211"/>
                    </a:lnTo>
                    <a:cubicBezTo>
                      <a:pt x="16307" y="11211"/>
                      <a:pt x="16113" y="11586"/>
                      <a:pt x="15822" y="12151"/>
                    </a:cubicBezTo>
                    <a:cubicBezTo>
                      <a:pt x="15541" y="12721"/>
                      <a:pt x="15115" y="13445"/>
                      <a:pt x="14766" y="14225"/>
                    </a:cubicBezTo>
                    <a:cubicBezTo>
                      <a:pt x="14405" y="14996"/>
                      <a:pt x="14044" y="15767"/>
                      <a:pt x="13774" y="16346"/>
                    </a:cubicBezTo>
                    <a:cubicBezTo>
                      <a:pt x="13526" y="16939"/>
                      <a:pt x="13360" y="17335"/>
                      <a:pt x="13360" y="17335"/>
                    </a:cubicBezTo>
                    <a:cubicBezTo>
                      <a:pt x="13360" y="17335"/>
                      <a:pt x="14631" y="18153"/>
                      <a:pt x="14631" y="18153"/>
                    </a:cubicBezTo>
                    <a:close/>
                    <a:moveTo>
                      <a:pt x="12389" y="16709"/>
                    </a:moveTo>
                    <a:cubicBezTo>
                      <a:pt x="12389" y="16709"/>
                      <a:pt x="12558" y="16305"/>
                      <a:pt x="12811" y="15699"/>
                    </a:cubicBezTo>
                    <a:cubicBezTo>
                      <a:pt x="13088" y="15108"/>
                      <a:pt x="13456" y="14321"/>
                      <a:pt x="13824" y="13533"/>
                    </a:cubicBezTo>
                    <a:cubicBezTo>
                      <a:pt x="14181" y="12737"/>
                      <a:pt x="14615" y="11998"/>
                      <a:pt x="14902" y="11415"/>
                    </a:cubicBezTo>
                    <a:cubicBezTo>
                      <a:pt x="15200" y="10840"/>
                      <a:pt x="15398" y="10456"/>
                      <a:pt x="15398" y="10456"/>
                    </a:cubicBezTo>
                    <a:lnTo>
                      <a:pt x="14209" y="9471"/>
                    </a:lnTo>
                    <a:cubicBezTo>
                      <a:pt x="14209" y="9471"/>
                      <a:pt x="14006" y="9864"/>
                      <a:pt x="13700" y="10455"/>
                    </a:cubicBezTo>
                    <a:cubicBezTo>
                      <a:pt x="13404" y="11052"/>
                      <a:pt x="12960" y="11813"/>
                      <a:pt x="12593" y="12630"/>
                    </a:cubicBezTo>
                    <a:cubicBezTo>
                      <a:pt x="12215" y="13438"/>
                      <a:pt x="11837" y="14247"/>
                      <a:pt x="11553" y="14854"/>
                    </a:cubicBezTo>
                    <a:cubicBezTo>
                      <a:pt x="11293" y="15476"/>
                      <a:pt x="11119" y="15890"/>
                      <a:pt x="11119" y="15890"/>
                    </a:cubicBezTo>
                    <a:cubicBezTo>
                      <a:pt x="11119" y="15890"/>
                      <a:pt x="12389" y="16709"/>
                      <a:pt x="12389" y="16709"/>
                    </a:cubicBezTo>
                    <a:close/>
                    <a:moveTo>
                      <a:pt x="10149" y="15265"/>
                    </a:moveTo>
                    <a:cubicBezTo>
                      <a:pt x="10149" y="15265"/>
                      <a:pt x="10326" y="14842"/>
                      <a:pt x="10591" y="14208"/>
                    </a:cubicBezTo>
                    <a:cubicBezTo>
                      <a:pt x="10881" y="13589"/>
                      <a:pt x="11266" y="12764"/>
                      <a:pt x="11652" y="11939"/>
                    </a:cubicBezTo>
                    <a:cubicBezTo>
                      <a:pt x="12027" y="11106"/>
                      <a:pt x="12479" y="10330"/>
                      <a:pt x="12781" y="9721"/>
                    </a:cubicBezTo>
                    <a:cubicBezTo>
                      <a:pt x="13093" y="9118"/>
                      <a:pt x="13301" y="8717"/>
                      <a:pt x="13301" y="8717"/>
                    </a:cubicBezTo>
                    <a:lnTo>
                      <a:pt x="12111" y="7730"/>
                    </a:lnTo>
                    <a:cubicBezTo>
                      <a:pt x="12111" y="7730"/>
                      <a:pt x="11898" y="8142"/>
                      <a:pt x="11578" y="8759"/>
                    </a:cubicBezTo>
                    <a:cubicBezTo>
                      <a:pt x="11268" y="9384"/>
                      <a:pt x="10805" y="10181"/>
                      <a:pt x="10420" y="11035"/>
                    </a:cubicBezTo>
                    <a:cubicBezTo>
                      <a:pt x="10025" y="11881"/>
                      <a:pt x="9629" y="12727"/>
                      <a:pt x="9332" y="13362"/>
                    </a:cubicBezTo>
                    <a:cubicBezTo>
                      <a:pt x="9060" y="14012"/>
                      <a:pt x="8878" y="14446"/>
                      <a:pt x="8878" y="14446"/>
                    </a:cubicBezTo>
                    <a:cubicBezTo>
                      <a:pt x="8878" y="14446"/>
                      <a:pt x="10149" y="15265"/>
                      <a:pt x="10149" y="15265"/>
                    </a:cubicBezTo>
                    <a:close/>
                    <a:moveTo>
                      <a:pt x="7906" y="13820"/>
                    </a:moveTo>
                    <a:cubicBezTo>
                      <a:pt x="7906" y="13820"/>
                      <a:pt x="8092" y="13378"/>
                      <a:pt x="8370" y="12715"/>
                    </a:cubicBezTo>
                    <a:cubicBezTo>
                      <a:pt x="8672" y="12069"/>
                      <a:pt x="9075" y="11205"/>
                      <a:pt x="9478" y="10343"/>
                    </a:cubicBezTo>
                    <a:cubicBezTo>
                      <a:pt x="9871" y="9473"/>
                      <a:pt x="10342" y="8661"/>
                      <a:pt x="10658" y="8024"/>
                    </a:cubicBezTo>
                    <a:cubicBezTo>
                      <a:pt x="10984" y="7395"/>
                      <a:pt x="11202" y="6976"/>
                      <a:pt x="11202" y="6976"/>
                    </a:cubicBezTo>
                    <a:lnTo>
                      <a:pt x="10013" y="5989"/>
                    </a:lnTo>
                    <a:cubicBezTo>
                      <a:pt x="10013" y="5989"/>
                      <a:pt x="9790" y="6420"/>
                      <a:pt x="9456" y="7064"/>
                    </a:cubicBezTo>
                    <a:cubicBezTo>
                      <a:pt x="9131" y="7715"/>
                      <a:pt x="8650" y="8549"/>
                      <a:pt x="8247" y="9440"/>
                    </a:cubicBezTo>
                    <a:cubicBezTo>
                      <a:pt x="7834" y="10323"/>
                      <a:pt x="7421" y="11207"/>
                      <a:pt x="7112" y="11870"/>
                    </a:cubicBezTo>
                    <a:cubicBezTo>
                      <a:pt x="6827" y="12549"/>
                      <a:pt x="6636" y="13002"/>
                      <a:pt x="6636" y="13002"/>
                    </a:cubicBezTo>
                    <a:cubicBezTo>
                      <a:pt x="6636" y="13002"/>
                      <a:pt x="7906" y="13820"/>
                      <a:pt x="7906" y="13820"/>
                    </a:cubicBezTo>
                    <a:close/>
                    <a:moveTo>
                      <a:pt x="5666" y="12376"/>
                    </a:moveTo>
                    <a:cubicBezTo>
                      <a:pt x="5666" y="12376"/>
                      <a:pt x="5860" y="11915"/>
                      <a:pt x="6150" y="11224"/>
                    </a:cubicBezTo>
                    <a:cubicBezTo>
                      <a:pt x="6465" y="10549"/>
                      <a:pt x="6886" y="9649"/>
                      <a:pt x="7306" y="8749"/>
                    </a:cubicBezTo>
                    <a:cubicBezTo>
                      <a:pt x="7717" y="7842"/>
                      <a:pt x="8206" y="6993"/>
                      <a:pt x="8537" y="6329"/>
                    </a:cubicBezTo>
                    <a:cubicBezTo>
                      <a:pt x="8878" y="5674"/>
                      <a:pt x="9105" y="5236"/>
                      <a:pt x="9105" y="5236"/>
                    </a:cubicBezTo>
                    <a:lnTo>
                      <a:pt x="7915" y="4249"/>
                    </a:lnTo>
                    <a:cubicBezTo>
                      <a:pt x="7915" y="4249"/>
                      <a:pt x="7682" y="4697"/>
                      <a:pt x="7334" y="5368"/>
                    </a:cubicBezTo>
                    <a:cubicBezTo>
                      <a:pt x="6994" y="6047"/>
                      <a:pt x="6495" y="6917"/>
                      <a:pt x="6074" y="7845"/>
                    </a:cubicBezTo>
                    <a:cubicBezTo>
                      <a:pt x="5644" y="8766"/>
                      <a:pt x="5214" y="9687"/>
                      <a:pt x="4891" y="10378"/>
                    </a:cubicBezTo>
                    <a:cubicBezTo>
                      <a:pt x="4594" y="11085"/>
                      <a:pt x="4395" y="11557"/>
                      <a:pt x="4395" y="11557"/>
                    </a:cubicBezTo>
                    <a:cubicBezTo>
                      <a:pt x="4395" y="11557"/>
                      <a:pt x="5666" y="12376"/>
                      <a:pt x="5666" y="12376"/>
                    </a:cubicBezTo>
                    <a:close/>
                    <a:moveTo>
                      <a:pt x="3424" y="10931"/>
                    </a:moveTo>
                    <a:cubicBezTo>
                      <a:pt x="3424" y="10931"/>
                      <a:pt x="3626" y="10451"/>
                      <a:pt x="3928" y="9731"/>
                    </a:cubicBezTo>
                    <a:cubicBezTo>
                      <a:pt x="4257" y="9028"/>
                      <a:pt x="4694" y="8091"/>
                      <a:pt x="5132" y="7153"/>
                    </a:cubicBezTo>
                    <a:cubicBezTo>
                      <a:pt x="5561" y="6209"/>
                      <a:pt x="6069" y="5324"/>
                      <a:pt x="6414" y="4633"/>
                    </a:cubicBezTo>
                    <a:cubicBezTo>
                      <a:pt x="6769" y="3950"/>
                      <a:pt x="7006" y="3495"/>
                      <a:pt x="7006" y="3495"/>
                    </a:cubicBezTo>
                    <a:lnTo>
                      <a:pt x="5817" y="2509"/>
                    </a:lnTo>
                    <a:cubicBezTo>
                      <a:pt x="5817" y="2509"/>
                      <a:pt x="5575" y="2974"/>
                      <a:pt x="5211" y="3673"/>
                    </a:cubicBezTo>
                    <a:cubicBezTo>
                      <a:pt x="4858" y="4379"/>
                      <a:pt x="4340" y="5285"/>
                      <a:pt x="3901" y="6250"/>
                    </a:cubicBezTo>
                    <a:cubicBezTo>
                      <a:pt x="3454" y="7208"/>
                      <a:pt x="3006" y="8167"/>
                      <a:pt x="2670" y="8886"/>
                    </a:cubicBezTo>
                    <a:cubicBezTo>
                      <a:pt x="2361" y="9622"/>
                      <a:pt x="2154" y="10112"/>
                      <a:pt x="2154" y="10112"/>
                    </a:cubicBezTo>
                    <a:cubicBezTo>
                      <a:pt x="2154" y="10112"/>
                      <a:pt x="3424" y="10931"/>
                      <a:pt x="3424" y="10931"/>
                    </a:cubicBezTo>
                    <a:close/>
                    <a:moveTo>
                      <a:pt x="18050" y="21600"/>
                    </a:moveTo>
                    <a:lnTo>
                      <a:pt x="0" y="10508"/>
                    </a:lnTo>
                    <a:cubicBezTo>
                      <a:pt x="0" y="10508"/>
                      <a:pt x="174" y="8934"/>
                      <a:pt x="381" y="7333"/>
                    </a:cubicBezTo>
                    <a:cubicBezTo>
                      <a:pt x="636" y="5746"/>
                      <a:pt x="890" y="4158"/>
                      <a:pt x="890" y="4158"/>
                    </a:cubicBezTo>
                    <a:cubicBezTo>
                      <a:pt x="890" y="4158"/>
                      <a:pt x="1137" y="3874"/>
                      <a:pt x="1525" y="3468"/>
                    </a:cubicBezTo>
                    <a:cubicBezTo>
                      <a:pt x="1919" y="3072"/>
                      <a:pt x="2444" y="2543"/>
                      <a:pt x="2969" y="2016"/>
                    </a:cubicBezTo>
                    <a:cubicBezTo>
                      <a:pt x="3995" y="953"/>
                      <a:pt x="5088" y="0"/>
                      <a:pt x="5088" y="0"/>
                    </a:cubicBezTo>
                    <a:lnTo>
                      <a:pt x="21600" y="14271"/>
                    </a:lnTo>
                    <a:cubicBezTo>
                      <a:pt x="21600" y="14271"/>
                      <a:pt x="21537" y="14379"/>
                      <a:pt x="21426" y="14570"/>
                    </a:cubicBezTo>
                    <a:cubicBezTo>
                      <a:pt x="21320" y="14763"/>
                      <a:pt x="21144" y="15021"/>
                      <a:pt x="20979" y="15367"/>
                    </a:cubicBezTo>
                    <a:cubicBezTo>
                      <a:pt x="20642" y="16052"/>
                      <a:pt x="20140" y="16927"/>
                      <a:pt x="19708" y="17853"/>
                    </a:cubicBezTo>
                    <a:cubicBezTo>
                      <a:pt x="19493" y="18316"/>
                      <a:pt x="19277" y="18779"/>
                      <a:pt x="19074" y="19213"/>
                    </a:cubicBezTo>
                    <a:cubicBezTo>
                      <a:pt x="18972" y="19429"/>
                      <a:pt x="18873" y="19638"/>
                      <a:pt x="18779" y="19836"/>
                    </a:cubicBezTo>
                    <a:cubicBezTo>
                      <a:pt x="18695" y="20040"/>
                      <a:pt x="18616" y="20234"/>
                      <a:pt x="18544" y="20413"/>
                    </a:cubicBezTo>
                    <a:cubicBezTo>
                      <a:pt x="18248" y="21125"/>
                      <a:pt x="18050" y="21600"/>
                      <a:pt x="18050" y="21600"/>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385" name="Google Shape;385;p22"/>
              <p:cNvSpPr/>
              <p:nvPr/>
            </p:nvSpPr>
            <p:spPr>
              <a:xfrm>
                <a:off x="1247390" y="1380309"/>
                <a:ext cx="1396066" cy="1497192"/>
              </a:xfrm>
              <a:custGeom>
                <a:rect b="b" l="l" r="r" t="t"/>
                <a:pathLst>
                  <a:path extrusionOk="0" h="21600" w="21600">
                    <a:moveTo>
                      <a:pt x="16881" y="18174"/>
                    </a:moveTo>
                    <a:cubicBezTo>
                      <a:pt x="16881" y="18174"/>
                      <a:pt x="17174" y="17915"/>
                      <a:pt x="17467" y="17656"/>
                    </a:cubicBezTo>
                    <a:cubicBezTo>
                      <a:pt x="17610" y="17524"/>
                      <a:pt x="17763" y="17401"/>
                      <a:pt x="17880" y="17311"/>
                    </a:cubicBezTo>
                    <a:cubicBezTo>
                      <a:pt x="17996" y="17220"/>
                      <a:pt x="18073" y="17160"/>
                      <a:pt x="18073" y="17160"/>
                    </a:cubicBezTo>
                    <a:lnTo>
                      <a:pt x="16312" y="15295"/>
                    </a:lnTo>
                    <a:cubicBezTo>
                      <a:pt x="16312" y="15295"/>
                      <a:pt x="16230" y="15359"/>
                      <a:pt x="16108" y="15456"/>
                    </a:cubicBezTo>
                    <a:cubicBezTo>
                      <a:pt x="15985" y="15552"/>
                      <a:pt x="15822" y="15681"/>
                      <a:pt x="15670" y="15821"/>
                    </a:cubicBezTo>
                    <a:cubicBezTo>
                      <a:pt x="15360" y="16095"/>
                      <a:pt x="15049" y="16368"/>
                      <a:pt x="15049" y="16368"/>
                    </a:cubicBezTo>
                    <a:cubicBezTo>
                      <a:pt x="15049" y="16368"/>
                      <a:pt x="16881" y="18174"/>
                      <a:pt x="16881" y="18174"/>
                    </a:cubicBezTo>
                    <a:close/>
                    <a:moveTo>
                      <a:pt x="14241" y="15572"/>
                    </a:moveTo>
                    <a:cubicBezTo>
                      <a:pt x="14241" y="15572"/>
                      <a:pt x="14559" y="15292"/>
                      <a:pt x="14878" y="15011"/>
                    </a:cubicBezTo>
                    <a:cubicBezTo>
                      <a:pt x="15034" y="14868"/>
                      <a:pt x="15201" y="14735"/>
                      <a:pt x="15327" y="14637"/>
                    </a:cubicBezTo>
                    <a:cubicBezTo>
                      <a:pt x="15452" y="14538"/>
                      <a:pt x="15535" y="14472"/>
                      <a:pt x="15535" y="14472"/>
                    </a:cubicBezTo>
                    <a:lnTo>
                      <a:pt x="13776" y="12606"/>
                    </a:lnTo>
                    <a:cubicBezTo>
                      <a:pt x="13776" y="12606"/>
                      <a:pt x="13688" y="12676"/>
                      <a:pt x="13556" y="12780"/>
                    </a:cubicBezTo>
                    <a:cubicBezTo>
                      <a:pt x="13423" y="12885"/>
                      <a:pt x="13247" y="13023"/>
                      <a:pt x="13082" y="13175"/>
                    </a:cubicBezTo>
                    <a:cubicBezTo>
                      <a:pt x="12746" y="13471"/>
                      <a:pt x="12410" y="13766"/>
                      <a:pt x="12410" y="13766"/>
                    </a:cubicBezTo>
                    <a:cubicBezTo>
                      <a:pt x="12410" y="13766"/>
                      <a:pt x="14241" y="15572"/>
                      <a:pt x="14241" y="15572"/>
                    </a:cubicBezTo>
                    <a:close/>
                    <a:moveTo>
                      <a:pt x="11603" y="12970"/>
                    </a:moveTo>
                    <a:cubicBezTo>
                      <a:pt x="11603" y="12970"/>
                      <a:pt x="11947" y="12667"/>
                      <a:pt x="12290" y="12364"/>
                    </a:cubicBezTo>
                    <a:cubicBezTo>
                      <a:pt x="12459" y="12209"/>
                      <a:pt x="12640" y="12068"/>
                      <a:pt x="12775" y="11961"/>
                    </a:cubicBezTo>
                    <a:cubicBezTo>
                      <a:pt x="12910" y="11854"/>
                      <a:pt x="13000" y="11782"/>
                      <a:pt x="13000" y="11782"/>
                    </a:cubicBezTo>
                    <a:lnTo>
                      <a:pt x="11242" y="9915"/>
                    </a:lnTo>
                    <a:cubicBezTo>
                      <a:pt x="11242" y="9915"/>
                      <a:pt x="11147" y="9991"/>
                      <a:pt x="11006" y="10103"/>
                    </a:cubicBezTo>
                    <a:cubicBezTo>
                      <a:pt x="10864" y="10216"/>
                      <a:pt x="10674" y="10365"/>
                      <a:pt x="10496" y="10527"/>
                    </a:cubicBezTo>
                    <a:cubicBezTo>
                      <a:pt x="10135" y="10845"/>
                      <a:pt x="9774" y="11162"/>
                      <a:pt x="9774" y="11162"/>
                    </a:cubicBezTo>
                    <a:cubicBezTo>
                      <a:pt x="9774" y="11162"/>
                      <a:pt x="11603" y="12970"/>
                      <a:pt x="11603" y="12970"/>
                    </a:cubicBezTo>
                    <a:close/>
                    <a:moveTo>
                      <a:pt x="8967" y="10365"/>
                    </a:moveTo>
                    <a:cubicBezTo>
                      <a:pt x="8967" y="10365"/>
                      <a:pt x="9336" y="10040"/>
                      <a:pt x="9705" y="9716"/>
                    </a:cubicBezTo>
                    <a:cubicBezTo>
                      <a:pt x="9886" y="9550"/>
                      <a:pt x="10081" y="9399"/>
                      <a:pt x="10225" y="9284"/>
                    </a:cubicBezTo>
                    <a:cubicBezTo>
                      <a:pt x="10370" y="9168"/>
                      <a:pt x="10466" y="9091"/>
                      <a:pt x="10466" y="9091"/>
                    </a:cubicBezTo>
                    <a:lnTo>
                      <a:pt x="8709" y="7223"/>
                    </a:lnTo>
                    <a:cubicBezTo>
                      <a:pt x="8709" y="7223"/>
                      <a:pt x="8608" y="7304"/>
                      <a:pt x="8457" y="7425"/>
                    </a:cubicBezTo>
                    <a:cubicBezTo>
                      <a:pt x="8306" y="7546"/>
                      <a:pt x="8101" y="7705"/>
                      <a:pt x="7911" y="7878"/>
                    </a:cubicBezTo>
                    <a:cubicBezTo>
                      <a:pt x="7525" y="8218"/>
                      <a:pt x="7138" y="8558"/>
                      <a:pt x="7138" y="8558"/>
                    </a:cubicBezTo>
                    <a:cubicBezTo>
                      <a:pt x="7138" y="8558"/>
                      <a:pt x="8967" y="10365"/>
                      <a:pt x="8967" y="10365"/>
                    </a:cubicBezTo>
                    <a:close/>
                    <a:moveTo>
                      <a:pt x="6332" y="7760"/>
                    </a:moveTo>
                    <a:cubicBezTo>
                      <a:pt x="6332" y="7760"/>
                      <a:pt x="6726" y="7413"/>
                      <a:pt x="7120" y="7067"/>
                    </a:cubicBezTo>
                    <a:cubicBezTo>
                      <a:pt x="7314" y="6890"/>
                      <a:pt x="7523" y="6729"/>
                      <a:pt x="7677" y="6605"/>
                    </a:cubicBezTo>
                    <a:cubicBezTo>
                      <a:pt x="7831" y="6481"/>
                      <a:pt x="7934" y="6399"/>
                      <a:pt x="7934" y="6399"/>
                    </a:cubicBezTo>
                    <a:lnTo>
                      <a:pt x="6178" y="4530"/>
                    </a:lnTo>
                    <a:cubicBezTo>
                      <a:pt x="6178" y="4530"/>
                      <a:pt x="6070" y="4616"/>
                      <a:pt x="5910" y="4745"/>
                    </a:cubicBezTo>
                    <a:cubicBezTo>
                      <a:pt x="5750" y="4875"/>
                      <a:pt x="5531" y="5043"/>
                      <a:pt x="5329" y="5227"/>
                    </a:cubicBezTo>
                    <a:cubicBezTo>
                      <a:pt x="4917" y="5590"/>
                      <a:pt x="4506" y="5951"/>
                      <a:pt x="4506" y="5951"/>
                    </a:cubicBezTo>
                    <a:cubicBezTo>
                      <a:pt x="4506" y="5951"/>
                      <a:pt x="6332" y="7760"/>
                      <a:pt x="6332" y="7760"/>
                    </a:cubicBezTo>
                    <a:close/>
                    <a:moveTo>
                      <a:pt x="3699" y="5153"/>
                    </a:moveTo>
                    <a:cubicBezTo>
                      <a:pt x="3699" y="5153"/>
                      <a:pt x="4119" y="4784"/>
                      <a:pt x="4538" y="4415"/>
                    </a:cubicBezTo>
                    <a:cubicBezTo>
                      <a:pt x="4745" y="4227"/>
                      <a:pt x="4968" y="4057"/>
                      <a:pt x="5130" y="3924"/>
                    </a:cubicBezTo>
                    <a:cubicBezTo>
                      <a:pt x="5294" y="3793"/>
                      <a:pt x="5403" y="3705"/>
                      <a:pt x="5403" y="3705"/>
                    </a:cubicBezTo>
                    <a:lnTo>
                      <a:pt x="3649" y="1835"/>
                    </a:lnTo>
                    <a:cubicBezTo>
                      <a:pt x="3649" y="1835"/>
                      <a:pt x="3535" y="1927"/>
                      <a:pt x="3364" y="2064"/>
                    </a:cubicBezTo>
                    <a:cubicBezTo>
                      <a:pt x="3195" y="2202"/>
                      <a:pt x="2963" y="2379"/>
                      <a:pt x="2747" y="2575"/>
                    </a:cubicBezTo>
                    <a:cubicBezTo>
                      <a:pt x="2310" y="2959"/>
                      <a:pt x="1874" y="3343"/>
                      <a:pt x="1874" y="3343"/>
                    </a:cubicBezTo>
                    <a:cubicBezTo>
                      <a:pt x="1874" y="3343"/>
                      <a:pt x="3699" y="5153"/>
                      <a:pt x="3699" y="5153"/>
                    </a:cubicBezTo>
                    <a:close/>
                    <a:moveTo>
                      <a:pt x="19213" y="21600"/>
                    </a:moveTo>
                    <a:lnTo>
                      <a:pt x="0" y="3388"/>
                    </a:lnTo>
                    <a:cubicBezTo>
                      <a:pt x="0" y="3388"/>
                      <a:pt x="984" y="2521"/>
                      <a:pt x="1969" y="1653"/>
                    </a:cubicBezTo>
                    <a:cubicBezTo>
                      <a:pt x="2982" y="815"/>
                      <a:pt x="4017" y="0"/>
                      <a:pt x="4017" y="0"/>
                    </a:cubicBezTo>
                    <a:lnTo>
                      <a:pt x="21600" y="19568"/>
                    </a:lnTo>
                    <a:cubicBezTo>
                      <a:pt x="21600" y="19568"/>
                      <a:pt x="21448" y="19692"/>
                      <a:pt x="21219" y="19877"/>
                    </a:cubicBezTo>
                    <a:cubicBezTo>
                      <a:pt x="20994" y="20066"/>
                      <a:pt x="20674" y="20298"/>
                      <a:pt x="20384" y="20560"/>
                    </a:cubicBezTo>
                    <a:cubicBezTo>
                      <a:pt x="19799" y="21080"/>
                      <a:pt x="19213" y="21600"/>
                      <a:pt x="19213" y="21600"/>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386" name="Google Shape;386;p22"/>
              <p:cNvSpPr/>
              <p:nvPr/>
            </p:nvSpPr>
            <p:spPr>
              <a:xfrm>
                <a:off x="0" y="2770843"/>
                <a:ext cx="1959328" cy="1308289"/>
              </a:xfrm>
              <a:custGeom>
                <a:rect b="b" l="l" r="r" t="t"/>
                <a:pathLst>
                  <a:path extrusionOk="0" h="21600" w="21600">
                    <a:moveTo>
                      <a:pt x="4425" y="10816"/>
                    </a:moveTo>
                    <a:cubicBezTo>
                      <a:pt x="4425" y="10816"/>
                      <a:pt x="4383" y="11011"/>
                      <a:pt x="4319" y="11305"/>
                    </a:cubicBezTo>
                    <a:cubicBezTo>
                      <a:pt x="4252" y="11597"/>
                      <a:pt x="4174" y="11991"/>
                      <a:pt x="4105" y="12389"/>
                    </a:cubicBezTo>
                    <a:cubicBezTo>
                      <a:pt x="3961" y="13183"/>
                      <a:pt x="3816" y="13976"/>
                      <a:pt x="3816" y="13976"/>
                    </a:cubicBezTo>
                    <a:lnTo>
                      <a:pt x="5687" y="14710"/>
                    </a:lnTo>
                    <a:cubicBezTo>
                      <a:pt x="5687" y="14710"/>
                      <a:pt x="5825" y="13950"/>
                      <a:pt x="5963" y="13191"/>
                    </a:cubicBezTo>
                    <a:cubicBezTo>
                      <a:pt x="6028" y="12809"/>
                      <a:pt x="6104" y="12433"/>
                      <a:pt x="6168" y="12153"/>
                    </a:cubicBezTo>
                    <a:cubicBezTo>
                      <a:pt x="6229" y="11872"/>
                      <a:pt x="6270" y="11685"/>
                      <a:pt x="6270" y="11685"/>
                    </a:cubicBezTo>
                    <a:cubicBezTo>
                      <a:pt x="6270" y="11685"/>
                      <a:pt x="4425" y="10816"/>
                      <a:pt x="4425" y="10816"/>
                    </a:cubicBezTo>
                    <a:close/>
                    <a:moveTo>
                      <a:pt x="7263" y="12155"/>
                    </a:moveTo>
                    <a:cubicBezTo>
                      <a:pt x="7263" y="12155"/>
                      <a:pt x="7223" y="12337"/>
                      <a:pt x="7164" y="12611"/>
                    </a:cubicBezTo>
                    <a:cubicBezTo>
                      <a:pt x="7102" y="12884"/>
                      <a:pt x="7026" y="13251"/>
                      <a:pt x="6963" y="13624"/>
                    </a:cubicBezTo>
                    <a:cubicBezTo>
                      <a:pt x="6828" y="14365"/>
                      <a:pt x="6694" y="15107"/>
                      <a:pt x="6694" y="15107"/>
                    </a:cubicBezTo>
                    <a:lnTo>
                      <a:pt x="8564" y="15845"/>
                    </a:lnTo>
                    <a:cubicBezTo>
                      <a:pt x="8564" y="15845"/>
                      <a:pt x="8692" y="15137"/>
                      <a:pt x="8820" y="14430"/>
                    </a:cubicBezTo>
                    <a:cubicBezTo>
                      <a:pt x="8879" y="14074"/>
                      <a:pt x="8953" y="13725"/>
                      <a:pt x="9012" y="13464"/>
                    </a:cubicBezTo>
                    <a:cubicBezTo>
                      <a:pt x="9069" y="13202"/>
                      <a:pt x="9106" y="13028"/>
                      <a:pt x="9106" y="13028"/>
                    </a:cubicBezTo>
                    <a:cubicBezTo>
                      <a:pt x="9106" y="13028"/>
                      <a:pt x="7263" y="12155"/>
                      <a:pt x="7263" y="12155"/>
                    </a:cubicBezTo>
                    <a:close/>
                    <a:moveTo>
                      <a:pt x="10099" y="13500"/>
                    </a:moveTo>
                    <a:cubicBezTo>
                      <a:pt x="10099" y="13500"/>
                      <a:pt x="10062" y="13670"/>
                      <a:pt x="10007" y="13924"/>
                    </a:cubicBezTo>
                    <a:cubicBezTo>
                      <a:pt x="9950" y="14178"/>
                      <a:pt x="9877" y="14518"/>
                      <a:pt x="9819" y="14865"/>
                    </a:cubicBezTo>
                    <a:cubicBezTo>
                      <a:pt x="9695" y="15555"/>
                      <a:pt x="9570" y="16243"/>
                      <a:pt x="9570" y="16243"/>
                    </a:cubicBezTo>
                    <a:lnTo>
                      <a:pt x="11439" y="16987"/>
                    </a:lnTo>
                    <a:cubicBezTo>
                      <a:pt x="11439" y="16987"/>
                      <a:pt x="11557" y="16331"/>
                      <a:pt x="11675" y="15676"/>
                    </a:cubicBezTo>
                    <a:cubicBezTo>
                      <a:pt x="11729" y="15346"/>
                      <a:pt x="11801" y="15023"/>
                      <a:pt x="11854" y="14782"/>
                    </a:cubicBezTo>
                    <a:cubicBezTo>
                      <a:pt x="11907" y="14539"/>
                      <a:pt x="11942" y="14378"/>
                      <a:pt x="11942" y="14378"/>
                    </a:cubicBezTo>
                    <a:cubicBezTo>
                      <a:pt x="11942" y="14378"/>
                      <a:pt x="10099" y="13500"/>
                      <a:pt x="10099" y="13500"/>
                    </a:cubicBezTo>
                    <a:close/>
                    <a:moveTo>
                      <a:pt x="12934" y="14853"/>
                    </a:moveTo>
                    <a:cubicBezTo>
                      <a:pt x="12934" y="14853"/>
                      <a:pt x="12900" y="15009"/>
                      <a:pt x="12849" y="15244"/>
                    </a:cubicBezTo>
                    <a:cubicBezTo>
                      <a:pt x="12798" y="15480"/>
                      <a:pt x="12726" y="15792"/>
                      <a:pt x="12674" y="16113"/>
                    </a:cubicBezTo>
                    <a:cubicBezTo>
                      <a:pt x="12560" y="16751"/>
                      <a:pt x="12446" y="17388"/>
                      <a:pt x="12446" y="17388"/>
                    </a:cubicBezTo>
                    <a:lnTo>
                      <a:pt x="14313" y="18135"/>
                    </a:lnTo>
                    <a:cubicBezTo>
                      <a:pt x="14313" y="18135"/>
                      <a:pt x="14421" y="17532"/>
                      <a:pt x="14529" y="16928"/>
                    </a:cubicBezTo>
                    <a:cubicBezTo>
                      <a:pt x="14577" y="16624"/>
                      <a:pt x="14647" y="16330"/>
                      <a:pt x="14695" y="16106"/>
                    </a:cubicBezTo>
                    <a:cubicBezTo>
                      <a:pt x="14743" y="15884"/>
                      <a:pt x="14775" y="15735"/>
                      <a:pt x="14775" y="15735"/>
                    </a:cubicBezTo>
                    <a:cubicBezTo>
                      <a:pt x="14775" y="15735"/>
                      <a:pt x="12934" y="14853"/>
                      <a:pt x="12934" y="14853"/>
                    </a:cubicBezTo>
                    <a:close/>
                    <a:moveTo>
                      <a:pt x="15767" y="16211"/>
                    </a:moveTo>
                    <a:cubicBezTo>
                      <a:pt x="15767" y="16211"/>
                      <a:pt x="15736" y="16356"/>
                      <a:pt x="15689" y="16572"/>
                    </a:cubicBezTo>
                    <a:cubicBezTo>
                      <a:pt x="15644" y="16788"/>
                      <a:pt x="15574" y="17073"/>
                      <a:pt x="15528" y="17368"/>
                    </a:cubicBezTo>
                    <a:cubicBezTo>
                      <a:pt x="15424" y="17954"/>
                      <a:pt x="15319" y="18539"/>
                      <a:pt x="15319" y="18539"/>
                    </a:cubicBezTo>
                    <a:lnTo>
                      <a:pt x="17186" y="19291"/>
                    </a:lnTo>
                    <a:cubicBezTo>
                      <a:pt x="17186" y="19291"/>
                      <a:pt x="17284" y="18739"/>
                      <a:pt x="17381" y="18188"/>
                    </a:cubicBezTo>
                    <a:cubicBezTo>
                      <a:pt x="17424" y="17909"/>
                      <a:pt x="17492" y="17642"/>
                      <a:pt x="17534" y="17438"/>
                    </a:cubicBezTo>
                    <a:cubicBezTo>
                      <a:pt x="17578" y="17234"/>
                      <a:pt x="17607" y="17098"/>
                      <a:pt x="17607" y="17098"/>
                    </a:cubicBezTo>
                    <a:cubicBezTo>
                      <a:pt x="17607" y="17098"/>
                      <a:pt x="15767" y="16211"/>
                      <a:pt x="15767" y="16211"/>
                    </a:cubicBezTo>
                    <a:close/>
                    <a:moveTo>
                      <a:pt x="4815" y="9028"/>
                    </a:moveTo>
                    <a:lnTo>
                      <a:pt x="6642" y="9974"/>
                    </a:lnTo>
                    <a:cubicBezTo>
                      <a:pt x="6642" y="9974"/>
                      <a:pt x="6680" y="9785"/>
                      <a:pt x="6748" y="9507"/>
                    </a:cubicBezTo>
                    <a:cubicBezTo>
                      <a:pt x="6818" y="9231"/>
                      <a:pt x="6911" y="8863"/>
                      <a:pt x="7004" y="8495"/>
                    </a:cubicBezTo>
                    <a:cubicBezTo>
                      <a:pt x="7192" y="7758"/>
                      <a:pt x="7380" y="7022"/>
                      <a:pt x="7380" y="7022"/>
                    </a:cubicBezTo>
                    <a:lnTo>
                      <a:pt x="5585" y="5945"/>
                    </a:lnTo>
                    <a:cubicBezTo>
                      <a:pt x="5585" y="5945"/>
                      <a:pt x="5389" y="6714"/>
                      <a:pt x="5192" y="7483"/>
                    </a:cubicBezTo>
                    <a:cubicBezTo>
                      <a:pt x="5095" y="7867"/>
                      <a:pt x="4997" y="8252"/>
                      <a:pt x="4924" y="8540"/>
                    </a:cubicBezTo>
                    <a:cubicBezTo>
                      <a:pt x="4859" y="8833"/>
                      <a:pt x="4815" y="9028"/>
                      <a:pt x="4815" y="9028"/>
                    </a:cubicBezTo>
                    <a:close/>
                    <a:moveTo>
                      <a:pt x="8345" y="7603"/>
                    </a:moveTo>
                    <a:cubicBezTo>
                      <a:pt x="8345" y="7603"/>
                      <a:pt x="8163" y="8322"/>
                      <a:pt x="7980" y="9040"/>
                    </a:cubicBezTo>
                    <a:cubicBezTo>
                      <a:pt x="7889" y="9400"/>
                      <a:pt x="7798" y="9759"/>
                      <a:pt x="7729" y="10029"/>
                    </a:cubicBezTo>
                    <a:cubicBezTo>
                      <a:pt x="7663" y="10299"/>
                      <a:pt x="7626" y="10484"/>
                      <a:pt x="7626" y="10484"/>
                    </a:cubicBezTo>
                    <a:lnTo>
                      <a:pt x="9452" y="11434"/>
                    </a:lnTo>
                    <a:cubicBezTo>
                      <a:pt x="9452" y="11434"/>
                      <a:pt x="9486" y="11257"/>
                      <a:pt x="9551" y="11000"/>
                    </a:cubicBezTo>
                    <a:cubicBezTo>
                      <a:pt x="9617" y="10743"/>
                      <a:pt x="9704" y="10400"/>
                      <a:pt x="9790" y="10057"/>
                    </a:cubicBezTo>
                    <a:cubicBezTo>
                      <a:pt x="9965" y="9371"/>
                      <a:pt x="10139" y="8685"/>
                      <a:pt x="10139" y="8685"/>
                    </a:cubicBezTo>
                    <a:cubicBezTo>
                      <a:pt x="10139" y="8685"/>
                      <a:pt x="8345" y="7603"/>
                      <a:pt x="8345" y="7603"/>
                    </a:cubicBezTo>
                    <a:close/>
                    <a:moveTo>
                      <a:pt x="11104" y="9268"/>
                    </a:moveTo>
                    <a:cubicBezTo>
                      <a:pt x="11104" y="9268"/>
                      <a:pt x="10935" y="9936"/>
                      <a:pt x="10765" y="10605"/>
                    </a:cubicBezTo>
                    <a:cubicBezTo>
                      <a:pt x="10680" y="10939"/>
                      <a:pt x="10596" y="11273"/>
                      <a:pt x="10532" y="11524"/>
                    </a:cubicBezTo>
                    <a:cubicBezTo>
                      <a:pt x="10467" y="11773"/>
                      <a:pt x="10435" y="11946"/>
                      <a:pt x="10435" y="11946"/>
                    </a:cubicBezTo>
                    <a:lnTo>
                      <a:pt x="12261" y="12900"/>
                    </a:lnTo>
                    <a:cubicBezTo>
                      <a:pt x="12260" y="12900"/>
                      <a:pt x="12290" y="12735"/>
                      <a:pt x="12353" y="12499"/>
                    </a:cubicBezTo>
                    <a:cubicBezTo>
                      <a:pt x="12414" y="12261"/>
                      <a:pt x="12494" y="11943"/>
                      <a:pt x="12575" y="11626"/>
                    </a:cubicBezTo>
                    <a:cubicBezTo>
                      <a:pt x="12736" y="10990"/>
                      <a:pt x="12896" y="10355"/>
                      <a:pt x="12896" y="10355"/>
                    </a:cubicBezTo>
                    <a:cubicBezTo>
                      <a:pt x="12896" y="10355"/>
                      <a:pt x="11104" y="9268"/>
                      <a:pt x="11104" y="9268"/>
                    </a:cubicBezTo>
                    <a:close/>
                    <a:moveTo>
                      <a:pt x="13861" y="10941"/>
                    </a:moveTo>
                    <a:cubicBezTo>
                      <a:pt x="13861" y="10941"/>
                      <a:pt x="13705" y="11558"/>
                      <a:pt x="13549" y="12177"/>
                    </a:cubicBezTo>
                    <a:cubicBezTo>
                      <a:pt x="13470" y="12486"/>
                      <a:pt x="13392" y="12794"/>
                      <a:pt x="13333" y="13026"/>
                    </a:cubicBezTo>
                    <a:cubicBezTo>
                      <a:pt x="13271" y="13256"/>
                      <a:pt x="13243" y="13416"/>
                      <a:pt x="13243" y="13416"/>
                    </a:cubicBezTo>
                    <a:lnTo>
                      <a:pt x="15067" y="14374"/>
                    </a:lnTo>
                    <a:cubicBezTo>
                      <a:pt x="15067" y="14374"/>
                      <a:pt x="15095" y="14223"/>
                      <a:pt x="15153" y="14006"/>
                    </a:cubicBezTo>
                    <a:cubicBezTo>
                      <a:pt x="15209" y="13786"/>
                      <a:pt x="15283" y="13494"/>
                      <a:pt x="15358" y="13202"/>
                    </a:cubicBezTo>
                    <a:cubicBezTo>
                      <a:pt x="15504" y="12616"/>
                      <a:pt x="15652" y="12031"/>
                      <a:pt x="15652" y="12031"/>
                    </a:cubicBezTo>
                    <a:cubicBezTo>
                      <a:pt x="15652" y="12031"/>
                      <a:pt x="13861" y="10941"/>
                      <a:pt x="13861" y="10941"/>
                    </a:cubicBezTo>
                    <a:close/>
                    <a:moveTo>
                      <a:pt x="16615" y="12619"/>
                    </a:moveTo>
                    <a:cubicBezTo>
                      <a:pt x="16615" y="12619"/>
                      <a:pt x="16473" y="13187"/>
                      <a:pt x="16331" y="13755"/>
                    </a:cubicBezTo>
                    <a:cubicBezTo>
                      <a:pt x="16259" y="14039"/>
                      <a:pt x="16187" y="14322"/>
                      <a:pt x="16133" y="14534"/>
                    </a:cubicBezTo>
                    <a:cubicBezTo>
                      <a:pt x="16076" y="14745"/>
                      <a:pt x="16049" y="14891"/>
                      <a:pt x="16049" y="14891"/>
                    </a:cubicBezTo>
                    <a:lnTo>
                      <a:pt x="17872" y="15855"/>
                    </a:lnTo>
                    <a:cubicBezTo>
                      <a:pt x="17872" y="15855"/>
                      <a:pt x="17899" y="15717"/>
                      <a:pt x="17952" y="15519"/>
                    </a:cubicBezTo>
                    <a:cubicBezTo>
                      <a:pt x="18003" y="15319"/>
                      <a:pt x="18071" y="15051"/>
                      <a:pt x="18138" y="14785"/>
                    </a:cubicBezTo>
                    <a:cubicBezTo>
                      <a:pt x="18272" y="14249"/>
                      <a:pt x="18405" y="13713"/>
                      <a:pt x="18405" y="13713"/>
                    </a:cubicBezTo>
                    <a:cubicBezTo>
                      <a:pt x="18405" y="13713"/>
                      <a:pt x="16615" y="12619"/>
                      <a:pt x="16615" y="12619"/>
                    </a:cubicBezTo>
                    <a:close/>
                    <a:moveTo>
                      <a:pt x="19874" y="21600"/>
                    </a:moveTo>
                    <a:cubicBezTo>
                      <a:pt x="19874" y="21600"/>
                      <a:pt x="15568" y="20059"/>
                      <a:pt x="11263" y="18518"/>
                    </a:cubicBezTo>
                    <a:cubicBezTo>
                      <a:pt x="6953" y="17007"/>
                      <a:pt x="2643" y="15497"/>
                      <a:pt x="2643" y="15497"/>
                    </a:cubicBezTo>
                    <a:cubicBezTo>
                      <a:pt x="2643" y="15497"/>
                      <a:pt x="2392" y="14603"/>
                      <a:pt x="2087" y="13230"/>
                    </a:cubicBezTo>
                    <a:cubicBezTo>
                      <a:pt x="1930" y="12541"/>
                      <a:pt x="1750" y="11727"/>
                      <a:pt x="1562" y="10838"/>
                    </a:cubicBezTo>
                    <a:cubicBezTo>
                      <a:pt x="1379" y="9952"/>
                      <a:pt x="1215" y="9003"/>
                      <a:pt x="1043" y="8029"/>
                    </a:cubicBezTo>
                    <a:cubicBezTo>
                      <a:pt x="685" y="6077"/>
                      <a:pt x="452" y="4098"/>
                      <a:pt x="256" y="2560"/>
                    </a:cubicBezTo>
                    <a:cubicBezTo>
                      <a:pt x="157" y="1790"/>
                      <a:pt x="111" y="1161"/>
                      <a:pt x="65" y="708"/>
                    </a:cubicBezTo>
                    <a:cubicBezTo>
                      <a:pt x="23" y="258"/>
                      <a:pt x="0" y="0"/>
                      <a:pt x="0" y="0"/>
                    </a:cubicBezTo>
                    <a:cubicBezTo>
                      <a:pt x="0" y="0"/>
                      <a:pt x="5408" y="3535"/>
                      <a:pt x="10815" y="7069"/>
                    </a:cubicBezTo>
                    <a:cubicBezTo>
                      <a:pt x="16208" y="10655"/>
                      <a:pt x="21600" y="14241"/>
                      <a:pt x="21600" y="14241"/>
                    </a:cubicBezTo>
                    <a:cubicBezTo>
                      <a:pt x="21600" y="14241"/>
                      <a:pt x="21446" y="14745"/>
                      <a:pt x="21293" y="15248"/>
                    </a:cubicBezTo>
                    <a:cubicBezTo>
                      <a:pt x="21157" y="15761"/>
                      <a:pt x="21022" y="16276"/>
                      <a:pt x="21022" y="16276"/>
                    </a:cubicBezTo>
                    <a:lnTo>
                      <a:pt x="19425" y="15352"/>
                    </a:lnTo>
                    <a:cubicBezTo>
                      <a:pt x="19425" y="15352"/>
                      <a:pt x="19375" y="15553"/>
                      <a:pt x="19299" y="15855"/>
                    </a:cubicBezTo>
                    <a:cubicBezTo>
                      <a:pt x="19219" y="16154"/>
                      <a:pt x="19120" y="16557"/>
                      <a:pt x="19040" y="16970"/>
                    </a:cubicBezTo>
                    <a:cubicBezTo>
                      <a:pt x="18952" y="17379"/>
                      <a:pt x="18865" y="17788"/>
                      <a:pt x="18799" y="18094"/>
                    </a:cubicBezTo>
                    <a:cubicBezTo>
                      <a:pt x="18732" y="18400"/>
                      <a:pt x="18691" y="18605"/>
                      <a:pt x="18691" y="18605"/>
                    </a:cubicBezTo>
                    <a:lnTo>
                      <a:pt x="20293" y="19327"/>
                    </a:lnTo>
                    <a:cubicBezTo>
                      <a:pt x="20293" y="19327"/>
                      <a:pt x="20187" y="19895"/>
                      <a:pt x="20081" y="20463"/>
                    </a:cubicBezTo>
                    <a:cubicBezTo>
                      <a:pt x="20026" y="20746"/>
                      <a:pt x="19971" y="21029"/>
                      <a:pt x="19930" y="21241"/>
                    </a:cubicBezTo>
                    <a:cubicBezTo>
                      <a:pt x="19892" y="21455"/>
                      <a:pt x="19874" y="21600"/>
                      <a:pt x="19874" y="21600"/>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387" name="Google Shape;387;p22"/>
              <p:cNvSpPr/>
              <p:nvPr/>
            </p:nvSpPr>
            <p:spPr>
              <a:xfrm>
                <a:off x="1237166" y="2280066"/>
                <a:ext cx="1184946" cy="878047"/>
              </a:xfrm>
              <a:custGeom>
                <a:rect b="b" l="l" r="r" t="t"/>
                <a:pathLst>
                  <a:path extrusionOk="0" h="21600" w="21600">
                    <a:moveTo>
                      <a:pt x="16476" y="18137"/>
                    </a:moveTo>
                    <a:cubicBezTo>
                      <a:pt x="16476" y="18137"/>
                      <a:pt x="16706" y="17760"/>
                      <a:pt x="16937" y="17385"/>
                    </a:cubicBezTo>
                    <a:cubicBezTo>
                      <a:pt x="17051" y="17196"/>
                      <a:pt x="17166" y="17008"/>
                      <a:pt x="17251" y="16866"/>
                    </a:cubicBezTo>
                    <a:cubicBezTo>
                      <a:pt x="17335" y="16722"/>
                      <a:pt x="17400" y="16637"/>
                      <a:pt x="17401" y="16638"/>
                    </a:cubicBezTo>
                    <a:lnTo>
                      <a:pt x="15955" y="14975"/>
                    </a:lnTo>
                    <a:cubicBezTo>
                      <a:pt x="15955" y="14975"/>
                      <a:pt x="15888" y="15064"/>
                      <a:pt x="15800" y="15211"/>
                    </a:cubicBezTo>
                    <a:cubicBezTo>
                      <a:pt x="15711" y="15358"/>
                      <a:pt x="15592" y="15554"/>
                      <a:pt x="15473" y="15750"/>
                    </a:cubicBezTo>
                    <a:cubicBezTo>
                      <a:pt x="15235" y="16140"/>
                      <a:pt x="14996" y="16531"/>
                      <a:pt x="14996" y="16531"/>
                    </a:cubicBezTo>
                    <a:cubicBezTo>
                      <a:pt x="14996" y="16531"/>
                      <a:pt x="16476" y="18137"/>
                      <a:pt x="16476" y="18137"/>
                    </a:cubicBezTo>
                    <a:close/>
                    <a:moveTo>
                      <a:pt x="14200" y="15665"/>
                    </a:moveTo>
                    <a:cubicBezTo>
                      <a:pt x="14200" y="15665"/>
                      <a:pt x="14443" y="15266"/>
                      <a:pt x="14686" y="14868"/>
                    </a:cubicBezTo>
                    <a:cubicBezTo>
                      <a:pt x="14807" y="14669"/>
                      <a:pt x="14928" y="14469"/>
                      <a:pt x="15019" y="14320"/>
                    </a:cubicBezTo>
                    <a:cubicBezTo>
                      <a:pt x="15111" y="14172"/>
                      <a:pt x="15178" y="14079"/>
                      <a:pt x="15178" y="14080"/>
                    </a:cubicBezTo>
                    <a:lnTo>
                      <a:pt x="13735" y="12414"/>
                    </a:lnTo>
                    <a:cubicBezTo>
                      <a:pt x="13735" y="12414"/>
                      <a:pt x="13668" y="12514"/>
                      <a:pt x="13569" y="12662"/>
                    </a:cubicBezTo>
                    <a:cubicBezTo>
                      <a:pt x="13475" y="12817"/>
                      <a:pt x="13350" y="13023"/>
                      <a:pt x="13225" y="13230"/>
                    </a:cubicBezTo>
                    <a:cubicBezTo>
                      <a:pt x="12973" y="13642"/>
                      <a:pt x="12722" y="14055"/>
                      <a:pt x="12722" y="14055"/>
                    </a:cubicBezTo>
                    <a:cubicBezTo>
                      <a:pt x="12722" y="14055"/>
                      <a:pt x="14200" y="15665"/>
                      <a:pt x="14200" y="15665"/>
                    </a:cubicBezTo>
                    <a:close/>
                    <a:moveTo>
                      <a:pt x="11926" y="13188"/>
                    </a:moveTo>
                    <a:cubicBezTo>
                      <a:pt x="11926" y="13188"/>
                      <a:pt x="12182" y="12768"/>
                      <a:pt x="12438" y="12347"/>
                    </a:cubicBezTo>
                    <a:cubicBezTo>
                      <a:pt x="12565" y="12136"/>
                      <a:pt x="12693" y="11927"/>
                      <a:pt x="12788" y="11769"/>
                    </a:cubicBezTo>
                    <a:cubicBezTo>
                      <a:pt x="12889" y="11617"/>
                      <a:pt x="12957" y="11517"/>
                      <a:pt x="12957" y="11517"/>
                    </a:cubicBezTo>
                    <a:lnTo>
                      <a:pt x="11516" y="9848"/>
                    </a:lnTo>
                    <a:cubicBezTo>
                      <a:pt x="11516" y="9848"/>
                      <a:pt x="11446" y="9952"/>
                      <a:pt x="11341" y="10108"/>
                    </a:cubicBezTo>
                    <a:cubicBezTo>
                      <a:pt x="11242" y="10272"/>
                      <a:pt x="11110" y="10489"/>
                      <a:pt x="10978" y="10706"/>
                    </a:cubicBezTo>
                    <a:cubicBezTo>
                      <a:pt x="10714" y="11141"/>
                      <a:pt x="10450" y="11576"/>
                      <a:pt x="10450" y="11576"/>
                    </a:cubicBezTo>
                    <a:cubicBezTo>
                      <a:pt x="10450" y="11576"/>
                      <a:pt x="11926" y="13188"/>
                      <a:pt x="11926" y="13188"/>
                    </a:cubicBezTo>
                    <a:close/>
                    <a:moveTo>
                      <a:pt x="9654" y="10706"/>
                    </a:moveTo>
                    <a:cubicBezTo>
                      <a:pt x="9654" y="10706"/>
                      <a:pt x="9923" y="10263"/>
                      <a:pt x="10192" y="9821"/>
                    </a:cubicBezTo>
                    <a:cubicBezTo>
                      <a:pt x="10327" y="9600"/>
                      <a:pt x="10461" y="9380"/>
                      <a:pt x="10562" y="9214"/>
                    </a:cubicBezTo>
                    <a:cubicBezTo>
                      <a:pt x="10669" y="9055"/>
                      <a:pt x="10740" y="8949"/>
                      <a:pt x="10740" y="8949"/>
                    </a:cubicBezTo>
                    <a:lnTo>
                      <a:pt x="9301" y="7278"/>
                    </a:lnTo>
                    <a:cubicBezTo>
                      <a:pt x="9301" y="7278"/>
                      <a:pt x="9227" y="7388"/>
                      <a:pt x="9117" y="7551"/>
                    </a:cubicBezTo>
                    <a:cubicBezTo>
                      <a:pt x="9013" y="7722"/>
                      <a:pt x="8873" y="7950"/>
                      <a:pt x="8734" y="8178"/>
                    </a:cubicBezTo>
                    <a:cubicBezTo>
                      <a:pt x="8457" y="8634"/>
                      <a:pt x="8179" y="9090"/>
                      <a:pt x="8179" y="9090"/>
                    </a:cubicBezTo>
                    <a:cubicBezTo>
                      <a:pt x="8179" y="9090"/>
                      <a:pt x="9654" y="10706"/>
                      <a:pt x="9654" y="10706"/>
                    </a:cubicBezTo>
                    <a:close/>
                    <a:moveTo>
                      <a:pt x="7386" y="8220"/>
                    </a:moveTo>
                    <a:cubicBezTo>
                      <a:pt x="7386" y="8220"/>
                      <a:pt x="7667" y="7756"/>
                      <a:pt x="7950" y="7291"/>
                    </a:cubicBezTo>
                    <a:cubicBezTo>
                      <a:pt x="8225" y="6820"/>
                      <a:pt x="8527" y="6378"/>
                      <a:pt x="8526" y="6378"/>
                    </a:cubicBezTo>
                    <a:lnTo>
                      <a:pt x="7088" y="4704"/>
                    </a:lnTo>
                    <a:cubicBezTo>
                      <a:pt x="7088" y="4704"/>
                      <a:pt x="6776" y="5158"/>
                      <a:pt x="6493" y="5644"/>
                    </a:cubicBezTo>
                    <a:cubicBezTo>
                      <a:pt x="6203" y="6123"/>
                      <a:pt x="5913" y="6601"/>
                      <a:pt x="5913" y="6601"/>
                    </a:cubicBezTo>
                    <a:cubicBezTo>
                      <a:pt x="5913" y="6601"/>
                      <a:pt x="7386" y="8220"/>
                      <a:pt x="7386" y="8220"/>
                    </a:cubicBezTo>
                    <a:close/>
                    <a:moveTo>
                      <a:pt x="17960" y="15817"/>
                    </a:moveTo>
                    <a:lnTo>
                      <a:pt x="18930" y="14372"/>
                    </a:lnTo>
                    <a:lnTo>
                      <a:pt x="17541" y="12625"/>
                    </a:lnTo>
                    <a:lnTo>
                      <a:pt x="16535" y="14123"/>
                    </a:lnTo>
                    <a:cubicBezTo>
                      <a:pt x="16535" y="14123"/>
                      <a:pt x="17960" y="15817"/>
                      <a:pt x="17960" y="15817"/>
                    </a:cubicBezTo>
                    <a:close/>
                    <a:moveTo>
                      <a:pt x="15767" y="13209"/>
                    </a:moveTo>
                    <a:lnTo>
                      <a:pt x="16793" y="11683"/>
                    </a:lnTo>
                    <a:lnTo>
                      <a:pt x="15407" y="9931"/>
                    </a:lnTo>
                    <a:lnTo>
                      <a:pt x="14344" y="11512"/>
                    </a:lnTo>
                    <a:cubicBezTo>
                      <a:pt x="14344" y="11512"/>
                      <a:pt x="15767" y="13209"/>
                      <a:pt x="15767" y="13209"/>
                    </a:cubicBezTo>
                    <a:close/>
                    <a:moveTo>
                      <a:pt x="13579" y="10597"/>
                    </a:moveTo>
                    <a:lnTo>
                      <a:pt x="14662" y="8989"/>
                    </a:lnTo>
                    <a:lnTo>
                      <a:pt x="13276" y="7234"/>
                    </a:lnTo>
                    <a:cubicBezTo>
                      <a:pt x="13276" y="7234"/>
                      <a:pt x="13201" y="7331"/>
                      <a:pt x="13098" y="7490"/>
                    </a:cubicBezTo>
                    <a:cubicBezTo>
                      <a:pt x="12994" y="7647"/>
                      <a:pt x="12855" y="7855"/>
                      <a:pt x="12715" y="8064"/>
                    </a:cubicBezTo>
                    <a:cubicBezTo>
                      <a:pt x="12436" y="8480"/>
                      <a:pt x="12157" y="8897"/>
                      <a:pt x="12157" y="8897"/>
                    </a:cubicBezTo>
                    <a:cubicBezTo>
                      <a:pt x="12157" y="8897"/>
                      <a:pt x="13579" y="10597"/>
                      <a:pt x="13579" y="10597"/>
                    </a:cubicBezTo>
                    <a:close/>
                    <a:moveTo>
                      <a:pt x="11392" y="7981"/>
                    </a:moveTo>
                    <a:cubicBezTo>
                      <a:pt x="11392" y="7981"/>
                      <a:pt x="11676" y="7557"/>
                      <a:pt x="11960" y="7133"/>
                    </a:cubicBezTo>
                    <a:cubicBezTo>
                      <a:pt x="12102" y="6921"/>
                      <a:pt x="12243" y="6709"/>
                      <a:pt x="12349" y="6549"/>
                    </a:cubicBezTo>
                    <a:cubicBezTo>
                      <a:pt x="12454" y="6388"/>
                      <a:pt x="12531" y="6289"/>
                      <a:pt x="12531" y="6289"/>
                    </a:cubicBezTo>
                    <a:lnTo>
                      <a:pt x="11149" y="4533"/>
                    </a:lnTo>
                    <a:cubicBezTo>
                      <a:pt x="11149" y="4533"/>
                      <a:pt x="11068" y="4633"/>
                      <a:pt x="10960" y="4800"/>
                    </a:cubicBezTo>
                    <a:cubicBezTo>
                      <a:pt x="10850" y="4964"/>
                      <a:pt x="10704" y="5183"/>
                      <a:pt x="10558" y="5403"/>
                    </a:cubicBezTo>
                    <a:cubicBezTo>
                      <a:pt x="10265" y="5840"/>
                      <a:pt x="9971" y="6278"/>
                      <a:pt x="9971" y="6278"/>
                    </a:cubicBezTo>
                    <a:cubicBezTo>
                      <a:pt x="9971" y="6278"/>
                      <a:pt x="11392" y="7981"/>
                      <a:pt x="11392" y="7981"/>
                    </a:cubicBezTo>
                    <a:close/>
                    <a:moveTo>
                      <a:pt x="9208" y="5360"/>
                    </a:moveTo>
                    <a:cubicBezTo>
                      <a:pt x="9208" y="5360"/>
                      <a:pt x="9506" y="4914"/>
                      <a:pt x="9803" y="4469"/>
                    </a:cubicBezTo>
                    <a:cubicBezTo>
                      <a:pt x="9952" y="4247"/>
                      <a:pt x="10101" y="4024"/>
                      <a:pt x="10213" y="3857"/>
                    </a:cubicBezTo>
                    <a:cubicBezTo>
                      <a:pt x="10322" y="3688"/>
                      <a:pt x="10405" y="3587"/>
                      <a:pt x="10405" y="3587"/>
                    </a:cubicBezTo>
                    <a:lnTo>
                      <a:pt x="9024" y="1828"/>
                    </a:lnTo>
                    <a:cubicBezTo>
                      <a:pt x="9024" y="1827"/>
                      <a:pt x="8940" y="1933"/>
                      <a:pt x="8825" y="2105"/>
                    </a:cubicBezTo>
                    <a:cubicBezTo>
                      <a:pt x="8710" y="2278"/>
                      <a:pt x="8557" y="2507"/>
                      <a:pt x="8404" y="2737"/>
                    </a:cubicBezTo>
                    <a:cubicBezTo>
                      <a:pt x="8097" y="3196"/>
                      <a:pt x="7790" y="3654"/>
                      <a:pt x="7790" y="3654"/>
                    </a:cubicBezTo>
                    <a:cubicBezTo>
                      <a:pt x="7790" y="3654"/>
                      <a:pt x="9208" y="5360"/>
                      <a:pt x="9208" y="5360"/>
                    </a:cubicBezTo>
                    <a:close/>
                    <a:moveTo>
                      <a:pt x="18278" y="21600"/>
                    </a:moveTo>
                    <a:cubicBezTo>
                      <a:pt x="18278" y="21600"/>
                      <a:pt x="13698" y="16804"/>
                      <a:pt x="9118" y="12009"/>
                    </a:cubicBezTo>
                    <a:cubicBezTo>
                      <a:pt x="4559" y="7177"/>
                      <a:pt x="0" y="2344"/>
                      <a:pt x="0" y="2344"/>
                    </a:cubicBezTo>
                    <a:cubicBezTo>
                      <a:pt x="0" y="2344"/>
                      <a:pt x="578" y="2148"/>
                      <a:pt x="1446" y="1853"/>
                    </a:cubicBezTo>
                    <a:cubicBezTo>
                      <a:pt x="2309" y="1570"/>
                      <a:pt x="3433" y="1197"/>
                      <a:pt x="4596" y="928"/>
                    </a:cubicBezTo>
                    <a:cubicBezTo>
                      <a:pt x="5748" y="646"/>
                      <a:pt x="6865" y="381"/>
                      <a:pt x="7714" y="226"/>
                    </a:cubicBezTo>
                    <a:cubicBezTo>
                      <a:pt x="8566" y="91"/>
                      <a:pt x="9135" y="0"/>
                      <a:pt x="9135" y="0"/>
                    </a:cubicBezTo>
                    <a:cubicBezTo>
                      <a:pt x="9135" y="0"/>
                      <a:pt x="12244" y="4082"/>
                      <a:pt x="15354" y="8165"/>
                    </a:cubicBezTo>
                    <a:cubicBezTo>
                      <a:pt x="18477" y="12228"/>
                      <a:pt x="21600" y="16292"/>
                      <a:pt x="21600" y="16292"/>
                    </a:cubicBezTo>
                    <a:cubicBezTo>
                      <a:pt x="21600" y="16292"/>
                      <a:pt x="21331" y="16671"/>
                      <a:pt x="21062" y="17050"/>
                    </a:cubicBezTo>
                    <a:cubicBezTo>
                      <a:pt x="20809" y="17449"/>
                      <a:pt x="20556" y="17848"/>
                      <a:pt x="20556" y="17848"/>
                    </a:cubicBezTo>
                    <a:lnTo>
                      <a:pt x="19354" y="16388"/>
                    </a:lnTo>
                    <a:cubicBezTo>
                      <a:pt x="19354" y="16388"/>
                      <a:pt x="18980" y="16938"/>
                      <a:pt x="18607" y="17488"/>
                    </a:cubicBezTo>
                    <a:cubicBezTo>
                      <a:pt x="18415" y="17758"/>
                      <a:pt x="18233" y="18039"/>
                      <a:pt x="18106" y="18260"/>
                    </a:cubicBezTo>
                    <a:cubicBezTo>
                      <a:pt x="17975" y="18477"/>
                      <a:pt x="17887" y="18621"/>
                      <a:pt x="17887" y="18621"/>
                    </a:cubicBezTo>
                    <a:lnTo>
                      <a:pt x="19181" y="20056"/>
                    </a:lnTo>
                    <a:cubicBezTo>
                      <a:pt x="19181" y="20056"/>
                      <a:pt x="18278" y="21600"/>
                      <a:pt x="18278" y="21600"/>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388" name="Google Shape;388;p22"/>
              <p:cNvSpPr/>
              <p:nvPr/>
            </p:nvSpPr>
            <p:spPr>
              <a:xfrm>
                <a:off x="449878" y="3946662"/>
                <a:ext cx="1331768" cy="772201"/>
              </a:xfrm>
              <a:custGeom>
                <a:rect b="b" l="l" r="r" t="t"/>
                <a:pathLst>
                  <a:path extrusionOk="0" h="21600" w="21600">
                    <a:moveTo>
                      <a:pt x="17978" y="20109"/>
                    </a:moveTo>
                    <a:lnTo>
                      <a:pt x="18040" y="17886"/>
                    </a:lnTo>
                    <a:lnTo>
                      <a:pt x="16353" y="17710"/>
                    </a:lnTo>
                    <a:lnTo>
                      <a:pt x="16289" y="20016"/>
                    </a:lnTo>
                    <a:cubicBezTo>
                      <a:pt x="16289" y="20016"/>
                      <a:pt x="17978" y="20109"/>
                      <a:pt x="17978" y="20109"/>
                    </a:cubicBezTo>
                    <a:close/>
                    <a:moveTo>
                      <a:pt x="15380" y="19963"/>
                    </a:moveTo>
                    <a:cubicBezTo>
                      <a:pt x="15380" y="19963"/>
                      <a:pt x="15391" y="19271"/>
                      <a:pt x="15409" y="18233"/>
                    </a:cubicBezTo>
                    <a:cubicBezTo>
                      <a:pt x="15402" y="17192"/>
                      <a:pt x="15514" y="15821"/>
                      <a:pt x="15563" y="14442"/>
                    </a:cubicBezTo>
                    <a:cubicBezTo>
                      <a:pt x="15603" y="13060"/>
                      <a:pt x="15749" y="11703"/>
                      <a:pt x="15817" y="10674"/>
                    </a:cubicBezTo>
                    <a:cubicBezTo>
                      <a:pt x="15855" y="10162"/>
                      <a:pt x="15887" y="9735"/>
                      <a:pt x="15909" y="9435"/>
                    </a:cubicBezTo>
                    <a:cubicBezTo>
                      <a:pt x="15928" y="9136"/>
                      <a:pt x="15950" y="8967"/>
                      <a:pt x="15949" y="8967"/>
                    </a:cubicBezTo>
                    <a:lnTo>
                      <a:pt x="14284" y="8481"/>
                    </a:lnTo>
                    <a:cubicBezTo>
                      <a:pt x="14284" y="8481"/>
                      <a:pt x="14260" y="8655"/>
                      <a:pt x="14240" y="8965"/>
                    </a:cubicBezTo>
                    <a:cubicBezTo>
                      <a:pt x="14217" y="9275"/>
                      <a:pt x="14184" y="9718"/>
                      <a:pt x="14145" y="10249"/>
                    </a:cubicBezTo>
                    <a:cubicBezTo>
                      <a:pt x="14076" y="11313"/>
                      <a:pt x="13923" y="12719"/>
                      <a:pt x="13881" y="14150"/>
                    </a:cubicBezTo>
                    <a:cubicBezTo>
                      <a:pt x="13848" y="14863"/>
                      <a:pt x="13814" y="15576"/>
                      <a:pt x="13783" y="16244"/>
                    </a:cubicBezTo>
                    <a:cubicBezTo>
                      <a:pt x="13766" y="16578"/>
                      <a:pt x="13750" y="16901"/>
                      <a:pt x="13735" y="17207"/>
                    </a:cubicBezTo>
                    <a:cubicBezTo>
                      <a:pt x="13730" y="17515"/>
                      <a:pt x="13725" y="17806"/>
                      <a:pt x="13721" y="18075"/>
                    </a:cubicBezTo>
                    <a:cubicBezTo>
                      <a:pt x="13703" y="19149"/>
                      <a:pt x="13691" y="19866"/>
                      <a:pt x="13691" y="19866"/>
                    </a:cubicBezTo>
                    <a:cubicBezTo>
                      <a:pt x="13691" y="19866"/>
                      <a:pt x="15380" y="19963"/>
                      <a:pt x="15380" y="19963"/>
                    </a:cubicBezTo>
                    <a:close/>
                    <a:moveTo>
                      <a:pt x="12781" y="19812"/>
                    </a:moveTo>
                    <a:cubicBezTo>
                      <a:pt x="12782" y="19812"/>
                      <a:pt x="12804" y="16891"/>
                      <a:pt x="12975" y="13991"/>
                    </a:cubicBezTo>
                    <a:cubicBezTo>
                      <a:pt x="13018" y="12535"/>
                      <a:pt x="13174" y="11102"/>
                      <a:pt x="13243" y="10018"/>
                    </a:cubicBezTo>
                    <a:cubicBezTo>
                      <a:pt x="13284" y="9477"/>
                      <a:pt x="13318" y="9027"/>
                      <a:pt x="13341" y="8711"/>
                    </a:cubicBezTo>
                    <a:cubicBezTo>
                      <a:pt x="13361" y="8395"/>
                      <a:pt x="13386" y="8218"/>
                      <a:pt x="13386" y="8218"/>
                    </a:cubicBezTo>
                    <a:lnTo>
                      <a:pt x="11721" y="7727"/>
                    </a:lnTo>
                    <a:cubicBezTo>
                      <a:pt x="11721" y="7727"/>
                      <a:pt x="11694" y="7910"/>
                      <a:pt x="11673" y="8237"/>
                    </a:cubicBezTo>
                    <a:cubicBezTo>
                      <a:pt x="11649" y="8563"/>
                      <a:pt x="11614" y="9029"/>
                      <a:pt x="11572" y="9588"/>
                    </a:cubicBezTo>
                    <a:cubicBezTo>
                      <a:pt x="11501" y="10709"/>
                      <a:pt x="11339" y="12190"/>
                      <a:pt x="11294" y="13695"/>
                    </a:cubicBezTo>
                    <a:cubicBezTo>
                      <a:pt x="11238" y="15198"/>
                      <a:pt x="11125" y="16693"/>
                      <a:pt x="11124" y="17826"/>
                    </a:cubicBezTo>
                    <a:cubicBezTo>
                      <a:pt x="11106" y="18956"/>
                      <a:pt x="11093" y="19709"/>
                      <a:pt x="11093" y="19709"/>
                    </a:cubicBezTo>
                    <a:cubicBezTo>
                      <a:pt x="11093" y="19709"/>
                      <a:pt x="12781" y="19812"/>
                      <a:pt x="12781" y="19812"/>
                    </a:cubicBezTo>
                    <a:close/>
                    <a:moveTo>
                      <a:pt x="10182" y="19653"/>
                    </a:moveTo>
                    <a:cubicBezTo>
                      <a:pt x="10182" y="19653"/>
                      <a:pt x="10195" y="18886"/>
                      <a:pt x="10215" y="17736"/>
                    </a:cubicBezTo>
                    <a:cubicBezTo>
                      <a:pt x="10218" y="16584"/>
                      <a:pt x="10330" y="15063"/>
                      <a:pt x="10388" y="13534"/>
                    </a:cubicBezTo>
                    <a:cubicBezTo>
                      <a:pt x="10417" y="12769"/>
                      <a:pt x="10459" y="12008"/>
                      <a:pt x="10523" y="11298"/>
                    </a:cubicBezTo>
                    <a:cubicBezTo>
                      <a:pt x="10577" y="10588"/>
                      <a:pt x="10628" y="9924"/>
                      <a:pt x="10672" y="9355"/>
                    </a:cubicBezTo>
                    <a:cubicBezTo>
                      <a:pt x="10714" y="8786"/>
                      <a:pt x="10750" y="8312"/>
                      <a:pt x="10775" y="7981"/>
                    </a:cubicBezTo>
                    <a:cubicBezTo>
                      <a:pt x="10798" y="7648"/>
                      <a:pt x="10824" y="7462"/>
                      <a:pt x="10825" y="7462"/>
                    </a:cubicBezTo>
                    <a:lnTo>
                      <a:pt x="9160" y="6967"/>
                    </a:lnTo>
                    <a:cubicBezTo>
                      <a:pt x="9160" y="6967"/>
                      <a:pt x="9134" y="7160"/>
                      <a:pt x="9108" y="7502"/>
                    </a:cubicBezTo>
                    <a:cubicBezTo>
                      <a:pt x="9082" y="7844"/>
                      <a:pt x="9045" y="8334"/>
                      <a:pt x="9000" y="8921"/>
                    </a:cubicBezTo>
                    <a:cubicBezTo>
                      <a:pt x="8956" y="9508"/>
                      <a:pt x="8903" y="10192"/>
                      <a:pt x="8847" y="10927"/>
                    </a:cubicBezTo>
                    <a:cubicBezTo>
                      <a:pt x="8819" y="11294"/>
                      <a:pt x="8790" y="11673"/>
                      <a:pt x="8760" y="12058"/>
                    </a:cubicBezTo>
                    <a:cubicBezTo>
                      <a:pt x="8743" y="12446"/>
                      <a:pt x="8725" y="12840"/>
                      <a:pt x="8707" y="13233"/>
                    </a:cubicBezTo>
                    <a:cubicBezTo>
                      <a:pt x="8646" y="14810"/>
                      <a:pt x="8534" y="16381"/>
                      <a:pt x="8527" y="17569"/>
                    </a:cubicBezTo>
                    <a:cubicBezTo>
                      <a:pt x="8507" y="18755"/>
                      <a:pt x="8494" y="19546"/>
                      <a:pt x="8494" y="19546"/>
                    </a:cubicBezTo>
                    <a:cubicBezTo>
                      <a:pt x="8494" y="19546"/>
                      <a:pt x="10182" y="19653"/>
                      <a:pt x="10182" y="19653"/>
                    </a:cubicBezTo>
                    <a:close/>
                    <a:moveTo>
                      <a:pt x="7585" y="19488"/>
                    </a:moveTo>
                    <a:cubicBezTo>
                      <a:pt x="7585" y="19488"/>
                      <a:pt x="7598" y="18684"/>
                      <a:pt x="7618" y="17478"/>
                    </a:cubicBezTo>
                    <a:cubicBezTo>
                      <a:pt x="7627" y="16272"/>
                      <a:pt x="7739" y="14674"/>
                      <a:pt x="7802" y="13071"/>
                    </a:cubicBezTo>
                    <a:cubicBezTo>
                      <a:pt x="7820" y="12671"/>
                      <a:pt x="7838" y="12270"/>
                      <a:pt x="7856" y="11875"/>
                    </a:cubicBezTo>
                    <a:cubicBezTo>
                      <a:pt x="7886" y="11485"/>
                      <a:pt x="7916" y="11098"/>
                      <a:pt x="7945" y="10725"/>
                    </a:cubicBezTo>
                    <a:cubicBezTo>
                      <a:pt x="8002" y="9979"/>
                      <a:pt x="8055" y="9282"/>
                      <a:pt x="8100" y="8685"/>
                    </a:cubicBezTo>
                    <a:cubicBezTo>
                      <a:pt x="8146" y="8088"/>
                      <a:pt x="8183" y="7591"/>
                      <a:pt x="8210" y="7243"/>
                    </a:cubicBezTo>
                    <a:cubicBezTo>
                      <a:pt x="8238" y="6895"/>
                      <a:pt x="8263" y="6699"/>
                      <a:pt x="8263" y="6699"/>
                    </a:cubicBezTo>
                    <a:lnTo>
                      <a:pt x="6598" y="6200"/>
                    </a:lnTo>
                    <a:cubicBezTo>
                      <a:pt x="6598" y="6200"/>
                      <a:pt x="6577" y="6403"/>
                      <a:pt x="6542" y="6759"/>
                    </a:cubicBezTo>
                    <a:cubicBezTo>
                      <a:pt x="6514" y="7119"/>
                      <a:pt x="6475" y="7631"/>
                      <a:pt x="6429" y="8247"/>
                    </a:cubicBezTo>
                    <a:cubicBezTo>
                      <a:pt x="6382" y="8862"/>
                      <a:pt x="6327" y="9580"/>
                      <a:pt x="6268" y="10349"/>
                    </a:cubicBezTo>
                    <a:cubicBezTo>
                      <a:pt x="6239" y="10733"/>
                      <a:pt x="6209" y="11131"/>
                      <a:pt x="6178" y="11535"/>
                    </a:cubicBezTo>
                    <a:cubicBezTo>
                      <a:pt x="6159" y="11941"/>
                      <a:pt x="6139" y="12354"/>
                      <a:pt x="6120" y="12766"/>
                    </a:cubicBezTo>
                    <a:cubicBezTo>
                      <a:pt x="6054" y="14417"/>
                      <a:pt x="5943" y="16064"/>
                      <a:pt x="5931" y="17307"/>
                    </a:cubicBezTo>
                    <a:cubicBezTo>
                      <a:pt x="5910" y="18550"/>
                      <a:pt x="5896" y="19377"/>
                      <a:pt x="5896" y="19377"/>
                    </a:cubicBezTo>
                    <a:cubicBezTo>
                      <a:pt x="5896" y="19377"/>
                      <a:pt x="7585" y="19488"/>
                      <a:pt x="7585" y="19488"/>
                    </a:cubicBezTo>
                    <a:close/>
                    <a:moveTo>
                      <a:pt x="18664" y="8473"/>
                    </a:moveTo>
                    <a:lnTo>
                      <a:pt x="18918" y="6308"/>
                    </a:lnTo>
                    <a:lnTo>
                      <a:pt x="17265" y="5696"/>
                    </a:lnTo>
                    <a:lnTo>
                      <a:pt x="17002" y="7943"/>
                    </a:lnTo>
                    <a:cubicBezTo>
                      <a:pt x="17002" y="7943"/>
                      <a:pt x="18664" y="8473"/>
                      <a:pt x="18664" y="8473"/>
                    </a:cubicBezTo>
                    <a:close/>
                    <a:moveTo>
                      <a:pt x="16106" y="7657"/>
                    </a:moveTo>
                    <a:lnTo>
                      <a:pt x="16375" y="5365"/>
                    </a:lnTo>
                    <a:lnTo>
                      <a:pt x="14723" y="4749"/>
                    </a:lnTo>
                    <a:lnTo>
                      <a:pt x="14445" y="7124"/>
                    </a:lnTo>
                    <a:cubicBezTo>
                      <a:pt x="14445" y="7124"/>
                      <a:pt x="16106" y="7657"/>
                      <a:pt x="16106" y="7657"/>
                    </a:cubicBezTo>
                    <a:close/>
                    <a:moveTo>
                      <a:pt x="13551" y="6835"/>
                    </a:moveTo>
                    <a:lnTo>
                      <a:pt x="13833" y="4416"/>
                    </a:lnTo>
                    <a:lnTo>
                      <a:pt x="12180" y="3795"/>
                    </a:lnTo>
                    <a:lnTo>
                      <a:pt x="11890" y="6297"/>
                    </a:lnTo>
                    <a:cubicBezTo>
                      <a:pt x="11890" y="6297"/>
                      <a:pt x="13551" y="6835"/>
                      <a:pt x="13551" y="6835"/>
                    </a:cubicBezTo>
                    <a:close/>
                    <a:moveTo>
                      <a:pt x="10996" y="6006"/>
                    </a:moveTo>
                    <a:lnTo>
                      <a:pt x="11291" y="3460"/>
                    </a:lnTo>
                    <a:lnTo>
                      <a:pt x="9639" y="2836"/>
                    </a:lnTo>
                    <a:lnTo>
                      <a:pt x="9335" y="5464"/>
                    </a:lnTo>
                    <a:cubicBezTo>
                      <a:pt x="9335" y="5464"/>
                      <a:pt x="10996" y="6006"/>
                      <a:pt x="10996" y="6006"/>
                    </a:cubicBezTo>
                    <a:close/>
                    <a:moveTo>
                      <a:pt x="8441" y="5171"/>
                    </a:moveTo>
                    <a:lnTo>
                      <a:pt x="8751" y="2498"/>
                    </a:lnTo>
                    <a:lnTo>
                      <a:pt x="7100" y="1870"/>
                    </a:lnTo>
                    <a:lnTo>
                      <a:pt x="6781" y="4624"/>
                    </a:lnTo>
                    <a:cubicBezTo>
                      <a:pt x="6781" y="4624"/>
                      <a:pt x="8441" y="5171"/>
                      <a:pt x="8441" y="5171"/>
                    </a:cubicBezTo>
                    <a:close/>
                    <a:moveTo>
                      <a:pt x="16839" y="9300"/>
                    </a:moveTo>
                    <a:lnTo>
                      <a:pt x="16639" y="11573"/>
                    </a:lnTo>
                    <a:lnTo>
                      <a:pt x="18313" y="11970"/>
                    </a:lnTo>
                    <a:lnTo>
                      <a:pt x="18505" y="9779"/>
                    </a:lnTo>
                    <a:cubicBezTo>
                      <a:pt x="18505" y="9779"/>
                      <a:pt x="16839" y="9300"/>
                      <a:pt x="16839" y="9300"/>
                    </a:cubicBezTo>
                    <a:close/>
                    <a:moveTo>
                      <a:pt x="16532" y="13470"/>
                    </a:moveTo>
                    <a:lnTo>
                      <a:pt x="16401" y="15762"/>
                    </a:lnTo>
                    <a:lnTo>
                      <a:pt x="18085" y="16008"/>
                    </a:lnTo>
                    <a:lnTo>
                      <a:pt x="18212" y="13799"/>
                    </a:lnTo>
                    <a:cubicBezTo>
                      <a:pt x="18212" y="13799"/>
                      <a:pt x="16532" y="13470"/>
                      <a:pt x="16532" y="13470"/>
                    </a:cubicBezTo>
                    <a:close/>
                    <a:moveTo>
                      <a:pt x="20627" y="21600"/>
                    </a:moveTo>
                    <a:cubicBezTo>
                      <a:pt x="20627" y="21600"/>
                      <a:pt x="15470" y="21467"/>
                      <a:pt x="10313" y="21334"/>
                    </a:cubicBezTo>
                    <a:cubicBezTo>
                      <a:pt x="5157" y="21148"/>
                      <a:pt x="0" y="20963"/>
                      <a:pt x="0" y="20963"/>
                    </a:cubicBezTo>
                    <a:cubicBezTo>
                      <a:pt x="0" y="20963"/>
                      <a:pt x="345" y="19542"/>
                      <a:pt x="864" y="17411"/>
                    </a:cubicBezTo>
                    <a:cubicBezTo>
                      <a:pt x="1109" y="16359"/>
                      <a:pt x="1452" y="15148"/>
                      <a:pt x="1815" y="13872"/>
                    </a:cubicBezTo>
                    <a:cubicBezTo>
                      <a:pt x="2190" y="12598"/>
                      <a:pt x="2533" y="11250"/>
                      <a:pt x="2977" y="9943"/>
                    </a:cubicBezTo>
                    <a:cubicBezTo>
                      <a:pt x="3399" y="8655"/>
                      <a:pt x="3821" y="7365"/>
                      <a:pt x="4217" y="6157"/>
                    </a:cubicBezTo>
                    <a:cubicBezTo>
                      <a:pt x="4645" y="4996"/>
                      <a:pt x="5045" y="3913"/>
                      <a:pt x="5387" y="2984"/>
                    </a:cubicBezTo>
                    <a:cubicBezTo>
                      <a:pt x="5729" y="2070"/>
                      <a:pt x="6007" y="1319"/>
                      <a:pt x="6232" y="806"/>
                    </a:cubicBezTo>
                    <a:cubicBezTo>
                      <a:pt x="6447" y="293"/>
                      <a:pt x="6569" y="0"/>
                      <a:pt x="6569" y="0"/>
                    </a:cubicBezTo>
                    <a:cubicBezTo>
                      <a:pt x="6569" y="0"/>
                      <a:pt x="10325" y="1534"/>
                      <a:pt x="14081" y="3069"/>
                    </a:cubicBezTo>
                    <a:cubicBezTo>
                      <a:pt x="17840" y="4575"/>
                      <a:pt x="21600" y="6080"/>
                      <a:pt x="21600" y="6080"/>
                    </a:cubicBezTo>
                    <a:cubicBezTo>
                      <a:pt x="21600" y="6080"/>
                      <a:pt x="21580" y="6226"/>
                      <a:pt x="21550" y="6442"/>
                    </a:cubicBezTo>
                    <a:cubicBezTo>
                      <a:pt x="21521" y="6658"/>
                      <a:pt x="21476" y="6946"/>
                      <a:pt x="21452" y="7240"/>
                    </a:cubicBezTo>
                    <a:cubicBezTo>
                      <a:pt x="21393" y="7826"/>
                      <a:pt x="21334" y="8412"/>
                      <a:pt x="21334" y="8412"/>
                    </a:cubicBezTo>
                    <a:lnTo>
                      <a:pt x="19922" y="7934"/>
                    </a:lnTo>
                    <a:cubicBezTo>
                      <a:pt x="19922" y="7934"/>
                      <a:pt x="19845" y="8632"/>
                      <a:pt x="19731" y="9678"/>
                    </a:cubicBezTo>
                    <a:cubicBezTo>
                      <a:pt x="19620" y="10726"/>
                      <a:pt x="19539" y="12144"/>
                      <a:pt x="19414" y="13551"/>
                    </a:cubicBezTo>
                    <a:cubicBezTo>
                      <a:pt x="19328" y="14966"/>
                      <a:pt x="19277" y="16393"/>
                      <a:pt x="19214" y="17457"/>
                    </a:cubicBezTo>
                    <a:cubicBezTo>
                      <a:pt x="19187" y="17991"/>
                      <a:pt x="19194" y="18440"/>
                      <a:pt x="19184" y="18752"/>
                    </a:cubicBezTo>
                    <a:cubicBezTo>
                      <a:pt x="19179" y="19065"/>
                      <a:pt x="19176" y="19244"/>
                      <a:pt x="19176" y="19244"/>
                    </a:cubicBezTo>
                    <a:lnTo>
                      <a:pt x="20665" y="19353"/>
                    </a:lnTo>
                    <a:cubicBezTo>
                      <a:pt x="20665" y="19353"/>
                      <a:pt x="20627" y="21600"/>
                      <a:pt x="20627" y="21600"/>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389" name="Google Shape;389;p22"/>
              <p:cNvSpPr/>
              <p:nvPr/>
            </p:nvSpPr>
            <p:spPr>
              <a:xfrm>
                <a:off x="2372087" y="2004004"/>
                <a:ext cx="652343" cy="679941"/>
              </a:xfrm>
              <a:custGeom>
                <a:rect b="b" l="l" r="r" t="t"/>
                <a:pathLst>
                  <a:path extrusionOk="0" h="21600" w="21600">
                    <a:moveTo>
                      <a:pt x="12713" y="3634"/>
                    </a:moveTo>
                    <a:cubicBezTo>
                      <a:pt x="12713" y="3634"/>
                      <a:pt x="12558" y="3710"/>
                      <a:pt x="12306" y="3873"/>
                    </a:cubicBezTo>
                    <a:cubicBezTo>
                      <a:pt x="12051" y="4031"/>
                      <a:pt x="11687" y="4256"/>
                      <a:pt x="11249" y="4527"/>
                    </a:cubicBezTo>
                    <a:cubicBezTo>
                      <a:pt x="10381" y="5078"/>
                      <a:pt x="9189" y="5762"/>
                      <a:pt x="8048" y="6519"/>
                    </a:cubicBezTo>
                    <a:cubicBezTo>
                      <a:pt x="6917" y="7292"/>
                      <a:pt x="5785" y="8063"/>
                      <a:pt x="4936" y="8643"/>
                    </a:cubicBezTo>
                    <a:cubicBezTo>
                      <a:pt x="4504" y="8922"/>
                      <a:pt x="4172" y="9191"/>
                      <a:pt x="3932" y="9370"/>
                    </a:cubicBezTo>
                    <a:cubicBezTo>
                      <a:pt x="3694" y="9551"/>
                      <a:pt x="3558" y="9654"/>
                      <a:pt x="3558" y="9654"/>
                    </a:cubicBezTo>
                    <a:lnTo>
                      <a:pt x="5168" y="11669"/>
                    </a:lnTo>
                    <a:cubicBezTo>
                      <a:pt x="5168" y="11669"/>
                      <a:pt x="5301" y="11568"/>
                      <a:pt x="5533" y="11393"/>
                    </a:cubicBezTo>
                    <a:cubicBezTo>
                      <a:pt x="5766" y="11218"/>
                      <a:pt x="6090" y="10956"/>
                      <a:pt x="6510" y="10684"/>
                    </a:cubicBezTo>
                    <a:cubicBezTo>
                      <a:pt x="7337" y="10120"/>
                      <a:pt x="8438" y="9368"/>
                      <a:pt x="9540" y="8616"/>
                    </a:cubicBezTo>
                    <a:cubicBezTo>
                      <a:pt x="10651" y="7880"/>
                      <a:pt x="11813" y="7214"/>
                      <a:pt x="12657" y="6678"/>
                    </a:cubicBezTo>
                    <a:cubicBezTo>
                      <a:pt x="13083" y="6414"/>
                      <a:pt x="13438" y="6193"/>
                      <a:pt x="13686" y="6040"/>
                    </a:cubicBezTo>
                    <a:cubicBezTo>
                      <a:pt x="13931" y="5881"/>
                      <a:pt x="14083" y="5808"/>
                      <a:pt x="14083" y="5808"/>
                    </a:cubicBezTo>
                    <a:cubicBezTo>
                      <a:pt x="14083" y="5808"/>
                      <a:pt x="12713" y="3634"/>
                      <a:pt x="12713" y="3634"/>
                    </a:cubicBezTo>
                    <a:close/>
                    <a:moveTo>
                      <a:pt x="15130" y="7470"/>
                    </a:moveTo>
                    <a:cubicBezTo>
                      <a:pt x="15130" y="7470"/>
                      <a:pt x="14982" y="7542"/>
                      <a:pt x="14742" y="7698"/>
                    </a:cubicBezTo>
                    <a:cubicBezTo>
                      <a:pt x="14499" y="7848"/>
                      <a:pt x="14152" y="8064"/>
                      <a:pt x="13735" y="8322"/>
                    </a:cubicBezTo>
                    <a:cubicBezTo>
                      <a:pt x="12908" y="8848"/>
                      <a:pt x="11770" y="9499"/>
                      <a:pt x="10682" y="10222"/>
                    </a:cubicBezTo>
                    <a:cubicBezTo>
                      <a:pt x="9603" y="10958"/>
                      <a:pt x="8524" y="11693"/>
                      <a:pt x="7715" y="12246"/>
                    </a:cubicBezTo>
                    <a:cubicBezTo>
                      <a:pt x="7302" y="12512"/>
                      <a:pt x="6985" y="12768"/>
                      <a:pt x="6757" y="12940"/>
                    </a:cubicBezTo>
                    <a:cubicBezTo>
                      <a:pt x="6530" y="13112"/>
                      <a:pt x="6400" y="13211"/>
                      <a:pt x="6400" y="13211"/>
                    </a:cubicBezTo>
                    <a:lnTo>
                      <a:pt x="8011" y="15226"/>
                    </a:lnTo>
                    <a:cubicBezTo>
                      <a:pt x="8011" y="15226"/>
                      <a:pt x="8137" y="15130"/>
                      <a:pt x="8357" y="14962"/>
                    </a:cubicBezTo>
                    <a:cubicBezTo>
                      <a:pt x="8579" y="14796"/>
                      <a:pt x="8887" y="14545"/>
                      <a:pt x="9288" y="14287"/>
                    </a:cubicBezTo>
                    <a:cubicBezTo>
                      <a:pt x="10075" y="13751"/>
                      <a:pt x="11125" y="13034"/>
                      <a:pt x="12174" y="12319"/>
                    </a:cubicBezTo>
                    <a:cubicBezTo>
                      <a:pt x="13232" y="11616"/>
                      <a:pt x="14339" y="10985"/>
                      <a:pt x="15143" y="10472"/>
                    </a:cubicBezTo>
                    <a:cubicBezTo>
                      <a:pt x="15548" y="10221"/>
                      <a:pt x="15886" y="10011"/>
                      <a:pt x="16122" y="9864"/>
                    </a:cubicBezTo>
                    <a:cubicBezTo>
                      <a:pt x="16355" y="9712"/>
                      <a:pt x="16499" y="9643"/>
                      <a:pt x="16499" y="9643"/>
                    </a:cubicBezTo>
                    <a:cubicBezTo>
                      <a:pt x="16499" y="9643"/>
                      <a:pt x="15130" y="7470"/>
                      <a:pt x="15130" y="7470"/>
                    </a:cubicBezTo>
                    <a:close/>
                    <a:moveTo>
                      <a:pt x="17547" y="11305"/>
                    </a:moveTo>
                    <a:cubicBezTo>
                      <a:pt x="17547" y="11305"/>
                      <a:pt x="17406" y="11374"/>
                      <a:pt x="17178" y="11522"/>
                    </a:cubicBezTo>
                    <a:cubicBezTo>
                      <a:pt x="16947" y="11666"/>
                      <a:pt x="16617" y="11871"/>
                      <a:pt x="16220" y="12117"/>
                    </a:cubicBezTo>
                    <a:cubicBezTo>
                      <a:pt x="15435" y="12619"/>
                      <a:pt x="14351" y="13236"/>
                      <a:pt x="13315" y="13923"/>
                    </a:cubicBezTo>
                    <a:cubicBezTo>
                      <a:pt x="12290" y="14624"/>
                      <a:pt x="11262" y="15324"/>
                      <a:pt x="10493" y="15849"/>
                    </a:cubicBezTo>
                    <a:cubicBezTo>
                      <a:pt x="10100" y="16101"/>
                      <a:pt x="9799" y="16346"/>
                      <a:pt x="9582" y="16509"/>
                    </a:cubicBezTo>
                    <a:cubicBezTo>
                      <a:pt x="9366" y="16674"/>
                      <a:pt x="9243" y="16768"/>
                      <a:pt x="9243" y="16768"/>
                    </a:cubicBezTo>
                    <a:lnTo>
                      <a:pt x="10854" y="18783"/>
                    </a:lnTo>
                    <a:cubicBezTo>
                      <a:pt x="10854" y="18783"/>
                      <a:pt x="10972" y="18692"/>
                      <a:pt x="11183" y="18532"/>
                    </a:cubicBezTo>
                    <a:cubicBezTo>
                      <a:pt x="11393" y="18374"/>
                      <a:pt x="11685" y="18134"/>
                      <a:pt x="12067" y="17891"/>
                    </a:cubicBezTo>
                    <a:cubicBezTo>
                      <a:pt x="12815" y="17381"/>
                      <a:pt x="13811" y="16700"/>
                      <a:pt x="14808" y="16021"/>
                    </a:cubicBezTo>
                    <a:cubicBezTo>
                      <a:pt x="15813" y="15353"/>
                      <a:pt x="16865" y="14755"/>
                      <a:pt x="17629" y="14267"/>
                    </a:cubicBezTo>
                    <a:cubicBezTo>
                      <a:pt x="18013" y="14028"/>
                      <a:pt x="18334" y="13828"/>
                      <a:pt x="18558" y="13689"/>
                    </a:cubicBezTo>
                    <a:cubicBezTo>
                      <a:pt x="18779" y="13544"/>
                      <a:pt x="18916" y="13479"/>
                      <a:pt x="18916" y="13479"/>
                    </a:cubicBezTo>
                    <a:cubicBezTo>
                      <a:pt x="18916" y="13479"/>
                      <a:pt x="17547" y="11305"/>
                      <a:pt x="17547" y="11305"/>
                    </a:cubicBezTo>
                    <a:close/>
                    <a:moveTo>
                      <a:pt x="5619" y="4655"/>
                    </a:moveTo>
                    <a:cubicBezTo>
                      <a:pt x="5969" y="5136"/>
                      <a:pt x="6568" y="5306"/>
                      <a:pt x="6958" y="5038"/>
                    </a:cubicBezTo>
                    <a:cubicBezTo>
                      <a:pt x="7343" y="4763"/>
                      <a:pt x="7400" y="4174"/>
                      <a:pt x="7062" y="3687"/>
                    </a:cubicBezTo>
                    <a:cubicBezTo>
                      <a:pt x="6724" y="3202"/>
                      <a:pt x="6108" y="3009"/>
                      <a:pt x="5713" y="3290"/>
                    </a:cubicBezTo>
                    <a:cubicBezTo>
                      <a:pt x="5313" y="3565"/>
                      <a:pt x="5271" y="4177"/>
                      <a:pt x="5619" y="4655"/>
                    </a:cubicBezTo>
                    <a:close/>
                    <a:moveTo>
                      <a:pt x="12751" y="0"/>
                    </a:moveTo>
                    <a:lnTo>
                      <a:pt x="21600" y="14673"/>
                    </a:lnTo>
                    <a:lnTo>
                      <a:pt x="20162" y="15457"/>
                    </a:lnTo>
                    <a:lnTo>
                      <a:pt x="19964" y="15142"/>
                    </a:lnTo>
                    <a:cubicBezTo>
                      <a:pt x="19964" y="15142"/>
                      <a:pt x="19831" y="15205"/>
                      <a:pt x="19614" y="15346"/>
                    </a:cubicBezTo>
                    <a:cubicBezTo>
                      <a:pt x="19394" y="15483"/>
                      <a:pt x="19081" y="15678"/>
                      <a:pt x="18706" y="15913"/>
                    </a:cubicBezTo>
                    <a:cubicBezTo>
                      <a:pt x="17961" y="16389"/>
                      <a:pt x="16932" y="16973"/>
                      <a:pt x="15950" y="17625"/>
                    </a:cubicBezTo>
                    <a:cubicBezTo>
                      <a:pt x="14976" y="18290"/>
                      <a:pt x="14002" y="18954"/>
                      <a:pt x="13271" y="19453"/>
                    </a:cubicBezTo>
                    <a:cubicBezTo>
                      <a:pt x="12897" y="19691"/>
                      <a:pt x="12613" y="19924"/>
                      <a:pt x="12407" y="20079"/>
                    </a:cubicBezTo>
                    <a:cubicBezTo>
                      <a:pt x="12203" y="20235"/>
                      <a:pt x="12085" y="20325"/>
                      <a:pt x="12085" y="20325"/>
                    </a:cubicBezTo>
                    <a:lnTo>
                      <a:pt x="12319" y="20617"/>
                    </a:lnTo>
                    <a:lnTo>
                      <a:pt x="11017" y="21600"/>
                    </a:lnTo>
                    <a:lnTo>
                      <a:pt x="0" y="8347"/>
                    </a:lnTo>
                    <a:cubicBezTo>
                      <a:pt x="0" y="8347"/>
                      <a:pt x="254" y="7918"/>
                      <a:pt x="635" y="7275"/>
                    </a:cubicBezTo>
                    <a:cubicBezTo>
                      <a:pt x="1027" y="6639"/>
                      <a:pt x="1516" y="5738"/>
                      <a:pt x="2078" y="4910"/>
                    </a:cubicBezTo>
                    <a:cubicBezTo>
                      <a:pt x="3211" y="3221"/>
                      <a:pt x="4343" y="1533"/>
                      <a:pt x="4343" y="1533"/>
                    </a:cubicBezTo>
                    <a:cubicBezTo>
                      <a:pt x="4343" y="1532"/>
                      <a:pt x="4853" y="1386"/>
                      <a:pt x="5660" y="1242"/>
                    </a:cubicBezTo>
                    <a:cubicBezTo>
                      <a:pt x="6451" y="1088"/>
                      <a:pt x="7506" y="883"/>
                      <a:pt x="8561" y="679"/>
                    </a:cubicBezTo>
                    <a:cubicBezTo>
                      <a:pt x="9604" y="474"/>
                      <a:pt x="10637" y="278"/>
                      <a:pt x="11438" y="183"/>
                    </a:cubicBezTo>
                    <a:cubicBezTo>
                      <a:pt x="12226" y="73"/>
                      <a:pt x="12751" y="0"/>
                      <a:pt x="12751" y="0"/>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390" name="Google Shape;390;p22"/>
              <p:cNvSpPr/>
              <p:nvPr/>
            </p:nvSpPr>
            <p:spPr>
              <a:xfrm>
                <a:off x="4089805" y="899757"/>
                <a:ext cx="554002" cy="1228899"/>
              </a:xfrm>
              <a:custGeom>
                <a:rect b="b" l="l" r="r" t="t"/>
                <a:pathLst>
                  <a:path extrusionOk="0" h="21600" w="21600">
                    <a:moveTo>
                      <a:pt x="4449" y="19710"/>
                    </a:moveTo>
                    <a:cubicBezTo>
                      <a:pt x="4449" y="19710"/>
                      <a:pt x="5180" y="19702"/>
                      <a:pt x="6276" y="19691"/>
                    </a:cubicBezTo>
                    <a:cubicBezTo>
                      <a:pt x="7371" y="19686"/>
                      <a:pt x="8833" y="19636"/>
                      <a:pt x="10294" y="19675"/>
                    </a:cubicBezTo>
                    <a:cubicBezTo>
                      <a:pt x="11755" y="19691"/>
                      <a:pt x="13217" y="19706"/>
                      <a:pt x="14313" y="19717"/>
                    </a:cubicBezTo>
                    <a:cubicBezTo>
                      <a:pt x="15402" y="19756"/>
                      <a:pt x="16128" y="19783"/>
                      <a:pt x="16128" y="19783"/>
                    </a:cubicBezTo>
                    <a:lnTo>
                      <a:pt x="16339" y="18380"/>
                    </a:lnTo>
                    <a:cubicBezTo>
                      <a:pt x="16339" y="18380"/>
                      <a:pt x="15590" y="18353"/>
                      <a:pt x="14470" y="18313"/>
                    </a:cubicBezTo>
                    <a:cubicBezTo>
                      <a:pt x="13342" y="18301"/>
                      <a:pt x="11837" y="18285"/>
                      <a:pt x="10334" y="18269"/>
                    </a:cubicBezTo>
                    <a:cubicBezTo>
                      <a:pt x="8831" y="18229"/>
                      <a:pt x="7327" y="18280"/>
                      <a:pt x="6199" y="18286"/>
                    </a:cubicBezTo>
                    <a:cubicBezTo>
                      <a:pt x="5071" y="18297"/>
                      <a:pt x="4319" y="18305"/>
                      <a:pt x="4319" y="18305"/>
                    </a:cubicBezTo>
                    <a:cubicBezTo>
                      <a:pt x="4319" y="18305"/>
                      <a:pt x="4449" y="19710"/>
                      <a:pt x="4449" y="19710"/>
                    </a:cubicBezTo>
                    <a:close/>
                    <a:moveTo>
                      <a:pt x="4220" y="17232"/>
                    </a:moveTo>
                    <a:cubicBezTo>
                      <a:pt x="4220" y="17232"/>
                      <a:pt x="4988" y="17224"/>
                      <a:pt x="6140" y="17212"/>
                    </a:cubicBezTo>
                    <a:cubicBezTo>
                      <a:pt x="7292" y="17206"/>
                      <a:pt x="8829" y="17155"/>
                      <a:pt x="10365" y="17196"/>
                    </a:cubicBezTo>
                    <a:cubicBezTo>
                      <a:pt x="11900" y="17212"/>
                      <a:pt x="13436" y="17228"/>
                      <a:pt x="14588" y="17240"/>
                    </a:cubicBezTo>
                    <a:cubicBezTo>
                      <a:pt x="15734" y="17281"/>
                      <a:pt x="16499" y="17308"/>
                      <a:pt x="16499" y="17308"/>
                    </a:cubicBezTo>
                    <a:lnTo>
                      <a:pt x="16708" y="15906"/>
                    </a:lnTo>
                    <a:cubicBezTo>
                      <a:pt x="16708" y="15906"/>
                      <a:pt x="15923" y="15878"/>
                      <a:pt x="14745" y="15836"/>
                    </a:cubicBezTo>
                    <a:cubicBezTo>
                      <a:pt x="13561" y="15823"/>
                      <a:pt x="11983" y="15807"/>
                      <a:pt x="10404" y="15790"/>
                    </a:cubicBezTo>
                    <a:cubicBezTo>
                      <a:pt x="8825" y="15749"/>
                      <a:pt x="7247" y="15800"/>
                      <a:pt x="6064" y="15806"/>
                    </a:cubicBezTo>
                    <a:cubicBezTo>
                      <a:pt x="4880" y="15819"/>
                      <a:pt x="4090" y="15827"/>
                      <a:pt x="4090" y="15827"/>
                    </a:cubicBezTo>
                    <a:cubicBezTo>
                      <a:pt x="4090" y="15827"/>
                      <a:pt x="4220" y="17232"/>
                      <a:pt x="4220" y="17232"/>
                    </a:cubicBezTo>
                    <a:close/>
                    <a:moveTo>
                      <a:pt x="3991" y="14753"/>
                    </a:moveTo>
                    <a:cubicBezTo>
                      <a:pt x="3991" y="14753"/>
                      <a:pt x="4796" y="14744"/>
                      <a:pt x="6005" y="14732"/>
                    </a:cubicBezTo>
                    <a:cubicBezTo>
                      <a:pt x="7213" y="14725"/>
                      <a:pt x="8824" y="14674"/>
                      <a:pt x="10435" y="14715"/>
                    </a:cubicBezTo>
                    <a:cubicBezTo>
                      <a:pt x="12046" y="14732"/>
                      <a:pt x="13656" y="14749"/>
                      <a:pt x="14864" y="14762"/>
                    </a:cubicBezTo>
                    <a:cubicBezTo>
                      <a:pt x="16067" y="14805"/>
                      <a:pt x="16868" y="14833"/>
                      <a:pt x="16868" y="14833"/>
                    </a:cubicBezTo>
                    <a:lnTo>
                      <a:pt x="17080" y="13431"/>
                    </a:lnTo>
                    <a:cubicBezTo>
                      <a:pt x="17080" y="13431"/>
                      <a:pt x="16256" y="13402"/>
                      <a:pt x="15021" y="13359"/>
                    </a:cubicBezTo>
                    <a:cubicBezTo>
                      <a:pt x="13781" y="13345"/>
                      <a:pt x="12128" y="13328"/>
                      <a:pt x="10475" y="13310"/>
                    </a:cubicBezTo>
                    <a:cubicBezTo>
                      <a:pt x="8822" y="13269"/>
                      <a:pt x="7168" y="13320"/>
                      <a:pt x="5928" y="13327"/>
                    </a:cubicBezTo>
                    <a:cubicBezTo>
                      <a:pt x="4688" y="13340"/>
                      <a:pt x="3861" y="13350"/>
                      <a:pt x="3861" y="13350"/>
                    </a:cubicBezTo>
                    <a:cubicBezTo>
                      <a:pt x="3861" y="13350"/>
                      <a:pt x="3991" y="14753"/>
                      <a:pt x="3991" y="14753"/>
                    </a:cubicBezTo>
                    <a:close/>
                    <a:moveTo>
                      <a:pt x="3763" y="12276"/>
                    </a:moveTo>
                    <a:cubicBezTo>
                      <a:pt x="3763" y="12276"/>
                      <a:pt x="4605" y="12267"/>
                      <a:pt x="5869" y="12254"/>
                    </a:cubicBezTo>
                    <a:cubicBezTo>
                      <a:pt x="7132" y="12246"/>
                      <a:pt x="8819" y="12195"/>
                      <a:pt x="10505" y="12236"/>
                    </a:cubicBezTo>
                    <a:cubicBezTo>
                      <a:pt x="12191" y="12255"/>
                      <a:pt x="13876" y="12273"/>
                      <a:pt x="15140" y="12287"/>
                    </a:cubicBezTo>
                    <a:cubicBezTo>
                      <a:pt x="16399" y="12330"/>
                      <a:pt x="17238" y="12360"/>
                      <a:pt x="17238" y="12360"/>
                    </a:cubicBezTo>
                    <a:lnTo>
                      <a:pt x="17448" y="10957"/>
                    </a:lnTo>
                    <a:cubicBezTo>
                      <a:pt x="17448" y="10957"/>
                      <a:pt x="16587" y="10927"/>
                      <a:pt x="15296" y="10882"/>
                    </a:cubicBezTo>
                    <a:cubicBezTo>
                      <a:pt x="14002" y="10868"/>
                      <a:pt x="12273" y="10849"/>
                      <a:pt x="10545" y="10830"/>
                    </a:cubicBezTo>
                    <a:cubicBezTo>
                      <a:pt x="8817" y="10789"/>
                      <a:pt x="7089" y="10841"/>
                      <a:pt x="5792" y="10848"/>
                    </a:cubicBezTo>
                    <a:cubicBezTo>
                      <a:pt x="4497" y="10862"/>
                      <a:pt x="3633" y="10872"/>
                      <a:pt x="3633" y="10872"/>
                    </a:cubicBezTo>
                    <a:cubicBezTo>
                      <a:pt x="3633" y="10872"/>
                      <a:pt x="3763" y="12276"/>
                      <a:pt x="3763" y="12276"/>
                    </a:cubicBezTo>
                    <a:close/>
                    <a:moveTo>
                      <a:pt x="3534" y="9798"/>
                    </a:moveTo>
                    <a:cubicBezTo>
                      <a:pt x="3534" y="9798"/>
                      <a:pt x="4415" y="9788"/>
                      <a:pt x="5734" y="9773"/>
                    </a:cubicBezTo>
                    <a:cubicBezTo>
                      <a:pt x="7054" y="9766"/>
                      <a:pt x="8815" y="9714"/>
                      <a:pt x="10575" y="9755"/>
                    </a:cubicBezTo>
                    <a:cubicBezTo>
                      <a:pt x="12336" y="9775"/>
                      <a:pt x="14096" y="9794"/>
                      <a:pt x="15417" y="9809"/>
                    </a:cubicBezTo>
                    <a:cubicBezTo>
                      <a:pt x="16732" y="9854"/>
                      <a:pt x="17609" y="9885"/>
                      <a:pt x="17609" y="9885"/>
                    </a:cubicBezTo>
                    <a:lnTo>
                      <a:pt x="17819" y="8483"/>
                    </a:lnTo>
                    <a:cubicBezTo>
                      <a:pt x="17819" y="8483"/>
                      <a:pt x="16920" y="8452"/>
                      <a:pt x="15572" y="8405"/>
                    </a:cubicBezTo>
                    <a:cubicBezTo>
                      <a:pt x="14220" y="8391"/>
                      <a:pt x="12418" y="8371"/>
                      <a:pt x="10615" y="8350"/>
                    </a:cubicBezTo>
                    <a:cubicBezTo>
                      <a:pt x="8813" y="8309"/>
                      <a:pt x="7009" y="8361"/>
                      <a:pt x="5658" y="8369"/>
                    </a:cubicBezTo>
                    <a:cubicBezTo>
                      <a:pt x="4305" y="8384"/>
                      <a:pt x="3404" y="8394"/>
                      <a:pt x="3404" y="8394"/>
                    </a:cubicBezTo>
                    <a:cubicBezTo>
                      <a:pt x="3404" y="8394"/>
                      <a:pt x="3534" y="9798"/>
                      <a:pt x="3534" y="9798"/>
                    </a:cubicBezTo>
                    <a:close/>
                    <a:moveTo>
                      <a:pt x="3305" y="7321"/>
                    </a:moveTo>
                    <a:cubicBezTo>
                      <a:pt x="3305" y="7321"/>
                      <a:pt x="4222" y="7311"/>
                      <a:pt x="5599" y="7295"/>
                    </a:cubicBezTo>
                    <a:cubicBezTo>
                      <a:pt x="6975" y="7287"/>
                      <a:pt x="8810" y="7235"/>
                      <a:pt x="10645" y="7276"/>
                    </a:cubicBezTo>
                    <a:cubicBezTo>
                      <a:pt x="12480" y="7297"/>
                      <a:pt x="14315" y="7318"/>
                      <a:pt x="15693" y="7333"/>
                    </a:cubicBezTo>
                    <a:cubicBezTo>
                      <a:pt x="17064" y="7380"/>
                      <a:pt x="17980" y="7411"/>
                      <a:pt x="17980" y="7411"/>
                    </a:cubicBezTo>
                    <a:lnTo>
                      <a:pt x="18189" y="6008"/>
                    </a:lnTo>
                    <a:cubicBezTo>
                      <a:pt x="18189" y="6008"/>
                      <a:pt x="17252" y="5977"/>
                      <a:pt x="15848" y="5928"/>
                    </a:cubicBezTo>
                    <a:cubicBezTo>
                      <a:pt x="14441" y="5913"/>
                      <a:pt x="12563" y="5892"/>
                      <a:pt x="10686" y="5870"/>
                    </a:cubicBezTo>
                    <a:cubicBezTo>
                      <a:pt x="8808" y="5829"/>
                      <a:pt x="6930" y="5881"/>
                      <a:pt x="5522" y="5890"/>
                    </a:cubicBezTo>
                    <a:cubicBezTo>
                      <a:pt x="4114" y="5906"/>
                      <a:pt x="3175" y="5916"/>
                      <a:pt x="3175" y="5916"/>
                    </a:cubicBezTo>
                    <a:cubicBezTo>
                      <a:pt x="3175" y="5916"/>
                      <a:pt x="3305" y="7321"/>
                      <a:pt x="3305" y="7321"/>
                    </a:cubicBezTo>
                    <a:close/>
                    <a:moveTo>
                      <a:pt x="3076" y="4842"/>
                    </a:moveTo>
                    <a:cubicBezTo>
                      <a:pt x="3076" y="4842"/>
                      <a:pt x="4030" y="4831"/>
                      <a:pt x="5464" y="4815"/>
                    </a:cubicBezTo>
                    <a:cubicBezTo>
                      <a:pt x="6895" y="4806"/>
                      <a:pt x="8806" y="4753"/>
                      <a:pt x="10716" y="4796"/>
                    </a:cubicBezTo>
                    <a:cubicBezTo>
                      <a:pt x="12626" y="4817"/>
                      <a:pt x="14535" y="4839"/>
                      <a:pt x="15968" y="4856"/>
                    </a:cubicBezTo>
                    <a:cubicBezTo>
                      <a:pt x="17397" y="4904"/>
                      <a:pt x="18349" y="4936"/>
                      <a:pt x="18349" y="4936"/>
                    </a:cubicBezTo>
                    <a:lnTo>
                      <a:pt x="18560" y="3534"/>
                    </a:lnTo>
                    <a:cubicBezTo>
                      <a:pt x="18560" y="3534"/>
                      <a:pt x="17585" y="3501"/>
                      <a:pt x="16124" y="3452"/>
                    </a:cubicBezTo>
                    <a:cubicBezTo>
                      <a:pt x="14661" y="3435"/>
                      <a:pt x="12708" y="3413"/>
                      <a:pt x="10756" y="3391"/>
                    </a:cubicBezTo>
                    <a:cubicBezTo>
                      <a:pt x="8802" y="3348"/>
                      <a:pt x="6851" y="3401"/>
                      <a:pt x="5386" y="3410"/>
                    </a:cubicBezTo>
                    <a:cubicBezTo>
                      <a:pt x="3923" y="3427"/>
                      <a:pt x="2947" y="3438"/>
                      <a:pt x="2947" y="3438"/>
                    </a:cubicBezTo>
                    <a:cubicBezTo>
                      <a:pt x="2947" y="3438"/>
                      <a:pt x="3076" y="4842"/>
                      <a:pt x="3076" y="4842"/>
                    </a:cubicBezTo>
                    <a:close/>
                    <a:moveTo>
                      <a:pt x="2658" y="21508"/>
                    </a:moveTo>
                    <a:lnTo>
                      <a:pt x="0" y="1768"/>
                    </a:lnTo>
                    <a:cubicBezTo>
                      <a:pt x="0" y="1768"/>
                      <a:pt x="652" y="1645"/>
                      <a:pt x="1630" y="1458"/>
                    </a:cubicBezTo>
                    <a:cubicBezTo>
                      <a:pt x="2622" y="1292"/>
                      <a:pt x="3946" y="1070"/>
                      <a:pt x="5268" y="848"/>
                    </a:cubicBezTo>
                    <a:cubicBezTo>
                      <a:pt x="6614" y="627"/>
                      <a:pt x="7960" y="406"/>
                      <a:pt x="8970" y="239"/>
                    </a:cubicBezTo>
                    <a:cubicBezTo>
                      <a:pt x="9991" y="95"/>
                      <a:pt x="10672" y="0"/>
                      <a:pt x="10672" y="0"/>
                    </a:cubicBezTo>
                    <a:cubicBezTo>
                      <a:pt x="10672" y="0"/>
                      <a:pt x="13442" y="445"/>
                      <a:pt x="16210" y="890"/>
                    </a:cubicBezTo>
                    <a:cubicBezTo>
                      <a:pt x="18944" y="1385"/>
                      <a:pt x="21600" y="1898"/>
                      <a:pt x="21600" y="1898"/>
                    </a:cubicBezTo>
                    <a:lnTo>
                      <a:pt x="17813" y="21600"/>
                    </a:lnTo>
                    <a:cubicBezTo>
                      <a:pt x="17813" y="21600"/>
                      <a:pt x="16870" y="21568"/>
                      <a:pt x="15456" y="21519"/>
                    </a:cubicBezTo>
                    <a:cubicBezTo>
                      <a:pt x="14047" y="21440"/>
                      <a:pt x="12139" y="21468"/>
                      <a:pt x="10244" y="21430"/>
                    </a:cubicBezTo>
                    <a:cubicBezTo>
                      <a:pt x="9770" y="21424"/>
                      <a:pt x="9295" y="21418"/>
                      <a:pt x="8828" y="21412"/>
                    </a:cubicBezTo>
                    <a:cubicBezTo>
                      <a:pt x="8361" y="21418"/>
                      <a:pt x="7902" y="21425"/>
                      <a:pt x="7456" y="21432"/>
                    </a:cubicBezTo>
                    <a:cubicBezTo>
                      <a:pt x="6567" y="21442"/>
                      <a:pt x="5736" y="21451"/>
                      <a:pt x="5025" y="21459"/>
                    </a:cubicBezTo>
                    <a:cubicBezTo>
                      <a:pt x="3598" y="21458"/>
                      <a:pt x="2658" y="21508"/>
                      <a:pt x="2658" y="21508"/>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391" name="Google Shape;391;p22"/>
              <p:cNvSpPr/>
              <p:nvPr/>
            </p:nvSpPr>
            <p:spPr>
              <a:xfrm>
                <a:off x="4999786" y="501001"/>
                <a:ext cx="805581" cy="1768862"/>
              </a:xfrm>
              <a:custGeom>
                <a:rect b="b" l="l" r="r" t="t"/>
                <a:pathLst>
                  <a:path extrusionOk="0" h="21600" w="21600">
                    <a:moveTo>
                      <a:pt x="3490" y="17790"/>
                    </a:moveTo>
                    <a:cubicBezTo>
                      <a:pt x="3490" y="17790"/>
                      <a:pt x="4157" y="17879"/>
                      <a:pt x="4826" y="17968"/>
                    </a:cubicBezTo>
                    <a:cubicBezTo>
                      <a:pt x="5484" y="18073"/>
                      <a:pt x="6141" y="18178"/>
                      <a:pt x="6141" y="18178"/>
                    </a:cubicBezTo>
                    <a:lnTo>
                      <a:pt x="7617" y="16186"/>
                    </a:lnTo>
                    <a:cubicBezTo>
                      <a:pt x="7617" y="16186"/>
                      <a:pt x="6920" y="16075"/>
                      <a:pt x="6223" y="15964"/>
                    </a:cubicBezTo>
                    <a:cubicBezTo>
                      <a:pt x="5518" y="15863"/>
                      <a:pt x="4806" y="15774"/>
                      <a:pt x="4806" y="15774"/>
                    </a:cubicBezTo>
                    <a:cubicBezTo>
                      <a:pt x="4806" y="15774"/>
                      <a:pt x="3490" y="17790"/>
                      <a:pt x="3490" y="17790"/>
                    </a:cubicBezTo>
                    <a:close/>
                    <a:moveTo>
                      <a:pt x="5387" y="14885"/>
                    </a:moveTo>
                    <a:cubicBezTo>
                      <a:pt x="5387" y="14885"/>
                      <a:pt x="6118" y="14976"/>
                      <a:pt x="6840" y="15080"/>
                    </a:cubicBezTo>
                    <a:cubicBezTo>
                      <a:pt x="7555" y="15193"/>
                      <a:pt x="8269" y="15307"/>
                      <a:pt x="8269" y="15307"/>
                    </a:cubicBezTo>
                    <a:lnTo>
                      <a:pt x="9750" y="13314"/>
                    </a:lnTo>
                    <a:cubicBezTo>
                      <a:pt x="9750" y="13314"/>
                      <a:pt x="8994" y="13195"/>
                      <a:pt x="8239" y="13076"/>
                    </a:cubicBezTo>
                    <a:cubicBezTo>
                      <a:pt x="7477" y="12965"/>
                      <a:pt x="6705" y="12869"/>
                      <a:pt x="6705" y="12869"/>
                    </a:cubicBezTo>
                    <a:cubicBezTo>
                      <a:pt x="6705" y="12869"/>
                      <a:pt x="5387" y="14885"/>
                      <a:pt x="5387" y="14885"/>
                    </a:cubicBezTo>
                    <a:close/>
                    <a:moveTo>
                      <a:pt x="7288" y="11979"/>
                    </a:moveTo>
                    <a:cubicBezTo>
                      <a:pt x="7288" y="11979"/>
                      <a:pt x="8078" y="12078"/>
                      <a:pt x="8856" y="12191"/>
                    </a:cubicBezTo>
                    <a:cubicBezTo>
                      <a:pt x="9630" y="12313"/>
                      <a:pt x="10402" y="12435"/>
                      <a:pt x="10402" y="12435"/>
                    </a:cubicBezTo>
                    <a:lnTo>
                      <a:pt x="11885" y="10443"/>
                    </a:lnTo>
                    <a:cubicBezTo>
                      <a:pt x="11885" y="10443"/>
                      <a:pt x="11073" y="10315"/>
                      <a:pt x="10259" y="10188"/>
                    </a:cubicBezTo>
                    <a:cubicBezTo>
                      <a:pt x="9441" y="10067"/>
                      <a:pt x="8610" y="9964"/>
                      <a:pt x="8610" y="9964"/>
                    </a:cubicBezTo>
                    <a:cubicBezTo>
                      <a:pt x="8610" y="9964"/>
                      <a:pt x="7288" y="11979"/>
                      <a:pt x="7288" y="11979"/>
                    </a:cubicBezTo>
                    <a:close/>
                    <a:moveTo>
                      <a:pt x="9194" y="9075"/>
                    </a:moveTo>
                    <a:cubicBezTo>
                      <a:pt x="9194" y="9075"/>
                      <a:pt x="10042" y="9181"/>
                      <a:pt x="10878" y="9304"/>
                    </a:cubicBezTo>
                    <a:cubicBezTo>
                      <a:pt x="11709" y="9434"/>
                      <a:pt x="12540" y="9565"/>
                      <a:pt x="12540" y="9565"/>
                    </a:cubicBezTo>
                    <a:lnTo>
                      <a:pt x="14025" y="7573"/>
                    </a:lnTo>
                    <a:cubicBezTo>
                      <a:pt x="14025" y="7573"/>
                      <a:pt x="13154" y="7437"/>
                      <a:pt x="12283" y="7301"/>
                    </a:cubicBezTo>
                    <a:cubicBezTo>
                      <a:pt x="11407" y="7171"/>
                      <a:pt x="10518" y="7060"/>
                      <a:pt x="10518" y="7060"/>
                    </a:cubicBezTo>
                    <a:cubicBezTo>
                      <a:pt x="10518" y="7060"/>
                      <a:pt x="9194" y="9075"/>
                      <a:pt x="9194" y="9075"/>
                    </a:cubicBezTo>
                    <a:close/>
                    <a:moveTo>
                      <a:pt x="11103" y="6171"/>
                    </a:moveTo>
                    <a:cubicBezTo>
                      <a:pt x="11103" y="6171"/>
                      <a:pt x="12010" y="6284"/>
                      <a:pt x="12903" y="6417"/>
                    </a:cubicBezTo>
                    <a:cubicBezTo>
                      <a:pt x="13792" y="6555"/>
                      <a:pt x="14680" y="6695"/>
                      <a:pt x="14680" y="6695"/>
                    </a:cubicBezTo>
                    <a:lnTo>
                      <a:pt x="16169" y="4704"/>
                    </a:lnTo>
                    <a:cubicBezTo>
                      <a:pt x="16169" y="4704"/>
                      <a:pt x="15239" y="4559"/>
                      <a:pt x="14310" y="4414"/>
                    </a:cubicBezTo>
                    <a:cubicBezTo>
                      <a:pt x="13849" y="4337"/>
                      <a:pt x="13371" y="4285"/>
                      <a:pt x="13019" y="4235"/>
                    </a:cubicBezTo>
                    <a:cubicBezTo>
                      <a:pt x="12666" y="4189"/>
                      <a:pt x="12430" y="4158"/>
                      <a:pt x="12430" y="4158"/>
                    </a:cubicBezTo>
                    <a:cubicBezTo>
                      <a:pt x="12430" y="4158"/>
                      <a:pt x="11103" y="6171"/>
                      <a:pt x="11103" y="6171"/>
                    </a:cubicBezTo>
                    <a:close/>
                    <a:moveTo>
                      <a:pt x="13016" y="3269"/>
                    </a:moveTo>
                    <a:cubicBezTo>
                      <a:pt x="13016" y="3269"/>
                      <a:pt x="13256" y="3301"/>
                      <a:pt x="13616" y="3348"/>
                    </a:cubicBezTo>
                    <a:cubicBezTo>
                      <a:pt x="13974" y="3399"/>
                      <a:pt x="14462" y="3453"/>
                      <a:pt x="14932" y="3531"/>
                    </a:cubicBezTo>
                    <a:cubicBezTo>
                      <a:pt x="15879" y="3678"/>
                      <a:pt x="16826" y="3825"/>
                      <a:pt x="16826" y="3825"/>
                    </a:cubicBezTo>
                    <a:lnTo>
                      <a:pt x="18316" y="1835"/>
                    </a:lnTo>
                    <a:cubicBezTo>
                      <a:pt x="18316" y="1835"/>
                      <a:pt x="17329" y="1681"/>
                      <a:pt x="16343" y="1528"/>
                    </a:cubicBezTo>
                    <a:cubicBezTo>
                      <a:pt x="15852" y="1447"/>
                      <a:pt x="15346" y="1389"/>
                      <a:pt x="14972" y="1337"/>
                    </a:cubicBezTo>
                    <a:cubicBezTo>
                      <a:pt x="14597" y="1287"/>
                      <a:pt x="14347" y="1254"/>
                      <a:pt x="14347" y="1254"/>
                    </a:cubicBezTo>
                    <a:cubicBezTo>
                      <a:pt x="14347" y="1254"/>
                      <a:pt x="13016" y="3269"/>
                      <a:pt x="13016" y="3269"/>
                    </a:cubicBezTo>
                    <a:close/>
                    <a:moveTo>
                      <a:pt x="0" y="20844"/>
                    </a:moveTo>
                    <a:lnTo>
                      <a:pt x="12640" y="0"/>
                    </a:lnTo>
                    <a:cubicBezTo>
                      <a:pt x="12640" y="0"/>
                      <a:pt x="13205" y="74"/>
                      <a:pt x="14053" y="185"/>
                    </a:cubicBezTo>
                    <a:cubicBezTo>
                      <a:pt x="14898" y="301"/>
                      <a:pt x="16037" y="436"/>
                      <a:pt x="17151" y="608"/>
                    </a:cubicBezTo>
                    <a:cubicBezTo>
                      <a:pt x="19376" y="956"/>
                      <a:pt x="21600" y="1304"/>
                      <a:pt x="21600" y="1304"/>
                    </a:cubicBezTo>
                    <a:lnTo>
                      <a:pt x="5316" y="21600"/>
                    </a:lnTo>
                    <a:cubicBezTo>
                      <a:pt x="5316" y="21600"/>
                      <a:pt x="3997" y="21396"/>
                      <a:pt x="2678" y="21193"/>
                    </a:cubicBezTo>
                    <a:cubicBezTo>
                      <a:pt x="1339" y="21018"/>
                      <a:pt x="0" y="20844"/>
                      <a:pt x="0" y="20844"/>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392" name="Google Shape;392;p22"/>
              <p:cNvSpPr/>
              <p:nvPr/>
            </p:nvSpPr>
            <p:spPr>
              <a:xfrm>
                <a:off x="3149150" y="0"/>
                <a:ext cx="924471" cy="2216658"/>
              </a:xfrm>
              <a:custGeom>
                <a:rect b="b" l="l" r="r" t="t"/>
                <a:pathLst>
                  <a:path extrusionOk="0" h="21600" w="21600">
                    <a:moveTo>
                      <a:pt x="7622" y="6579"/>
                    </a:moveTo>
                    <a:cubicBezTo>
                      <a:pt x="7622" y="6579"/>
                      <a:pt x="6490" y="6693"/>
                      <a:pt x="5358" y="6807"/>
                    </a:cubicBezTo>
                    <a:cubicBezTo>
                      <a:pt x="4793" y="6865"/>
                      <a:pt x="4228" y="6922"/>
                      <a:pt x="3803" y="6965"/>
                    </a:cubicBezTo>
                    <a:cubicBezTo>
                      <a:pt x="3378" y="7007"/>
                      <a:pt x="3100" y="7042"/>
                      <a:pt x="3100" y="7042"/>
                    </a:cubicBezTo>
                    <a:lnTo>
                      <a:pt x="4179" y="8691"/>
                    </a:lnTo>
                    <a:cubicBezTo>
                      <a:pt x="4179" y="8691"/>
                      <a:pt x="4445" y="8658"/>
                      <a:pt x="4853" y="8618"/>
                    </a:cubicBezTo>
                    <a:cubicBezTo>
                      <a:pt x="5258" y="8577"/>
                      <a:pt x="5799" y="8522"/>
                      <a:pt x="6340" y="8467"/>
                    </a:cubicBezTo>
                    <a:cubicBezTo>
                      <a:pt x="7422" y="8357"/>
                      <a:pt x="8505" y="8248"/>
                      <a:pt x="8505" y="8248"/>
                    </a:cubicBezTo>
                    <a:cubicBezTo>
                      <a:pt x="8505" y="8248"/>
                      <a:pt x="7622" y="6579"/>
                      <a:pt x="7622" y="6579"/>
                    </a:cubicBezTo>
                    <a:close/>
                    <a:moveTo>
                      <a:pt x="8980" y="9147"/>
                    </a:moveTo>
                    <a:cubicBezTo>
                      <a:pt x="8980" y="9147"/>
                      <a:pt x="7923" y="9253"/>
                      <a:pt x="6866" y="9361"/>
                    </a:cubicBezTo>
                    <a:cubicBezTo>
                      <a:pt x="6339" y="9414"/>
                      <a:pt x="5810" y="9468"/>
                      <a:pt x="5415" y="9508"/>
                    </a:cubicBezTo>
                    <a:cubicBezTo>
                      <a:pt x="5018" y="9547"/>
                      <a:pt x="4756" y="9578"/>
                      <a:pt x="4756" y="9578"/>
                    </a:cubicBezTo>
                    <a:lnTo>
                      <a:pt x="5828" y="11228"/>
                    </a:lnTo>
                    <a:lnTo>
                      <a:pt x="9858" y="10815"/>
                    </a:lnTo>
                    <a:cubicBezTo>
                      <a:pt x="9858" y="10815"/>
                      <a:pt x="8980" y="9147"/>
                      <a:pt x="8980" y="9147"/>
                    </a:cubicBezTo>
                    <a:close/>
                    <a:moveTo>
                      <a:pt x="10329" y="11715"/>
                    </a:moveTo>
                    <a:lnTo>
                      <a:pt x="6403" y="12116"/>
                    </a:lnTo>
                    <a:lnTo>
                      <a:pt x="7467" y="13766"/>
                    </a:lnTo>
                    <a:lnTo>
                      <a:pt x="11200" y="13384"/>
                    </a:lnTo>
                    <a:cubicBezTo>
                      <a:pt x="11200" y="13384"/>
                      <a:pt x="10329" y="11715"/>
                      <a:pt x="10329" y="11715"/>
                    </a:cubicBezTo>
                    <a:close/>
                    <a:moveTo>
                      <a:pt x="11668" y="14283"/>
                    </a:moveTo>
                    <a:lnTo>
                      <a:pt x="8040" y="14655"/>
                    </a:lnTo>
                    <a:lnTo>
                      <a:pt x="9097" y="16305"/>
                    </a:lnTo>
                    <a:lnTo>
                      <a:pt x="12532" y="15953"/>
                    </a:lnTo>
                    <a:cubicBezTo>
                      <a:pt x="12532" y="15953"/>
                      <a:pt x="11668" y="14283"/>
                      <a:pt x="11668" y="14283"/>
                    </a:cubicBezTo>
                    <a:close/>
                    <a:moveTo>
                      <a:pt x="12997" y="16853"/>
                    </a:moveTo>
                    <a:lnTo>
                      <a:pt x="9666" y="17195"/>
                    </a:lnTo>
                    <a:lnTo>
                      <a:pt x="10718" y="18847"/>
                    </a:lnTo>
                    <a:lnTo>
                      <a:pt x="13856" y="18523"/>
                    </a:lnTo>
                    <a:cubicBezTo>
                      <a:pt x="13856" y="18523"/>
                      <a:pt x="12997" y="16853"/>
                      <a:pt x="12997" y="16853"/>
                    </a:cubicBezTo>
                    <a:close/>
                    <a:moveTo>
                      <a:pt x="10230" y="6363"/>
                    </a:moveTo>
                    <a:lnTo>
                      <a:pt x="11004" y="8042"/>
                    </a:lnTo>
                    <a:cubicBezTo>
                      <a:pt x="11004" y="8042"/>
                      <a:pt x="12099" y="7955"/>
                      <a:pt x="13194" y="7869"/>
                    </a:cubicBezTo>
                    <a:cubicBezTo>
                      <a:pt x="14297" y="7803"/>
                      <a:pt x="15400" y="7737"/>
                      <a:pt x="15400" y="7737"/>
                    </a:cubicBezTo>
                    <a:lnTo>
                      <a:pt x="14822" y="6045"/>
                    </a:lnTo>
                    <a:cubicBezTo>
                      <a:pt x="14822" y="6045"/>
                      <a:pt x="13668" y="6107"/>
                      <a:pt x="12519" y="6183"/>
                    </a:cubicBezTo>
                    <a:cubicBezTo>
                      <a:pt x="11374" y="6273"/>
                      <a:pt x="10230" y="6363"/>
                      <a:pt x="10230" y="6363"/>
                    </a:cubicBezTo>
                    <a:close/>
                    <a:moveTo>
                      <a:pt x="15710" y="8648"/>
                    </a:moveTo>
                    <a:cubicBezTo>
                      <a:pt x="15710" y="8648"/>
                      <a:pt x="14633" y="8712"/>
                      <a:pt x="13556" y="8777"/>
                    </a:cubicBezTo>
                    <a:cubicBezTo>
                      <a:pt x="12488" y="8862"/>
                      <a:pt x="11419" y="8946"/>
                      <a:pt x="11419" y="8946"/>
                    </a:cubicBezTo>
                    <a:lnTo>
                      <a:pt x="12185" y="10625"/>
                    </a:lnTo>
                    <a:cubicBezTo>
                      <a:pt x="12185" y="10625"/>
                      <a:pt x="13206" y="10544"/>
                      <a:pt x="14225" y="10462"/>
                    </a:cubicBezTo>
                    <a:cubicBezTo>
                      <a:pt x="15253" y="10402"/>
                      <a:pt x="16282" y="10341"/>
                      <a:pt x="16282" y="10341"/>
                    </a:cubicBezTo>
                    <a:cubicBezTo>
                      <a:pt x="16282" y="10341"/>
                      <a:pt x="15710" y="8648"/>
                      <a:pt x="15710" y="8648"/>
                    </a:cubicBezTo>
                    <a:close/>
                    <a:moveTo>
                      <a:pt x="16587" y="11252"/>
                    </a:moveTo>
                    <a:cubicBezTo>
                      <a:pt x="16587" y="11252"/>
                      <a:pt x="15585" y="11311"/>
                      <a:pt x="14583" y="11370"/>
                    </a:cubicBezTo>
                    <a:cubicBezTo>
                      <a:pt x="13590" y="11450"/>
                      <a:pt x="12596" y="11529"/>
                      <a:pt x="12596" y="11529"/>
                    </a:cubicBezTo>
                    <a:lnTo>
                      <a:pt x="13358" y="13209"/>
                    </a:lnTo>
                    <a:cubicBezTo>
                      <a:pt x="13358" y="13209"/>
                      <a:pt x="14302" y="13132"/>
                      <a:pt x="15246" y="13056"/>
                    </a:cubicBezTo>
                    <a:cubicBezTo>
                      <a:pt x="16199" y="13000"/>
                      <a:pt x="17152" y="12945"/>
                      <a:pt x="17152" y="12945"/>
                    </a:cubicBezTo>
                    <a:cubicBezTo>
                      <a:pt x="17152" y="12945"/>
                      <a:pt x="16587" y="11252"/>
                      <a:pt x="16587" y="11252"/>
                    </a:cubicBezTo>
                    <a:close/>
                    <a:moveTo>
                      <a:pt x="17455" y="13856"/>
                    </a:moveTo>
                    <a:cubicBezTo>
                      <a:pt x="17455" y="13856"/>
                      <a:pt x="16528" y="13910"/>
                      <a:pt x="15601" y="13964"/>
                    </a:cubicBezTo>
                    <a:cubicBezTo>
                      <a:pt x="14683" y="14039"/>
                      <a:pt x="13764" y="14113"/>
                      <a:pt x="13764" y="14113"/>
                    </a:cubicBezTo>
                    <a:lnTo>
                      <a:pt x="14519" y="15793"/>
                    </a:lnTo>
                    <a:cubicBezTo>
                      <a:pt x="14519" y="15793"/>
                      <a:pt x="15388" y="15722"/>
                      <a:pt x="16258" y="15652"/>
                    </a:cubicBezTo>
                    <a:cubicBezTo>
                      <a:pt x="17135" y="15601"/>
                      <a:pt x="18013" y="15550"/>
                      <a:pt x="18013" y="15550"/>
                    </a:cubicBezTo>
                    <a:cubicBezTo>
                      <a:pt x="18013" y="15550"/>
                      <a:pt x="17455" y="13856"/>
                      <a:pt x="17455" y="13856"/>
                    </a:cubicBezTo>
                    <a:close/>
                    <a:moveTo>
                      <a:pt x="18312" y="16461"/>
                    </a:moveTo>
                    <a:cubicBezTo>
                      <a:pt x="18312" y="16461"/>
                      <a:pt x="17460" y="16511"/>
                      <a:pt x="16609" y="16561"/>
                    </a:cubicBezTo>
                    <a:cubicBezTo>
                      <a:pt x="15766" y="16629"/>
                      <a:pt x="14922" y="16697"/>
                      <a:pt x="14922" y="16697"/>
                    </a:cubicBezTo>
                    <a:lnTo>
                      <a:pt x="15670" y="18378"/>
                    </a:lnTo>
                    <a:cubicBezTo>
                      <a:pt x="15670" y="18378"/>
                      <a:pt x="16465" y="18313"/>
                      <a:pt x="17259" y="18249"/>
                    </a:cubicBezTo>
                    <a:cubicBezTo>
                      <a:pt x="18062" y="18202"/>
                      <a:pt x="18864" y="18155"/>
                      <a:pt x="18864" y="18155"/>
                    </a:cubicBezTo>
                    <a:cubicBezTo>
                      <a:pt x="18864" y="18155"/>
                      <a:pt x="18312" y="16461"/>
                      <a:pt x="18312" y="16461"/>
                    </a:cubicBezTo>
                    <a:close/>
                    <a:moveTo>
                      <a:pt x="10737" y="21600"/>
                    </a:moveTo>
                    <a:cubicBezTo>
                      <a:pt x="10737" y="21600"/>
                      <a:pt x="8075" y="17848"/>
                      <a:pt x="5412" y="14095"/>
                    </a:cubicBezTo>
                    <a:cubicBezTo>
                      <a:pt x="2706" y="10348"/>
                      <a:pt x="0" y="6601"/>
                      <a:pt x="0" y="6601"/>
                    </a:cubicBezTo>
                    <a:cubicBezTo>
                      <a:pt x="0" y="6601"/>
                      <a:pt x="843" y="6162"/>
                      <a:pt x="2188" y="5497"/>
                    </a:cubicBezTo>
                    <a:cubicBezTo>
                      <a:pt x="2864" y="5173"/>
                      <a:pt x="3679" y="4806"/>
                      <a:pt x="4573" y="4406"/>
                    </a:cubicBezTo>
                    <a:cubicBezTo>
                      <a:pt x="5469" y="4010"/>
                      <a:pt x="6441" y="3569"/>
                      <a:pt x="7462" y="3171"/>
                    </a:cubicBezTo>
                    <a:cubicBezTo>
                      <a:pt x="8477" y="2763"/>
                      <a:pt x="9522" y="2355"/>
                      <a:pt x="10524" y="1972"/>
                    </a:cubicBezTo>
                    <a:cubicBezTo>
                      <a:pt x="11525" y="1586"/>
                      <a:pt x="12495" y="1263"/>
                      <a:pt x="13334" y="967"/>
                    </a:cubicBezTo>
                    <a:cubicBezTo>
                      <a:pt x="15017" y="386"/>
                      <a:pt x="16192" y="0"/>
                      <a:pt x="16192" y="0"/>
                    </a:cubicBezTo>
                    <a:cubicBezTo>
                      <a:pt x="16192" y="0"/>
                      <a:pt x="17584" y="5184"/>
                      <a:pt x="18975" y="10369"/>
                    </a:cubicBezTo>
                    <a:cubicBezTo>
                      <a:pt x="20287" y="15556"/>
                      <a:pt x="21600" y="20744"/>
                      <a:pt x="21600" y="20744"/>
                    </a:cubicBezTo>
                    <a:cubicBezTo>
                      <a:pt x="21600" y="20744"/>
                      <a:pt x="21404" y="20750"/>
                      <a:pt x="21110" y="20759"/>
                    </a:cubicBezTo>
                    <a:cubicBezTo>
                      <a:pt x="20818" y="20776"/>
                      <a:pt x="20429" y="20797"/>
                      <a:pt x="20040" y="20819"/>
                    </a:cubicBezTo>
                    <a:cubicBezTo>
                      <a:pt x="19262" y="20859"/>
                      <a:pt x="18482" y="20900"/>
                      <a:pt x="18482" y="20900"/>
                    </a:cubicBezTo>
                    <a:lnTo>
                      <a:pt x="17926" y="19405"/>
                    </a:lnTo>
                    <a:cubicBezTo>
                      <a:pt x="17926" y="19405"/>
                      <a:pt x="17621" y="19417"/>
                      <a:pt x="17176" y="19459"/>
                    </a:cubicBezTo>
                    <a:cubicBezTo>
                      <a:pt x="16728" y="19496"/>
                      <a:pt x="16131" y="19545"/>
                      <a:pt x="15534" y="19594"/>
                    </a:cubicBezTo>
                    <a:cubicBezTo>
                      <a:pt x="14936" y="19642"/>
                      <a:pt x="14337" y="19685"/>
                      <a:pt x="13898" y="19739"/>
                    </a:cubicBezTo>
                    <a:cubicBezTo>
                      <a:pt x="13456" y="19785"/>
                      <a:pt x="13162" y="19816"/>
                      <a:pt x="13162" y="19816"/>
                    </a:cubicBezTo>
                    <a:lnTo>
                      <a:pt x="13970" y="21256"/>
                    </a:lnTo>
                    <a:cubicBezTo>
                      <a:pt x="13970" y="21256"/>
                      <a:pt x="13156" y="21333"/>
                      <a:pt x="12342" y="21410"/>
                    </a:cubicBezTo>
                    <a:cubicBezTo>
                      <a:pt x="11540" y="21505"/>
                      <a:pt x="10737" y="21600"/>
                      <a:pt x="10737" y="21600"/>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393" name="Google Shape;393;p22"/>
              <p:cNvSpPr/>
              <p:nvPr/>
            </p:nvSpPr>
            <p:spPr>
              <a:xfrm>
                <a:off x="4631704" y="879308"/>
                <a:ext cx="507862" cy="1309058"/>
              </a:xfrm>
              <a:custGeom>
                <a:rect b="b" l="l" r="r" t="t"/>
                <a:pathLst>
                  <a:path extrusionOk="0" h="21600" w="21600">
                    <a:moveTo>
                      <a:pt x="3073" y="18204"/>
                    </a:moveTo>
                    <a:cubicBezTo>
                      <a:pt x="3073" y="18204"/>
                      <a:pt x="3906" y="18254"/>
                      <a:pt x="4738" y="18303"/>
                    </a:cubicBezTo>
                    <a:cubicBezTo>
                      <a:pt x="5560" y="18371"/>
                      <a:pt x="6384" y="18438"/>
                      <a:pt x="6384" y="18438"/>
                    </a:cubicBezTo>
                    <a:lnTo>
                      <a:pt x="7179" y="16747"/>
                    </a:lnTo>
                    <a:cubicBezTo>
                      <a:pt x="7179" y="16747"/>
                      <a:pt x="6325" y="16678"/>
                      <a:pt x="5471" y="16608"/>
                    </a:cubicBezTo>
                    <a:cubicBezTo>
                      <a:pt x="4611" y="16549"/>
                      <a:pt x="3743" y="16504"/>
                      <a:pt x="3743" y="16504"/>
                    </a:cubicBezTo>
                    <a:cubicBezTo>
                      <a:pt x="3743" y="16504"/>
                      <a:pt x="3073" y="18204"/>
                      <a:pt x="3073" y="18204"/>
                    </a:cubicBezTo>
                    <a:close/>
                    <a:moveTo>
                      <a:pt x="4107" y="15590"/>
                    </a:moveTo>
                    <a:cubicBezTo>
                      <a:pt x="4107" y="15589"/>
                      <a:pt x="4990" y="15635"/>
                      <a:pt x="5867" y="15696"/>
                    </a:cubicBezTo>
                    <a:cubicBezTo>
                      <a:pt x="6739" y="15766"/>
                      <a:pt x="7611" y="15837"/>
                      <a:pt x="7611" y="15837"/>
                    </a:cubicBezTo>
                    <a:lnTo>
                      <a:pt x="8412" y="14146"/>
                    </a:lnTo>
                    <a:cubicBezTo>
                      <a:pt x="8412" y="14146"/>
                      <a:pt x="7509" y="14074"/>
                      <a:pt x="6606" y="14001"/>
                    </a:cubicBezTo>
                    <a:cubicBezTo>
                      <a:pt x="5700" y="13935"/>
                      <a:pt x="4784" y="13890"/>
                      <a:pt x="4784" y="13890"/>
                    </a:cubicBezTo>
                    <a:cubicBezTo>
                      <a:pt x="4784" y="13890"/>
                      <a:pt x="4107" y="15590"/>
                      <a:pt x="4107" y="15590"/>
                    </a:cubicBezTo>
                    <a:close/>
                    <a:moveTo>
                      <a:pt x="5150" y="12975"/>
                    </a:moveTo>
                    <a:cubicBezTo>
                      <a:pt x="5150" y="12975"/>
                      <a:pt x="6083" y="13020"/>
                      <a:pt x="7006" y="13089"/>
                    </a:cubicBezTo>
                    <a:cubicBezTo>
                      <a:pt x="7926" y="13162"/>
                      <a:pt x="8846" y="13235"/>
                      <a:pt x="8846" y="13235"/>
                    </a:cubicBezTo>
                    <a:lnTo>
                      <a:pt x="9655" y="11545"/>
                    </a:lnTo>
                    <a:cubicBezTo>
                      <a:pt x="9655" y="11545"/>
                      <a:pt x="8703" y="11470"/>
                      <a:pt x="7751" y="11394"/>
                    </a:cubicBezTo>
                    <a:cubicBezTo>
                      <a:pt x="7278" y="11351"/>
                      <a:pt x="6794" y="11333"/>
                      <a:pt x="6435" y="11310"/>
                    </a:cubicBezTo>
                    <a:cubicBezTo>
                      <a:pt x="6074" y="11289"/>
                      <a:pt x="5833" y="11276"/>
                      <a:pt x="5833" y="11276"/>
                    </a:cubicBezTo>
                    <a:cubicBezTo>
                      <a:pt x="5833" y="11276"/>
                      <a:pt x="5150" y="12975"/>
                      <a:pt x="5150" y="12975"/>
                    </a:cubicBezTo>
                    <a:close/>
                    <a:moveTo>
                      <a:pt x="6204" y="10360"/>
                    </a:moveTo>
                    <a:cubicBezTo>
                      <a:pt x="6204" y="10360"/>
                      <a:pt x="6449" y="10375"/>
                      <a:pt x="6815" y="10395"/>
                    </a:cubicBezTo>
                    <a:cubicBezTo>
                      <a:pt x="7181" y="10417"/>
                      <a:pt x="7673" y="10439"/>
                      <a:pt x="8156" y="10482"/>
                    </a:cubicBezTo>
                    <a:cubicBezTo>
                      <a:pt x="9123" y="10558"/>
                      <a:pt x="10092" y="10635"/>
                      <a:pt x="10092" y="10635"/>
                    </a:cubicBezTo>
                    <a:lnTo>
                      <a:pt x="10908" y="8945"/>
                    </a:lnTo>
                    <a:cubicBezTo>
                      <a:pt x="10908" y="8945"/>
                      <a:pt x="9908" y="8867"/>
                      <a:pt x="8908" y="8788"/>
                    </a:cubicBezTo>
                    <a:cubicBezTo>
                      <a:pt x="8410" y="8745"/>
                      <a:pt x="7904" y="8719"/>
                      <a:pt x="7525" y="8697"/>
                    </a:cubicBezTo>
                    <a:cubicBezTo>
                      <a:pt x="7146" y="8676"/>
                      <a:pt x="6894" y="8661"/>
                      <a:pt x="6894" y="8661"/>
                    </a:cubicBezTo>
                    <a:cubicBezTo>
                      <a:pt x="6894" y="8661"/>
                      <a:pt x="6204" y="10360"/>
                      <a:pt x="6204" y="10360"/>
                    </a:cubicBezTo>
                    <a:close/>
                    <a:moveTo>
                      <a:pt x="7267" y="7747"/>
                    </a:moveTo>
                    <a:cubicBezTo>
                      <a:pt x="7267" y="7747"/>
                      <a:pt x="7523" y="7762"/>
                      <a:pt x="7908" y="7783"/>
                    </a:cubicBezTo>
                    <a:cubicBezTo>
                      <a:pt x="8293" y="7804"/>
                      <a:pt x="8807" y="7832"/>
                      <a:pt x="9313" y="7876"/>
                    </a:cubicBezTo>
                    <a:cubicBezTo>
                      <a:pt x="10331" y="7956"/>
                      <a:pt x="11347" y="8036"/>
                      <a:pt x="11347" y="8036"/>
                    </a:cubicBezTo>
                    <a:lnTo>
                      <a:pt x="12170" y="6345"/>
                    </a:lnTo>
                    <a:cubicBezTo>
                      <a:pt x="12170" y="6345"/>
                      <a:pt x="11121" y="6264"/>
                      <a:pt x="10074" y="6183"/>
                    </a:cubicBezTo>
                    <a:cubicBezTo>
                      <a:pt x="9550" y="6138"/>
                      <a:pt x="9022" y="6107"/>
                      <a:pt x="8625" y="6086"/>
                    </a:cubicBezTo>
                    <a:cubicBezTo>
                      <a:pt x="8228" y="6063"/>
                      <a:pt x="7965" y="6048"/>
                      <a:pt x="7965" y="6048"/>
                    </a:cubicBezTo>
                    <a:cubicBezTo>
                      <a:pt x="7965" y="6048"/>
                      <a:pt x="7267" y="7747"/>
                      <a:pt x="7267" y="7747"/>
                    </a:cubicBezTo>
                    <a:close/>
                    <a:moveTo>
                      <a:pt x="8267" y="18589"/>
                    </a:moveTo>
                    <a:cubicBezTo>
                      <a:pt x="8267" y="18589"/>
                      <a:pt x="9089" y="18652"/>
                      <a:pt x="9914" y="18716"/>
                    </a:cubicBezTo>
                    <a:cubicBezTo>
                      <a:pt x="10328" y="18743"/>
                      <a:pt x="10731" y="18790"/>
                      <a:pt x="11036" y="18821"/>
                    </a:cubicBezTo>
                    <a:cubicBezTo>
                      <a:pt x="11340" y="18852"/>
                      <a:pt x="11543" y="18872"/>
                      <a:pt x="11543" y="18872"/>
                    </a:cubicBezTo>
                    <a:lnTo>
                      <a:pt x="12533" y="17197"/>
                    </a:lnTo>
                    <a:cubicBezTo>
                      <a:pt x="12533" y="17197"/>
                      <a:pt x="12323" y="17176"/>
                      <a:pt x="12007" y="17143"/>
                    </a:cubicBezTo>
                    <a:cubicBezTo>
                      <a:pt x="11690" y="17114"/>
                      <a:pt x="11273" y="17062"/>
                      <a:pt x="10843" y="17035"/>
                    </a:cubicBezTo>
                    <a:cubicBezTo>
                      <a:pt x="9988" y="16969"/>
                      <a:pt x="9133" y="16902"/>
                      <a:pt x="9133" y="16902"/>
                    </a:cubicBezTo>
                    <a:cubicBezTo>
                      <a:pt x="9133" y="16902"/>
                      <a:pt x="8267" y="18589"/>
                      <a:pt x="8267" y="18589"/>
                    </a:cubicBezTo>
                    <a:close/>
                    <a:moveTo>
                      <a:pt x="9602" y="15993"/>
                    </a:moveTo>
                    <a:cubicBezTo>
                      <a:pt x="9602" y="15993"/>
                      <a:pt x="10474" y="16061"/>
                      <a:pt x="11346" y="16129"/>
                    </a:cubicBezTo>
                    <a:cubicBezTo>
                      <a:pt x="12215" y="16200"/>
                      <a:pt x="13070" y="16295"/>
                      <a:pt x="13070" y="16296"/>
                    </a:cubicBezTo>
                    <a:lnTo>
                      <a:pt x="14070" y="14621"/>
                    </a:lnTo>
                    <a:cubicBezTo>
                      <a:pt x="14070" y="14621"/>
                      <a:pt x="13182" y="14524"/>
                      <a:pt x="12283" y="14448"/>
                    </a:cubicBezTo>
                    <a:cubicBezTo>
                      <a:pt x="11380" y="14378"/>
                      <a:pt x="10477" y="14308"/>
                      <a:pt x="10477" y="14308"/>
                    </a:cubicBezTo>
                    <a:cubicBezTo>
                      <a:pt x="10477" y="14308"/>
                      <a:pt x="9602" y="15993"/>
                      <a:pt x="9602" y="15993"/>
                    </a:cubicBezTo>
                    <a:close/>
                    <a:moveTo>
                      <a:pt x="10949" y="13400"/>
                    </a:moveTo>
                    <a:cubicBezTo>
                      <a:pt x="10949" y="13400"/>
                      <a:pt x="11870" y="13472"/>
                      <a:pt x="12789" y="13543"/>
                    </a:cubicBezTo>
                    <a:cubicBezTo>
                      <a:pt x="13704" y="13622"/>
                      <a:pt x="14609" y="13719"/>
                      <a:pt x="14609" y="13719"/>
                    </a:cubicBezTo>
                    <a:lnTo>
                      <a:pt x="15613" y="12044"/>
                    </a:lnTo>
                    <a:cubicBezTo>
                      <a:pt x="15613" y="12044"/>
                      <a:pt x="14677" y="11946"/>
                      <a:pt x="13732" y="11862"/>
                    </a:cubicBezTo>
                    <a:cubicBezTo>
                      <a:pt x="12781" y="11789"/>
                      <a:pt x="11829" y="11715"/>
                      <a:pt x="11829" y="11715"/>
                    </a:cubicBezTo>
                    <a:cubicBezTo>
                      <a:pt x="11829" y="11715"/>
                      <a:pt x="10949" y="13400"/>
                      <a:pt x="10949" y="13400"/>
                    </a:cubicBezTo>
                    <a:close/>
                    <a:moveTo>
                      <a:pt x="12305" y="10808"/>
                    </a:moveTo>
                    <a:cubicBezTo>
                      <a:pt x="12305" y="10808"/>
                      <a:pt x="13273" y="10882"/>
                      <a:pt x="14240" y="10957"/>
                    </a:cubicBezTo>
                    <a:cubicBezTo>
                      <a:pt x="15197" y="11050"/>
                      <a:pt x="16155" y="11143"/>
                      <a:pt x="16155" y="11143"/>
                    </a:cubicBezTo>
                    <a:lnTo>
                      <a:pt x="17166" y="9469"/>
                    </a:lnTo>
                    <a:cubicBezTo>
                      <a:pt x="17166" y="9469"/>
                      <a:pt x="16180" y="9373"/>
                      <a:pt x="15191" y="9276"/>
                    </a:cubicBezTo>
                    <a:cubicBezTo>
                      <a:pt x="14192" y="9199"/>
                      <a:pt x="13192" y="9122"/>
                      <a:pt x="13192" y="9122"/>
                    </a:cubicBezTo>
                    <a:cubicBezTo>
                      <a:pt x="13192" y="9122"/>
                      <a:pt x="12305" y="10808"/>
                      <a:pt x="12305" y="10808"/>
                    </a:cubicBezTo>
                    <a:close/>
                    <a:moveTo>
                      <a:pt x="13672" y="8215"/>
                    </a:moveTo>
                    <a:cubicBezTo>
                      <a:pt x="13672" y="8215"/>
                      <a:pt x="14688" y="8293"/>
                      <a:pt x="15704" y="8372"/>
                    </a:cubicBezTo>
                    <a:cubicBezTo>
                      <a:pt x="16709" y="8470"/>
                      <a:pt x="17714" y="8568"/>
                      <a:pt x="17714" y="8568"/>
                    </a:cubicBezTo>
                    <a:lnTo>
                      <a:pt x="18731" y="6895"/>
                    </a:lnTo>
                    <a:cubicBezTo>
                      <a:pt x="18731" y="6895"/>
                      <a:pt x="17696" y="6794"/>
                      <a:pt x="16660" y="6692"/>
                    </a:cubicBezTo>
                    <a:cubicBezTo>
                      <a:pt x="15612" y="6612"/>
                      <a:pt x="14564" y="6531"/>
                      <a:pt x="14564" y="6531"/>
                    </a:cubicBezTo>
                    <a:cubicBezTo>
                      <a:pt x="14564" y="6531"/>
                      <a:pt x="13672" y="8215"/>
                      <a:pt x="13672" y="8215"/>
                    </a:cubicBezTo>
                    <a:close/>
                    <a:moveTo>
                      <a:pt x="0" y="20797"/>
                    </a:moveTo>
                    <a:cubicBezTo>
                      <a:pt x="0" y="20797"/>
                      <a:pt x="1812" y="15596"/>
                      <a:pt x="3625" y="10395"/>
                    </a:cubicBezTo>
                    <a:cubicBezTo>
                      <a:pt x="5515" y="5198"/>
                      <a:pt x="7407" y="0"/>
                      <a:pt x="7407" y="0"/>
                    </a:cubicBezTo>
                    <a:cubicBezTo>
                      <a:pt x="7407" y="0"/>
                      <a:pt x="8378" y="381"/>
                      <a:pt x="9836" y="952"/>
                    </a:cubicBezTo>
                    <a:cubicBezTo>
                      <a:pt x="11283" y="1506"/>
                      <a:pt x="13127" y="2331"/>
                      <a:pt x="14904" y="3118"/>
                    </a:cubicBezTo>
                    <a:cubicBezTo>
                      <a:pt x="16684" y="3908"/>
                      <a:pt x="18383" y="4698"/>
                      <a:pt x="19597" y="5331"/>
                    </a:cubicBezTo>
                    <a:cubicBezTo>
                      <a:pt x="20800" y="5947"/>
                      <a:pt x="21600" y="6358"/>
                      <a:pt x="21600" y="6358"/>
                    </a:cubicBezTo>
                    <a:cubicBezTo>
                      <a:pt x="21600" y="6358"/>
                      <a:pt x="19126" y="10167"/>
                      <a:pt x="16651" y="13975"/>
                    </a:cubicBezTo>
                    <a:cubicBezTo>
                      <a:pt x="14219" y="17788"/>
                      <a:pt x="11788" y="21600"/>
                      <a:pt x="11788" y="21600"/>
                    </a:cubicBezTo>
                    <a:cubicBezTo>
                      <a:pt x="11788" y="21600"/>
                      <a:pt x="10909" y="21520"/>
                      <a:pt x="10030" y="21441"/>
                    </a:cubicBezTo>
                    <a:cubicBezTo>
                      <a:pt x="9157" y="21351"/>
                      <a:pt x="8263" y="21296"/>
                      <a:pt x="8263" y="21296"/>
                    </a:cubicBezTo>
                    <a:lnTo>
                      <a:pt x="9042" y="19863"/>
                    </a:lnTo>
                    <a:lnTo>
                      <a:pt x="4002" y="19461"/>
                    </a:lnTo>
                    <a:lnTo>
                      <a:pt x="3370" y="20959"/>
                    </a:lnTo>
                    <a:cubicBezTo>
                      <a:pt x="3370" y="20959"/>
                      <a:pt x="0" y="20797"/>
                      <a:pt x="0" y="20797"/>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394" name="Google Shape;394;p22"/>
              <p:cNvSpPr/>
              <p:nvPr/>
            </p:nvSpPr>
            <p:spPr>
              <a:xfrm>
                <a:off x="2402760" y="1308737"/>
                <a:ext cx="1125357" cy="1152750"/>
              </a:xfrm>
              <a:custGeom>
                <a:rect b="b" l="l" r="r" t="t"/>
                <a:pathLst>
                  <a:path extrusionOk="0" h="21571" w="21600">
                    <a:moveTo>
                      <a:pt x="11146" y="18403"/>
                    </a:moveTo>
                    <a:cubicBezTo>
                      <a:pt x="11146" y="18403"/>
                      <a:pt x="11473" y="18215"/>
                      <a:pt x="11821" y="18066"/>
                    </a:cubicBezTo>
                    <a:cubicBezTo>
                      <a:pt x="12164" y="17907"/>
                      <a:pt x="12507" y="17748"/>
                      <a:pt x="12507" y="17748"/>
                    </a:cubicBezTo>
                    <a:lnTo>
                      <a:pt x="11613" y="16003"/>
                    </a:lnTo>
                    <a:cubicBezTo>
                      <a:pt x="11613" y="16003"/>
                      <a:pt x="11258" y="16169"/>
                      <a:pt x="10902" y="16335"/>
                    </a:cubicBezTo>
                    <a:cubicBezTo>
                      <a:pt x="10541" y="16491"/>
                      <a:pt x="10201" y="16684"/>
                      <a:pt x="10201" y="16684"/>
                    </a:cubicBezTo>
                    <a:cubicBezTo>
                      <a:pt x="10201" y="16684"/>
                      <a:pt x="11146" y="18403"/>
                      <a:pt x="11146" y="18403"/>
                    </a:cubicBezTo>
                    <a:close/>
                    <a:moveTo>
                      <a:pt x="9692" y="15758"/>
                    </a:moveTo>
                    <a:cubicBezTo>
                      <a:pt x="9692" y="15758"/>
                      <a:pt x="9795" y="15700"/>
                      <a:pt x="9974" y="15600"/>
                    </a:cubicBezTo>
                    <a:cubicBezTo>
                      <a:pt x="10159" y="15509"/>
                      <a:pt x="10423" y="15379"/>
                      <a:pt x="10740" y="15223"/>
                    </a:cubicBezTo>
                    <a:cubicBezTo>
                      <a:pt x="11055" y="15067"/>
                      <a:pt x="11425" y="14885"/>
                      <a:pt x="11820" y="14690"/>
                    </a:cubicBezTo>
                    <a:cubicBezTo>
                      <a:pt x="12018" y="14592"/>
                      <a:pt x="12221" y="14490"/>
                      <a:pt x="12428" y="14387"/>
                    </a:cubicBezTo>
                    <a:cubicBezTo>
                      <a:pt x="12641" y="14295"/>
                      <a:pt x="12857" y="14202"/>
                      <a:pt x="13073" y="14109"/>
                    </a:cubicBezTo>
                    <a:cubicBezTo>
                      <a:pt x="13944" y="13750"/>
                      <a:pt x="14786" y="13327"/>
                      <a:pt x="15456" y="13102"/>
                    </a:cubicBezTo>
                    <a:cubicBezTo>
                      <a:pt x="16117" y="12853"/>
                      <a:pt x="16557" y="12686"/>
                      <a:pt x="16557" y="12686"/>
                    </a:cubicBezTo>
                    <a:lnTo>
                      <a:pt x="15862" y="10858"/>
                    </a:lnTo>
                    <a:cubicBezTo>
                      <a:pt x="15862" y="10858"/>
                      <a:pt x="15406" y="11030"/>
                      <a:pt x="14722" y="11289"/>
                    </a:cubicBezTo>
                    <a:cubicBezTo>
                      <a:pt x="14027" y="11522"/>
                      <a:pt x="13153" y="11958"/>
                      <a:pt x="12253" y="12331"/>
                    </a:cubicBezTo>
                    <a:cubicBezTo>
                      <a:pt x="12029" y="12428"/>
                      <a:pt x="11805" y="12524"/>
                      <a:pt x="11585" y="12619"/>
                    </a:cubicBezTo>
                    <a:cubicBezTo>
                      <a:pt x="11370" y="12725"/>
                      <a:pt x="11159" y="12831"/>
                      <a:pt x="10954" y="12932"/>
                    </a:cubicBezTo>
                    <a:cubicBezTo>
                      <a:pt x="10545" y="13134"/>
                      <a:pt x="10163" y="13323"/>
                      <a:pt x="9835" y="13484"/>
                    </a:cubicBezTo>
                    <a:cubicBezTo>
                      <a:pt x="9507" y="13646"/>
                      <a:pt x="9233" y="13780"/>
                      <a:pt x="9042" y="13874"/>
                    </a:cubicBezTo>
                    <a:cubicBezTo>
                      <a:pt x="8856" y="13978"/>
                      <a:pt x="8750" y="14038"/>
                      <a:pt x="8750" y="14038"/>
                    </a:cubicBezTo>
                    <a:cubicBezTo>
                      <a:pt x="8750" y="14038"/>
                      <a:pt x="9692" y="15758"/>
                      <a:pt x="9692" y="15758"/>
                    </a:cubicBezTo>
                    <a:close/>
                    <a:moveTo>
                      <a:pt x="8243" y="13111"/>
                    </a:moveTo>
                    <a:cubicBezTo>
                      <a:pt x="8243" y="13111"/>
                      <a:pt x="8351" y="13051"/>
                      <a:pt x="8541" y="12945"/>
                    </a:cubicBezTo>
                    <a:cubicBezTo>
                      <a:pt x="8736" y="12849"/>
                      <a:pt x="9014" y="12712"/>
                      <a:pt x="9348" y="12548"/>
                    </a:cubicBezTo>
                    <a:cubicBezTo>
                      <a:pt x="9682" y="12384"/>
                      <a:pt x="10071" y="12191"/>
                      <a:pt x="10488" y="11985"/>
                    </a:cubicBezTo>
                    <a:cubicBezTo>
                      <a:pt x="10697" y="11882"/>
                      <a:pt x="10912" y="11775"/>
                      <a:pt x="11131" y="11666"/>
                    </a:cubicBezTo>
                    <a:cubicBezTo>
                      <a:pt x="11355" y="11570"/>
                      <a:pt x="11583" y="11472"/>
                      <a:pt x="11812" y="11373"/>
                    </a:cubicBezTo>
                    <a:cubicBezTo>
                      <a:pt x="12728" y="10992"/>
                      <a:pt x="13619" y="10550"/>
                      <a:pt x="14327" y="10312"/>
                    </a:cubicBezTo>
                    <a:cubicBezTo>
                      <a:pt x="15023" y="10048"/>
                      <a:pt x="15488" y="9872"/>
                      <a:pt x="15488" y="9872"/>
                    </a:cubicBezTo>
                    <a:lnTo>
                      <a:pt x="14795" y="8043"/>
                    </a:lnTo>
                    <a:cubicBezTo>
                      <a:pt x="14795" y="8043"/>
                      <a:pt x="14315" y="8224"/>
                      <a:pt x="13595" y="8497"/>
                    </a:cubicBezTo>
                    <a:cubicBezTo>
                      <a:pt x="12864" y="8746"/>
                      <a:pt x="11941" y="9198"/>
                      <a:pt x="10994" y="9594"/>
                    </a:cubicBezTo>
                    <a:cubicBezTo>
                      <a:pt x="10040" y="9978"/>
                      <a:pt x="9145" y="10483"/>
                      <a:pt x="8447" y="10808"/>
                    </a:cubicBezTo>
                    <a:cubicBezTo>
                      <a:pt x="8101" y="10978"/>
                      <a:pt x="7813" y="11119"/>
                      <a:pt x="7612" y="11218"/>
                    </a:cubicBezTo>
                    <a:cubicBezTo>
                      <a:pt x="7415" y="11327"/>
                      <a:pt x="7304" y="11389"/>
                      <a:pt x="7304" y="11389"/>
                    </a:cubicBezTo>
                    <a:cubicBezTo>
                      <a:pt x="7304" y="11389"/>
                      <a:pt x="8243" y="13111"/>
                      <a:pt x="8243" y="13111"/>
                    </a:cubicBezTo>
                    <a:close/>
                    <a:moveTo>
                      <a:pt x="6798" y="10461"/>
                    </a:moveTo>
                    <a:cubicBezTo>
                      <a:pt x="6798" y="10461"/>
                      <a:pt x="6912" y="10398"/>
                      <a:pt x="7112" y="10287"/>
                    </a:cubicBezTo>
                    <a:cubicBezTo>
                      <a:pt x="7317" y="10187"/>
                      <a:pt x="7610" y="10042"/>
                      <a:pt x="7961" y="9870"/>
                    </a:cubicBezTo>
                    <a:cubicBezTo>
                      <a:pt x="8671" y="9538"/>
                      <a:pt x="9584" y="9027"/>
                      <a:pt x="10554" y="8635"/>
                    </a:cubicBezTo>
                    <a:cubicBezTo>
                      <a:pt x="11518" y="8231"/>
                      <a:pt x="12458" y="7773"/>
                      <a:pt x="13202" y="7520"/>
                    </a:cubicBezTo>
                    <a:cubicBezTo>
                      <a:pt x="13935" y="7242"/>
                      <a:pt x="14424" y="7057"/>
                      <a:pt x="14424" y="7057"/>
                    </a:cubicBezTo>
                    <a:lnTo>
                      <a:pt x="13734" y="5227"/>
                    </a:lnTo>
                    <a:cubicBezTo>
                      <a:pt x="13734" y="5227"/>
                      <a:pt x="13230" y="5418"/>
                      <a:pt x="12473" y="5705"/>
                    </a:cubicBezTo>
                    <a:cubicBezTo>
                      <a:pt x="11706" y="5968"/>
                      <a:pt x="10733" y="6435"/>
                      <a:pt x="9739" y="6855"/>
                    </a:cubicBezTo>
                    <a:cubicBezTo>
                      <a:pt x="8738" y="7261"/>
                      <a:pt x="7794" y="7784"/>
                      <a:pt x="7062" y="8128"/>
                    </a:cubicBezTo>
                    <a:cubicBezTo>
                      <a:pt x="6699" y="8307"/>
                      <a:pt x="6397" y="8456"/>
                      <a:pt x="6185" y="8560"/>
                    </a:cubicBezTo>
                    <a:cubicBezTo>
                      <a:pt x="5978" y="8673"/>
                      <a:pt x="5861" y="8738"/>
                      <a:pt x="5861" y="8738"/>
                    </a:cubicBezTo>
                    <a:cubicBezTo>
                      <a:pt x="5861" y="8738"/>
                      <a:pt x="6798" y="10461"/>
                      <a:pt x="6798" y="10461"/>
                    </a:cubicBezTo>
                    <a:close/>
                    <a:moveTo>
                      <a:pt x="5357" y="7810"/>
                    </a:moveTo>
                    <a:cubicBezTo>
                      <a:pt x="5357" y="7810"/>
                      <a:pt x="5477" y="7744"/>
                      <a:pt x="5687" y="7629"/>
                    </a:cubicBezTo>
                    <a:cubicBezTo>
                      <a:pt x="5902" y="7524"/>
                      <a:pt x="6210" y="7372"/>
                      <a:pt x="6579" y="7191"/>
                    </a:cubicBezTo>
                    <a:cubicBezTo>
                      <a:pt x="7322" y="6839"/>
                      <a:pt x="8283" y="6309"/>
                      <a:pt x="9301" y="5896"/>
                    </a:cubicBezTo>
                    <a:cubicBezTo>
                      <a:pt x="10311" y="5468"/>
                      <a:pt x="11302" y="4995"/>
                      <a:pt x="12081" y="4727"/>
                    </a:cubicBezTo>
                    <a:cubicBezTo>
                      <a:pt x="12851" y="4435"/>
                      <a:pt x="13364" y="4241"/>
                      <a:pt x="13364" y="4241"/>
                    </a:cubicBezTo>
                    <a:lnTo>
                      <a:pt x="12677" y="2408"/>
                    </a:lnTo>
                    <a:cubicBezTo>
                      <a:pt x="12677" y="2408"/>
                      <a:pt x="12148" y="2609"/>
                      <a:pt x="11355" y="2910"/>
                    </a:cubicBezTo>
                    <a:cubicBezTo>
                      <a:pt x="10551" y="3188"/>
                      <a:pt x="9528" y="3670"/>
                      <a:pt x="8489" y="4114"/>
                    </a:cubicBezTo>
                    <a:cubicBezTo>
                      <a:pt x="7440" y="4543"/>
                      <a:pt x="6447" y="5084"/>
                      <a:pt x="5682" y="5448"/>
                    </a:cubicBezTo>
                    <a:cubicBezTo>
                      <a:pt x="5302" y="5635"/>
                      <a:pt x="4985" y="5792"/>
                      <a:pt x="4763" y="5901"/>
                    </a:cubicBezTo>
                    <a:cubicBezTo>
                      <a:pt x="4542" y="6012"/>
                      <a:pt x="4421" y="6085"/>
                      <a:pt x="4422" y="6085"/>
                    </a:cubicBezTo>
                    <a:cubicBezTo>
                      <a:pt x="4422" y="6085"/>
                      <a:pt x="5357" y="7810"/>
                      <a:pt x="5357" y="7810"/>
                    </a:cubicBezTo>
                    <a:close/>
                    <a:moveTo>
                      <a:pt x="18442" y="15206"/>
                    </a:moveTo>
                    <a:cubicBezTo>
                      <a:pt x="18442" y="15206"/>
                      <a:pt x="18529" y="15169"/>
                      <a:pt x="18666" y="15132"/>
                    </a:cubicBezTo>
                    <a:cubicBezTo>
                      <a:pt x="18802" y="15091"/>
                      <a:pt x="18984" y="15038"/>
                      <a:pt x="19165" y="14984"/>
                    </a:cubicBezTo>
                    <a:cubicBezTo>
                      <a:pt x="19526" y="14876"/>
                      <a:pt x="19888" y="14766"/>
                      <a:pt x="19888" y="14766"/>
                    </a:cubicBezTo>
                    <a:lnTo>
                      <a:pt x="19276" y="12911"/>
                    </a:lnTo>
                    <a:cubicBezTo>
                      <a:pt x="19276" y="12911"/>
                      <a:pt x="18901" y="13024"/>
                      <a:pt x="18525" y="13137"/>
                    </a:cubicBezTo>
                    <a:cubicBezTo>
                      <a:pt x="18337" y="13193"/>
                      <a:pt x="18149" y="13249"/>
                      <a:pt x="18008" y="13292"/>
                    </a:cubicBezTo>
                    <a:cubicBezTo>
                      <a:pt x="17866" y="13331"/>
                      <a:pt x="17775" y="13367"/>
                      <a:pt x="17775" y="13367"/>
                    </a:cubicBezTo>
                    <a:cubicBezTo>
                      <a:pt x="17775" y="13367"/>
                      <a:pt x="18442" y="15206"/>
                      <a:pt x="18442" y="15206"/>
                    </a:cubicBezTo>
                    <a:close/>
                    <a:moveTo>
                      <a:pt x="17416" y="12375"/>
                    </a:moveTo>
                    <a:lnTo>
                      <a:pt x="18947" y="11911"/>
                    </a:lnTo>
                    <a:lnTo>
                      <a:pt x="18338" y="10053"/>
                    </a:lnTo>
                    <a:lnTo>
                      <a:pt x="16752" y="10535"/>
                    </a:lnTo>
                    <a:cubicBezTo>
                      <a:pt x="16752" y="10535"/>
                      <a:pt x="17416" y="12375"/>
                      <a:pt x="17416" y="12375"/>
                    </a:cubicBezTo>
                    <a:close/>
                    <a:moveTo>
                      <a:pt x="16395" y="9544"/>
                    </a:moveTo>
                    <a:lnTo>
                      <a:pt x="18011" y="9053"/>
                    </a:lnTo>
                    <a:lnTo>
                      <a:pt x="17404" y="7194"/>
                    </a:lnTo>
                    <a:lnTo>
                      <a:pt x="15733" y="7703"/>
                    </a:lnTo>
                    <a:cubicBezTo>
                      <a:pt x="15733" y="7703"/>
                      <a:pt x="16395" y="9544"/>
                      <a:pt x="16395" y="9544"/>
                    </a:cubicBezTo>
                    <a:close/>
                    <a:moveTo>
                      <a:pt x="15378" y="6712"/>
                    </a:moveTo>
                    <a:lnTo>
                      <a:pt x="17078" y="6193"/>
                    </a:lnTo>
                    <a:lnTo>
                      <a:pt x="16475" y="4334"/>
                    </a:lnTo>
                    <a:lnTo>
                      <a:pt x="14720" y="4871"/>
                    </a:lnTo>
                    <a:cubicBezTo>
                      <a:pt x="14720" y="4871"/>
                      <a:pt x="15378" y="6712"/>
                      <a:pt x="15378" y="6712"/>
                    </a:cubicBezTo>
                    <a:close/>
                    <a:moveTo>
                      <a:pt x="14366" y="3880"/>
                    </a:moveTo>
                    <a:lnTo>
                      <a:pt x="16150" y="3333"/>
                    </a:lnTo>
                    <a:lnTo>
                      <a:pt x="15550" y="1473"/>
                    </a:lnTo>
                    <a:lnTo>
                      <a:pt x="13711" y="2038"/>
                    </a:lnTo>
                    <a:cubicBezTo>
                      <a:pt x="13711" y="2038"/>
                      <a:pt x="14366" y="3880"/>
                      <a:pt x="14366" y="3880"/>
                    </a:cubicBezTo>
                    <a:close/>
                    <a:moveTo>
                      <a:pt x="16885" y="13689"/>
                    </a:moveTo>
                    <a:lnTo>
                      <a:pt x="15404" y="14212"/>
                    </a:lnTo>
                    <a:lnTo>
                      <a:pt x="16158" y="16018"/>
                    </a:lnTo>
                    <a:lnTo>
                      <a:pt x="17585" y="15516"/>
                    </a:lnTo>
                    <a:cubicBezTo>
                      <a:pt x="17585" y="15516"/>
                      <a:pt x="16885" y="13689"/>
                      <a:pt x="16885" y="13689"/>
                    </a:cubicBezTo>
                    <a:close/>
                    <a:moveTo>
                      <a:pt x="14231" y="14773"/>
                    </a:moveTo>
                    <a:cubicBezTo>
                      <a:pt x="14231" y="14773"/>
                      <a:pt x="13868" y="14921"/>
                      <a:pt x="13505" y="15071"/>
                    </a:cubicBezTo>
                    <a:cubicBezTo>
                      <a:pt x="13323" y="15144"/>
                      <a:pt x="13142" y="15218"/>
                      <a:pt x="13005" y="15273"/>
                    </a:cubicBezTo>
                    <a:cubicBezTo>
                      <a:pt x="12867" y="15326"/>
                      <a:pt x="12781" y="15374"/>
                      <a:pt x="12781" y="15374"/>
                    </a:cubicBezTo>
                    <a:lnTo>
                      <a:pt x="13631" y="17139"/>
                    </a:lnTo>
                    <a:cubicBezTo>
                      <a:pt x="13631" y="17139"/>
                      <a:pt x="13715" y="17095"/>
                      <a:pt x="13846" y="17042"/>
                    </a:cubicBezTo>
                    <a:cubicBezTo>
                      <a:pt x="13977" y="16988"/>
                      <a:pt x="14153" y="16917"/>
                      <a:pt x="14328" y="16847"/>
                    </a:cubicBezTo>
                    <a:cubicBezTo>
                      <a:pt x="14678" y="16704"/>
                      <a:pt x="15028" y="16561"/>
                      <a:pt x="15028" y="16561"/>
                    </a:cubicBezTo>
                    <a:cubicBezTo>
                      <a:pt x="15028" y="16561"/>
                      <a:pt x="14231" y="14773"/>
                      <a:pt x="14231" y="14773"/>
                    </a:cubicBezTo>
                    <a:close/>
                    <a:moveTo>
                      <a:pt x="11850" y="21571"/>
                    </a:moveTo>
                    <a:cubicBezTo>
                      <a:pt x="11850" y="21571"/>
                      <a:pt x="8872" y="16375"/>
                      <a:pt x="5894" y="11178"/>
                    </a:cubicBezTo>
                    <a:cubicBezTo>
                      <a:pt x="2947" y="5964"/>
                      <a:pt x="0" y="750"/>
                      <a:pt x="0" y="750"/>
                    </a:cubicBezTo>
                    <a:cubicBezTo>
                      <a:pt x="0" y="750"/>
                      <a:pt x="262" y="712"/>
                      <a:pt x="720" y="645"/>
                    </a:cubicBezTo>
                    <a:cubicBezTo>
                      <a:pt x="1173" y="573"/>
                      <a:pt x="1824" y="482"/>
                      <a:pt x="2617" y="413"/>
                    </a:cubicBezTo>
                    <a:cubicBezTo>
                      <a:pt x="3395" y="341"/>
                      <a:pt x="4304" y="256"/>
                      <a:pt x="5277" y="164"/>
                    </a:cubicBezTo>
                    <a:cubicBezTo>
                      <a:pt x="6252" y="105"/>
                      <a:pt x="7290" y="69"/>
                      <a:pt x="8308" y="29"/>
                    </a:cubicBezTo>
                    <a:cubicBezTo>
                      <a:pt x="9319" y="-29"/>
                      <a:pt x="10357" y="17"/>
                      <a:pt x="11299" y="21"/>
                    </a:cubicBezTo>
                    <a:cubicBezTo>
                      <a:pt x="12243" y="30"/>
                      <a:pt x="13113" y="49"/>
                      <a:pt x="13868" y="112"/>
                    </a:cubicBezTo>
                    <a:cubicBezTo>
                      <a:pt x="15350" y="216"/>
                      <a:pt x="16338" y="285"/>
                      <a:pt x="16338" y="285"/>
                    </a:cubicBezTo>
                    <a:cubicBezTo>
                      <a:pt x="16338" y="285"/>
                      <a:pt x="17643" y="4556"/>
                      <a:pt x="18949" y="8825"/>
                    </a:cubicBezTo>
                    <a:cubicBezTo>
                      <a:pt x="20274" y="13090"/>
                      <a:pt x="21600" y="17353"/>
                      <a:pt x="21600" y="17353"/>
                    </a:cubicBezTo>
                    <a:lnTo>
                      <a:pt x="20057" y="17863"/>
                    </a:lnTo>
                    <a:lnTo>
                      <a:pt x="19507" y="16293"/>
                    </a:lnTo>
                    <a:cubicBezTo>
                      <a:pt x="19507" y="16293"/>
                      <a:pt x="19039" y="16425"/>
                      <a:pt x="18364" y="16697"/>
                    </a:cubicBezTo>
                    <a:cubicBezTo>
                      <a:pt x="17689" y="16967"/>
                      <a:pt x="16762" y="17261"/>
                      <a:pt x="15883" y="17675"/>
                    </a:cubicBezTo>
                    <a:cubicBezTo>
                      <a:pt x="15437" y="17866"/>
                      <a:pt x="14991" y="18057"/>
                      <a:pt x="14573" y="18236"/>
                    </a:cubicBezTo>
                    <a:cubicBezTo>
                      <a:pt x="14156" y="18417"/>
                      <a:pt x="13783" y="18622"/>
                      <a:pt x="13455" y="18778"/>
                    </a:cubicBezTo>
                    <a:cubicBezTo>
                      <a:pt x="12800" y="19096"/>
                      <a:pt x="12363" y="19308"/>
                      <a:pt x="12363" y="19308"/>
                    </a:cubicBezTo>
                    <a:lnTo>
                      <a:pt x="13179" y="20832"/>
                    </a:lnTo>
                    <a:cubicBezTo>
                      <a:pt x="13179" y="20832"/>
                      <a:pt x="13094" y="20874"/>
                      <a:pt x="12967" y="20939"/>
                    </a:cubicBezTo>
                    <a:cubicBezTo>
                      <a:pt x="12843" y="21009"/>
                      <a:pt x="12678" y="21103"/>
                      <a:pt x="12512" y="21198"/>
                    </a:cubicBezTo>
                    <a:cubicBezTo>
                      <a:pt x="12181" y="21384"/>
                      <a:pt x="11850" y="21571"/>
                      <a:pt x="11850" y="21571"/>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395" name="Google Shape;395;p22"/>
              <p:cNvSpPr/>
              <p:nvPr/>
            </p:nvSpPr>
            <p:spPr>
              <a:xfrm>
                <a:off x="5265624" y="1799514"/>
                <a:ext cx="614771" cy="665199"/>
              </a:xfrm>
              <a:custGeom>
                <a:rect b="b" l="l" r="r" t="t"/>
                <a:pathLst>
                  <a:path extrusionOk="0" h="21585" w="21600">
                    <a:moveTo>
                      <a:pt x="18088" y="8425"/>
                    </a:moveTo>
                    <a:cubicBezTo>
                      <a:pt x="18088" y="8425"/>
                      <a:pt x="17462" y="8066"/>
                      <a:pt x="16469" y="7620"/>
                    </a:cubicBezTo>
                    <a:cubicBezTo>
                      <a:pt x="15488" y="7154"/>
                      <a:pt x="14179" y="6534"/>
                      <a:pt x="12870" y="5913"/>
                    </a:cubicBezTo>
                    <a:cubicBezTo>
                      <a:pt x="11529" y="5353"/>
                      <a:pt x="10190" y="4795"/>
                      <a:pt x="9184" y="4374"/>
                    </a:cubicBezTo>
                    <a:cubicBezTo>
                      <a:pt x="8187" y="3937"/>
                      <a:pt x="7498" y="3700"/>
                      <a:pt x="7498" y="3700"/>
                    </a:cubicBezTo>
                    <a:lnTo>
                      <a:pt x="6419" y="6096"/>
                    </a:lnTo>
                    <a:cubicBezTo>
                      <a:pt x="6419" y="6096"/>
                      <a:pt x="7091" y="6326"/>
                      <a:pt x="8061" y="6753"/>
                    </a:cubicBezTo>
                    <a:cubicBezTo>
                      <a:pt x="9040" y="7160"/>
                      <a:pt x="10344" y="7705"/>
                      <a:pt x="11649" y="8249"/>
                    </a:cubicBezTo>
                    <a:cubicBezTo>
                      <a:pt x="12923" y="8854"/>
                      <a:pt x="14197" y="9458"/>
                      <a:pt x="15153" y="9911"/>
                    </a:cubicBezTo>
                    <a:cubicBezTo>
                      <a:pt x="16120" y="10344"/>
                      <a:pt x="16729" y="10696"/>
                      <a:pt x="16729" y="10695"/>
                    </a:cubicBezTo>
                    <a:cubicBezTo>
                      <a:pt x="16729" y="10695"/>
                      <a:pt x="18088" y="8425"/>
                      <a:pt x="18088" y="8425"/>
                    </a:cubicBezTo>
                    <a:close/>
                    <a:moveTo>
                      <a:pt x="15689" y="12432"/>
                    </a:moveTo>
                    <a:cubicBezTo>
                      <a:pt x="15689" y="12432"/>
                      <a:pt x="15093" y="12087"/>
                      <a:pt x="14145" y="11664"/>
                    </a:cubicBezTo>
                    <a:cubicBezTo>
                      <a:pt x="13210" y="11220"/>
                      <a:pt x="11962" y="10628"/>
                      <a:pt x="10714" y="10036"/>
                    </a:cubicBezTo>
                    <a:cubicBezTo>
                      <a:pt x="9437" y="9503"/>
                      <a:pt x="8160" y="8971"/>
                      <a:pt x="7201" y="8571"/>
                    </a:cubicBezTo>
                    <a:cubicBezTo>
                      <a:pt x="6252" y="8152"/>
                      <a:pt x="5595" y="7928"/>
                      <a:pt x="5595" y="7927"/>
                    </a:cubicBezTo>
                    <a:lnTo>
                      <a:pt x="4515" y="10322"/>
                    </a:lnTo>
                    <a:cubicBezTo>
                      <a:pt x="4515" y="10322"/>
                      <a:pt x="5155" y="10540"/>
                      <a:pt x="6078" y="10948"/>
                    </a:cubicBezTo>
                    <a:cubicBezTo>
                      <a:pt x="7009" y="11337"/>
                      <a:pt x="8252" y="11854"/>
                      <a:pt x="9494" y="12372"/>
                    </a:cubicBezTo>
                    <a:cubicBezTo>
                      <a:pt x="10706" y="12948"/>
                      <a:pt x="11919" y="13524"/>
                      <a:pt x="12829" y="13955"/>
                    </a:cubicBezTo>
                    <a:cubicBezTo>
                      <a:pt x="13751" y="14366"/>
                      <a:pt x="14329" y="14702"/>
                      <a:pt x="14329" y="14701"/>
                    </a:cubicBezTo>
                    <a:cubicBezTo>
                      <a:pt x="14329" y="14701"/>
                      <a:pt x="15689" y="12432"/>
                      <a:pt x="15689" y="12432"/>
                    </a:cubicBezTo>
                    <a:close/>
                    <a:moveTo>
                      <a:pt x="13290" y="16438"/>
                    </a:moveTo>
                    <a:cubicBezTo>
                      <a:pt x="13290" y="16438"/>
                      <a:pt x="12724" y="16109"/>
                      <a:pt x="11821" y="15708"/>
                    </a:cubicBezTo>
                    <a:cubicBezTo>
                      <a:pt x="10932" y="15286"/>
                      <a:pt x="9746" y="14722"/>
                      <a:pt x="8559" y="14160"/>
                    </a:cubicBezTo>
                    <a:cubicBezTo>
                      <a:pt x="7344" y="13653"/>
                      <a:pt x="6130" y="13147"/>
                      <a:pt x="5218" y="12767"/>
                    </a:cubicBezTo>
                    <a:cubicBezTo>
                      <a:pt x="4316" y="12368"/>
                      <a:pt x="3691" y="12155"/>
                      <a:pt x="3691" y="12155"/>
                    </a:cubicBezTo>
                    <a:lnTo>
                      <a:pt x="2612" y="14549"/>
                    </a:lnTo>
                    <a:cubicBezTo>
                      <a:pt x="2612" y="14550"/>
                      <a:pt x="3220" y="14755"/>
                      <a:pt x="4095" y="15144"/>
                    </a:cubicBezTo>
                    <a:cubicBezTo>
                      <a:pt x="4979" y="15513"/>
                      <a:pt x="6159" y="16004"/>
                      <a:pt x="7339" y="16495"/>
                    </a:cubicBezTo>
                    <a:cubicBezTo>
                      <a:pt x="8489" y="17042"/>
                      <a:pt x="9642" y="17589"/>
                      <a:pt x="10505" y="17999"/>
                    </a:cubicBezTo>
                    <a:cubicBezTo>
                      <a:pt x="11381" y="18388"/>
                      <a:pt x="11929" y="18708"/>
                      <a:pt x="11929" y="18708"/>
                    </a:cubicBezTo>
                    <a:cubicBezTo>
                      <a:pt x="11929" y="18708"/>
                      <a:pt x="13290" y="16438"/>
                      <a:pt x="13290" y="16438"/>
                    </a:cubicBezTo>
                    <a:close/>
                    <a:moveTo>
                      <a:pt x="13373" y="2903"/>
                    </a:moveTo>
                    <a:cubicBezTo>
                      <a:pt x="13097" y="3446"/>
                      <a:pt x="13253" y="4036"/>
                      <a:pt x="13715" y="4231"/>
                    </a:cubicBezTo>
                    <a:cubicBezTo>
                      <a:pt x="14166" y="4447"/>
                      <a:pt x="14765" y="4189"/>
                      <a:pt x="15052" y="3653"/>
                    </a:cubicBezTo>
                    <a:cubicBezTo>
                      <a:pt x="15338" y="3119"/>
                      <a:pt x="15194" y="2506"/>
                      <a:pt x="14732" y="2284"/>
                    </a:cubicBezTo>
                    <a:cubicBezTo>
                      <a:pt x="14258" y="2083"/>
                      <a:pt x="13647" y="2365"/>
                      <a:pt x="13373" y="2903"/>
                    </a:cubicBezTo>
                    <a:close/>
                    <a:moveTo>
                      <a:pt x="21600" y="6597"/>
                    </a:moveTo>
                    <a:lnTo>
                      <a:pt x="12211" y="21585"/>
                    </a:lnTo>
                    <a:lnTo>
                      <a:pt x="10693" y="20774"/>
                    </a:lnTo>
                    <a:lnTo>
                      <a:pt x="10890" y="20445"/>
                    </a:lnTo>
                    <a:cubicBezTo>
                      <a:pt x="10890" y="20445"/>
                      <a:pt x="10354" y="20131"/>
                      <a:pt x="9498" y="19752"/>
                    </a:cubicBezTo>
                    <a:cubicBezTo>
                      <a:pt x="8654" y="19351"/>
                      <a:pt x="7529" y="18816"/>
                      <a:pt x="6405" y="18282"/>
                    </a:cubicBezTo>
                    <a:cubicBezTo>
                      <a:pt x="5251" y="17802"/>
                      <a:pt x="4099" y="17323"/>
                      <a:pt x="3236" y="16963"/>
                    </a:cubicBezTo>
                    <a:cubicBezTo>
                      <a:pt x="2380" y="16583"/>
                      <a:pt x="1787" y="16382"/>
                      <a:pt x="1787" y="16382"/>
                    </a:cubicBezTo>
                    <a:lnTo>
                      <a:pt x="1631" y="16729"/>
                    </a:lnTo>
                    <a:lnTo>
                      <a:pt x="0" y="16142"/>
                    </a:lnTo>
                    <a:lnTo>
                      <a:pt x="6864" y="28"/>
                    </a:lnTo>
                    <a:cubicBezTo>
                      <a:pt x="6864" y="28"/>
                      <a:pt x="7411" y="21"/>
                      <a:pt x="8231" y="12"/>
                    </a:cubicBezTo>
                    <a:cubicBezTo>
                      <a:pt x="9055" y="-3"/>
                      <a:pt x="10162" y="-15"/>
                      <a:pt x="11249" y="45"/>
                    </a:cubicBezTo>
                    <a:cubicBezTo>
                      <a:pt x="13471" y="135"/>
                      <a:pt x="15693" y="223"/>
                      <a:pt x="15693" y="223"/>
                    </a:cubicBezTo>
                    <a:cubicBezTo>
                      <a:pt x="15693" y="223"/>
                      <a:pt x="17215" y="1800"/>
                      <a:pt x="18737" y="3377"/>
                    </a:cubicBezTo>
                    <a:cubicBezTo>
                      <a:pt x="19497" y="4139"/>
                      <a:pt x="20200" y="4969"/>
                      <a:pt x="20725" y="5582"/>
                    </a:cubicBezTo>
                    <a:cubicBezTo>
                      <a:pt x="21251" y="6190"/>
                      <a:pt x="21600" y="6597"/>
                      <a:pt x="21600" y="6597"/>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396" name="Google Shape;396;p22"/>
              <p:cNvSpPr/>
              <p:nvPr/>
            </p:nvSpPr>
            <p:spPr>
              <a:xfrm>
                <a:off x="6482341" y="2658373"/>
                <a:ext cx="1208420" cy="959268"/>
              </a:xfrm>
              <a:custGeom>
                <a:rect b="b" l="l" r="r" t="t"/>
                <a:pathLst>
                  <a:path extrusionOk="0" h="21600" w="21600">
                    <a:moveTo>
                      <a:pt x="1986" y="13754"/>
                    </a:moveTo>
                    <a:cubicBezTo>
                      <a:pt x="1986" y="13754"/>
                      <a:pt x="2166" y="14106"/>
                      <a:pt x="2438" y="14634"/>
                    </a:cubicBezTo>
                    <a:cubicBezTo>
                      <a:pt x="2702" y="15169"/>
                      <a:pt x="3016" y="15909"/>
                      <a:pt x="3355" y="16631"/>
                    </a:cubicBezTo>
                    <a:cubicBezTo>
                      <a:pt x="3707" y="17345"/>
                      <a:pt x="3985" y="18108"/>
                      <a:pt x="4217" y="18664"/>
                    </a:cubicBezTo>
                    <a:cubicBezTo>
                      <a:pt x="4446" y="19223"/>
                      <a:pt x="4599" y="19595"/>
                      <a:pt x="4599" y="19595"/>
                    </a:cubicBezTo>
                    <a:lnTo>
                      <a:pt x="5882" y="18802"/>
                    </a:lnTo>
                    <a:cubicBezTo>
                      <a:pt x="5882" y="18802"/>
                      <a:pt x="5725" y="18419"/>
                      <a:pt x="5490" y="17843"/>
                    </a:cubicBezTo>
                    <a:cubicBezTo>
                      <a:pt x="5251" y="17270"/>
                      <a:pt x="4963" y="16486"/>
                      <a:pt x="4602" y="15750"/>
                    </a:cubicBezTo>
                    <a:cubicBezTo>
                      <a:pt x="4254" y="15005"/>
                      <a:pt x="3929" y="14244"/>
                      <a:pt x="3657" y="13694"/>
                    </a:cubicBezTo>
                    <a:cubicBezTo>
                      <a:pt x="3377" y="13149"/>
                      <a:pt x="3191" y="12786"/>
                      <a:pt x="3191" y="12786"/>
                    </a:cubicBezTo>
                    <a:cubicBezTo>
                      <a:pt x="3191" y="12786"/>
                      <a:pt x="1986" y="13754"/>
                      <a:pt x="1986" y="13754"/>
                    </a:cubicBezTo>
                    <a:close/>
                    <a:moveTo>
                      <a:pt x="4113" y="12048"/>
                    </a:moveTo>
                    <a:cubicBezTo>
                      <a:pt x="4113" y="12048"/>
                      <a:pt x="4303" y="12419"/>
                      <a:pt x="4588" y="12975"/>
                    </a:cubicBezTo>
                    <a:cubicBezTo>
                      <a:pt x="4866" y="13538"/>
                      <a:pt x="5198" y="14315"/>
                      <a:pt x="5554" y="15076"/>
                    </a:cubicBezTo>
                    <a:cubicBezTo>
                      <a:pt x="5922" y="15829"/>
                      <a:pt x="6218" y="16630"/>
                      <a:pt x="6462" y="17216"/>
                    </a:cubicBezTo>
                    <a:cubicBezTo>
                      <a:pt x="6703" y="17804"/>
                      <a:pt x="6863" y="18196"/>
                      <a:pt x="6863" y="18196"/>
                    </a:cubicBezTo>
                    <a:lnTo>
                      <a:pt x="8147" y="17403"/>
                    </a:lnTo>
                    <a:cubicBezTo>
                      <a:pt x="8147" y="17403"/>
                      <a:pt x="7981" y="17000"/>
                      <a:pt x="7734" y="16395"/>
                    </a:cubicBezTo>
                    <a:cubicBezTo>
                      <a:pt x="7484" y="15792"/>
                      <a:pt x="7178" y="14969"/>
                      <a:pt x="6801" y="14194"/>
                    </a:cubicBezTo>
                    <a:cubicBezTo>
                      <a:pt x="6436" y="13412"/>
                      <a:pt x="6093" y="12613"/>
                      <a:pt x="5808" y="12035"/>
                    </a:cubicBezTo>
                    <a:cubicBezTo>
                      <a:pt x="5514" y="11462"/>
                      <a:pt x="5319" y="11080"/>
                      <a:pt x="5319" y="11080"/>
                    </a:cubicBezTo>
                    <a:cubicBezTo>
                      <a:pt x="5319" y="11080"/>
                      <a:pt x="4113" y="12048"/>
                      <a:pt x="4113" y="12048"/>
                    </a:cubicBezTo>
                    <a:close/>
                    <a:moveTo>
                      <a:pt x="6241" y="10340"/>
                    </a:moveTo>
                    <a:cubicBezTo>
                      <a:pt x="6241" y="10340"/>
                      <a:pt x="6440" y="10730"/>
                      <a:pt x="6740" y="11315"/>
                    </a:cubicBezTo>
                    <a:cubicBezTo>
                      <a:pt x="7031" y="11906"/>
                      <a:pt x="7382" y="12721"/>
                      <a:pt x="7754" y="13520"/>
                    </a:cubicBezTo>
                    <a:cubicBezTo>
                      <a:pt x="8140" y="14312"/>
                      <a:pt x="8452" y="15151"/>
                      <a:pt x="8707" y="15767"/>
                    </a:cubicBezTo>
                    <a:cubicBezTo>
                      <a:pt x="8960" y="16384"/>
                      <a:pt x="9128" y="16797"/>
                      <a:pt x="9128" y="16797"/>
                    </a:cubicBezTo>
                    <a:lnTo>
                      <a:pt x="10411" y="16004"/>
                    </a:lnTo>
                    <a:cubicBezTo>
                      <a:pt x="10411" y="16004"/>
                      <a:pt x="10238" y="15581"/>
                      <a:pt x="9979" y="14946"/>
                    </a:cubicBezTo>
                    <a:cubicBezTo>
                      <a:pt x="9717" y="14314"/>
                      <a:pt x="9395" y="13452"/>
                      <a:pt x="9001" y="12639"/>
                    </a:cubicBezTo>
                    <a:cubicBezTo>
                      <a:pt x="8618" y="11818"/>
                      <a:pt x="8257" y="10981"/>
                      <a:pt x="7958" y="10375"/>
                    </a:cubicBezTo>
                    <a:cubicBezTo>
                      <a:pt x="7651" y="9775"/>
                      <a:pt x="7447" y="9374"/>
                      <a:pt x="7447" y="9374"/>
                    </a:cubicBezTo>
                    <a:cubicBezTo>
                      <a:pt x="7447" y="9374"/>
                      <a:pt x="6241" y="10340"/>
                      <a:pt x="6241" y="10340"/>
                    </a:cubicBezTo>
                    <a:close/>
                    <a:moveTo>
                      <a:pt x="8368" y="8636"/>
                    </a:moveTo>
                    <a:cubicBezTo>
                      <a:pt x="8368" y="8636"/>
                      <a:pt x="8577" y="9044"/>
                      <a:pt x="8889" y="9657"/>
                    </a:cubicBezTo>
                    <a:cubicBezTo>
                      <a:pt x="9194" y="10275"/>
                      <a:pt x="9563" y="11128"/>
                      <a:pt x="9953" y="11965"/>
                    </a:cubicBezTo>
                    <a:cubicBezTo>
                      <a:pt x="10355" y="12795"/>
                      <a:pt x="10683" y="13674"/>
                      <a:pt x="10951" y="14319"/>
                    </a:cubicBezTo>
                    <a:cubicBezTo>
                      <a:pt x="11216" y="14966"/>
                      <a:pt x="11391" y="15398"/>
                      <a:pt x="11391" y="15398"/>
                    </a:cubicBezTo>
                    <a:lnTo>
                      <a:pt x="12675" y="14604"/>
                    </a:lnTo>
                    <a:cubicBezTo>
                      <a:pt x="12675" y="14604"/>
                      <a:pt x="12495" y="14162"/>
                      <a:pt x="12224" y="13498"/>
                    </a:cubicBezTo>
                    <a:cubicBezTo>
                      <a:pt x="11949" y="12836"/>
                      <a:pt x="11612" y="11935"/>
                      <a:pt x="11200" y="11084"/>
                    </a:cubicBezTo>
                    <a:cubicBezTo>
                      <a:pt x="10800" y="10225"/>
                      <a:pt x="10421" y="9350"/>
                      <a:pt x="10109" y="8716"/>
                    </a:cubicBezTo>
                    <a:cubicBezTo>
                      <a:pt x="9788" y="8088"/>
                      <a:pt x="9574" y="7669"/>
                      <a:pt x="9574" y="7669"/>
                    </a:cubicBezTo>
                    <a:cubicBezTo>
                      <a:pt x="9574" y="7669"/>
                      <a:pt x="8368" y="8636"/>
                      <a:pt x="8368" y="8636"/>
                    </a:cubicBezTo>
                    <a:close/>
                    <a:moveTo>
                      <a:pt x="10496" y="6929"/>
                    </a:moveTo>
                    <a:cubicBezTo>
                      <a:pt x="10496" y="6929"/>
                      <a:pt x="10714" y="7356"/>
                      <a:pt x="11041" y="7996"/>
                    </a:cubicBezTo>
                    <a:cubicBezTo>
                      <a:pt x="11360" y="8643"/>
                      <a:pt x="11746" y="9534"/>
                      <a:pt x="12153" y="10410"/>
                    </a:cubicBezTo>
                    <a:cubicBezTo>
                      <a:pt x="12572" y="11278"/>
                      <a:pt x="12917" y="12195"/>
                      <a:pt x="13197" y="12870"/>
                    </a:cubicBezTo>
                    <a:cubicBezTo>
                      <a:pt x="13473" y="13547"/>
                      <a:pt x="13657" y="13998"/>
                      <a:pt x="13657" y="13998"/>
                    </a:cubicBezTo>
                    <a:lnTo>
                      <a:pt x="14939" y="13205"/>
                    </a:lnTo>
                    <a:cubicBezTo>
                      <a:pt x="14939" y="13205"/>
                      <a:pt x="14751" y="12743"/>
                      <a:pt x="14468" y="12050"/>
                    </a:cubicBezTo>
                    <a:cubicBezTo>
                      <a:pt x="14182" y="11358"/>
                      <a:pt x="13828" y="10418"/>
                      <a:pt x="13399" y="9529"/>
                    </a:cubicBezTo>
                    <a:cubicBezTo>
                      <a:pt x="12982" y="8632"/>
                      <a:pt x="12586" y="7719"/>
                      <a:pt x="12259" y="7056"/>
                    </a:cubicBezTo>
                    <a:cubicBezTo>
                      <a:pt x="11925" y="6400"/>
                      <a:pt x="11702" y="5963"/>
                      <a:pt x="11702" y="5963"/>
                    </a:cubicBezTo>
                    <a:cubicBezTo>
                      <a:pt x="11702" y="5963"/>
                      <a:pt x="10496" y="6929"/>
                      <a:pt x="10496" y="6929"/>
                    </a:cubicBezTo>
                    <a:close/>
                    <a:moveTo>
                      <a:pt x="12623" y="5224"/>
                    </a:moveTo>
                    <a:cubicBezTo>
                      <a:pt x="12623" y="5224"/>
                      <a:pt x="12850" y="5669"/>
                      <a:pt x="13190" y="6338"/>
                    </a:cubicBezTo>
                    <a:cubicBezTo>
                      <a:pt x="13523" y="7013"/>
                      <a:pt x="13927" y="7941"/>
                      <a:pt x="14351" y="8856"/>
                    </a:cubicBezTo>
                    <a:cubicBezTo>
                      <a:pt x="14788" y="9761"/>
                      <a:pt x="15149" y="10718"/>
                      <a:pt x="15440" y="11422"/>
                    </a:cubicBezTo>
                    <a:cubicBezTo>
                      <a:pt x="15728" y="12129"/>
                      <a:pt x="15920" y="12600"/>
                      <a:pt x="15920" y="12600"/>
                    </a:cubicBezTo>
                    <a:lnTo>
                      <a:pt x="17203" y="11806"/>
                    </a:lnTo>
                    <a:cubicBezTo>
                      <a:pt x="17203" y="11806"/>
                      <a:pt x="17008" y="11324"/>
                      <a:pt x="16713" y="10601"/>
                    </a:cubicBezTo>
                    <a:cubicBezTo>
                      <a:pt x="16415" y="9880"/>
                      <a:pt x="16044" y="8902"/>
                      <a:pt x="15598" y="7974"/>
                    </a:cubicBezTo>
                    <a:cubicBezTo>
                      <a:pt x="15164" y="7038"/>
                      <a:pt x="14750" y="6087"/>
                      <a:pt x="14410" y="5397"/>
                    </a:cubicBezTo>
                    <a:cubicBezTo>
                      <a:pt x="14062" y="4713"/>
                      <a:pt x="13829" y="4257"/>
                      <a:pt x="13829" y="4257"/>
                    </a:cubicBezTo>
                    <a:cubicBezTo>
                      <a:pt x="13829" y="4257"/>
                      <a:pt x="12623" y="5224"/>
                      <a:pt x="12623" y="5224"/>
                    </a:cubicBezTo>
                    <a:close/>
                    <a:moveTo>
                      <a:pt x="14752" y="3517"/>
                    </a:moveTo>
                    <a:cubicBezTo>
                      <a:pt x="14752" y="3517"/>
                      <a:pt x="14987" y="3981"/>
                      <a:pt x="15342" y="4678"/>
                    </a:cubicBezTo>
                    <a:cubicBezTo>
                      <a:pt x="15688" y="5380"/>
                      <a:pt x="16110" y="6347"/>
                      <a:pt x="16551" y="7300"/>
                    </a:cubicBezTo>
                    <a:cubicBezTo>
                      <a:pt x="17005" y="8244"/>
                      <a:pt x="17382" y="9240"/>
                      <a:pt x="17686" y="9974"/>
                    </a:cubicBezTo>
                    <a:cubicBezTo>
                      <a:pt x="17985" y="10709"/>
                      <a:pt x="18185" y="11200"/>
                      <a:pt x="18185" y="11200"/>
                    </a:cubicBezTo>
                    <a:lnTo>
                      <a:pt x="19468" y="10408"/>
                    </a:lnTo>
                    <a:cubicBezTo>
                      <a:pt x="19468" y="10408"/>
                      <a:pt x="19263" y="9905"/>
                      <a:pt x="18957" y="9153"/>
                    </a:cubicBezTo>
                    <a:cubicBezTo>
                      <a:pt x="18648" y="8403"/>
                      <a:pt x="18261" y="7385"/>
                      <a:pt x="17797" y="6419"/>
                    </a:cubicBezTo>
                    <a:cubicBezTo>
                      <a:pt x="17347" y="5445"/>
                      <a:pt x="16915" y="4456"/>
                      <a:pt x="16561" y="3737"/>
                    </a:cubicBezTo>
                    <a:cubicBezTo>
                      <a:pt x="16198" y="3026"/>
                      <a:pt x="15957" y="2551"/>
                      <a:pt x="15957" y="2551"/>
                    </a:cubicBezTo>
                    <a:cubicBezTo>
                      <a:pt x="15957" y="2551"/>
                      <a:pt x="14752" y="3517"/>
                      <a:pt x="14752" y="3517"/>
                    </a:cubicBezTo>
                    <a:close/>
                    <a:moveTo>
                      <a:pt x="0" y="14012"/>
                    </a:moveTo>
                    <a:lnTo>
                      <a:pt x="16755" y="0"/>
                    </a:lnTo>
                    <a:cubicBezTo>
                      <a:pt x="16755" y="0"/>
                      <a:pt x="17772" y="1017"/>
                      <a:pt x="18789" y="2034"/>
                    </a:cubicBezTo>
                    <a:cubicBezTo>
                      <a:pt x="19781" y="3089"/>
                      <a:pt x="20762" y="4204"/>
                      <a:pt x="20762" y="4204"/>
                    </a:cubicBezTo>
                    <a:cubicBezTo>
                      <a:pt x="20762" y="4204"/>
                      <a:pt x="20831" y="4620"/>
                      <a:pt x="20933" y="5244"/>
                    </a:cubicBezTo>
                    <a:cubicBezTo>
                      <a:pt x="21033" y="5868"/>
                      <a:pt x="21128" y="6720"/>
                      <a:pt x="21235" y="7553"/>
                    </a:cubicBezTo>
                    <a:cubicBezTo>
                      <a:pt x="21336" y="8384"/>
                      <a:pt x="21437" y="9214"/>
                      <a:pt x="21513" y="9836"/>
                    </a:cubicBezTo>
                    <a:cubicBezTo>
                      <a:pt x="21566" y="10465"/>
                      <a:pt x="21600" y="10883"/>
                      <a:pt x="21600" y="10883"/>
                    </a:cubicBezTo>
                    <a:lnTo>
                      <a:pt x="3376" y="21600"/>
                    </a:lnTo>
                    <a:cubicBezTo>
                      <a:pt x="3376" y="21600"/>
                      <a:pt x="3333" y="21476"/>
                      <a:pt x="3256" y="21258"/>
                    </a:cubicBezTo>
                    <a:cubicBezTo>
                      <a:pt x="3186" y="21037"/>
                      <a:pt x="3061" y="20736"/>
                      <a:pt x="2910" y="20375"/>
                    </a:cubicBezTo>
                    <a:cubicBezTo>
                      <a:pt x="2762" y="20012"/>
                      <a:pt x="2590" y="19589"/>
                      <a:pt x="2405" y="19135"/>
                    </a:cubicBezTo>
                    <a:cubicBezTo>
                      <a:pt x="2314" y="18908"/>
                      <a:pt x="2220" y="18671"/>
                      <a:pt x="2124" y="18432"/>
                    </a:cubicBezTo>
                    <a:cubicBezTo>
                      <a:pt x="2017" y="18201"/>
                      <a:pt x="1908" y="17967"/>
                      <a:pt x="1799" y="17731"/>
                    </a:cubicBezTo>
                    <a:cubicBezTo>
                      <a:pt x="1364" y="16790"/>
                      <a:pt x="953" y="15832"/>
                      <a:pt x="582" y="15160"/>
                    </a:cubicBezTo>
                    <a:cubicBezTo>
                      <a:pt x="232" y="14470"/>
                      <a:pt x="0" y="14012"/>
                      <a:pt x="0" y="14012"/>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397" name="Google Shape;397;p22"/>
              <p:cNvSpPr/>
              <p:nvPr/>
            </p:nvSpPr>
            <p:spPr>
              <a:xfrm>
                <a:off x="6829974" y="3609253"/>
                <a:ext cx="1787573" cy="646222"/>
              </a:xfrm>
              <a:custGeom>
                <a:rect b="b" l="l" r="r" t="t"/>
                <a:pathLst>
                  <a:path extrusionOk="0" h="21600" w="21600">
                    <a:moveTo>
                      <a:pt x="3400" y="14414"/>
                    </a:moveTo>
                    <a:lnTo>
                      <a:pt x="3674" y="17803"/>
                    </a:lnTo>
                    <a:lnTo>
                      <a:pt x="5715" y="16678"/>
                    </a:lnTo>
                    <a:lnTo>
                      <a:pt x="5425" y="13083"/>
                    </a:lnTo>
                    <a:cubicBezTo>
                      <a:pt x="5425" y="13083"/>
                      <a:pt x="3400" y="14414"/>
                      <a:pt x="3400" y="14414"/>
                    </a:cubicBezTo>
                    <a:close/>
                    <a:moveTo>
                      <a:pt x="6318" y="12496"/>
                    </a:moveTo>
                    <a:lnTo>
                      <a:pt x="6616" y="16181"/>
                    </a:lnTo>
                    <a:lnTo>
                      <a:pt x="8657" y="15060"/>
                    </a:lnTo>
                    <a:cubicBezTo>
                      <a:pt x="8657" y="15060"/>
                      <a:pt x="8643" y="14814"/>
                      <a:pt x="8610" y="14450"/>
                    </a:cubicBezTo>
                    <a:cubicBezTo>
                      <a:pt x="8580" y="14085"/>
                      <a:pt x="8541" y="13600"/>
                      <a:pt x="8501" y="13113"/>
                    </a:cubicBezTo>
                    <a:cubicBezTo>
                      <a:pt x="8422" y="12141"/>
                      <a:pt x="8343" y="11167"/>
                      <a:pt x="8343" y="11167"/>
                    </a:cubicBezTo>
                    <a:cubicBezTo>
                      <a:pt x="8343" y="11167"/>
                      <a:pt x="6318" y="12496"/>
                      <a:pt x="6318" y="12496"/>
                    </a:cubicBezTo>
                    <a:close/>
                    <a:moveTo>
                      <a:pt x="9237" y="10583"/>
                    </a:moveTo>
                    <a:cubicBezTo>
                      <a:pt x="9237" y="10583"/>
                      <a:pt x="9317" y="11579"/>
                      <a:pt x="9399" y="12574"/>
                    </a:cubicBezTo>
                    <a:cubicBezTo>
                      <a:pt x="9439" y="13071"/>
                      <a:pt x="9480" y="13568"/>
                      <a:pt x="9510" y="13941"/>
                    </a:cubicBezTo>
                    <a:cubicBezTo>
                      <a:pt x="9542" y="14313"/>
                      <a:pt x="9557" y="14564"/>
                      <a:pt x="9557" y="14564"/>
                    </a:cubicBezTo>
                    <a:lnTo>
                      <a:pt x="11598" y="13446"/>
                    </a:lnTo>
                    <a:cubicBezTo>
                      <a:pt x="11598" y="13446"/>
                      <a:pt x="11584" y="13181"/>
                      <a:pt x="11549" y="12790"/>
                    </a:cubicBezTo>
                    <a:cubicBezTo>
                      <a:pt x="11517" y="12397"/>
                      <a:pt x="11474" y="11875"/>
                      <a:pt x="11432" y="11352"/>
                    </a:cubicBezTo>
                    <a:cubicBezTo>
                      <a:pt x="11347" y="10306"/>
                      <a:pt x="11262" y="9259"/>
                      <a:pt x="11262" y="9259"/>
                    </a:cubicBezTo>
                    <a:cubicBezTo>
                      <a:pt x="11262" y="9259"/>
                      <a:pt x="9237" y="10583"/>
                      <a:pt x="9237" y="10583"/>
                    </a:cubicBezTo>
                    <a:close/>
                    <a:moveTo>
                      <a:pt x="12155" y="8674"/>
                    </a:moveTo>
                    <a:cubicBezTo>
                      <a:pt x="12155" y="8674"/>
                      <a:pt x="12243" y="9744"/>
                      <a:pt x="12329" y="10814"/>
                    </a:cubicBezTo>
                    <a:cubicBezTo>
                      <a:pt x="12373" y="11348"/>
                      <a:pt x="12416" y="11882"/>
                      <a:pt x="12449" y="12283"/>
                    </a:cubicBezTo>
                    <a:cubicBezTo>
                      <a:pt x="12484" y="12683"/>
                      <a:pt x="12499" y="12953"/>
                      <a:pt x="12499" y="12953"/>
                    </a:cubicBezTo>
                    <a:lnTo>
                      <a:pt x="14541" y="11838"/>
                    </a:lnTo>
                    <a:cubicBezTo>
                      <a:pt x="14541" y="11838"/>
                      <a:pt x="14525" y="11553"/>
                      <a:pt x="14489" y="11134"/>
                    </a:cubicBezTo>
                    <a:cubicBezTo>
                      <a:pt x="14455" y="10714"/>
                      <a:pt x="14409" y="10155"/>
                      <a:pt x="14364" y="9595"/>
                    </a:cubicBezTo>
                    <a:cubicBezTo>
                      <a:pt x="14272" y="8474"/>
                      <a:pt x="14181" y="7353"/>
                      <a:pt x="14181" y="7353"/>
                    </a:cubicBezTo>
                    <a:cubicBezTo>
                      <a:pt x="14181" y="7353"/>
                      <a:pt x="12155" y="8674"/>
                      <a:pt x="12155" y="8674"/>
                    </a:cubicBezTo>
                    <a:close/>
                    <a:moveTo>
                      <a:pt x="15075" y="6772"/>
                    </a:moveTo>
                    <a:cubicBezTo>
                      <a:pt x="15075" y="6772"/>
                      <a:pt x="15168" y="7914"/>
                      <a:pt x="15261" y="9058"/>
                    </a:cubicBezTo>
                    <a:cubicBezTo>
                      <a:pt x="15308" y="9629"/>
                      <a:pt x="15354" y="10199"/>
                      <a:pt x="15389" y="10628"/>
                    </a:cubicBezTo>
                    <a:cubicBezTo>
                      <a:pt x="15426" y="11055"/>
                      <a:pt x="15441" y="11346"/>
                      <a:pt x="15441" y="11346"/>
                    </a:cubicBezTo>
                    <a:lnTo>
                      <a:pt x="17483" y="10234"/>
                    </a:lnTo>
                    <a:cubicBezTo>
                      <a:pt x="17483" y="10234"/>
                      <a:pt x="17467" y="9931"/>
                      <a:pt x="17429" y="9484"/>
                    </a:cubicBezTo>
                    <a:cubicBezTo>
                      <a:pt x="17392" y="9037"/>
                      <a:pt x="17344" y="8440"/>
                      <a:pt x="17295" y="7842"/>
                    </a:cubicBezTo>
                    <a:cubicBezTo>
                      <a:pt x="17197" y="6649"/>
                      <a:pt x="17100" y="5456"/>
                      <a:pt x="17100" y="5456"/>
                    </a:cubicBezTo>
                    <a:cubicBezTo>
                      <a:pt x="17100" y="5456"/>
                      <a:pt x="15075" y="6772"/>
                      <a:pt x="15075" y="6772"/>
                    </a:cubicBezTo>
                    <a:close/>
                    <a:moveTo>
                      <a:pt x="17994" y="4875"/>
                    </a:moveTo>
                    <a:cubicBezTo>
                      <a:pt x="17994" y="4875"/>
                      <a:pt x="18094" y="6092"/>
                      <a:pt x="18193" y="7307"/>
                    </a:cubicBezTo>
                    <a:cubicBezTo>
                      <a:pt x="18242" y="7916"/>
                      <a:pt x="18291" y="8524"/>
                      <a:pt x="18328" y="8981"/>
                    </a:cubicBezTo>
                    <a:cubicBezTo>
                      <a:pt x="18368" y="9435"/>
                      <a:pt x="18384" y="9744"/>
                      <a:pt x="18384" y="9744"/>
                    </a:cubicBezTo>
                    <a:lnTo>
                      <a:pt x="20426" y="8635"/>
                    </a:lnTo>
                    <a:cubicBezTo>
                      <a:pt x="20426" y="8635"/>
                      <a:pt x="20409" y="8314"/>
                      <a:pt x="20369" y="7838"/>
                    </a:cubicBezTo>
                    <a:cubicBezTo>
                      <a:pt x="20330" y="7364"/>
                      <a:pt x="20279" y="6730"/>
                      <a:pt x="20228" y="6096"/>
                    </a:cubicBezTo>
                    <a:cubicBezTo>
                      <a:pt x="20124" y="4829"/>
                      <a:pt x="20021" y="3560"/>
                      <a:pt x="20021" y="3560"/>
                    </a:cubicBezTo>
                    <a:cubicBezTo>
                      <a:pt x="20021" y="3560"/>
                      <a:pt x="17994" y="4875"/>
                      <a:pt x="17994" y="4875"/>
                    </a:cubicBezTo>
                    <a:close/>
                    <a:moveTo>
                      <a:pt x="0" y="14812"/>
                    </a:moveTo>
                    <a:lnTo>
                      <a:pt x="20720" y="0"/>
                    </a:lnTo>
                    <a:cubicBezTo>
                      <a:pt x="20720" y="0"/>
                      <a:pt x="20793" y="704"/>
                      <a:pt x="20878" y="1780"/>
                    </a:cubicBezTo>
                    <a:cubicBezTo>
                      <a:pt x="20966" y="2852"/>
                      <a:pt x="21083" y="4281"/>
                      <a:pt x="21200" y="5712"/>
                    </a:cubicBezTo>
                    <a:cubicBezTo>
                      <a:pt x="21257" y="6427"/>
                      <a:pt x="21314" y="7143"/>
                      <a:pt x="21368" y="7814"/>
                    </a:cubicBezTo>
                    <a:cubicBezTo>
                      <a:pt x="21411" y="8490"/>
                      <a:pt x="21451" y="9121"/>
                      <a:pt x="21486" y="9662"/>
                    </a:cubicBezTo>
                    <a:cubicBezTo>
                      <a:pt x="21554" y="10744"/>
                      <a:pt x="21600" y="11466"/>
                      <a:pt x="21600" y="11466"/>
                    </a:cubicBezTo>
                    <a:lnTo>
                      <a:pt x="535" y="21600"/>
                    </a:lnTo>
                    <a:cubicBezTo>
                      <a:pt x="535" y="21600"/>
                      <a:pt x="509" y="21172"/>
                      <a:pt x="468" y="20530"/>
                    </a:cubicBezTo>
                    <a:cubicBezTo>
                      <a:pt x="446" y="20209"/>
                      <a:pt x="427" y="19832"/>
                      <a:pt x="397" y="19433"/>
                    </a:cubicBezTo>
                    <a:cubicBezTo>
                      <a:pt x="364" y="19037"/>
                      <a:pt x="327" y="18615"/>
                      <a:pt x="290" y="18191"/>
                    </a:cubicBezTo>
                    <a:cubicBezTo>
                      <a:pt x="220" y="17345"/>
                      <a:pt x="151" y="16499"/>
                      <a:pt x="98" y="15863"/>
                    </a:cubicBezTo>
                    <a:cubicBezTo>
                      <a:pt x="53" y="15223"/>
                      <a:pt x="0" y="14812"/>
                      <a:pt x="0" y="14812"/>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398" name="Google Shape;398;p22"/>
              <p:cNvSpPr/>
              <p:nvPr/>
            </p:nvSpPr>
            <p:spPr>
              <a:xfrm>
                <a:off x="6124483" y="1687044"/>
                <a:ext cx="2034699" cy="1527822"/>
              </a:xfrm>
              <a:custGeom>
                <a:rect b="b" l="l" r="r" t="t"/>
                <a:pathLst>
                  <a:path extrusionOk="0" h="21600" w="21600">
                    <a:moveTo>
                      <a:pt x="13454" y="3973"/>
                    </a:moveTo>
                    <a:cubicBezTo>
                      <a:pt x="13454" y="3973"/>
                      <a:pt x="13366" y="3842"/>
                      <a:pt x="13235" y="3646"/>
                    </a:cubicBezTo>
                    <a:cubicBezTo>
                      <a:pt x="13097" y="3457"/>
                      <a:pt x="12913" y="3204"/>
                      <a:pt x="12728" y="2952"/>
                    </a:cubicBezTo>
                    <a:cubicBezTo>
                      <a:pt x="12360" y="2449"/>
                      <a:pt x="11991" y="1945"/>
                      <a:pt x="11991" y="1945"/>
                    </a:cubicBezTo>
                    <a:lnTo>
                      <a:pt x="10681" y="3708"/>
                    </a:lnTo>
                    <a:cubicBezTo>
                      <a:pt x="10681" y="3708"/>
                      <a:pt x="11034" y="4190"/>
                      <a:pt x="11388" y="4672"/>
                    </a:cubicBezTo>
                    <a:cubicBezTo>
                      <a:pt x="11564" y="4913"/>
                      <a:pt x="11741" y="5154"/>
                      <a:pt x="11873" y="5335"/>
                    </a:cubicBezTo>
                    <a:cubicBezTo>
                      <a:pt x="11999" y="5524"/>
                      <a:pt x="12083" y="5650"/>
                      <a:pt x="12083" y="5650"/>
                    </a:cubicBezTo>
                    <a:cubicBezTo>
                      <a:pt x="12083" y="5650"/>
                      <a:pt x="13454" y="3973"/>
                      <a:pt x="13454" y="3973"/>
                    </a:cubicBezTo>
                    <a:close/>
                    <a:moveTo>
                      <a:pt x="11343" y="6552"/>
                    </a:moveTo>
                    <a:cubicBezTo>
                      <a:pt x="11343" y="6552"/>
                      <a:pt x="11261" y="6429"/>
                      <a:pt x="11138" y="6245"/>
                    </a:cubicBezTo>
                    <a:cubicBezTo>
                      <a:pt x="11009" y="6068"/>
                      <a:pt x="10837" y="5832"/>
                      <a:pt x="10665" y="5597"/>
                    </a:cubicBezTo>
                    <a:cubicBezTo>
                      <a:pt x="10320" y="5127"/>
                      <a:pt x="9975" y="4656"/>
                      <a:pt x="9975" y="4656"/>
                    </a:cubicBezTo>
                    <a:lnTo>
                      <a:pt x="8662" y="6416"/>
                    </a:lnTo>
                    <a:cubicBezTo>
                      <a:pt x="8662" y="6416"/>
                      <a:pt x="8992" y="6865"/>
                      <a:pt x="9322" y="7314"/>
                    </a:cubicBezTo>
                    <a:cubicBezTo>
                      <a:pt x="9486" y="7539"/>
                      <a:pt x="9650" y="7764"/>
                      <a:pt x="9774" y="7933"/>
                    </a:cubicBezTo>
                    <a:cubicBezTo>
                      <a:pt x="9891" y="8108"/>
                      <a:pt x="9969" y="8226"/>
                      <a:pt x="9969" y="8226"/>
                    </a:cubicBezTo>
                    <a:cubicBezTo>
                      <a:pt x="9969" y="8226"/>
                      <a:pt x="11343" y="6552"/>
                      <a:pt x="11343" y="6552"/>
                    </a:cubicBezTo>
                    <a:close/>
                    <a:moveTo>
                      <a:pt x="9229" y="9127"/>
                    </a:moveTo>
                    <a:cubicBezTo>
                      <a:pt x="9229" y="9127"/>
                      <a:pt x="9152" y="9012"/>
                      <a:pt x="9038" y="8841"/>
                    </a:cubicBezTo>
                    <a:cubicBezTo>
                      <a:pt x="8918" y="8676"/>
                      <a:pt x="8757" y="8457"/>
                      <a:pt x="8597" y="8237"/>
                    </a:cubicBezTo>
                    <a:cubicBezTo>
                      <a:pt x="8276" y="7800"/>
                      <a:pt x="7955" y="7363"/>
                      <a:pt x="7955" y="7363"/>
                    </a:cubicBezTo>
                    <a:lnTo>
                      <a:pt x="6641" y="9119"/>
                    </a:lnTo>
                    <a:cubicBezTo>
                      <a:pt x="6641" y="9119"/>
                      <a:pt x="6947" y="9535"/>
                      <a:pt x="7252" y="9951"/>
                    </a:cubicBezTo>
                    <a:cubicBezTo>
                      <a:pt x="7404" y="10160"/>
                      <a:pt x="7561" y="10364"/>
                      <a:pt x="7671" y="10525"/>
                    </a:cubicBezTo>
                    <a:cubicBezTo>
                      <a:pt x="7780" y="10689"/>
                      <a:pt x="7852" y="10797"/>
                      <a:pt x="7852" y="10797"/>
                    </a:cubicBezTo>
                    <a:cubicBezTo>
                      <a:pt x="7852" y="10797"/>
                      <a:pt x="9229" y="9127"/>
                      <a:pt x="9229" y="9127"/>
                    </a:cubicBezTo>
                    <a:close/>
                    <a:moveTo>
                      <a:pt x="7111" y="11696"/>
                    </a:moveTo>
                    <a:cubicBezTo>
                      <a:pt x="7111" y="11696"/>
                      <a:pt x="7040" y="11591"/>
                      <a:pt x="6935" y="11432"/>
                    </a:cubicBezTo>
                    <a:cubicBezTo>
                      <a:pt x="6828" y="11274"/>
                      <a:pt x="6675" y="11077"/>
                      <a:pt x="6527" y="10874"/>
                    </a:cubicBezTo>
                    <a:cubicBezTo>
                      <a:pt x="6230" y="10469"/>
                      <a:pt x="5933" y="10065"/>
                      <a:pt x="5933" y="10065"/>
                    </a:cubicBezTo>
                    <a:lnTo>
                      <a:pt x="4617" y="11819"/>
                    </a:lnTo>
                    <a:cubicBezTo>
                      <a:pt x="4617" y="11819"/>
                      <a:pt x="4898" y="12202"/>
                      <a:pt x="5180" y="12585"/>
                    </a:cubicBezTo>
                    <a:cubicBezTo>
                      <a:pt x="5320" y="12777"/>
                      <a:pt x="5466" y="12963"/>
                      <a:pt x="5566" y="13114"/>
                    </a:cubicBezTo>
                    <a:cubicBezTo>
                      <a:pt x="5666" y="13264"/>
                      <a:pt x="5733" y="13364"/>
                      <a:pt x="5733" y="13364"/>
                    </a:cubicBezTo>
                    <a:cubicBezTo>
                      <a:pt x="5733" y="13364"/>
                      <a:pt x="7111" y="11696"/>
                      <a:pt x="7111" y="11696"/>
                    </a:cubicBezTo>
                    <a:close/>
                    <a:moveTo>
                      <a:pt x="4990" y="14262"/>
                    </a:moveTo>
                    <a:cubicBezTo>
                      <a:pt x="4990" y="14262"/>
                      <a:pt x="4735" y="13869"/>
                      <a:pt x="4454" y="13505"/>
                    </a:cubicBezTo>
                    <a:cubicBezTo>
                      <a:pt x="4180" y="13134"/>
                      <a:pt x="3907" y="12763"/>
                      <a:pt x="3907" y="12763"/>
                    </a:cubicBezTo>
                    <a:lnTo>
                      <a:pt x="2589" y="14514"/>
                    </a:lnTo>
                    <a:cubicBezTo>
                      <a:pt x="2589" y="14514"/>
                      <a:pt x="2847" y="14864"/>
                      <a:pt x="3105" y="15213"/>
                    </a:cubicBezTo>
                    <a:cubicBezTo>
                      <a:pt x="3370" y="15554"/>
                      <a:pt x="3610" y="15927"/>
                      <a:pt x="3610" y="15927"/>
                    </a:cubicBezTo>
                    <a:cubicBezTo>
                      <a:pt x="3610" y="15927"/>
                      <a:pt x="4990" y="14262"/>
                      <a:pt x="4990" y="14262"/>
                    </a:cubicBezTo>
                    <a:close/>
                    <a:moveTo>
                      <a:pt x="14256" y="5176"/>
                    </a:moveTo>
                    <a:lnTo>
                      <a:pt x="12850" y="6802"/>
                    </a:lnTo>
                    <a:cubicBezTo>
                      <a:pt x="12850" y="6802"/>
                      <a:pt x="13194" y="7297"/>
                      <a:pt x="13504" y="7830"/>
                    </a:cubicBezTo>
                    <a:cubicBezTo>
                      <a:pt x="13821" y="8355"/>
                      <a:pt x="14139" y="8881"/>
                      <a:pt x="14139" y="8881"/>
                    </a:cubicBezTo>
                    <a:lnTo>
                      <a:pt x="15602" y="7347"/>
                    </a:lnTo>
                    <a:cubicBezTo>
                      <a:pt x="15602" y="7347"/>
                      <a:pt x="15270" y="6798"/>
                      <a:pt x="14939" y="6249"/>
                    </a:cubicBezTo>
                    <a:cubicBezTo>
                      <a:pt x="14774" y="5975"/>
                      <a:pt x="14609" y="5700"/>
                      <a:pt x="14474" y="5506"/>
                    </a:cubicBezTo>
                    <a:cubicBezTo>
                      <a:pt x="14343" y="5308"/>
                      <a:pt x="14256" y="5176"/>
                      <a:pt x="14256" y="5176"/>
                    </a:cubicBezTo>
                    <a:close/>
                    <a:moveTo>
                      <a:pt x="13351" y="9706"/>
                    </a:moveTo>
                    <a:cubicBezTo>
                      <a:pt x="13351" y="9706"/>
                      <a:pt x="13041" y="9193"/>
                      <a:pt x="12731" y="8680"/>
                    </a:cubicBezTo>
                    <a:cubicBezTo>
                      <a:pt x="12428" y="8160"/>
                      <a:pt x="12092" y="7677"/>
                      <a:pt x="12092" y="7677"/>
                    </a:cubicBezTo>
                    <a:lnTo>
                      <a:pt x="10685" y="9299"/>
                    </a:lnTo>
                    <a:cubicBezTo>
                      <a:pt x="10685" y="9299"/>
                      <a:pt x="11005" y="9761"/>
                      <a:pt x="11294" y="10258"/>
                    </a:cubicBezTo>
                    <a:cubicBezTo>
                      <a:pt x="11590" y="10747"/>
                      <a:pt x="11886" y="11236"/>
                      <a:pt x="11886" y="11236"/>
                    </a:cubicBezTo>
                    <a:cubicBezTo>
                      <a:pt x="11886" y="11236"/>
                      <a:pt x="13351" y="9706"/>
                      <a:pt x="13351" y="9706"/>
                    </a:cubicBezTo>
                    <a:close/>
                    <a:moveTo>
                      <a:pt x="11098" y="12060"/>
                    </a:moveTo>
                    <a:cubicBezTo>
                      <a:pt x="11098" y="12060"/>
                      <a:pt x="10809" y="11583"/>
                      <a:pt x="10520" y="11107"/>
                    </a:cubicBezTo>
                    <a:cubicBezTo>
                      <a:pt x="10238" y="10622"/>
                      <a:pt x="9927" y="10172"/>
                      <a:pt x="9927" y="10172"/>
                    </a:cubicBezTo>
                    <a:lnTo>
                      <a:pt x="8517" y="11792"/>
                    </a:lnTo>
                    <a:cubicBezTo>
                      <a:pt x="8517" y="11792"/>
                      <a:pt x="8814" y="12220"/>
                      <a:pt x="9081" y="12681"/>
                    </a:cubicBezTo>
                    <a:cubicBezTo>
                      <a:pt x="9356" y="13134"/>
                      <a:pt x="9631" y="13587"/>
                      <a:pt x="9631" y="13587"/>
                    </a:cubicBezTo>
                    <a:cubicBezTo>
                      <a:pt x="9631" y="13587"/>
                      <a:pt x="11098" y="12060"/>
                      <a:pt x="11098" y="12060"/>
                    </a:cubicBezTo>
                    <a:close/>
                    <a:moveTo>
                      <a:pt x="8841" y="14409"/>
                    </a:moveTo>
                    <a:cubicBezTo>
                      <a:pt x="8841" y="14409"/>
                      <a:pt x="8574" y="13969"/>
                      <a:pt x="8306" y="13528"/>
                    </a:cubicBezTo>
                    <a:cubicBezTo>
                      <a:pt x="8046" y="13079"/>
                      <a:pt x="7757" y="12663"/>
                      <a:pt x="7757" y="12663"/>
                    </a:cubicBezTo>
                    <a:lnTo>
                      <a:pt x="6346" y="14280"/>
                    </a:lnTo>
                    <a:cubicBezTo>
                      <a:pt x="6345" y="14280"/>
                      <a:pt x="6619" y="14675"/>
                      <a:pt x="6865" y="15100"/>
                    </a:cubicBezTo>
                    <a:cubicBezTo>
                      <a:pt x="7119" y="15517"/>
                      <a:pt x="7373" y="15934"/>
                      <a:pt x="7373" y="15934"/>
                    </a:cubicBezTo>
                    <a:cubicBezTo>
                      <a:pt x="7373" y="15934"/>
                      <a:pt x="8841" y="14409"/>
                      <a:pt x="8841" y="14409"/>
                    </a:cubicBezTo>
                    <a:close/>
                    <a:moveTo>
                      <a:pt x="6581" y="16753"/>
                    </a:moveTo>
                    <a:cubicBezTo>
                      <a:pt x="6581" y="16753"/>
                      <a:pt x="6335" y="16349"/>
                      <a:pt x="6089" y="15944"/>
                    </a:cubicBezTo>
                    <a:cubicBezTo>
                      <a:pt x="5850" y="15532"/>
                      <a:pt x="5585" y="15149"/>
                      <a:pt x="5585" y="15149"/>
                    </a:cubicBezTo>
                    <a:lnTo>
                      <a:pt x="4172" y="16763"/>
                    </a:lnTo>
                    <a:cubicBezTo>
                      <a:pt x="4172" y="16763"/>
                      <a:pt x="4233" y="16854"/>
                      <a:pt x="4326" y="16991"/>
                    </a:cubicBezTo>
                    <a:cubicBezTo>
                      <a:pt x="4419" y="17128"/>
                      <a:pt x="4529" y="17324"/>
                      <a:pt x="4646" y="17513"/>
                    </a:cubicBezTo>
                    <a:cubicBezTo>
                      <a:pt x="4879" y="17894"/>
                      <a:pt x="5112" y="18275"/>
                      <a:pt x="5112" y="18275"/>
                    </a:cubicBezTo>
                    <a:cubicBezTo>
                      <a:pt x="5112" y="18275"/>
                      <a:pt x="6581" y="16753"/>
                      <a:pt x="6581" y="16753"/>
                    </a:cubicBezTo>
                    <a:close/>
                    <a:moveTo>
                      <a:pt x="0" y="16512"/>
                    </a:moveTo>
                    <a:cubicBezTo>
                      <a:pt x="0" y="16512"/>
                      <a:pt x="2934" y="12393"/>
                      <a:pt x="5868" y="8274"/>
                    </a:cubicBezTo>
                    <a:cubicBezTo>
                      <a:pt x="8787" y="4137"/>
                      <a:pt x="11706" y="0"/>
                      <a:pt x="11706" y="0"/>
                    </a:cubicBezTo>
                    <a:cubicBezTo>
                      <a:pt x="11706" y="0"/>
                      <a:pt x="11859" y="31"/>
                      <a:pt x="12127" y="86"/>
                    </a:cubicBezTo>
                    <a:cubicBezTo>
                      <a:pt x="12394" y="146"/>
                      <a:pt x="12788" y="217"/>
                      <a:pt x="13240" y="346"/>
                    </a:cubicBezTo>
                    <a:cubicBezTo>
                      <a:pt x="14147" y="596"/>
                      <a:pt x="15405" y="932"/>
                      <a:pt x="16631" y="1411"/>
                    </a:cubicBezTo>
                    <a:cubicBezTo>
                      <a:pt x="17246" y="1646"/>
                      <a:pt x="17885" y="1874"/>
                      <a:pt x="18458" y="2136"/>
                    </a:cubicBezTo>
                    <a:cubicBezTo>
                      <a:pt x="19035" y="2394"/>
                      <a:pt x="19579" y="2647"/>
                      <a:pt x="20048" y="2871"/>
                    </a:cubicBezTo>
                    <a:cubicBezTo>
                      <a:pt x="20520" y="3093"/>
                      <a:pt x="20910" y="3292"/>
                      <a:pt x="21176" y="3442"/>
                    </a:cubicBezTo>
                    <a:cubicBezTo>
                      <a:pt x="21446" y="3589"/>
                      <a:pt x="21600" y="3673"/>
                      <a:pt x="21600" y="3673"/>
                    </a:cubicBezTo>
                    <a:cubicBezTo>
                      <a:pt x="21600" y="3673"/>
                      <a:pt x="17033" y="8174"/>
                      <a:pt x="12465" y="12675"/>
                    </a:cubicBezTo>
                    <a:cubicBezTo>
                      <a:pt x="7876" y="17138"/>
                      <a:pt x="3287" y="21600"/>
                      <a:pt x="3287" y="21600"/>
                    </a:cubicBezTo>
                    <a:cubicBezTo>
                      <a:pt x="3287" y="21600"/>
                      <a:pt x="3236" y="21503"/>
                      <a:pt x="3159" y="21357"/>
                    </a:cubicBezTo>
                    <a:cubicBezTo>
                      <a:pt x="3079" y="21214"/>
                      <a:pt x="2984" y="21012"/>
                      <a:pt x="2872" y="20827"/>
                    </a:cubicBezTo>
                    <a:cubicBezTo>
                      <a:pt x="2651" y="20454"/>
                      <a:pt x="2429" y="20081"/>
                      <a:pt x="2429" y="20081"/>
                    </a:cubicBezTo>
                    <a:lnTo>
                      <a:pt x="3711" y="18702"/>
                    </a:lnTo>
                    <a:cubicBezTo>
                      <a:pt x="3711" y="18702"/>
                      <a:pt x="3371" y="18117"/>
                      <a:pt x="2990" y="17579"/>
                    </a:cubicBezTo>
                    <a:cubicBezTo>
                      <a:pt x="2805" y="17304"/>
                      <a:pt x="2621" y="17028"/>
                      <a:pt x="2483" y="16821"/>
                    </a:cubicBezTo>
                    <a:cubicBezTo>
                      <a:pt x="2342" y="16618"/>
                      <a:pt x="2241" y="16490"/>
                      <a:pt x="2241" y="16490"/>
                    </a:cubicBezTo>
                    <a:lnTo>
                      <a:pt x="1068" y="17960"/>
                    </a:lnTo>
                    <a:cubicBezTo>
                      <a:pt x="1068" y="17960"/>
                      <a:pt x="805" y="17593"/>
                      <a:pt x="542" y="17226"/>
                    </a:cubicBezTo>
                    <a:cubicBezTo>
                      <a:pt x="412" y="17039"/>
                      <a:pt x="281" y="16856"/>
                      <a:pt x="173" y="16730"/>
                    </a:cubicBezTo>
                    <a:cubicBezTo>
                      <a:pt x="69" y="16599"/>
                      <a:pt x="0" y="16512"/>
                      <a:pt x="0" y="16512"/>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399" name="Google Shape;399;p22"/>
              <p:cNvSpPr/>
              <p:nvPr/>
            </p:nvSpPr>
            <p:spPr>
              <a:xfrm>
                <a:off x="6707280" y="3220722"/>
                <a:ext cx="1179125" cy="742691"/>
              </a:xfrm>
              <a:custGeom>
                <a:rect b="b" l="l" r="r" t="t"/>
                <a:pathLst>
                  <a:path extrusionOk="0" h="21600" w="21600">
                    <a:moveTo>
                      <a:pt x="3140" y="13463"/>
                    </a:moveTo>
                    <a:lnTo>
                      <a:pt x="3638" y="15621"/>
                    </a:lnTo>
                    <a:lnTo>
                      <a:pt x="5437" y="14604"/>
                    </a:lnTo>
                    <a:lnTo>
                      <a:pt x="4918" y="12364"/>
                    </a:lnTo>
                    <a:cubicBezTo>
                      <a:pt x="4918" y="12364"/>
                      <a:pt x="3140" y="13463"/>
                      <a:pt x="3140" y="13463"/>
                    </a:cubicBezTo>
                    <a:close/>
                    <a:moveTo>
                      <a:pt x="5876" y="11775"/>
                    </a:moveTo>
                    <a:lnTo>
                      <a:pt x="6405" y="14058"/>
                    </a:lnTo>
                    <a:lnTo>
                      <a:pt x="8205" y="13045"/>
                    </a:lnTo>
                    <a:lnTo>
                      <a:pt x="7656" y="10681"/>
                    </a:lnTo>
                    <a:cubicBezTo>
                      <a:pt x="7656" y="10681"/>
                      <a:pt x="5876" y="11775"/>
                      <a:pt x="5876" y="11775"/>
                    </a:cubicBezTo>
                    <a:close/>
                    <a:moveTo>
                      <a:pt x="8615" y="10093"/>
                    </a:moveTo>
                    <a:lnTo>
                      <a:pt x="9175" y="12500"/>
                    </a:lnTo>
                    <a:lnTo>
                      <a:pt x="10976" y="11492"/>
                    </a:lnTo>
                    <a:lnTo>
                      <a:pt x="10395" y="9003"/>
                    </a:lnTo>
                    <a:cubicBezTo>
                      <a:pt x="10395" y="9003"/>
                      <a:pt x="8615" y="10093"/>
                      <a:pt x="8615" y="10093"/>
                    </a:cubicBezTo>
                    <a:close/>
                    <a:moveTo>
                      <a:pt x="11355" y="8417"/>
                    </a:moveTo>
                    <a:lnTo>
                      <a:pt x="11946" y="10949"/>
                    </a:lnTo>
                    <a:lnTo>
                      <a:pt x="13748" y="9946"/>
                    </a:lnTo>
                    <a:lnTo>
                      <a:pt x="13137" y="7331"/>
                    </a:lnTo>
                    <a:cubicBezTo>
                      <a:pt x="13137" y="7331"/>
                      <a:pt x="11355" y="8417"/>
                      <a:pt x="11355" y="8417"/>
                    </a:cubicBezTo>
                    <a:close/>
                    <a:moveTo>
                      <a:pt x="14097" y="6747"/>
                    </a:moveTo>
                    <a:lnTo>
                      <a:pt x="14718" y="9406"/>
                    </a:lnTo>
                    <a:lnTo>
                      <a:pt x="16521" y="8407"/>
                    </a:lnTo>
                    <a:lnTo>
                      <a:pt x="15880" y="5667"/>
                    </a:lnTo>
                    <a:cubicBezTo>
                      <a:pt x="15880" y="5667"/>
                      <a:pt x="14097" y="6747"/>
                      <a:pt x="14097" y="6747"/>
                    </a:cubicBezTo>
                    <a:close/>
                    <a:moveTo>
                      <a:pt x="3890" y="16869"/>
                    </a:moveTo>
                    <a:lnTo>
                      <a:pt x="4320" y="19060"/>
                    </a:lnTo>
                    <a:lnTo>
                      <a:pt x="6145" y="18174"/>
                    </a:lnTo>
                    <a:lnTo>
                      <a:pt x="5698" y="15900"/>
                    </a:lnTo>
                    <a:cubicBezTo>
                      <a:pt x="5698" y="15900"/>
                      <a:pt x="3890" y="16869"/>
                      <a:pt x="3890" y="16869"/>
                    </a:cubicBezTo>
                    <a:close/>
                    <a:moveTo>
                      <a:pt x="6672" y="15379"/>
                    </a:moveTo>
                    <a:lnTo>
                      <a:pt x="7129" y="17698"/>
                    </a:lnTo>
                    <a:lnTo>
                      <a:pt x="8955" y="16817"/>
                    </a:lnTo>
                    <a:lnTo>
                      <a:pt x="8482" y="14415"/>
                    </a:lnTo>
                    <a:cubicBezTo>
                      <a:pt x="8482" y="14415"/>
                      <a:pt x="6672" y="15379"/>
                      <a:pt x="6672" y="15379"/>
                    </a:cubicBezTo>
                    <a:close/>
                    <a:moveTo>
                      <a:pt x="9456" y="13898"/>
                    </a:moveTo>
                    <a:lnTo>
                      <a:pt x="9939" y="16343"/>
                    </a:lnTo>
                    <a:lnTo>
                      <a:pt x="11767" y="15465"/>
                    </a:lnTo>
                    <a:lnTo>
                      <a:pt x="11266" y="12936"/>
                    </a:lnTo>
                    <a:cubicBezTo>
                      <a:pt x="11266" y="12936"/>
                      <a:pt x="9456" y="13898"/>
                      <a:pt x="9456" y="13898"/>
                    </a:cubicBezTo>
                    <a:close/>
                    <a:moveTo>
                      <a:pt x="12241" y="12420"/>
                    </a:moveTo>
                    <a:lnTo>
                      <a:pt x="12752" y="14994"/>
                    </a:lnTo>
                    <a:lnTo>
                      <a:pt x="14580" y="14121"/>
                    </a:lnTo>
                    <a:lnTo>
                      <a:pt x="14053" y="11464"/>
                    </a:lnTo>
                    <a:cubicBezTo>
                      <a:pt x="14053" y="11464"/>
                      <a:pt x="12241" y="12420"/>
                      <a:pt x="12241" y="12420"/>
                    </a:cubicBezTo>
                    <a:close/>
                    <a:moveTo>
                      <a:pt x="15028" y="10950"/>
                    </a:moveTo>
                    <a:lnTo>
                      <a:pt x="15565" y="13653"/>
                    </a:lnTo>
                    <a:lnTo>
                      <a:pt x="17395" y="12784"/>
                    </a:lnTo>
                    <a:lnTo>
                      <a:pt x="16841" y="9998"/>
                    </a:lnTo>
                    <a:cubicBezTo>
                      <a:pt x="16841" y="9998"/>
                      <a:pt x="15028" y="10950"/>
                      <a:pt x="15028" y="10950"/>
                    </a:cubicBezTo>
                    <a:close/>
                    <a:moveTo>
                      <a:pt x="0" y="13918"/>
                    </a:moveTo>
                    <a:cubicBezTo>
                      <a:pt x="0" y="13918"/>
                      <a:pt x="5396" y="10412"/>
                      <a:pt x="10790" y="6906"/>
                    </a:cubicBezTo>
                    <a:cubicBezTo>
                      <a:pt x="16195" y="3453"/>
                      <a:pt x="21600" y="0"/>
                      <a:pt x="21600" y="0"/>
                    </a:cubicBezTo>
                    <a:cubicBezTo>
                      <a:pt x="21600" y="0"/>
                      <a:pt x="21434" y="917"/>
                      <a:pt x="21185" y="2293"/>
                    </a:cubicBezTo>
                    <a:cubicBezTo>
                      <a:pt x="20922" y="3662"/>
                      <a:pt x="20609" y="5430"/>
                      <a:pt x="20206" y="7191"/>
                    </a:cubicBezTo>
                    <a:cubicBezTo>
                      <a:pt x="19808" y="8953"/>
                      <a:pt x="19397" y="10663"/>
                      <a:pt x="19086" y="11920"/>
                    </a:cubicBezTo>
                    <a:cubicBezTo>
                      <a:pt x="18935" y="12547"/>
                      <a:pt x="18783" y="13075"/>
                      <a:pt x="18683" y="13440"/>
                    </a:cubicBezTo>
                    <a:cubicBezTo>
                      <a:pt x="18581" y="13805"/>
                      <a:pt x="18523" y="14013"/>
                      <a:pt x="18523" y="14013"/>
                    </a:cubicBezTo>
                    <a:cubicBezTo>
                      <a:pt x="18523" y="14013"/>
                      <a:pt x="14328" y="15895"/>
                      <a:pt x="10133" y="17777"/>
                    </a:cubicBezTo>
                    <a:cubicBezTo>
                      <a:pt x="5944" y="19689"/>
                      <a:pt x="1754" y="21600"/>
                      <a:pt x="1754" y="21600"/>
                    </a:cubicBezTo>
                    <a:cubicBezTo>
                      <a:pt x="1754" y="21600"/>
                      <a:pt x="1658" y="21002"/>
                      <a:pt x="1521" y="20423"/>
                    </a:cubicBezTo>
                    <a:cubicBezTo>
                      <a:pt x="1396" y="19839"/>
                      <a:pt x="1271" y="19256"/>
                      <a:pt x="1271" y="19256"/>
                    </a:cubicBezTo>
                    <a:lnTo>
                      <a:pt x="2815" y="18457"/>
                    </a:lnTo>
                    <a:cubicBezTo>
                      <a:pt x="2815" y="18457"/>
                      <a:pt x="2655" y="17617"/>
                      <a:pt x="2493" y="16777"/>
                    </a:cubicBezTo>
                    <a:cubicBezTo>
                      <a:pt x="2303" y="15952"/>
                      <a:pt x="2114" y="15128"/>
                      <a:pt x="2114" y="15128"/>
                    </a:cubicBezTo>
                    <a:lnTo>
                      <a:pt x="538" y="16069"/>
                    </a:lnTo>
                    <a:cubicBezTo>
                      <a:pt x="538" y="16069"/>
                      <a:pt x="406" y="15530"/>
                      <a:pt x="272" y="14991"/>
                    </a:cubicBezTo>
                    <a:cubicBezTo>
                      <a:pt x="207" y="14722"/>
                      <a:pt x="141" y="14451"/>
                      <a:pt x="92" y="14249"/>
                    </a:cubicBezTo>
                    <a:cubicBezTo>
                      <a:pt x="43" y="14047"/>
                      <a:pt x="0" y="13918"/>
                      <a:pt x="0" y="13918"/>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00" name="Google Shape;400;p22"/>
              <p:cNvSpPr/>
              <p:nvPr/>
            </p:nvSpPr>
            <p:spPr>
              <a:xfrm>
                <a:off x="5613257" y="1380309"/>
                <a:ext cx="1102921" cy="1418522"/>
              </a:xfrm>
              <a:custGeom>
                <a:rect b="b" l="l" r="r" t="t"/>
                <a:pathLst>
                  <a:path extrusionOk="0" h="21600" w="21600">
                    <a:moveTo>
                      <a:pt x="2520" y="14822"/>
                    </a:moveTo>
                    <a:cubicBezTo>
                      <a:pt x="2520" y="14822"/>
                      <a:pt x="2605" y="14858"/>
                      <a:pt x="2723" y="14924"/>
                    </a:cubicBezTo>
                    <a:cubicBezTo>
                      <a:pt x="2843" y="14988"/>
                      <a:pt x="3003" y="15073"/>
                      <a:pt x="3163" y="15159"/>
                    </a:cubicBezTo>
                    <a:cubicBezTo>
                      <a:pt x="3484" y="15328"/>
                      <a:pt x="3804" y="15498"/>
                      <a:pt x="3804" y="15498"/>
                    </a:cubicBezTo>
                    <a:lnTo>
                      <a:pt x="4932" y="14176"/>
                    </a:lnTo>
                    <a:cubicBezTo>
                      <a:pt x="4932" y="14176"/>
                      <a:pt x="4599" y="14000"/>
                      <a:pt x="4266" y="13824"/>
                    </a:cubicBezTo>
                    <a:cubicBezTo>
                      <a:pt x="4100" y="13736"/>
                      <a:pt x="3934" y="13648"/>
                      <a:pt x="3810" y="13581"/>
                    </a:cubicBezTo>
                    <a:cubicBezTo>
                      <a:pt x="3686" y="13513"/>
                      <a:pt x="3599" y="13475"/>
                      <a:pt x="3599" y="13475"/>
                    </a:cubicBezTo>
                    <a:cubicBezTo>
                      <a:pt x="3599" y="13475"/>
                      <a:pt x="2520" y="14822"/>
                      <a:pt x="2520" y="14822"/>
                    </a:cubicBezTo>
                    <a:close/>
                    <a:moveTo>
                      <a:pt x="4180" y="12749"/>
                    </a:moveTo>
                    <a:cubicBezTo>
                      <a:pt x="4180" y="12749"/>
                      <a:pt x="4286" y="12796"/>
                      <a:pt x="4461" y="12888"/>
                    </a:cubicBezTo>
                    <a:cubicBezTo>
                      <a:pt x="4637" y="12978"/>
                      <a:pt x="4890" y="13106"/>
                      <a:pt x="5194" y="13260"/>
                    </a:cubicBezTo>
                    <a:cubicBezTo>
                      <a:pt x="5799" y="13569"/>
                      <a:pt x="6624" y="13959"/>
                      <a:pt x="7395" y="14415"/>
                    </a:cubicBezTo>
                    <a:cubicBezTo>
                      <a:pt x="8179" y="14853"/>
                      <a:pt x="8972" y="15283"/>
                      <a:pt x="9525" y="15648"/>
                    </a:cubicBezTo>
                    <a:cubicBezTo>
                      <a:pt x="10094" y="15998"/>
                      <a:pt x="10472" y="16232"/>
                      <a:pt x="10472" y="16232"/>
                    </a:cubicBezTo>
                    <a:lnTo>
                      <a:pt x="11775" y="15011"/>
                    </a:lnTo>
                    <a:cubicBezTo>
                      <a:pt x="11775" y="15011"/>
                      <a:pt x="11383" y="14769"/>
                      <a:pt x="10795" y="14407"/>
                    </a:cubicBezTo>
                    <a:cubicBezTo>
                      <a:pt x="10222" y="14029"/>
                      <a:pt x="9404" y="13582"/>
                      <a:pt x="8590" y="13129"/>
                    </a:cubicBezTo>
                    <a:cubicBezTo>
                      <a:pt x="7791" y="12658"/>
                      <a:pt x="6940" y="12252"/>
                      <a:pt x="6311" y="11933"/>
                    </a:cubicBezTo>
                    <a:cubicBezTo>
                      <a:pt x="5996" y="11773"/>
                      <a:pt x="5735" y="11640"/>
                      <a:pt x="5551" y="11548"/>
                    </a:cubicBezTo>
                    <a:cubicBezTo>
                      <a:pt x="5369" y="11453"/>
                      <a:pt x="5262" y="11403"/>
                      <a:pt x="5262" y="11403"/>
                    </a:cubicBezTo>
                    <a:cubicBezTo>
                      <a:pt x="5262" y="11403"/>
                      <a:pt x="4180" y="12749"/>
                      <a:pt x="4180" y="12749"/>
                    </a:cubicBezTo>
                    <a:close/>
                    <a:moveTo>
                      <a:pt x="5845" y="10679"/>
                    </a:moveTo>
                    <a:cubicBezTo>
                      <a:pt x="5845" y="10679"/>
                      <a:pt x="6272" y="10895"/>
                      <a:pt x="6914" y="11218"/>
                    </a:cubicBezTo>
                    <a:cubicBezTo>
                      <a:pt x="7554" y="11542"/>
                      <a:pt x="8420" y="11959"/>
                      <a:pt x="9235" y="12437"/>
                    </a:cubicBezTo>
                    <a:cubicBezTo>
                      <a:pt x="10064" y="12897"/>
                      <a:pt x="10896" y="13354"/>
                      <a:pt x="11481" y="13738"/>
                    </a:cubicBezTo>
                    <a:cubicBezTo>
                      <a:pt x="12080" y="14107"/>
                      <a:pt x="12479" y="14353"/>
                      <a:pt x="12479" y="14353"/>
                    </a:cubicBezTo>
                    <a:lnTo>
                      <a:pt x="13786" y="13134"/>
                    </a:lnTo>
                    <a:cubicBezTo>
                      <a:pt x="13786" y="13134"/>
                      <a:pt x="13373" y="12879"/>
                      <a:pt x="12754" y="12498"/>
                    </a:cubicBezTo>
                    <a:cubicBezTo>
                      <a:pt x="12441" y="12311"/>
                      <a:pt x="12093" y="12074"/>
                      <a:pt x="11690" y="11853"/>
                    </a:cubicBezTo>
                    <a:cubicBezTo>
                      <a:pt x="11288" y="11629"/>
                      <a:pt x="10860" y="11391"/>
                      <a:pt x="10433" y="11152"/>
                    </a:cubicBezTo>
                    <a:cubicBezTo>
                      <a:pt x="9591" y="10659"/>
                      <a:pt x="8696" y="10226"/>
                      <a:pt x="8033" y="9892"/>
                    </a:cubicBezTo>
                    <a:cubicBezTo>
                      <a:pt x="7371" y="9557"/>
                      <a:pt x="6929" y="9334"/>
                      <a:pt x="6929" y="9334"/>
                    </a:cubicBezTo>
                    <a:cubicBezTo>
                      <a:pt x="6929" y="9334"/>
                      <a:pt x="5845" y="10679"/>
                      <a:pt x="5845" y="10679"/>
                    </a:cubicBezTo>
                    <a:close/>
                    <a:moveTo>
                      <a:pt x="7514" y="8610"/>
                    </a:moveTo>
                    <a:cubicBezTo>
                      <a:pt x="7514" y="8610"/>
                      <a:pt x="7964" y="8837"/>
                      <a:pt x="8639" y="9178"/>
                    </a:cubicBezTo>
                    <a:cubicBezTo>
                      <a:pt x="9313" y="9517"/>
                      <a:pt x="10221" y="9959"/>
                      <a:pt x="11078" y="10461"/>
                    </a:cubicBezTo>
                    <a:cubicBezTo>
                      <a:pt x="11513" y="10704"/>
                      <a:pt x="11949" y="10946"/>
                      <a:pt x="12358" y="11174"/>
                    </a:cubicBezTo>
                    <a:cubicBezTo>
                      <a:pt x="12767" y="11401"/>
                      <a:pt x="13121" y="11640"/>
                      <a:pt x="13440" y="11831"/>
                    </a:cubicBezTo>
                    <a:cubicBezTo>
                      <a:pt x="14070" y="12219"/>
                      <a:pt x="14490" y="12478"/>
                      <a:pt x="14490" y="12478"/>
                    </a:cubicBezTo>
                    <a:lnTo>
                      <a:pt x="15798" y="11260"/>
                    </a:lnTo>
                    <a:cubicBezTo>
                      <a:pt x="15798" y="11260"/>
                      <a:pt x="15365" y="10993"/>
                      <a:pt x="14715" y="10592"/>
                    </a:cubicBezTo>
                    <a:cubicBezTo>
                      <a:pt x="14388" y="10395"/>
                      <a:pt x="14018" y="10150"/>
                      <a:pt x="13599" y="9914"/>
                    </a:cubicBezTo>
                    <a:cubicBezTo>
                      <a:pt x="13177" y="9679"/>
                      <a:pt x="12728" y="9428"/>
                      <a:pt x="12279" y="9178"/>
                    </a:cubicBezTo>
                    <a:cubicBezTo>
                      <a:pt x="11394" y="8661"/>
                      <a:pt x="10458" y="8202"/>
                      <a:pt x="9760" y="7853"/>
                    </a:cubicBezTo>
                    <a:cubicBezTo>
                      <a:pt x="9065" y="7501"/>
                      <a:pt x="8601" y="7267"/>
                      <a:pt x="8601" y="7267"/>
                    </a:cubicBezTo>
                    <a:cubicBezTo>
                      <a:pt x="8601" y="7267"/>
                      <a:pt x="7514" y="8610"/>
                      <a:pt x="7514" y="8610"/>
                    </a:cubicBezTo>
                    <a:close/>
                    <a:moveTo>
                      <a:pt x="9186" y="6544"/>
                    </a:moveTo>
                    <a:cubicBezTo>
                      <a:pt x="9186" y="6544"/>
                      <a:pt x="9658" y="6783"/>
                      <a:pt x="10365" y="7139"/>
                    </a:cubicBezTo>
                    <a:cubicBezTo>
                      <a:pt x="11075" y="7494"/>
                      <a:pt x="12026" y="7962"/>
                      <a:pt x="12926" y="8488"/>
                    </a:cubicBezTo>
                    <a:cubicBezTo>
                      <a:pt x="13382" y="8742"/>
                      <a:pt x="13840" y="8997"/>
                      <a:pt x="14267" y="9236"/>
                    </a:cubicBezTo>
                    <a:cubicBezTo>
                      <a:pt x="14694" y="9477"/>
                      <a:pt x="15069" y="9725"/>
                      <a:pt x="15403" y="9926"/>
                    </a:cubicBezTo>
                    <a:cubicBezTo>
                      <a:pt x="16064" y="10333"/>
                      <a:pt x="16504" y="10605"/>
                      <a:pt x="16504" y="10605"/>
                    </a:cubicBezTo>
                    <a:lnTo>
                      <a:pt x="17816" y="9387"/>
                    </a:lnTo>
                    <a:cubicBezTo>
                      <a:pt x="17816" y="9387"/>
                      <a:pt x="17362" y="9108"/>
                      <a:pt x="16680" y="8688"/>
                    </a:cubicBezTo>
                    <a:cubicBezTo>
                      <a:pt x="16338" y="8481"/>
                      <a:pt x="15949" y="8227"/>
                      <a:pt x="15512" y="7977"/>
                    </a:cubicBezTo>
                    <a:cubicBezTo>
                      <a:pt x="15070" y="7731"/>
                      <a:pt x="14600" y="7468"/>
                      <a:pt x="14129" y="7205"/>
                    </a:cubicBezTo>
                    <a:cubicBezTo>
                      <a:pt x="13654" y="6947"/>
                      <a:pt x="13195" y="6670"/>
                      <a:pt x="12738" y="6443"/>
                    </a:cubicBezTo>
                    <a:cubicBezTo>
                      <a:pt x="12281" y="6213"/>
                      <a:pt x="11856" y="5999"/>
                      <a:pt x="11491" y="5816"/>
                    </a:cubicBezTo>
                    <a:cubicBezTo>
                      <a:pt x="10761" y="5448"/>
                      <a:pt x="10274" y="5203"/>
                      <a:pt x="10274" y="5203"/>
                    </a:cubicBezTo>
                    <a:cubicBezTo>
                      <a:pt x="10274" y="5203"/>
                      <a:pt x="9186" y="6544"/>
                      <a:pt x="9186" y="6544"/>
                    </a:cubicBezTo>
                    <a:close/>
                    <a:moveTo>
                      <a:pt x="9145" y="18557"/>
                    </a:moveTo>
                    <a:lnTo>
                      <a:pt x="10289" y="19372"/>
                    </a:lnTo>
                    <a:lnTo>
                      <a:pt x="11660" y="18196"/>
                    </a:lnTo>
                    <a:lnTo>
                      <a:pt x="10470" y="17353"/>
                    </a:lnTo>
                    <a:cubicBezTo>
                      <a:pt x="10470" y="17353"/>
                      <a:pt x="9145" y="18557"/>
                      <a:pt x="9145" y="18557"/>
                    </a:cubicBezTo>
                    <a:close/>
                    <a:moveTo>
                      <a:pt x="11186" y="16704"/>
                    </a:moveTo>
                    <a:lnTo>
                      <a:pt x="12399" y="17563"/>
                    </a:lnTo>
                    <a:lnTo>
                      <a:pt x="13772" y="16390"/>
                    </a:lnTo>
                    <a:lnTo>
                      <a:pt x="12515" y="15500"/>
                    </a:lnTo>
                    <a:cubicBezTo>
                      <a:pt x="12515" y="15500"/>
                      <a:pt x="11186" y="16704"/>
                      <a:pt x="11186" y="16704"/>
                    </a:cubicBezTo>
                    <a:close/>
                    <a:moveTo>
                      <a:pt x="13231" y="14853"/>
                    </a:moveTo>
                    <a:lnTo>
                      <a:pt x="14512" y="15758"/>
                    </a:lnTo>
                    <a:lnTo>
                      <a:pt x="15888" y="14585"/>
                    </a:lnTo>
                    <a:lnTo>
                      <a:pt x="14562" y="13651"/>
                    </a:lnTo>
                    <a:cubicBezTo>
                      <a:pt x="14562" y="13651"/>
                      <a:pt x="13231" y="14853"/>
                      <a:pt x="13231" y="14853"/>
                    </a:cubicBezTo>
                    <a:close/>
                    <a:moveTo>
                      <a:pt x="15280" y="13004"/>
                    </a:moveTo>
                    <a:lnTo>
                      <a:pt x="16630" y="13953"/>
                    </a:lnTo>
                    <a:lnTo>
                      <a:pt x="18007" y="12783"/>
                    </a:lnTo>
                    <a:lnTo>
                      <a:pt x="16615" y="11803"/>
                    </a:lnTo>
                    <a:cubicBezTo>
                      <a:pt x="16615" y="11803"/>
                      <a:pt x="15280" y="13004"/>
                      <a:pt x="15280" y="13004"/>
                    </a:cubicBezTo>
                    <a:close/>
                    <a:moveTo>
                      <a:pt x="17333" y="11157"/>
                    </a:moveTo>
                    <a:lnTo>
                      <a:pt x="18749" y="12153"/>
                    </a:lnTo>
                    <a:lnTo>
                      <a:pt x="20129" y="10984"/>
                    </a:lnTo>
                    <a:lnTo>
                      <a:pt x="18669" y="9958"/>
                    </a:lnTo>
                    <a:cubicBezTo>
                      <a:pt x="18669" y="9958"/>
                      <a:pt x="17333" y="11157"/>
                      <a:pt x="17333" y="11157"/>
                    </a:cubicBezTo>
                    <a:close/>
                    <a:moveTo>
                      <a:pt x="9729" y="16864"/>
                    </a:moveTo>
                    <a:lnTo>
                      <a:pt x="8488" y="16065"/>
                    </a:lnTo>
                    <a:lnTo>
                      <a:pt x="7233" y="17316"/>
                    </a:lnTo>
                    <a:lnTo>
                      <a:pt x="8428" y="18087"/>
                    </a:lnTo>
                    <a:cubicBezTo>
                      <a:pt x="8428" y="18087"/>
                      <a:pt x="9729" y="16864"/>
                      <a:pt x="9729" y="16864"/>
                    </a:cubicBezTo>
                    <a:close/>
                    <a:moveTo>
                      <a:pt x="7387" y="15477"/>
                    </a:moveTo>
                    <a:lnTo>
                      <a:pt x="6099" y="14724"/>
                    </a:lnTo>
                    <a:lnTo>
                      <a:pt x="4930" y="16024"/>
                    </a:lnTo>
                    <a:lnTo>
                      <a:pt x="6171" y="16752"/>
                    </a:lnTo>
                    <a:cubicBezTo>
                      <a:pt x="6171" y="16752"/>
                      <a:pt x="7387" y="15477"/>
                      <a:pt x="7387" y="15477"/>
                    </a:cubicBezTo>
                    <a:close/>
                    <a:moveTo>
                      <a:pt x="0" y="16596"/>
                    </a:moveTo>
                    <a:cubicBezTo>
                      <a:pt x="0" y="16596"/>
                      <a:pt x="3200" y="12440"/>
                      <a:pt x="6401" y="8284"/>
                    </a:cubicBezTo>
                    <a:cubicBezTo>
                      <a:pt x="9633" y="4142"/>
                      <a:pt x="12865" y="0"/>
                      <a:pt x="12865" y="0"/>
                    </a:cubicBezTo>
                    <a:cubicBezTo>
                      <a:pt x="12865" y="0"/>
                      <a:pt x="13034" y="164"/>
                      <a:pt x="13329" y="450"/>
                    </a:cubicBezTo>
                    <a:cubicBezTo>
                      <a:pt x="13629" y="727"/>
                      <a:pt x="14024" y="1161"/>
                      <a:pt x="14498" y="1667"/>
                    </a:cubicBezTo>
                    <a:cubicBezTo>
                      <a:pt x="14968" y="2178"/>
                      <a:pt x="15522" y="2754"/>
                      <a:pt x="16077" y="3395"/>
                    </a:cubicBezTo>
                    <a:cubicBezTo>
                      <a:pt x="16611" y="4040"/>
                      <a:pt x="17179" y="4728"/>
                      <a:pt x="17749" y="5417"/>
                    </a:cubicBezTo>
                    <a:cubicBezTo>
                      <a:pt x="18821" y="6824"/>
                      <a:pt x="19838" y="8197"/>
                      <a:pt x="20499" y="9279"/>
                    </a:cubicBezTo>
                    <a:cubicBezTo>
                      <a:pt x="20835" y="9808"/>
                      <a:pt x="21116" y="10249"/>
                      <a:pt x="21312" y="10557"/>
                    </a:cubicBezTo>
                    <a:cubicBezTo>
                      <a:pt x="21410" y="10709"/>
                      <a:pt x="21481" y="10832"/>
                      <a:pt x="21528" y="10918"/>
                    </a:cubicBezTo>
                    <a:cubicBezTo>
                      <a:pt x="21575" y="11003"/>
                      <a:pt x="21600" y="11048"/>
                      <a:pt x="21600" y="11048"/>
                    </a:cubicBezTo>
                    <a:cubicBezTo>
                      <a:pt x="21600" y="11048"/>
                      <a:pt x="18399" y="13681"/>
                      <a:pt x="15197" y="16313"/>
                    </a:cubicBezTo>
                    <a:cubicBezTo>
                      <a:pt x="12010" y="18956"/>
                      <a:pt x="8824" y="21600"/>
                      <a:pt x="8824" y="21600"/>
                    </a:cubicBezTo>
                    <a:lnTo>
                      <a:pt x="7559" y="20750"/>
                    </a:lnTo>
                    <a:lnTo>
                      <a:pt x="8703" y="19734"/>
                    </a:lnTo>
                    <a:cubicBezTo>
                      <a:pt x="8703" y="19734"/>
                      <a:pt x="8610" y="19669"/>
                      <a:pt x="8447" y="19557"/>
                    </a:cubicBezTo>
                    <a:cubicBezTo>
                      <a:pt x="8282" y="19445"/>
                      <a:pt x="8057" y="19277"/>
                      <a:pt x="7758" y="19102"/>
                    </a:cubicBezTo>
                    <a:cubicBezTo>
                      <a:pt x="7465" y="18921"/>
                      <a:pt x="7124" y="18710"/>
                      <a:pt x="6758" y="18484"/>
                    </a:cubicBezTo>
                    <a:cubicBezTo>
                      <a:pt x="6394" y="18256"/>
                      <a:pt x="6011" y="18007"/>
                      <a:pt x="5598" y="17790"/>
                    </a:cubicBezTo>
                    <a:cubicBezTo>
                      <a:pt x="4782" y="17344"/>
                      <a:pt x="3996" y="16864"/>
                      <a:pt x="3354" y="16566"/>
                    </a:cubicBezTo>
                    <a:cubicBezTo>
                      <a:pt x="2728" y="16248"/>
                      <a:pt x="2311" y="16036"/>
                      <a:pt x="2311" y="16036"/>
                    </a:cubicBezTo>
                    <a:lnTo>
                      <a:pt x="1343" y="17215"/>
                    </a:lnTo>
                    <a:cubicBezTo>
                      <a:pt x="1343" y="17215"/>
                      <a:pt x="1261" y="17173"/>
                      <a:pt x="1139" y="17111"/>
                    </a:cubicBezTo>
                    <a:cubicBezTo>
                      <a:pt x="1018" y="17046"/>
                      <a:pt x="850" y="16969"/>
                      <a:pt x="678" y="16897"/>
                    </a:cubicBezTo>
                    <a:cubicBezTo>
                      <a:pt x="339" y="16746"/>
                      <a:pt x="0" y="16596"/>
                      <a:pt x="0" y="16596"/>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01" name="Google Shape;401;p22"/>
              <p:cNvSpPr/>
              <p:nvPr/>
            </p:nvSpPr>
            <p:spPr>
              <a:xfrm>
                <a:off x="6891321" y="4253397"/>
                <a:ext cx="646262" cy="465566"/>
              </a:xfrm>
              <a:custGeom>
                <a:rect b="b" l="l" r="r" t="t"/>
                <a:pathLst>
                  <a:path extrusionOk="0" h="21600" w="21600">
                    <a:moveTo>
                      <a:pt x="15442" y="18887"/>
                    </a:moveTo>
                    <a:cubicBezTo>
                      <a:pt x="15442" y="18887"/>
                      <a:pt x="15424" y="17913"/>
                      <a:pt x="15398" y="16450"/>
                    </a:cubicBezTo>
                    <a:cubicBezTo>
                      <a:pt x="15378" y="15720"/>
                      <a:pt x="15390" y="14863"/>
                      <a:pt x="15343" y="13952"/>
                    </a:cubicBezTo>
                    <a:cubicBezTo>
                      <a:pt x="15292" y="13043"/>
                      <a:pt x="15237" y="12072"/>
                      <a:pt x="15182" y="11102"/>
                    </a:cubicBezTo>
                    <a:cubicBezTo>
                      <a:pt x="15061" y="9162"/>
                      <a:pt x="15013" y="7212"/>
                      <a:pt x="14839" y="5770"/>
                    </a:cubicBezTo>
                    <a:cubicBezTo>
                      <a:pt x="14706" y="4325"/>
                      <a:pt x="14617" y="3360"/>
                      <a:pt x="14617" y="3360"/>
                    </a:cubicBezTo>
                    <a:lnTo>
                      <a:pt x="11968" y="3836"/>
                    </a:lnTo>
                    <a:cubicBezTo>
                      <a:pt x="11968" y="3836"/>
                      <a:pt x="12054" y="4776"/>
                      <a:pt x="12184" y="6183"/>
                    </a:cubicBezTo>
                    <a:cubicBezTo>
                      <a:pt x="12354" y="7584"/>
                      <a:pt x="12399" y="9486"/>
                      <a:pt x="12517" y="11374"/>
                    </a:cubicBezTo>
                    <a:cubicBezTo>
                      <a:pt x="12571" y="12319"/>
                      <a:pt x="12624" y="13265"/>
                      <a:pt x="12675" y="14151"/>
                    </a:cubicBezTo>
                    <a:cubicBezTo>
                      <a:pt x="12720" y="15037"/>
                      <a:pt x="12709" y="15871"/>
                      <a:pt x="12729" y="16583"/>
                    </a:cubicBezTo>
                    <a:cubicBezTo>
                      <a:pt x="12754" y="18007"/>
                      <a:pt x="12769" y="18957"/>
                      <a:pt x="12769" y="18957"/>
                    </a:cubicBezTo>
                    <a:cubicBezTo>
                      <a:pt x="12769" y="18957"/>
                      <a:pt x="15442" y="18887"/>
                      <a:pt x="15442" y="18887"/>
                    </a:cubicBezTo>
                    <a:close/>
                    <a:moveTo>
                      <a:pt x="10727" y="19011"/>
                    </a:moveTo>
                    <a:cubicBezTo>
                      <a:pt x="10727" y="19011"/>
                      <a:pt x="10711" y="18080"/>
                      <a:pt x="10686" y="16685"/>
                    </a:cubicBezTo>
                    <a:cubicBezTo>
                      <a:pt x="10667" y="15987"/>
                      <a:pt x="10678" y="15171"/>
                      <a:pt x="10633" y="14302"/>
                    </a:cubicBezTo>
                    <a:cubicBezTo>
                      <a:pt x="10584" y="13433"/>
                      <a:pt x="10531" y="12508"/>
                      <a:pt x="10478" y="11582"/>
                    </a:cubicBezTo>
                    <a:cubicBezTo>
                      <a:pt x="10362" y="9733"/>
                      <a:pt x="10320" y="7871"/>
                      <a:pt x="10154" y="6498"/>
                    </a:cubicBezTo>
                    <a:cubicBezTo>
                      <a:pt x="10025" y="5119"/>
                      <a:pt x="9940" y="4200"/>
                      <a:pt x="9940" y="4200"/>
                    </a:cubicBezTo>
                    <a:lnTo>
                      <a:pt x="7291" y="4675"/>
                    </a:lnTo>
                    <a:cubicBezTo>
                      <a:pt x="7291" y="4675"/>
                      <a:pt x="7373" y="5569"/>
                      <a:pt x="7499" y="6911"/>
                    </a:cubicBezTo>
                    <a:cubicBezTo>
                      <a:pt x="7663" y="8245"/>
                      <a:pt x="7700" y="10055"/>
                      <a:pt x="7814" y="11855"/>
                    </a:cubicBezTo>
                    <a:cubicBezTo>
                      <a:pt x="7865" y="12755"/>
                      <a:pt x="7918" y="13655"/>
                      <a:pt x="7966" y="14499"/>
                    </a:cubicBezTo>
                    <a:cubicBezTo>
                      <a:pt x="8011" y="15344"/>
                      <a:pt x="7997" y="16141"/>
                      <a:pt x="8015" y="16817"/>
                    </a:cubicBezTo>
                    <a:cubicBezTo>
                      <a:pt x="8040" y="18176"/>
                      <a:pt x="8056" y="19081"/>
                      <a:pt x="8056" y="19081"/>
                    </a:cubicBezTo>
                    <a:cubicBezTo>
                      <a:pt x="8056" y="19081"/>
                      <a:pt x="10727" y="19011"/>
                      <a:pt x="10727" y="19011"/>
                    </a:cubicBezTo>
                    <a:close/>
                    <a:moveTo>
                      <a:pt x="6012" y="19134"/>
                    </a:moveTo>
                    <a:cubicBezTo>
                      <a:pt x="6012" y="19134"/>
                      <a:pt x="5996" y="18248"/>
                      <a:pt x="5972" y="16920"/>
                    </a:cubicBezTo>
                    <a:cubicBezTo>
                      <a:pt x="5955" y="16256"/>
                      <a:pt x="5970" y="15479"/>
                      <a:pt x="5925" y="14650"/>
                    </a:cubicBezTo>
                    <a:cubicBezTo>
                      <a:pt x="5877" y="13824"/>
                      <a:pt x="5826" y="12944"/>
                      <a:pt x="5776" y="12062"/>
                    </a:cubicBezTo>
                    <a:cubicBezTo>
                      <a:pt x="5664" y="10303"/>
                      <a:pt x="5628" y="8531"/>
                      <a:pt x="5467" y="7225"/>
                    </a:cubicBezTo>
                    <a:cubicBezTo>
                      <a:pt x="5345" y="5914"/>
                      <a:pt x="5263" y="5039"/>
                      <a:pt x="5263" y="5039"/>
                    </a:cubicBezTo>
                    <a:lnTo>
                      <a:pt x="2613" y="5515"/>
                    </a:lnTo>
                    <a:cubicBezTo>
                      <a:pt x="2613" y="5515"/>
                      <a:pt x="2693" y="6363"/>
                      <a:pt x="2811" y="7637"/>
                    </a:cubicBezTo>
                    <a:cubicBezTo>
                      <a:pt x="2970" y="8904"/>
                      <a:pt x="3002" y="10626"/>
                      <a:pt x="3110" y="12336"/>
                    </a:cubicBezTo>
                    <a:cubicBezTo>
                      <a:pt x="3161" y="13190"/>
                      <a:pt x="3210" y="14047"/>
                      <a:pt x="3258" y="14848"/>
                    </a:cubicBezTo>
                    <a:cubicBezTo>
                      <a:pt x="3299" y="15651"/>
                      <a:pt x="3285" y="16407"/>
                      <a:pt x="3303" y="17053"/>
                    </a:cubicBezTo>
                    <a:cubicBezTo>
                      <a:pt x="3325" y="18343"/>
                      <a:pt x="3340" y="19205"/>
                      <a:pt x="3340" y="19205"/>
                    </a:cubicBezTo>
                    <a:cubicBezTo>
                      <a:pt x="3340" y="19205"/>
                      <a:pt x="6012" y="19134"/>
                      <a:pt x="6012" y="19134"/>
                    </a:cubicBezTo>
                    <a:close/>
                    <a:moveTo>
                      <a:pt x="18126" y="9520"/>
                    </a:moveTo>
                    <a:cubicBezTo>
                      <a:pt x="17513" y="9593"/>
                      <a:pt x="17045" y="10195"/>
                      <a:pt x="17083" y="10866"/>
                    </a:cubicBezTo>
                    <a:cubicBezTo>
                      <a:pt x="17119" y="11536"/>
                      <a:pt x="17647" y="12037"/>
                      <a:pt x="18260" y="11982"/>
                    </a:cubicBezTo>
                    <a:cubicBezTo>
                      <a:pt x="18874" y="11928"/>
                      <a:pt x="19341" y="11325"/>
                      <a:pt x="19303" y="10637"/>
                    </a:cubicBezTo>
                    <a:cubicBezTo>
                      <a:pt x="19266" y="9949"/>
                      <a:pt x="18737" y="9450"/>
                      <a:pt x="18126" y="9520"/>
                    </a:cubicBezTo>
                    <a:close/>
                    <a:moveTo>
                      <a:pt x="18799" y="21600"/>
                    </a:moveTo>
                    <a:lnTo>
                      <a:pt x="963" y="21600"/>
                    </a:lnTo>
                    <a:lnTo>
                      <a:pt x="910" y="19268"/>
                    </a:lnTo>
                    <a:lnTo>
                      <a:pt x="1297" y="19259"/>
                    </a:lnTo>
                    <a:cubicBezTo>
                      <a:pt x="1297" y="19259"/>
                      <a:pt x="1283" y="18417"/>
                      <a:pt x="1262" y="17154"/>
                    </a:cubicBezTo>
                    <a:cubicBezTo>
                      <a:pt x="1243" y="16525"/>
                      <a:pt x="1257" y="15785"/>
                      <a:pt x="1216" y="15000"/>
                    </a:cubicBezTo>
                    <a:cubicBezTo>
                      <a:pt x="1171" y="14217"/>
                      <a:pt x="1121" y="13381"/>
                      <a:pt x="1072" y="12543"/>
                    </a:cubicBezTo>
                    <a:cubicBezTo>
                      <a:pt x="965" y="10873"/>
                      <a:pt x="937" y="9190"/>
                      <a:pt x="781" y="7953"/>
                    </a:cubicBezTo>
                    <a:cubicBezTo>
                      <a:pt x="664" y="6708"/>
                      <a:pt x="586" y="5878"/>
                      <a:pt x="586" y="5878"/>
                    </a:cubicBezTo>
                    <a:lnTo>
                      <a:pt x="203" y="5948"/>
                    </a:lnTo>
                    <a:lnTo>
                      <a:pt x="0" y="3648"/>
                    </a:lnTo>
                    <a:lnTo>
                      <a:pt x="17641" y="0"/>
                    </a:lnTo>
                    <a:cubicBezTo>
                      <a:pt x="17641" y="0"/>
                      <a:pt x="18663" y="2521"/>
                      <a:pt x="19685" y="5042"/>
                    </a:cubicBezTo>
                    <a:cubicBezTo>
                      <a:pt x="20224" y="6316"/>
                      <a:pt x="20667" y="7625"/>
                      <a:pt x="21018" y="8612"/>
                    </a:cubicBezTo>
                    <a:cubicBezTo>
                      <a:pt x="21366" y="9603"/>
                      <a:pt x="21600" y="10265"/>
                      <a:pt x="21600" y="10265"/>
                    </a:cubicBezTo>
                    <a:cubicBezTo>
                      <a:pt x="21600" y="10265"/>
                      <a:pt x="21443" y="10988"/>
                      <a:pt x="21207" y="12073"/>
                    </a:cubicBezTo>
                    <a:cubicBezTo>
                      <a:pt x="21090" y="12612"/>
                      <a:pt x="20952" y="13240"/>
                      <a:pt x="20807" y="13911"/>
                    </a:cubicBezTo>
                    <a:cubicBezTo>
                      <a:pt x="20634" y="14581"/>
                      <a:pt x="20449" y="15293"/>
                      <a:pt x="20266" y="16007"/>
                    </a:cubicBezTo>
                    <a:cubicBezTo>
                      <a:pt x="19532" y="18804"/>
                      <a:pt x="18799" y="21600"/>
                      <a:pt x="18799" y="21600"/>
                    </a:cubicBezTo>
                    <a:close/>
                  </a:path>
                </a:pathLst>
              </a:custGeom>
              <a:solidFill>
                <a:srgbClr val="E6E7EA"/>
              </a:solidFill>
              <a:ln cap="flat" cmpd="sng" w="8650">
                <a:solidFill>
                  <a:srgbClr val="A6AAA9"/>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02" name="Google Shape;402;p22"/>
              <p:cNvSpPr/>
              <p:nvPr/>
            </p:nvSpPr>
            <p:spPr>
              <a:xfrm>
                <a:off x="6441443" y="5868870"/>
                <a:ext cx="1204727" cy="978320"/>
              </a:xfrm>
              <a:custGeom>
                <a:rect b="b" l="l" r="r" t="t"/>
                <a:pathLst>
                  <a:path extrusionOk="0" h="21600" w="21600">
                    <a:moveTo>
                      <a:pt x="4727" y="2002"/>
                    </a:moveTo>
                    <a:cubicBezTo>
                      <a:pt x="4727" y="2002"/>
                      <a:pt x="4575" y="2368"/>
                      <a:pt x="4347" y="2917"/>
                    </a:cubicBezTo>
                    <a:cubicBezTo>
                      <a:pt x="4096" y="3451"/>
                      <a:pt x="3762" y="4163"/>
                      <a:pt x="3429" y="4876"/>
                    </a:cubicBezTo>
                    <a:cubicBezTo>
                      <a:pt x="3108" y="5598"/>
                      <a:pt x="2712" y="6265"/>
                      <a:pt x="2452" y="6793"/>
                    </a:cubicBezTo>
                    <a:cubicBezTo>
                      <a:pt x="2183" y="7314"/>
                      <a:pt x="2005" y="7662"/>
                      <a:pt x="2005" y="7662"/>
                    </a:cubicBezTo>
                    <a:lnTo>
                      <a:pt x="3195" y="8649"/>
                    </a:lnTo>
                    <a:cubicBezTo>
                      <a:pt x="3195" y="8649"/>
                      <a:pt x="3379" y="8291"/>
                      <a:pt x="3656" y="7754"/>
                    </a:cubicBezTo>
                    <a:cubicBezTo>
                      <a:pt x="3923" y="7211"/>
                      <a:pt x="4329" y="6523"/>
                      <a:pt x="4661" y="5780"/>
                    </a:cubicBezTo>
                    <a:cubicBezTo>
                      <a:pt x="5005" y="5046"/>
                      <a:pt x="5348" y="4313"/>
                      <a:pt x="5606" y="3762"/>
                    </a:cubicBezTo>
                    <a:cubicBezTo>
                      <a:pt x="5841" y="3198"/>
                      <a:pt x="5998" y="2821"/>
                      <a:pt x="5998" y="2821"/>
                    </a:cubicBezTo>
                    <a:cubicBezTo>
                      <a:pt x="5998" y="2821"/>
                      <a:pt x="4727" y="2002"/>
                      <a:pt x="4727" y="2002"/>
                    </a:cubicBezTo>
                    <a:close/>
                    <a:moveTo>
                      <a:pt x="6969" y="3447"/>
                    </a:moveTo>
                    <a:cubicBezTo>
                      <a:pt x="6969" y="3447"/>
                      <a:pt x="6808" y="3831"/>
                      <a:pt x="6567" y="4408"/>
                    </a:cubicBezTo>
                    <a:cubicBezTo>
                      <a:pt x="6303" y="4971"/>
                      <a:pt x="5954" y="5721"/>
                      <a:pt x="5602" y="6471"/>
                    </a:cubicBezTo>
                    <a:cubicBezTo>
                      <a:pt x="5263" y="7230"/>
                      <a:pt x="4848" y="7934"/>
                      <a:pt x="4575" y="8489"/>
                    </a:cubicBezTo>
                    <a:cubicBezTo>
                      <a:pt x="4292" y="9037"/>
                      <a:pt x="4103" y="9403"/>
                      <a:pt x="4103" y="9403"/>
                    </a:cubicBezTo>
                    <a:lnTo>
                      <a:pt x="5293" y="10389"/>
                    </a:lnTo>
                    <a:cubicBezTo>
                      <a:pt x="5293" y="10389"/>
                      <a:pt x="5487" y="10014"/>
                      <a:pt x="5778" y="9450"/>
                    </a:cubicBezTo>
                    <a:cubicBezTo>
                      <a:pt x="6060" y="8879"/>
                      <a:pt x="6485" y="8155"/>
                      <a:pt x="6834" y="7375"/>
                    </a:cubicBezTo>
                    <a:cubicBezTo>
                      <a:pt x="7195" y="6604"/>
                      <a:pt x="7555" y="5833"/>
                      <a:pt x="7826" y="5254"/>
                    </a:cubicBezTo>
                    <a:cubicBezTo>
                      <a:pt x="8074" y="4661"/>
                      <a:pt x="8239" y="4266"/>
                      <a:pt x="8239" y="4266"/>
                    </a:cubicBezTo>
                    <a:cubicBezTo>
                      <a:pt x="8239" y="4266"/>
                      <a:pt x="6969" y="3447"/>
                      <a:pt x="6969" y="3447"/>
                    </a:cubicBezTo>
                    <a:close/>
                    <a:moveTo>
                      <a:pt x="9211" y="4891"/>
                    </a:moveTo>
                    <a:cubicBezTo>
                      <a:pt x="9211" y="4891"/>
                      <a:pt x="9042" y="5296"/>
                      <a:pt x="8789" y="5901"/>
                    </a:cubicBezTo>
                    <a:cubicBezTo>
                      <a:pt x="8513" y="6492"/>
                      <a:pt x="8144" y="7279"/>
                      <a:pt x="7775" y="8067"/>
                    </a:cubicBezTo>
                    <a:cubicBezTo>
                      <a:pt x="7419" y="8862"/>
                      <a:pt x="6985" y="9602"/>
                      <a:pt x="6697" y="10184"/>
                    </a:cubicBezTo>
                    <a:cubicBezTo>
                      <a:pt x="6400" y="10760"/>
                      <a:pt x="6202" y="11144"/>
                      <a:pt x="6202" y="11144"/>
                    </a:cubicBezTo>
                    <a:lnTo>
                      <a:pt x="7391" y="12129"/>
                    </a:lnTo>
                    <a:cubicBezTo>
                      <a:pt x="7391" y="12129"/>
                      <a:pt x="7595" y="11736"/>
                      <a:pt x="7900" y="11145"/>
                    </a:cubicBezTo>
                    <a:cubicBezTo>
                      <a:pt x="8196" y="10547"/>
                      <a:pt x="8640" y="9787"/>
                      <a:pt x="9007" y="8970"/>
                    </a:cubicBezTo>
                    <a:cubicBezTo>
                      <a:pt x="9385" y="8162"/>
                      <a:pt x="9763" y="7352"/>
                      <a:pt x="10047" y="6746"/>
                    </a:cubicBezTo>
                    <a:cubicBezTo>
                      <a:pt x="10308" y="6124"/>
                      <a:pt x="10481" y="5710"/>
                      <a:pt x="10481" y="5710"/>
                    </a:cubicBezTo>
                    <a:cubicBezTo>
                      <a:pt x="10481" y="5710"/>
                      <a:pt x="9211" y="4891"/>
                      <a:pt x="9211" y="4891"/>
                    </a:cubicBezTo>
                    <a:close/>
                    <a:moveTo>
                      <a:pt x="11452" y="6335"/>
                    </a:moveTo>
                    <a:cubicBezTo>
                      <a:pt x="11452" y="6335"/>
                      <a:pt x="11275" y="6758"/>
                      <a:pt x="11008" y="7392"/>
                    </a:cubicBezTo>
                    <a:cubicBezTo>
                      <a:pt x="10719" y="8011"/>
                      <a:pt x="10334" y="8836"/>
                      <a:pt x="9948" y="9661"/>
                    </a:cubicBezTo>
                    <a:cubicBezTo>
                      <a:pt x="9573" y="10494"/>
                      <a:pt x="9121" y="11270"/>
                      <a:pt x="8818" y="11879"/>
                    </a:cubicBezTo>
                    <a:cubicBezTo>
                      <a:pt x="8507" y="12482"/>
                      <a:pt x="8300" y="12883"/>
                      <a:pt x="8300" y="12883"/>
                    </a:cubicBezTo>
                    <a:lnTo>
                      <a:pt x="9489" y="13870"/>
                    </a:lnTo>
                    <a:cubicBezTo>
                      <a:pt x="9489" y="13870"/>
                      <a:pt x="9702" y="13458"/>
                      <a:pt x="10022" y="12841"/>
                    </a:cubicBezTo>
                    <a:cubicBezTo>
                      <a:pt x="10332" y="12216"/>
                      <a:pt x="10795" y="11419"/>
                      <a:pt x="11180" y="10565"/>
                    </a:cubicBezTo>
                    <a:cubicBezTo>
                      <a:pt x="11575" y="9719"/>
                      <a:pt x="11971" y="8872"/>
                      <a:pt x="12268" y="8238"/>
                    </a:cubicBezTo>
                    <a:cubicBezTo>
                      <a:pt x="12541" y="7588"/>
                      <a:pt x="12723" y="7154"/>
                      <a:pt x="12723" y="7154"/>
                    </a:cubicBezTo>
                    <a:cubicBezTo>
                      <a:pt x="12723" y="7154"/>
                      <a:pt x="11452" y="6335"/>
                      <a:pt x="11452" y="6335"/>
                    </a:cubicBezTo>
                    <a:close/>
                    <a:moveTo>
                      <a:pt x="13694" y="7780"/>
                    </a:moveTo>
                    <a:cubicBezTo>
                      <a:pt x="13694" y="7780"/>
                      <a:pt x="13509" y="8222"/>
                      <a:pt x="13230" y="8884"/>
                    </a:cubicBezTo>
                    <a:cubicBezTo>
                      <a:pt x="12928" y="9532"/>
                      <a:pt x="12525" y="10394"/>
                      <a:pt x="12122" y="11257"/>
                    </a:cubicBezTo>
                    <a:cubicBezTo>
                      <a:pt x="11729" y="12127"/>
                      <a:pt x="11259" y="12939"/>
                      <a:pt x="10942" y="13576"/>
                    </a:cubicBezTo>
                    <a:cubicBezTo>
                      <a:pt x="10616" y="14205"/>
                      <a:pt x="10398" y="14624"/>
                      <a:pt x="10398" y="14624"/>
                    </a:cubicBezTo>
                    <a:lnTo>
                      <a:pt x="11587" y="15610"/>
                    </a:lnTo>
                    <a:cubicBezTo>
                      <a:pt x="11587" y="15610"/>
                      <a:pt x="11810" y="15180"/>
                      <a:pt x="12144" y="14537"/>
                    </a:cubicBezTo>
                    <a:cubicBezTo>
                      <a:pt x="12469" y="13885"/>
                      <a:pt x="12950" y="13050"/>
                      <a:pt x="13353" y="12160"/>
                    </a:cubicBezTo>
                    <a:cubicBezTo>
                      <a:pt x="13766" y="11276"/>
                      <a:pt x="14179" y="10393"/>
                      <a:pt x="14488" y="9730"/>
                    </a:cubicBezTo>
                    <a:cubicBezTo>
                      <a:pt x="14773" y="9052"/>
                      <a:pt x="14964" y="8598"/>
                      <a:pt x="14964" y="8598"/>
                    </a:cubicBezTo>
                    <a:cubicBezTo>
                      <a:pt x="14964" y="8598"/>
                      <a:pt x="13694" y="7780"/>
                      <a:pt x="13694" y="7780"/>
                    </a:cubicBezTo>
                    <a:close/>
                    <a:moveTo>
                      <a:pt x="15934" y="9224"/>
                    </a:moveTo>
                    <a:cubicBezTo>
                      <a:pt x="15934" y="9224"/>
                      <a:pt x="15741" y="9685"/>
                      <a:pt x="15451" y="10376"/>
                    </a:cubicBezTo>
                    <a:cubicBezTo>
                      <a:pt x="15135" y="11051"/>
                      <a:pt x="14714" y="11951"/>
                      <a:pt x="14294" y="12850"/>
                    </a:cubicBezTo>
                    <a:cubicBezTo>
                      <a:pt x="13883" y="13758"/>
                      <a:pt x="13394" y="14607"/>
                      <a:pt x="13063" y="15271"/>
                    </a:cubicBezTo>
                    <a:cubicBezTo>
                      <a:pt x="12723" y="15926"/>
                      <a:pt x="12495" y="16363"/>
                      <a:pt x="12495" y="16363"/>
                    </a:cubicBezTo>
                    <a:lnTo>
                      <a:pt x="13685" y="17350"/>
                    </a:lnTo>
                    <a:cubicBezTo>
                      <a:pt x="13685" y="17350"/>
                      <a:pt x="13918" y="16903"/>
                      <a:pt x="14266" y="16232"/>
                    </a:cubicBezTo>
                    <a:cubicBezTo>
                      <a:pt x="14605" y="15553"/>
                      <a:pt x="15105" y="14683"/>
                      <a:pt x="15526" y="13755"/>
                    </a:cubicBezTo>
                    <a:cubicBezTo>
                      <a:pt x="15956" y="12833"/>
                      <a:pt x="16386" y="11913"/>
                      <a:pt x="16710" y="11222"/>
                    </a:cubicBezTo>
                    <a:cubicBezTo>
                      <a:pt x="17007" y="10515"/>
                      <a:pt x="17205" y="10043"/>
                      <a:pt x="17205" y="10043"/>
                    </a:cubicBezTo>
                    <a:cubicBezTo>
                      <a:pt x="17205" y="10043"/>
                      <a:pt x="15934" y="9224"/>
                      <a:pt x="15934" y="9224"/>
                    </a:cubicBezTo>
                    <a:close/>
                    <a:moveTo>
                      <a:pt x="18177" y="10669"/>
                    </a:moveTo>
                    <a:cubicBezTo>
                      <a:pt x="18177" y="10669"/>
                      <a:pt x="17975" y="11149"/>
                      <a:pt x="17672" y="11868"/>
                    </a:cubicBezTo>
                    <a:cubicBezTo>
                      <a:pt x="17343" y="12572"/>
                      <a:pt x="16905" y="13509"/>
                      <a:pt x="16468" y="14446"/>
                    </a:cubicBezTo>
                    <a:cubicBezTo>
                      <a:pt x="16039" y="15391"/>
                      <a:pt x="15531" y="16276"/>
                      <a:pt x="15187" y="16966"/>
                    </a:cubicBezTo>
                    <a:cubicBezTo>
                      <a:pt x="14831" y="17649"/>
                      <a:pt x="14594" y="18105"/>
                      <a:pt x="14594" y="18105"/>
                    </a:cubicBezTo>
                    <a:lnTo>
                      <a:pt x="15783" y="19090"/>
                    </a:lnTo>
                    <a:cubicBezTo>
                      <a:pt x="15783" y="19090"/>
                      <a:pt x="16026" y="18625"/>
                      <a:pt x="16389" y="17927"/>
                    </a:cubicBezTo>
                    <a:cubicBezTo>
                      <a:pt x="16742" y="17221"/>
                      <a:pt x="17260" y="16315"/>
                      <a:pt x="17699" y="15349"/>
                    </a:cubicBezTo>
                    <a:cubicBezTo>
                      <a:pt x="18147" y="14391"/>
                      <a:pt x="18594" y="13433"/>
                      <a:pt x="18930" y="12714"/>
                    </a:cubicBezTo>
                    <a:cubicBezTo>
                      <a:pt x="19240" y="11978"/>
                      <a:pt x="19446" y="11487"/>
                      <a:pt x="19446" y="11487"/>
                    </a:cubicBezTo>
                    <a:cubicBezTo>
                      <a:pt x="19446" y="11487"/>
                      <a:pt x="18177" y="10669"/>
                      <a:pt x="18177" y="10669"/>
                    </a:cubicBezTo>
                    <a:close/>
                    <a:moveTo>
                      <a:pt x="3549" y="0"/>
                    </a:moveTo>
                    <a:lnTo>
                      <a:pt x="21600" y="11091"/>
                    </a:lnTo>
                    <a:cubicBezTo>
                      <a:pt x="21600" y="11091"/>
                      <a:pt x="21427" y="12666"/>
                      <a:pt x="21219" y="14267"/>
                    </a:cubicBezTo>
                    <a:cubicBezTo>
                      <a:pt x="20964" y="15854"/>
                      <a:pt x="20710" y="17442"/>
                      <a:pt x="20710" y="17442"/>
                    </a:cubicBezTo>
                    <a:cubicBezTo>
                      <a:pt x="20710" y="17442"/>
                      <a:pt x="20464" y="17726"/>
                      <a:pt x="20075" y="18132"/>
                    </a:cubicBezTo>
                    <a:cubicBezTo>
                      <a:pt x="19682" y="18528"/>
                      <a:pt x="19156" y="19057"/>
                      <a:pt x="18631" y="19584"/>
                    </a:cubicBezTo>
                    <a:cubicBezTo>
                      <a:pt x="17605" y="20646"/>
                      <a:pt x="16512" y="21600"/>
                      <a:pt x="16512" y="21600"/>
                    </a:cubicBezTo>
                    <a:lnTo>
                      <a:pt x="0" y="7330"/>
                    </a:lnTo>
                    <a:cubicBezTo>
                      <a:pt x="0" y="7330"/>
                      <a:pt x="63" y="7221"/>
                      <a:pt x="174" y="7030"/>
                    </a:cubicBezTo>
                    <a:cubicBezTo>
                      <a:pt x="279" y="6836"/>
                      <a:pt x="455" y="6579"/>
                      <a:pt x="621" y="6234"/>
                    </a:cubicBezTo>
                    <a:cubicBezTo>
                      <a:pt x="958" y="5547"/>
                      <a:pt x="1460" y="4673"/>
                      <a:pt x="1891" y="3747"/>
                    </a:cubicBezTo>
                    <a:cubicBezTo>
                      <a:pt x="2108" y="3284"/>
                      <a:pt x="2323" y="2822"/>
                      <a:pt x="2525" y="2388"/>
                    </a:cubicBezTo>
                    <a:cubicBezTo>
                      <a:pt x="2628" y="2171"/>
                      <a:pt x="2727" y="1962"/>
                      <a:pt x="2821" y="1764"/>
                    </a:cubicBezTo>
                    <a:cubicBezTo>
                      <a:pt x="2904" y="1560"/>
                      <a:pt x="2983" y="1366"/>
                      <a:pt x="3056" y="1187"/>
                    </a:cubicBezTo>
                    <a:cubicBezTo>
                      <a:pt x="3352" y="475"/>
                      <a:pt x="3549" y="0"/>
                      <a:pt x="3549" y="0"/>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03" name="Google Shape;403;p22"/>
              <p:cNvSpPr/>
              <p:nvPr/>
            </p:nvSpPr>
            <p:spPr>
              <a:xfrm>
                <a:off x="5991564" y="6553913"/>
                <a:ext cx="1396077" cy="1497192"/>
              </a:xfrm>
              <a:custGeom>
                <a:rect b="b" l="l" r="r" t="t"/>
                <a:pathLst>
                  <a:path extrusionOk="0" h="21600" w="21600">
                    <a:moveTo>
                      <a:pt x="4720" y="3427"/>
                    </a:moveTo>
                    <a:cubicBezTo>
                      <a:pt x="4720" y="3427"/>
                      <a:pt x="4426" y="3685"/>
                      <a:pt x="4133" y="3944"/>
                    </a:cubicBezTo>
                    <a:cubicBezTo>
                      <a:pt x="3990" y="4076"/>
                      <a:pt x="3837" y="4199"/>
                      <a:pt x="3720" y="4289"/>
                    </a:cubicBezTo>
                    <a:cubicBezTo>
                      <a:pt x="3604" y="4380"/>
                      <a:pt x="3527" y="4441"/>
                      <a:pt x="3527" y="4441"/>
                    </a:cubicBezTo>
                    <a:lnTo>
                      <a:pt x="5288" y="6305"/>
                    </a:lnTo>
                    <a:cubicBezTo>
                      <a:pt x="5288" y="6305"/>
                      <a:pt x="5370" y="6241"/>
                      <a:pt x="5492" y="6144"/>
                    </a:cubicBezTo>
                    <a:cubicBezTo>
                      <a:pt x="5616" y="6048"/>
                      <a:pt x="5777" y="5919"/>
                      <a:pt x="5930" y="5779"/>
                    </a:cubicBezTo>
                    <a:cubicBezTo>
                      <a:pt x="6240" y="5505"/>
                      <a:pt x="6551" y="5232"/>
                      <a:pt x="6551" y="5232"/>
                    </a:cubicBezTo>
                    <a:cubicBezTo>
                      <a:pt x="6551" y="5232"/>
                      <a:pt x="4720" y="3427"/>
                      <a:pt x="4720" y="3427"/>
                    </a:cubicBezTo>
                    <a:close/>
                    <a:moveTo>
                      <a:pt x="7359" y="6028"/>
                    </a:moveTo>
                    <a:cubicBezTo>
                      <a:pt x="7359" y="6028"/>
                      <a:pt x="7041" y="6308"/>
                      <a:pt x="6722" y="6589"/>
                    </a:cubicBezTo>
                    <a:cubicBezTo>
                      <a:pt x="6566" y="6733"/>
                      <a:pt x="6400" y="6865"/>
                      <a:pt x="6273" y="6963"/>
                    </a:cubicBezTo>
                    <a:cubicBezTo>
                      <a:pt x="6148" y="7062"/>
                      <a:pt x="6065" y="7128"/>
                      <a:pt x="6065" y="7128"/>
                    </a:cubicBezTo>
                    <a:lnTo>
                      <a:pt x="7824" y="8994"/>
                    </a:lnTo>
                    <a:cubicBezTo>
                      <a:pt x="7824" y="8994"/>
                      <a:pt x="7913" y="8925"/>
                      <a:pt x="8044" y="8819"/>
                    </a:cubicBezTo>
                    <a:cubicBezTo>
                      <a:pt x="8176" y="8716"/>
                      <a:pt x="8353" y="8576"/>
                      <a:pt x="8518" y="8426"/>
                    </a:cubicBezTo>
                    <a:cubicBezTo>
                      <a:pt x="8854" y="8130"/>
                      <a:pt x="9190" y="7833"/>
                      <a:pt x="9190" y="7833"/>
                    </a:cubicBezTo>
                    <a:cubicBezTo>
                      <a:pt x="9190" y="7833"/>
                      <a:pt x="7359" y="6028"/>
                      <a:pt x="7359" y="6028"/>
                    </a:cubicBezTo>
                    <a:close/>
                    <a:moveTo>
                      <a:pt x="9997" y="8631"/>
                    </a:moveTo>
                    <a:cubicBezTo>
                      <a:pt x="9997" y="8631"/>
                      <a:pt x="9654" y="8933"/>
                      <a:pt x="9310" y="9235"/>
                    </a:cubicBezTo>
                    <a:cubicBezTo>
                      <a:pt x="9142" y="9390"/>
                      <a:pt x="8960" y="9532"/>
                      <a:pt x="8825" y="9639"/>
                    </a:cubicBezTo>
                    <a:cubicBezTo>
                      <a:pt x="8690" y="9747"/>
                      <a:pt x="8601" y="9818"/>
                      <a:pt x="8601" y="9818"/>
                    </a:cubicBezTo>
                    <a:lnTo>
                      <a:pt x="10358" y="11684"/>
                    </a:lnTo>
                    <a:cubicBezTo>
                      <a:pt x="10358" y="11684"/>
                      <a:pt x="10453" y="11610"/>
                      <a:pt x="10594" y="11497"/>
                    </a:cubicBezTo>
                    <a:cubicBezTo>
                      <a:pt x="10736" y="11384"/>
                      <a:pt x="10927" y="11235"/>
                      <a:pt x="11104" y="11073"/>
                    </a:cubicBezTo>
                    <a:cubicBezTo>
                      <a:pt x="11465" y="10755"/>
                      <a:pt x="11826" y="10438"/>
                      <a:pt x="11826" y="10438"/>
                    </a:cubicBezTo>
                    <a:cubicBezTo>
                      <a:pt x="11826" y="10438"/>
                      <a:pt x="9997" y="8631"/>
                      <a:pt x="9997" y="8631"/>
                    </a:cubicBezTo>
                    <a:close/>
                    <a:moveTo>
                      <a:pt x="12633" y="11234"/>
                    </a:moveTo>
                    <a:cubicBezTo>
                      <a:pt x="12633" y="11234"/>
                      <a:pt x="12264" y="11560"/>
                      <a:pt x="11896" y="11884"/>
                    </a:cubicBezTo>
                    <a:cubicBezTo>
                      <a:pt x="11714" y="12050"/>
                      <a:pt x="11520" y="12202"/>
                      <a:pt x="11375" y="12316"/>
                    </a:cubicBezTo>
                    <a:cubicBezTo>
                      <a:pt x="11231" y="12432"/>
                      <a:pt x="11135" y="12509"/>
                      <a:pt x="11135" y="12509"/>
                    </a:cubicBezTo>
                    <a:lnTo>
                      <a:pt x="12891" y="14376"/>
                    </a:lnTo>
                    <a:cubicBezTo>
                      <a:pt x="12891" y="14376"/>
                      <a:pt x="12992" y="14296"/>
                      <a:pt x="13143" y="14175"/>
                    </a:cubicBezTo>
                    <a:cubicBezTo>
                      <a:pt x="13294" y="14054"/>
                      <a:pt x="13499" y="13896"/>
                      <a:pt x="13689" y="13723"/>
                    </a:cubicBezTo>
                    <a:cubicBezTo>
                      <a:pt x="14075" y="13382"/>
                      <a:pt x="14462" y="13042"/>
                      <a:pt x="14462" y="13042"/>
                    </a:cubicBezTo>
                    <a:cubicBezTo>
                      <a:pt x="14462" y="13042"/>
                      <a:pt x="12633" y="11234"/>
                      <a:pt x="12633" y="11234"/>
                    </a:cubicBezTo>
                    <a:close/>
                    <a:moveTo>
                      <a:pt x="15268" y="13841"/>
                    </a:moveTo>
                    <a:cubicBezTo>
                      <a:pt x="15268" y="13841"/>
                      <a:pt x="14874" y="14187"/>
                      <a:pt x="14479" y="14533"/>
                    </a:cubicBezTo>
                    <a:cubicBezTo>
                      <a:pt x="14286" y="14710"/>
                      <a:pt x="14077" y="14871"/>
                      <a:pt x="13923" y="14995"/>
                    </a:cubicBezTo>
                    <a:cubicBezTo>
                      <a:pt x="13769" y="15119"/>
                      <a:pt x="13667" y="15201"/>
                      <a:pt x="13667" y="15201"/>
                    </a:cubicBezTo>
                    <a:lnTo>
                      <a:pt x="15422" y="17070"/>
                    </a:lnTo>
                    <a:cubicBezTo>
                      <a:pt x="15422" y="17070"/>
                      <a:pt x="15530" y="16984"/>
                      <a:pt x="15691" y="16856"/>
                    </a:cubicBezTo>
                    <a:cubicBezTo>
                      <a:pt x="15850" y="16726"/>
                      <a:pt x="16068" y="16557"/>
                      <a:pt x="16271" y="16373"/>
                    </a:cubicBezTo>
                    <a:cubicBezTo>
                      <a:pt x="16682" y="16010"/>
                      <a:pt x="17094" y="15649"/>
                      <a:pt x="17094" y="15649"/>
                    </a:cubicBezTo>
                    <a:cubicBezTo>
                      <a:pt x="17094" y="15649"/>
                      <a:pt x="15268" y="13841"/>
                      <a:pt x="15268" y="13841"/>
                    </a:cubicBezTo>
                    <a:close/>
                    <a:moveTo>
                      <a:pt x="17900" y="16447"/>
                    </a:moveTo>
                    <a:cubicBezTo>
                      <a:pt x="17900" y="16447"/>
                      <a:pt x="17481" y="16815"/>
                      <a:pt x="17061" y="17185"/>
                    </a:cubicBezTo>
                    <a:cubicBezTo>
                      <a:pt x="16856" y="17372"/>
                      <a:pt x="16632" y="17543"/>
                      <a:pt x="16469" y="17676"/>
                    </a:cubicBezTo>
                    <a:cubicBezTo>
                      <a:pt x="16306" y="17807"/>
                      <a:pt x="16196" y="17895"/>
                      <a:pt x="16196" y="17895"/>
                    </a:cubicBezTo>
                    <a:lnTo>
                      <a:pt x="17951" y="19765"/>
                    </a:lnTo>
                    <a:cubicBezTo>
                      <a:pt x="17951" y="19765"/>
                      <a:pt x="18065" y="19674"/>
                      <a:pt x="18235" y="19536"/>
                    </a:cubicBezTo>
                    <a:cubicBezTo>
                      <a:pt x="18405" y="19398"/>
                      <a:pt x="18637" y="19220"/>
                      <a:pt x="18852" y="19025"/>
                    </a:cubicBezTo>
                    <a:cubicBezTo>
                      <a:pt x="19290" y="18641"/>
                      <a:pt x="19727" y="18257"/>
                      <a:pt x="19727" y="18257"/>
                    </a:cubicBezTo>
                    <a:cubicBezTo>
                      <a:pt x="19727" y="18257"/>
                      <a:pt x="17900" y="16447"/>
                      <a:pt x="17900" y="16447"/>
                    </a:cubicBezTo>
                    <a:close/>
                    <a:moveTo>
                      <a:pt x="2387" y="0"/>
                    </a:moveTo>
                    <a:lnTo>
                      <a:pt x="21600" y="18212"/>
                    </a:lnTo>
                    <a:cubicBezTo>
                      <a:pt x="21600" y="18212"/>
                      <a:pt x="20615" y="19080"/>
                      <a:pt x="19631" y="19947"/>
                    </a:cubicBezTo>
                    <a:cubicBezTo>
                      <a:pt x="18618" y="20785"/>
                      <a:pt x="17583" y="21600"/>
                      <a:pt x="17583" y="21600"/>
                    </a:cubicBezTo>
                    <a:lnTo>
                      <a:pt x="0" y="2032"/>
                    </a:lnTo>
                    <a:cubicBezTo>
                      <a:pt x="0" y="2032"/>
                      <a:pt x="152" y="1908"/>
                      <a:pt x="381" y="1723"/>
                    </a:cubicBezTo>
                    <a:cubicBezTo>
                      <a:pt x="607" y="1534"/>
                      <a:pt x="926" y="1302"/>
                      <a:pt x="1217" y="1039"/>
                    </a:cubicBezTo>
                    <a:cubicBezTo>
                      <a:pt x="1801" y="520"/>
                      <a:pt x="2387" y="0"/>
                      <a:pt x="2387" y="0"/>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04" name="Google Shape;404;p22"/>
              <p:cNvSpPr/>
              <p:nvPr/>
            </p:nvSpPr>
            <p:spPr>
              <a:xfrm>
                <a:off x="6686832" y="5347420"/>
                <a:ext cx="1959323" cy="1308269"/>
              </a:xfrm>
              <a:custGeom>
                <a:rect b="b" l="l" r="r" t="t"/>
                <a:pathLst>
                  <a:path extrusionOk="0" h="21600" w="21600">
                    <a:moveTo>
                      <a:pt x="17174" y="10783"/>
                    </a:moveTo>
                    <a:cubicBezTo>
                      <a:pt x="17174" y="10783"/>
                      <a:pt x="17217" y="10589"/>
                      <a:pt x="17281" y="10295"/>
                    </a:cubicBezTo>
                    <a:cubicBezTo>
                      <a:pt x="17348" y="10003"/>
                      <a:pt x="17426" y="9609"/>
                      <a:pt x="17495" y="9210"/>
                    </a:cubicBezTo>
                    <a:cubicBezTo>
                      <a:pt x="17639" y="8417"/>
                      <a:pt x="17784" y="7623"/>
                      <a:pt x="17784" y="7623"/>
                    </a:cubicBezTo>
                    <a:lnTo>
                      <a:pt x="15913" y="6890"/>
                    </a:lnTo>
                    <a:cubicBezTo>
                      <a:pt x="15913" y="6890"/>
                      <a:pt x="15775" y="7650"/>
                      <a:pt x="15637" y="8409"/>
                    </a:cubicBezTo>
                    <a:cubicBezTo>
                      <a:pt x="15572" y="8791"/>
                      <a:pt x="15495" y="9167"/>
                      <a:pt x="15431" y="9446"/>
                    </a:cubicBezTo>
                    <a:cubicBezTo>
                      <a:pt x="15371" y="9727"/>
                      <a:pt x="15330" y="9914"/>
                      <a:pt x="15330" y="9914"/>
                    </a:cubicBezTo>
                    <a:cubicBezTo>
                      <a:pt x="15330" y="9914"/>
                      <a:pt x="17174" y="10783"/>
                      <a:pt x="17174" y="10783"/>
                    </a:cubicBezTo>
                    <a:close/>
                    <a:moveTo>
                      <a:pt x="14337" y="9445"/>
                    </a:moveTo>
                    <a:cubicBezTo>
                      <a:pt x="14337" y="9445"/>
                      <a:pt x="14377" y="9262"/>
                      <a:pt x="14436" y="8988"/>
                    </a:cubicBezTo>
                    <a:cubicBezTo>
                      <a:pt x="14498" y="8716"/>
                      <a:pt x="14574" y="8349"/>
                      <a:pt x="14637" y="7976"/>
                    </a:cubicBezTo>
                    <a:cubicBezTo>
                      <a:pt x="14772" y="7235"/>
                      <a:pt x="14906" y="6493"/>
                      <a:pt x="14906" y="6493"/>
                    </a:cubicBezTo>
                    <a:lnTo>
                      <a:pt x="13036" y="5755"/>
                    </a:lnTo>
                    <a:cubicBezTo>
                      <a:pt x="13036" y="5755"/>
                      <a:pt x="12908" y="6463"/>
                      <a:pt x="12780" y="7170"/>
                    </a:cubicBezTo>
                    <a:cubicBezTo>
                      <a:pt x="12721" y="7527"/>
                      <a:pt x="12647" y="7875"/>
                      <a:pt x="12588" y="8136"/>
                    </a:cubicBezTo>
                    <a:cubicBezTo>
                      <a:pt x="12531" y="8397"/>
                      <a:pt x="12494" y="8572"/>
                      <a:pt x="12494" y="8572"/>
                    </a:cubicBezTo>
                    <a:cubicBezTo>
                      <a:pt x="12494" y="8572"/>
                      <a:pt x="14337" y="9445"/>
                      <a:pt x="14337" y="9445"/>
                    </a:cubicBezTo>
                    <a:close/>
                    <a:moveTo>
                      <a:pt x="11501" y="8100"/>
                    </a:moveTo>
                    <a:cubicBezTo>
                      <a:pt x="11501" y="8100"/>
                      <a:pt x="11537" y="7930"/>
                      <a:pt x="11593" y="7675"/>
                    </a:cubicBezTo>
                    <a:cubicBezTo>
                      <a:pt x="11650" y="7421"/>
                      <a:pt x="11723" y="7082"/>
                      <a:pt x="11781" y="6735"/>
                    </a:cubicBezTo>
                    <a:cubicBezTo>
                      <a:pt x="11905" y="6045"/>
                      <a:pt x="12030" y="5356"/>
                      <a:pt x="12030" y="5356"/>
                    </a:cubicBezTo>
                    <a:lnTo>
                      <a:pt x="10161" y="4613"/>
                    </a:lnTo>
                    <a:cubicBezTo>
                      <a:pt x="10161" y="4613"/>
                      <a:pt x="10043" y="5269"/>
                      <a:pt x="9925" y="5924"/>
                    </a:cubicBezTo>
                    <a:cubicBezTo>
                      <a:pt x="9871" y="6254"/>
                      <a:pt x="9799" y="6577"/>
                      <a:pt x="9746" y="6818"/>
                    </a:cubicBezTo>
                    <a:cubicBezTo>
                      <a:pt x="9693" y="7060"/>
                      <a:pt x="9659" y="7221"/>
                      <a:pt x="9659" y="7221"/>
                    </a:cubicBezTo>
                    <a:cubicBezTo>
                      <a:pt x="9659" y="7221"/>
                      <a:pt x="11501" y="8100"/>
                      <a:pt x="11501" y="8100"/>
                    </a:cubicBezTo>
                    <a:close/>
                    <a:moveTo>
                      <a:pt x="8666" y="6747"/>
                    </a:moveTo>
                    <a:cubicBezTo>
                      <a:pt x="8666" y="6747"/>
                      <a:pt x="8700" y="6590"/>
                      <a:pt x="8751" y="6355"/>
                    </a:cubicBezTo>
                    <a:cubicBezTo>
                      <a:pt x="8802" y="6119"/>
                      <a:pt x="8873" y="5807"/>
                      <a:pt x="8926" y="5487"/>
                    </a:cubicBezTo>
                    <a:cubicBezTo>
                      <a:pt x="9040" y="4849"/>
                      <a:pt x="9154" y="4212"/>
                      <a:pt x="9154" y="4212"/>
                    </a:cubicBezTo>
                    <a:lnTo>
                      <a:pt x="7287" y="3464"/>
                    </a:lnTo>
                    <a:cubicBezTo>
                      <a:pt x="7287" y="3464"/>
                      <a:pt x="7179" y="4068"/>
                      <a:pt x="7071" y="4671"/>
                    </a:cubicBezTo>
                    <a:cubicBezTo>
                      <a:pt x="7023" y="4976"/>
                      <a:pt x="6953" y="5270"/>
                      <a:pt x="6905" y="5493"/>
                    </a:cubicBezTo>
                    <a:cubicBezTo>
                      <a:pt x="6857" y="5717"/>
                      <a:pt x="6825" y="5865"/>
                      <a:pt x="6825" y="5865"/>
                    </a:cubicBezTo>
                    <a:cubicBezTo>
                      <a:pt x="6825" y="5865"/>
                      <a:pt x="8666" y="6747"/>
                      <a:pt x="8666" y="6747"/>
                    </a:cubicBezTo>
                    <a:close/>
                    <a:moveTo>
                      <a:pt x="5833" y="5389"/>
                    </a:moveTo>
                    <a:cubicBezTo>
                      <a:pt x="5833" y="5389"/>
                      <a:pt x="5864" y="5244"/>
                      <a:pt x="5911" y="5028"/>
                    </a:cubicBezTo>
                    <a:cubicBezTo>
                      <a:pt x="5957" y="4811"/>
                      <a:pt x="6026" y="4527"/>
                      <a:pt x="6072" y="4231"/>
                    </a:cubicBezTo>
                    <a:cubicBezTo>
                      <a:pt x="6177" y="3646"/>
                      <a:pt x="6280" y="3061"/>
                      <a:pt x="6280" y="3061"/>
                    </a:cubicBezTo>
                    <a:lnTo>
                      <a:pt x="4413" y="2309"/>
                    </a:lnTo>
                    <a:cubicBezTo>
                      <a:pt x="4413" y="2309"/>
                      <a:pt x="4316" y="2861"/>
                      <a:pt x="4219" y="3412"/>
                    </a:cubicBezTo>
                    <a:cubicBezTo>
                      <a:pt x="4175" y="3690"/>
                      <a:pt x="4108" y="3958"/>
                      <a:pt x="4066" y="4162"/>
                    </a:cubicBezTo>
                    <a:cubicBezTo>
                      <a:pt x="4022" y="4366"/>
                      <a:pt x="3992" y="4501"/>
                      <a:pt x="3992" y="4501"/>
                    </a:cubicBezTo>
                    <a:cubicBezTo>
                      <a:pt x="3992" y="4501"/>
                      <a:pt x="5833" y="5389"/>
                      <a:pt x="5833" y="5389"/>
                    </a:cubicBezTo>
                    <a:close/>
                    <a:moveTo>
                      <a:pt x="16785" y="12572"/>
                    </a:moveTo>
                    <a:lnTo>
                      <a:pt x="14958" y="11626"/>
                    </a:lnTo>
                    <a:cubicBezTo>
                      <a:pt x="14958" y="11626"/>
                      <a:pt x="14919" y="11815"/>
                      <a:pt x="14853" y="12093"/>
                    </a:cubicBezTo>
                    <a:cubicBezTo>
                      <a:pt x="14782" y="12369"/>
                      <a:pt x="14689" y="12737"/>
                      <a:pt x="14596" y="13105"/>
                    </a:cubicBezTo>
                    <a:cubicBezTo>
                      <a:pt x="14408" y="13842"/>
                      <a:pt x="14220" y="14578"/>
                      <a:pt x="14220" y="14578"/>
                    </a:cubicBezTo>
                    <a:lnTo>
                      <a:pt x="16015" y="15655"/>
                    </a:lnTo>
                    <a:cubicBezTo>
                      <a:pt x="16015" y="15655"/>
                      <a:pt x="16211" y="14886"/>
                      <a:pt x="16408" y="14117"/>
                    </a:cubicBezTo>
                    <a:cubicBezTo>
                      <a:pt x="16505" y="13733"/>
                      <a:pt x="16603" y="13348"/>
                      <a:pt x="16676" y="13059"/>
                    </a:cubicBezTo>
                    <a:cubicBezTo>
                      <a:pt x="16742" y="12767"/>
                      <a:pt x="16785" y="12572"/>
                      <a:pt x="16785" y="12572"/>
                    </a:cubicBezTo>
                    <a:close/>
                    <a:moveTo>
                      <a:pt x="13255" y="13997"/>
                    </a:moveTo>
                    <a:cubicBezTo>
                      <a:pt x="13255" y="13997"/>
                      <a:pt x="13437" y="13278"/>
                      <a:pt x="13620" y="12559"/>
                    </a:cubicBezTo>
                    <a:cubicBezTo>
                      <a:pt x="13711" y="12200"/>
                      <a:pt x="13802" y="11841"/>
                      <a:pt x="13871" y="11571"/>
                    </a:cubicBezTo>
                    <a:cubicBezTo>
                      <a:pt x="13937" y="11301"/>
                      <a:pt x="13974" y="11116"/>
                      <a:pt x="13973" y="11116"/>
                    </a:cubicBezTo>
                    <a:lnTo>
                      <a:pt x="12148" y="10166"/>
                    </a:lnTo>
                    <a:cubicBezTo>
                      <a:pt x="12148" y="10166"/>
                      <a:pt x="12114" y="10343"/>
                      <a:pt x="12049" y="10600"/>
                    </a:cubicBezTo>
                    <a:cubicBezTo>
                      <a:pt x="11984" y="10857"/>
                      <a:pt x="11897" y="11200"/>
                      <a:pt x="11810" y="11543"/>
                    </a:cubicBezTo>
                    <a:cubicBezTo>
                      <a:pt x="11635" y="12229"/>
                      <a:pt x="11461" y="12915"/>
                      <a:pt x="11461" y="12915"/>
                    </a:cubicBezTo>
                    <a:cubicBezTo>
                      <a:pt x="11461" y="12915"/>
                      <a:pt x="13255" y="13997"/>
                      <a:pt x="13255" y="13997"/>
                    </a:cubicBezTo>
                    <a:close/>
                    <a:moveTo>
                      <a:pt x="10496" y="12332"/>
                    </a:moveTo>
                    <a:cubicBezTo>
                      <a:pt x="10496" y="12332"/>
                      <a:pt x="10665" y="11663"/>
                      <a:pt x="10835" y="10995"/>
                    </a:cubicBezTo>
                    <a:cubicBezTo>
                      <a:pt x="10919" y="10660"/>
                      <a:pt x="11005" y="10327"/>
                      <a:pt x="11068" y="10076"/>
                    </a:cubicBezTo>
                    <a:cubicBezTo>
                      <a:pt x="11133" y="9826"/>
                      <a:pt x="11165" y="9654"/>
                      <a:pt x="11165" y="9654"/>
                    </a:cubicBezTo>
                    <a:lnTo>
                      <a:pt x="9339" y="8700"/>
                    </a:lnTo>
                    <a:cubicBezTo>
                      <a:pt x="9339" y="8700"/>
                      <a:pt x="9310" y="8864"/>
                      <a:pt x="9247" y="9100"/>
                    </a:cubicBezTo>
                    <a:cubicBezTo>
                      <a:pt x="9186" y="9339"/>
                      <a:pt x="9106" y="9656"/>
                      <a:pt x="9025" y="9974"/>
                    </a:cubicBezTo>
                    <a:cubicBezTo>
                      <a:pt x="8864" y="10609"/>
                      <a:pt x="8704" y="11245"/>
                      <a:pt x="8704" y="11245"/>
                    </a:cubicBezTo>
                    <a:cubicBezTo>
                      <a:pt x="8704" y="11245"/>
                      <a:pt x="10496" y="12332"/>
                      <a:pt x="10496" y="12332"/>
                    </a:cubicBezTo>
                    <a:close/>
                    <a:moveTo>
                      <a:pt x="7739" y="10659"/>
                    </a:moveTo>
                    <a:cubicBezTo>
                      <a:pt x="7739" y="10659"/>
                      <a:pt x="7895" y="10041"/>
                      <a:pt x="8051" y="9423"/>
                    </a:cubicBezTo>
                    <a:cubicBezTo>
                      <a:pt x="8130" y="9114"/>
                      <a:pt x="8208" y="8806"/>
                      <a:pt x="8267" y="8574"/>
                    </a:cubicBezTo>
                    <a:cubicBezTo>
                      <a:pt x="8328" y="8344"/>
                      <a:pt x="8358" y="8184"/>
                      <a:pt x="8357" y="8184"/>
                    </a:cubicBezTo>
                    <a:lnTo>
                      <a:pt x="6533" y="7226"/>
                    </a:lnTo>
                    <a:cubicBezTo>
                      <a:pt x="6533" y="7226"/>
                      <a:pt x="6505" y="7377"/>
                      <a:pt x="6446" y="7594"/>
                    </a:cubicBezTo>
                    <a:cubicBezTo>
                      <a:pt x="6391" y="7813"/>
                      <a:pt x="6317" y="8106"/>
                      <a:pt x="6243" y="8398"/>
                    </a:cubicBezTo>
                    <a:cubicBezTo>
                      <a:pt x="6096" y="8983"/>
                      <a:pt x="5948" y="9569"/>
                      <a:pt x="5948" y="9569"/>
                    </a:cubicBezTo>
                    <a:cubicBezTo>
                      <a:pt x="5948" y="9569"/>
                      <a:pt x="7739" y="10659"/>
                      <a:pt x="7739" y="10659"/>
                    </a:cubicBezTo>
                    <a:close/>
                    <a:moveTo>
                      <a:pt x="4985" y="8981"/>
                    </a:moveTo>
                    <a:cubicBezTo>
                      <a:pt x="4985" y="8981"/>
                      <a:pt x="5127" y="8413"/>
                      <a:pt x="5269" y="7845"/>
                    </a:cubicBezTo>
                    <a:cubicBezTo>
                      <a:pt x="5341" y="7561"/>
                      <a:pt x="5413" y="7278"/>
                      <a:pt x="5467" y="7066"/>
                    </a:cubicBezTo>
                    <a:cubicBezTo>
                      <a:pt x="5524" y="6855"/>
                      <a:pt x="5551" y="6709"/>
                      <a:pt x="5551" y="6709"/>
                    </a:cubicBezTo>
                    <a:lnTo>
                      <a:pt x="3728" y="5745"/>
                    </a:lnTo>
                    <a:cubicBezTo>
                      <a:pt x="3728" y="5745"/>
                      <a:pt x="3702" y="5882"/>
                      <a:pt x="3648" y="6081"/>
                    </a:cubicBezTo>
                    <a:cubicBezTo>
                      <a:pt x="3597" y="6281"/>
                      <a:pt x="3529" y="6549"/>
                      <a:pt x="3462" y="6815"/>
                    </a:cubicBezTo>
                    <a:cubicBezTo>
                      <a:pt x="3328" y="7351"/>
                      <a:pt x="3195" y="7886"/>
                      <a:pt x="3195" y="7886"/>
                    </a:cubicBezTo>
                    <a:cubicBezTo>
                      <a:pt x="3195" y="7886"/>
                      <a:pt x="4985" y="8981"/>
                      <a:pt x="4985" y="8981"/>
                    </a:cubicBezTo>
                    <a:close/>
                    <a:moveTo>
                      <a:pt x="1726" y="0"/>
                    </a:moveTo>
                    <a:cubicBezTo>
                      <a:pt x="1726" y="0"/>
                      <a:pt x="6031" y="1541"/>
                      <a:pt x="10336" y="3082"/>
                    </a:cubicBezTo>
                    <a:cubicBezTo>
                      <a:pt x="14647" y="4592"/>
                      <a:pt x="18957" y="6103"/>
                      <a:pt x="18957" y="6103"/>
                    </a:cubicBezTo>
                    <a:cubicBezTo>
                      <a:pt x="18957" y="6103"/>
                      <a:pt x="19208" y="6997"/>
                      <a:pt x="19513" y="8370"/>
                    </a:cubicBezTo>
                    <a:cubicBezTo>
                      <a:pt x="19669" y="9059"/>
                      <a:pt x="19850" y="9873"/>
                      <a:pt x="20039" y="10761"/>
                    </a:cubicBezTo>
                    <a:cubicBezTo>
                      <a:pt x="20221" y="11648"/>
                      <a:pt x="20385" y="12597"/>
                      <a:pt x="20557" y="13570"/>
                    </a:cubicBezTo>
                    <a:cubicBezTo>
                      <a:pt x="20915" y="15523"/>
                      <a:pt x="21148" y="17502"/>
                      <a:pt x="21344" y="19040"/>
                    </a:cubicBezTo>
                    <a:cubicBezTo>
                      <a:pt x="21444" y="19810"/>
                      <a:pt x="21489" y="20439"/>
                      <a:pt x="21536" y="20891"/>
                    </a:cubicBezTo>
                    <a:cubicBezTo>
                      <a:pt x="21577" y="21342"/>
                      <a:pt x="21600" y="21600"/>
                      <a:pt x="21600" y="21600"/>
                    </a:cubicBezTo>
                    <a:cubicBezTo>
                      <a:pt x="21600" y="21600"/>
                      <a:pt x="16192" y="18065"/>
                      <a:pt x="10784" y="14531"/>
                    </a:cubicBezTo>
                    <a:cubicBezTo>
                      <a:pt x="5392" y="10945"/>
                      <a:pt x="0" y="7358"/>
                      <a:pt x="0" y="7358"/>
                    </a:cubicBezTo>
                    <a:cubicBezTo>
                      <a:pt x="0" y="7358"/>
                      <a:pt x="153" y="6855"/>
                      <a:pt x="306" y="6352"/>
                    </a:cubicBezTo>
                    <a:cubicBezTo>
                      <a:pt x="443" y="5838"/>
                      <a:pt x="578" y="5324"/>
                      <a:pt x="578" y="5324"/>
                    </a:cubicBezTo>
                    <a:lnTo>
                      <a:pt x="2175" y="6247"/>
                    </a:lnTo>
                    <a:cubicBezTo>
                      <a:pt x="2175" y="6247"/>
                      <a:pt x="2225" y="6047"/>
                      <a:pt x="2301" y="5745"/>
                    </a:cubicBezTo>
                    <a:cubicBezTo>
                      <a:pt x="2381" y="5445"/>
                      <a:pt x="2480" y="5043"/>
                      <a:pt x="2560" y="4629"/>
                    </a:cubicBezTo>
                    <a:cubicBezTo>
                      <a:pt x="2648" y="4220"/>
                      <a:pt x="2735" y="3812"/>
                      <a:pt x="2801" y="3505"/>
                    </a:cubicBezTo>
                    <a:cubicBezTo>
                      <a:pt x="2868" y="3199"/>
                      <a:pt x="2909" y="2994"/>
                      <a:pt x="2909" y="2994"/>
                    </a:cubicBezTo>
                    <a:lnTo>
                      <a:pt x="1307" y="2273"/>
                    </a:lnTo>
                    <a:cubicBezTo>
                      <a:pt x="1307" y="2273"/>
                      <a:pt x="1413" y="1704"/>
                      <a:pt x="1519" y="1137"/>
                    </a:cubicBezTo>
                    <a:cubicBezTo>
                      <a:pt x="1574" y="854"/>
                      <a:pt x="1629" y="571"/>
                      <a:pt x="1670" y="358"/>
                    </a:cubicBezTo>
                    <a:cubicBezTo>
                      <a:pt x="1708" y="145"/>
                      <a:pt x="1726" y="0"/>
                      <a:pt x="1726" y="0"/>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05" name="Google Shape;405;p22"/>
              <p:cNvSpPr/>
              <p:nvPr/>
            </p:nvSpPr>
            <p:spPr>
              <a:xfrm>
                <a:off x="6216505" y="6277851"/>
                <a:ext cx="1184926" cy="878021"/>
              </a:xfrm>
              <a:custGeom>
                <a:rect b="b" l="l" r="r" t="t"/>
                <a:pathLst>
                  <a:path extrusionOk="0" h="21600" w="21600">
                    <a:moveTo>
                      <a:pt x="5124" y="3463"/>
                    </a:moveTo>
                    <a:cubicBezTo>
                      <a:pt x="5124" y="3463"/>
                      <a:pt x="4893" y="3839"/>
                      <a:pt x="4664" y="4215"/>
                    </a:cubicBezTo>
                    <a:cubicBezTo>
                      <a:pt x="4549" y="4404"/>
                      <a:pt x="4434" y="4593"/>
                      <a:pt x="4348" y="4734"/>
                    </a:cubicBezTo>
                    <a:cubicBezTo>
                      <a:pt x="4265" y="4878"/>
                      <a:pt x="4199" y="4962"/>
                      <a:pt x="4199" y="4962"/>
                    </a:cubicBezTo>
                    <a:lnTo>
                      <a:pt x="5644" y="6625"/>
                    </a:lnTo>
                    <a:cubicBezTo>
                      <a:pt x="5644" y="6625"/>
                      <a:pt x="5712" y="6536"/>
                      <a:pt x="5800" y="6388"/>
                    </a:cubicBezTo>
                    <a:cubicBezTo>
                      <a:pt x="5889" y="6242"/>
                      <a:pt x="6008" y="6046"/>
                      <a:pt x="6127" y="5850"/>
                    </a:cubicBezTo>
                    <a:cubicBezTo>
                      <a:pt x="6365" y="5460"/>
                      <a:pt x="6604" y="5069"/>
                      <a:pt x="6604" y="5069"/>
                    </a:cubicBezTo>
                    <a:cubicBezTo>
                      <a:pt x="6604" y="5069"/>
                      <a:pt x="5124" y="3463"/>
                      <a:pt x="5124" y="3463"/>
                    </a:cubicBezTo>
                    <a:close/>
                    <a:moveTo>
                      <a:pt x="7400" y="5935"/>
                    </a:moveTo>
                    <a:cubicBezTo>
                      <a:pt x="7400" y="5935"/>
                      <a:pt x="7157" y="6333"/>
                      <a:pt x="6914" y="6732"/>
                    </a:cubicBezTo>
                    <a:cubicBezTo>
                      <a:pt x="6792" y="6931"/>
                      <a:pt x="6672" y="7131"/>
                      <a:pt x="6581" y="7280"/>
                    </a:cubicBezTo>
                    <a:cubicBezTo>
                      <a:pt x="6490" y="7429"/>
                      <a:pt x="6422" y="7520"/>
                      <a:pt x="6422" y="7520"/>
                    </a:cubicBezTo>
                    <a:lnTo>
                      <a:pt x="7865" y="9186"/>
                    </a:lnTo>
                    <a:cubicBezTo>
                      <a:pt x="7865" y="9186"/>
                      <a:pt x="7931" y="9087"/>
                      <a:pt x="8031" y="8938"/>
                    </a:cubicBezTo>
                    <a:cubicBezTo>
                      <a:pt x="8125" y="8783"/>
                      <a:pt x="8250" y="8577"/>
                      <a:pt x="8375" y="8370"/>
                    </a:cubicBezTo>
                    <a:cubicBezTo>
                      <a:pt x="8627" y="7957"/>
                      <a:pt x="8878" y="7545"/>
                      <a:pt x="8878" y="7545"/>
                    </a:cubicBezTo>
                    <a:cubicBezTo>
                      <a:pt x="8878" y="7545"/>
                      <a:pt x="7400" y="5935"/>
                      <a:pt x="7400" y="5935"/>
                    </a:cubicBezTo>
                    <a:close/>
                    <a:moveTo>
                      <a:pt x="9673" y="8413"/>
                    </a:moveTo>
                    <a:cubicBezTo>
                      <a:pt x="9673" y="8413"/>
                      <a:pt x="9418" y="8832"/>
                      <a:pt x="9163" y="9253"/>
                    </a:cubicBezTo>
                    <a:cubicBezTo>
                      <a:pt x="9035" y="9464"/>
                      <a:pt x="8907" y="9673"/>
                      <a:pt x="8812" y="9832"/>
                    </a:cubicBezTo>
                    <a:cubicBezTo>
                      <a:pt x="8710" y="9983"/>
                      <a:pt x="8642" y="10084"/>
                      <a:pt x="8642" y="10084"/>
                    </a:cubicBezTo>
                    <a:lnTo>
                      <a:pt x="10084" y="11752"/>
                    </a:lnTo>
                    <a:cubicBezTo>
                      <a:pt x="10084" y="11752"/>
                      <a:pt x="10154" y="11648"/>
                      <a:pt x="10259" y="11493"/>
                    </a:cubicBezTo>
                    <a:cubicBezTo>
                      <a:pt x="10358" y="11329"/>
                      <a:pt x="10490" y="11112"/>
                      <a:pt x="10622" y="10894"/>
                    </a:cubicBezTo>
                    <a:cubicBezTo>
                      <a:pt x="10886" y="10459"/>
                      <a:pt x="11150" y="10024"/>
                      <a:pt x="11150" y="10024"/>
                    </a:cubicBezTo>
                    <a:cubicBezTo>
                      <a:pt x="11150" y="10024"/>
                      <a:pt x="9673" y="8413"/>
                      <a:pt x="9673" y="8413"/>
                    </a:cubicBezTo>
                    <a:close/>
                    <a:moveTo>
                      <a:pt x="11946" y="10894"/>
                    </a:moveTo>
                    <a:cubicBezTo>
                      <a:pt x="11946" y="10894"/>
                      <a:pt x="11677" y="11337"/>
                      <a:pt x="11408" y="11779"/>
                    </a:cubicBezTo>
                    <a:cubicBezTo>
                      <a:pt x="11273" y="12000"/>
                      <a:pt x="11139" y="12221"/>
                      <a:pt x="11038" y="12386"/>
                    </a:cubicBezTo>
                    <a:cubicBezTo>
                      <a:pt x="10931" y="12546"/>
                      <a:pt x="10859" y="12651"/>
                      <a:pt x="10859" y="12651"/>
                    </a:cubicBezTo>
                    <a:lnTo>
                      <a:pt x="12299" y="14323"/>
                    </a:lnTo>
                    <a:cubicBezTo>
                      <a:pt x="12299" y="14323"/>
                      <a:pt x="12373" y="14212"/>
                      <a:pt x="12483" y="14049"/>
                    </a:cubicBezTo>
                    <a:cubicBezTo>
                      <a:pt x="12588" y="13877"/>
                      <a:pt x="12726" y="13650"/>
                      <a:pt x="12865" y="13423"/>
                    </a:cubicBezTo>
                    <a:cubicBezTo>
                      <a:pt x="13144" y="12967"/>
                      <a:pt x="13420" y="12509"/>
                      <a:pt x="13420" y="12509"/>
                    </a:cubicBezTo>
                    <a:cubicBezTo>
                      <a:pt x="13420" y="12509"/>
                      <a:pt x="11946" y="10894"/>
                      <a:pt x="11946" y="10894"/>
                    </a:cubicBezTo>
                    <a:close/>
                    <a:moveTo>
                      <a:pt x="14215" y="13379"/>
                    </a:moveTo>
                    <a:cubicBezTo>
                      <a:pt x="14215" y="13379"/>
                      <a:pt x="13932" y="13845"/>
                      <a:pt x="13651" y="14309"/>
                    </a:cubicBezTo>
                    <a:cubicBezTo>
                      <a:pt x="13376" y="14780"/>
                      <a:pt x="13074" y="15222"/>
                      <a:pt x="13074" y="15222"/>
                    </a:cubicBezTo>
                    <a:lnTo>
                      <a:pt x="14513" y="16897"/>
                    </a:lnTo>
                    <a:cubicBezTo>
                      <a:pt x="14513" y="16897"/>
                      <a:pt x="14824" y="16442"/>
                      <a:pt x="15107" y="15956"/>
                    </a:cubicBezTo>
                    <a:cubicBezTo>
                      <a:pt x="15397" y="15478"/>
                      <a:pt x="15688" y="14999"/>
                      <a:pt x="15688" y="14999"/>
                    </a:cubicBezTo>
                    <a:cubicBezTo>
                      <a:pt x="15688" y="14999"/>
                      <a:pt x="14215" y="13379"/>
                      <a:pt x="14215" y="13379"/>
                    </a:cubicBezTo>
                    <a:close/>
                    <a:moveTo>
                      <a:pt x="3640" y="5783"/>
                    </a:moveTo>
                    <a:lnTo>
                      <a:pt x="2670" y="7228"/>
                    </a:lnTo>
                    <a:lnTo>
                      <a:pt x="4060" y="8976"/>
                    </a:lnTo>
                    <a:lnTo>
                      <a:pt x="5065" y="7478"/>
                    </a:lnTo>
                    <a:cubicBezTo>
                      <a:pt x="5065" y="7478"/>
                      <a:pt x="3640" y="5783"/>
                      <a:pt x="3640" y="5783"/>
                    </a:cubicBezTo>
                    <a:close/>
                    <a:moveTo>
                      <a:pt x="5832" y="8391"/>
                    </a:moveTo>
                    <a:lnTo>
                      <a:pt x="4806" y="9918"/>
                    </a:lnTo>
                    <a:lnTo>
                      <a:pt x="6193" y="11669"/>
                    </a:lnTo>
                    <a:lnTo>
                      <a:pt x="7256" y="10089"/>
                    </a:lnTo>
                    <a:cubicBezTo>
                      <a:pt x="7256" y="10089"/>
                      <a:pt x="5832" y="8391"/>
                      <a:pt x="5832" y="8391"/>
                    </a:cubicBezTo>
                    <a:close/>
                    <a:moveTo>
                      <a:pt x="8021" y="11003"/>
                    </a:moveTo>
                    <a:lnTo>
                      <a:pt x="6938" y="12612"/>
                    </a:lnTo>
                    <a:lnTo>
                      <a:pt x="8324" y="14366"/>
                    </a:lnTo>
                    <a:cubicBezTo>
                      <a:pt x="8324" y="14366"/>
                      <a:pt x="8399" y="14269"/>
                      <a:pt x="8502" y="14109"/>
                    </a:cubicBezTo>
                    <a:cubicBezTo>
                      <a:pt x="8606" y="13953"/>
                      <a:pt x="8745" y="13745"/>
                      <a:pt x="8885" y="13536"/>
                    </a:cubicBezTo>
                    <a:cubicBezTo>
                      <a:pt x="9164" y="13120"/>
                      <a:pt x="9443" y="12703"/>
                      <a:pt x="9443" y="12703"/>
                    </a:cubicBezTo>
                    <a:cubicBezTo>
                      <a:pt x="9443" y="12703"/>
                      <a:pt x="8021" y="11003"/>
                      <a:pt x="8021" y="11003"/>
                    </a:cubicBezTo>
                    <a:close/>
                    <a:moveTo>
                      <a:pt x="10208" y="13618"/>
                    </a:moveTo>
                    <a:cubicBezTo>
                      <a:pt x="10208" y="13618"/>
                      <a:pt x="9924" y="14043"/>
                      <a:pt x="9640" y="14467"/>
                    </a:cubicBezTo>
                    <a:cubicBezTo>
                      <a:pt x="9499" y="14680"/>
                      <a:pt x="9357" y="14891"/>
                      <a:pt x="9251" y="15051"/>
                    </a:cubicBezTo>
                    <a:cubicBezTo>
                      <a:pt x="9147" y="15213"/>
                      <a:pt x="9069" y="15311"/>
                      <a:pt x="9069" y="15311"/>
                    </a:cubicBezTo>
                    <a:lnTo>
                      <a:pt x="10451" y="17068"/>
                    </a:lnTo>
                    <a:cubicBezTo>
                      <a:pt x="10451" y="17068"/>
                      <a:pt x="10532" y="16968"/>
                      <a:pt x="10640" y="16800"/>
                    </a:cubicBezTo>
                    <a:cubicBezTo>
                      <a:pt x="10750" y="16636"/>
                      <a:pt x="10896" y="16417"/>
                      <a:pt x="11043" y="16197"/>
                    </a:cubicBezTo>
                    <a:cubicBezTo>
                      <a:pt x="11336" y="15760"/>
                      <a:pt x="11629" y="15323"/>
                      <a:pt x="11629" y="15323"/>
                    </a:cubicBezTo>
                    <a:cubicBezTo>
                      <a:pt x="11629" y="15323"/>
                      <a:pt x="10208" y="13618"/>
                      <a:pt x="10208" y="13618"/>
                    </a:cubicBezTo>
                    <a:close/>
                    <a:moveTo>
                      <a:pt x="12392" y="16241"/>
                    </a:moveTo>
                    <a:cubicBezTo>
                      <a:pt x="12392" y="16241"/>
                      <a:pt x="12094" y="16686"/>
                      <a:pt x="11796" y="17131"/>
                    </a:cubicBezTo>
                    <a:cubicBezTo>
                      <a:pt x="11648" y="17353"/>
                      <a:pt x="11499" y="17576"/>
                      <a:pt x="11387" y="17743"/>
                    </a:cubicBezTo>
                    <a:cubicBezTo>
                      <a:pt x="11278" y="17913"/>
                      <a:pt x="11195" y="18013"/>
                      <a:pt x="11195" y="18013"/>
                    </a:cubicBezTo>
                    <a:lnTo>
                      <a:pt x="12576" y="19773"/>
                    </a:lnTo>
                    <a:cubicBezTo>
                      <a:pt x="12576" y="19773"/>
                      <a:pt x="12660" y="19667"/>
                      <a:pt x="12775" y="19495"/>
                    </a:cubicBezTo>
                    <a:cubicBezTo>
                      <a:pt x="12890" y="19322"/>
                      <a:pt x="13043" y="19094"/>
                      <a:pt x="13196" y="18863"/>
                    </a:cubicBezTo>
                    <a:cubicBezTo>
                      <a:pt x="13503" y="18405"/>
                      <a:pt x="13810" y="17945"/>
                      <a:pt x="13810" y="17945"/>
                    </a:cubicBezTo>
                    <a:cubicBezTo>
                      <a:pt x="13810" y="17945"/>
                      <a:pt x="12392" y="16241"/>
                      <a:pt x="12392" y="16241"/>
                    </a:cubicBezTo>
                    <a:close/>
                    <a:moveTo>
                      <a:pt x="3323" y="0"/>
                    </a:moveTo>
                    <a:cubicBezTo>
                      <a:pt x="3323" y="0"/>
                      <a:pt x="7902" y="4796"/>
                      <a:pt x="12481" y="9591"/>
                    </a:cubicBezTo>
                    <a:cubicBezTo>
                      <a:pt x="17041" y="14424"/>
                      <a:pt x="21600" y="19256"/>
                      <a:pt x="21600" y="19256"/>
                    </a:cubicBezTo>
                    <a:cubicBezTo>
                      <a:pt x="21600" y="19256"/>
                      <a:pt x="21022" y="19453"/>
                      <a:pt x="20155" y="19746"/>
                    </a:cubicBezTo>
                    <a:cubicBezTo>
                      <a:pt x="19291" y="20031"/>
                      <a:pt x="18167" y="20403"/>
                      <a:pt x="17005" y="20672"/>
                    </a:cubicBezTo>
                    <a:cubicBezTo>
                      <a:pt x="15852" y="20954"/>
                      <a:pt x="14735" y="21220"/>
                      <a:pt x="13886" y="21375"/>
                    </a:cubicBezTo>
                    <a:cubicBezTo>
                      <a:pt x="13034" y="21511"/>
                      <a:pt x="12465" y="21600"/>
                      <a:pt x="12465" y="21600"/>
                    </a:cubicBezTo>
                    <a:cubicBezTo>
                      <a:pt x="12465" y="21600"/>
                      <a:pt x="9356" y="17518"/>
                      <a:pt x="6245" y="13436"/>
                    </a:cubicBezTo>
                    <a:cubicBezTo>
                      <a:pt x="3123" y="9372"/>
                      <a:pt x="0" y="5307"/>
                      <a:pt x="0" y="5307"/>
                    </a:cubicBezTo>
                    <a:cubicBezTo>
                      <a:pt x="0" y="5307"/>
                      <a:pt x="269" y="4929"/>
                      <a:pt x="538" y="4549"/>
                    </a:cubicBezTo>
                    <a:cubicBezTo>
                      <a:pt x="791" y="4151"/>
                      <a:pt x="1044" y="3752"/>
                      <a:pt x="1044" y="3752"/>
                    </a:cubicBezTo>
                    <a:lnTo>
                      <a:pt x="2246" y="5212"/>
                    </a:lnTo>
                    <a:cubicBezTo>
                      <a:pt x="2246" y="5212"/>
                      <a:pt x="2620" y="4662"/>
                      <a:pt x="2993" y="4112"/>
                    </a:cubicBezTo>
                    <a:cubicBezTo>
                      <a:pt x="3185" y="3842"/>
                      <a:pt x="3367" y="3560"/>
                      <a:pt x="3494" y="3340"/>
                    </a:cubicBezTo>
                    <a:cubicBezTo>
                      <a:pt x="3625" y="3124"/>
                      <a:pt x="3713" y="2979"/>
                      <a:pt x="3713" y="2979"/>
                    </a:cubicBezTo>
                    <a:lnTo>
                      <a:pt x="2419" y="1544"/>
                    </a:lnTo>
                    <a:cubicBezTo>
                      <a:pt x="2419" y="1544"/>
                      <a:pt x="3323" y="0"/>
                      <a:pt x="3323" y="0"/>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06" name="Google Shape;406;p22"/>
              <p:cNvSpPr/>
              <p:nvPr/>
            </p:nvSpPr>
            <p:spPr>
              <a:xfrm>
                <a:off x="6860647" y="4713500"/>
                <a:ext cx="1331765" cy="772212"/>
              </a:xfrm>
              <a:custGeom>
                <a:rect b="b" l="l" r="r" t="t"/>
                <a:pathLst>
                  <a:path extrusionOk="0" h="21600" w="21600">
                    <a:moveTo>
                      <a:pt x="3622" y="1491"/>
                    </a:moveTo>
                    <a:lnTo>
                      <a:pt x="3559" y="3714"/>
                    </a:lnTo>
                    <a:lnTo>
                      <a:pt x="5247" y="3891"/>
                    </a:lnTo>
                    <a:lnTo>
                      <a:pt x="5311" y="1585"/>
                    </a:lnTo>
                    <a:cubicBezTo>
                      <a:pt x="5311" y="1585"/>
                      <a:pt x="3622" y="1491"/>
                      <a:pt x="3622" y="1491"/>
                    </a:cubicBezTo>
                    <a:close/>
                    <a:moveTo>
                      <a:pt x="6220" y="1637"/>
                    </a:moveTo>
                    <a:cubicBezTo>
                      <a:pt x="6220" y="1637"/>
                      <a:pt x="6209" y="2329"/>
                      <a:pt x="6191" y="3367"/>
                    </a:cubicBezTo>
                    <a:cubicBezTo>
                      <a:pt x="6198" y="4409"/>
                      <a:pt x="6086" y="5779"/>
                      <a:pt x="6037" y="7158"/>
                    </a:cubicBezTo>
                    <a:cubicBezTo>
                      <a:pt x="5997" y="8540"/>
                      <a:pt x="5851" y="9898"/>
                      <a:pt x="5784" y="10927"/>
                    </a:cubicBezTo>
                    <a:cubicBezTo>
                      <a:pt x="5746" y="11438"/>
                      <a:pt x="5713" y="11866"/>
                      <a:pt x="5691" y="12165"/>
                    </a:cubicBezTo>
                    <a:cubicBezTo>
                      <a:pt x="5672" y="12465"/>
                      <a:pt x="5650" y="12634"/>
                      <a:pt x="5650" y="12634"/>
                    </a:cubicBezTo>
                    <a:lnTo>
                      <a:pt x="7316" y="13119"/>
                    </a:lnTo>
                    <a:cubicBezTo>
                      <a:pt x="7316" y="13119"/>
                      <a:pt x="7340" y="12946"/>
                      <a:pt x="7359" y="12635"/>
                    </a:cubicBezTo>
                    <a:cubicBezTo>
                      <a:pt x="7383" y="12325"/>
                      <a:pt x="7416" y="11883"/>
                      <a:pt x="7455" y="11352"/>
                    </a:cubicBezTo>
                    <a:cubicBezTo>
                      <a:pt x="7524" y="10287"/>
                      <a:pt x="7677" y="8882"/>
                      <a:pt x="7719" y="7450"/>
                    </a:cubicBezTo>
                    <a:cubicBezTo>
                      <a:pt x="7752" y="6738"/>
                      <a:pt x="7786" y="6025"/>
                      <a:pt x="7817" y="5356"/>
                    </a:cubicBezTo>
                    <a:cubicBezTo>
                      <a:pt x="7834" y="5022"/>
                      <a:pt x="7850" y="4699"/>
                      <a:pt x="7865" y="4393"/>
                    </a:cubicBezTo>
                    <a:cubicBezTo>
                      <a:pt x="7869" y="4086"/>
                      <a:pt x="7875" y="3795"/>
                      <a:pt x="7879" y="3525"/>
                    </a:cubicBezTo>
                    <a:cubicBezTo>
                      <a:pt x="7897" y="2451"/>
                      <a:pt x="7909" y="1735"/>
                      <a:pt x="7909" y="1735"/>
                    </a:cubicBezTo>
                    <a:cubicBezTo>
                      <a:pt x="7909" y="1735"/>
                      <a:pt x="6220" y="1637"/>
                      <a:pt x="6220" y="1637"/>
                    </a:cubicBezTo>
                    <a:close/>
                    <a:moveTo>
                      <a:pt x="8819" y="1789"/>
                    </a:moveTo>
                    <a:cubicBezTo>
                      <a:pt x="8818" y="1789"/>
                      <a:pt x="8796" y="4710"/>
                      <a:pt x="8625" y="7609"/>
                    </a:cubicBezTo>
                    <a:cubicBezTo>
                      <a:pt x="8582" y="9066"/>
                      <a:pt x="8426" y="10498"/>
                      <a:pt x="8357" y="11582"/>
                    </a:cubicBezTo>
                    <a:cubicBezTo>
                      <a:pt x="8316" y="12123"/>
                      <a:pt x="8282" y="12574"/>
                      <a:pt x="8258" y="12889"/>
                    </a:cubicBezTo>
                    <a:cubicBezTo>
                      <a:pt x="8238" y="13206"/>
                      <a:pt x="8214" y="13383"/>
                      <a:pt x="8214" y="13383"/>
                    </a:cubicBezTo>
                    <a:lnTo>
                      <a:pt x="9879" y="13873"/>
                    </a:lnTo>
                    <a:cubicBezTo>
                      <a:pt x="9879" y="13873"/>
                      <a:pt x="9906" y="13690"/>
                      <a:pt x="9927" y="13363"/>
                    </a:cubicBezTo>
                    <a:cubicBezTo>
                      <a:pt x="9951" y="13037"/>
                      <a:pt x="9986" y="12571"/>
                      <a:pt x="10028" y="12012"/>
                    </a:cubicBezTo>
                    <a:cubicBezTo>
                      <a:pt x="10099" y="10892"/>
                      <a:pt x="10261" y="9411"/>
                      <a:pt x="10306" y="7905"/>
                    </a:cubicBezTo>
                    <a:cubicBezTo>
                      <a:pt x="10362" y="6402"/>
                      <a:pt x="10475" y="4908"/>
                      <a:pt x="10476" y="3775"/>
                    </a:cubicBezTo>
                    <a:cubicBezTo>
                      <a:pt x="10495" y="2645"/>
                      <a:pt x="10508" y="1891"/>
                      <a:pt x="10508" y="1891"/>
                    </a:cubicBezTo>
                    <a:cubicBezTo>
                      <a:pt x="10508" y="1891"/>
                      <a:pt x="8819" y="1789"/>
                      <a:pt x="8819" y="1789"/>
                    </a:cubicBezTo>
                    <a:close/>
                    <a:moveTo>
                      <a:pt x="11417" y="1948"/>
                    </a:moveTo>
                    <a:cubicBezTo>
                      <a:pt x="11417" y="1948"/>
                      <a:pt x="11405" y="2714"/>
                      <a:pt x="11385" y="3865"/>
                    </a:cubicBezTo>
                    <a:cubicBezTo>
                      <a:pt x="11382" y="5016"/>
                      <a:pt x="11270" y="6537"/>
                      <a:pt x="11212" y="8066"/>
                    </a:cubicBezTo>
                    <a:cubicBezTo>
                      <a:pt x="11183" y="8831"/>
                      <a:pt x="11141" y="9592"/>
                      <a:pt x="11077" y="10302"/>
                    </a:cubicBezTo>
                    <a:cubicBezTo>
                      <a:pt x="11023" y="11012"/>
                      <a:pt x="10971" y="11677"/>
                      <a:pt x="10928" y="12245"/>
                    </a:cubicBezTo>
                    <a:cubicBezTo>
                      <a:pt x="10886" y="12814"/>
                      <a:pt x="10850" y="13288"/>
                      <a:pt x="10824" y="13620"/>
                    </a:cubicBezTo>
                    <a:cubicBezTo>
                      <a:pt x="10803" y="13952"/>
                      <a:pt x="10775" y="14138"/>
                      <a:pt x="10775" y="14138"/>
                    </a:cubicBezTo>
                    <a:lnTo>
                      <a:pt x="12441" y="14633"/>
                    </a:lnTo>
                    <a:cubicBezTo>
                      <a:pt x="12441" y="14633"/>
                      <a:pt x="12467" y="14441"/>
                      <a:pt x="12492" y="14099"/>
                    </a:cubicBezTo>
                    <a:cubicBezTo>
                      <a:pt x="12518" y="13756"/>
                      <a:pt x="12555" y="13267"/>
                      <a:pt x="12599" y="12680"/>
                    </a:cubicBezTo>
                    <a:cubicBezTo>
                      <a:pt x="12645" y="12093"/>
                      <a:pt x="12697" y="11408"/>
                      <a:pt x="12753" y="10674"/>
                    </a:cubicBezTo>
                    <a:cubicBezTo>
                      <a:pt x="12781" y="10306"/>
                      <a:pt x="12810" y="9928"/>
                      <a:pt x="12840" y="9542"/>
                    </a:cubicBezTo>
                    <a:cubicBezTo>
                      <a:pt x="12857" y="9155"/>
                      <a:pt x="12875" y="8760"/>
                      <a:pt x="12893" y="8367"/>
                    </a:cubicBezTo>
                    <a:cubicBezTo>
                      <a:pt x="12955" y="6790"/>
                      <a:pt x="13066" y="5219"/>
                      <a:pt x="13073" y="4032"/>
                    </a:cubicBezTo>
                    <a:cubicBezTo>
                      <a:pt x="13093" y="2845"/>
                      <a:pt x="13106" y="2054"/>
                      <a:pt x="13106" y="2054"/>
                    </a:cubicBezTo>
                    <a:cubicBezTo>
                      <a:pt x="13106" y="2054"/>
                      <a:pt x="11417" y="1948"/>
                      <a:pt x="11417" y="1948"/>
                    </a:cubicBezTo>
                    <a:close/>
                    <a:moveTo>
                      <a:pt x="14016" y="2113"/>
                    </a:moveTo>
                    <a:cubicBezTo>
                      <a:pt x="14016" y="2113"/>
                      <a:pt x="14002" y="2916"/>
                      <a:pt x="13982" y="4122"/>
                    </a:cubicBezTo>
                    <a:cubicBezTo>
                      <a:pt x="13973" y="5329"/>
                      <a:pt x="13861" y="6927"/>
                      <a:pt x="13798" y="8530"/>
                    </a:cubicBezTo>
                    <a:cubicBezTo>
                      <a:pt x="13780" y="8930"/>
                      <a:pt x="13762" y="9331"/>
                      <a:pt x="13744" y="9725"/>
                    </a:cubicBezTo>
                    <a:cubicBezTo>
                      <a:pt x="13714" y="10116"/>
                      <a:pt x="13684" y="10502"/>
                      <a:pt x="13655" y="10875"/>
                    </a:cubicBezTo>
                    <a:cubicBezTo>
                      <a:pt x="13598" y="11621"/>
                      <a:pt x="13545" y="12318"/>
                      <a:pt x="13500" y="12915"/>
                    </a:cubicBezTo>
                    <a:cubicBezTo>
                      <a:pt x="13455" y="13512"/>
                      <a:pt x="13417" y="14009"/>
                      <a:pt x="13391" y="14357"/>
                    </a:cubicBezTo>
                    <a:cubicBezTo>
                      <a:pt x="13362" y="14706"/>
                      <a:pt x="13336" y="14901"/>
                      <a:pt x="13336" y="14901"/>
                    </a:cubicBezTo>
                    <a:lnTo>
                      <a:pt x="15002" y="15401"/>
                    </a:lnTo>
                    <a:cubicBezTo>
                      <a:pt x="15002" y="15401"/>
                      <a:pt x="15022" y="15197"/>
                      <a:pt x="15059" y="14841"/>
                    </a:cubicBezTo>
                    <a:cubicBezTo>
                      <a:pt x="15086" y="14482"/>
                      <a:pt x="15124" y="13969"/>
                      <a:pt x="15171" y="13354"/>
                    </a:cubicBezTo>
                    <a:cubicBezTo>
                      <a:pt x="15218" y="12738"/>
                      <a:pt x="15273" y="12020"/>
                      <a:pt x="15332" y="11251"/>
                    </a:cubicBezTo>
                    <a:cubicBezTo>
                      <a:pt x="15361" y="10867"/>
                      <a:pt x="15391" y="10469"/>
                      <a:pt x="15422" y="10066"/>
                    </a:cubicBezTo>
                    <a:cubicBezTo>
                      <a:pt x="15441" y="9660"/>
                      <a:pt x="15461" y="9247"/>
                      <a:pt x="15480" y="8834"/>
                    </a:cubicBezTo>
                    <a:cubicBezTo>
                      <a:pt x="15546" y="7183"/>
                      <a:pt x="15657" y="5536"/>
                      <a:pt x="15670" y="4293"/>
                    </a:cubicBezTo>
                    <a:cubicBezTo>
                      <a:pt x="15691" y="3051"/>
                      <a:pt x="15704" y="2224"/>
                      <a:pt x="15704" y="2224"/>
                    </a:cubicBezTo>
                    <a:cubicBezTo>
                      <a:pt x="15704" y="2224"/>
                      <a:pt x="14016" y="2113"/>
                      <a:pt x="14016" y="2113"/>
                    </a:cubicBezTo>
                    <a:close/>
                    <a:moveTo>
                      <a:pt x="2936" y="13128"/>
                    </a:moveTo>
                    <a:lnTo>
                      <a:pt x="2682" y="15293"/>
                    </a:lnTo>
                    <a:lnTo>
                      <a:pt x="4335" y="15904"/>
                    </a:lnTo>
                    <a:lnTo>
                      <a:pt x="4598" y="13657"/>
                    </a:lnTo>
                    <a:cubicBezTo>
                      <a:pt x="4598" y="13657"/>
                      <a:pt x="2936" y="13128"/>
                      <a:pt x="2936" y="13128"/>
                    </a:cubicBezTo>
                    <a:close/>
                    <a:moveTo>
                      <a:pt x="5494" y="13943"/>
                    </a:moveTo>
                    <a:lnTo>
                      <a:pt x="5225" y="16236"/>
                    </a:lnTo>
                    <a:lnTo>
                      <a:pt x="6877" y="16851"/>
                    </a:lnTo>
                    <a:lnTo>
                      <a:pt x="7155" y="14477"/>
                    </a:lnTo>
                    <a:cubicBezTo>
                      <a:pt x="7155" y="14477"/>
                      <a:pt x="5494" y="13943"/>
                      <a:pt x="5494" y="13943"/>
                    </a:cubicBezTo>
                    <a:close/>
                    <a:moveTo>
                      <a:pt x="8049" y="14766"/>
                    </a:moveTo>
                    <a:lnTo>
                      <a:pt x="7766" y="17184"/>
                    </a:lnTo>
                    <a:lnTo>
                      <a:pt x="9420" y="17806"/>
                    </a:lnTo>
                    <a:lnTo>
                      <a:pt x="9710" y="15303"/>
                    </a:lnTo>
                    <a:cubicBezTo>
                      <a:pt x="9710" y="15303"/>
                      <a:pt x="8049" y="14766"/>
                      <a:pt x="8049" y="14766"/>
                    </a:cubicBezTo>
                    <a:close/>
                    <a:moveTo>
                      <a:pt x="10604" y="15594"/>
                    </a:moveTo>
                    <a:lnTo>
                      <a:pt x="10309" y="18140"/>
                    </a:lnTo>
                    <a:lnTo>
                      <a:pt x="11961" y="18765"/>
                    </a:lnTo>
                    <a:lnTo>
                      <a:pt x="12265" y="16137"/>
                    </a:lnTo>
                    <a:cubicBezTo>
                      <a:pt x="12265" y="16137"/>
                      <a:pt x="10604" y="15594"/>
                      <a:pt x="10604" y="15594"/>
                    </a:cubicBezTo>
                    <a:close/>
                    <a:moveTo>
                      <a:pt x="13159" y="16429"/>
                    </a:moveTo>
                    <a:lnTo>
                      <a:pt x="12849" y="19103"/>
                    </a:lnTo>
                    <a:lnTo>
                      <a:pt x="14501" y="19730"/>
                    </a:lnTo>
                    <a:lnTo>
                      <a:pt x="14819" y="16976"/>
                    </a:lnTo>
                    <a:cubicBezTo>
                      <a:pt x="14819" y="16976"/>
                      <a:pt x="13159" y="16429"/>
                      <a:pt x="13159" y="16429"/>
                    </a:cubicBezTo>
                    <a:close/>
                    <a:moveTo>
                      <a:pt x="4761" y="12300"/>
                    </a:moveTo>
                    <a:lnTo>
                      <a:pt x="4961" y="10027"/>
                    </a:lnTo>
                    <a:lnTo>
                      <a:pt x="3287" y="9631"/>
                    </a:lnTo>
                    <a:lnTo>
                      <a:pt x="3095" y="11821"/>
                    </a:lnTo>
                    <a:cubicBezTo>
                      <a:pt x="3095" y="11821"/>
                      <a:pt x="4761" y="12300"/>
                      <a:pt x="4761" y="12300"/>
                    </a:cubicBezTo>
                    <a:close/>
                    <a:moveTo>
                      <a:pt x="5068" y="8131"/>
                    </a:moveTo>
                    <a:lnTo>
                      <a:pt x="5199" y="5839"/>
                    </a:lnTo>
                    <a:lnTo>
                      <a:pt x="3515" y="5593"/>
                    </a:lnTo>
                    <a:lnTo>
                      <a:pt x="3388" y="7802"/>
                    </a:lnTo>
                    <a:cubicBezTo>
                      <a:pt x="3388" y="7802"/>
                      <a:pt x="5068" y="8131"/>
                      <a:pt x="5068" y="8131"/>
                    </a:cubicBezTo>
                    <a:close/>
                    <a:moveTo>
                      <a:pt x="974" y="0"/>
                    </a:moveTo>
                    <a:cubicBezTo>
                      <a:pt x="974" y="0"/>
                      <a:pt x="6130" y="134"/>
                      <a:pt x="11286" y="267"/>
                    </a:cubicBezTo>
                    <a:cubicBezTo>
                      <a:pt x="16444" y="452"/>
                      <a:pt x="21600" y="637"/>
                      <a:pt x="21600" y="637"/>
                    </a:cubicBezTo>
                    <a:cubicBezTo>
                      <a:pt x="21600" y="637"/>
                      <a:pt x="21254" y="2059"/>
                      <a:pt x="20736" y="4189"/>
                    </a:cubicBezTo>
                    <a:cubicBezTo>
                      <a:pt x="20491" y="5242"/>
                      <a:pt x="20148" y="6452"/>
                      <a:pt x="19784" y="7728"/>
                    </a:cubicBezTo>
                    <a:cubicBezTo>
                      <a:pt x="19410" y="9002"/>
                      <a:pt x="19067" y="10350"/>
                      <a:pt x="18624" y="11657"/>
                    </a:cubicBezTo>
                    <a:cubicBezTo>
                      <a:pt x="18201" y="12946"/>
                      <a:pt x="17780" y="14235"/>
                      <a:pt x="17383" y="15444"/>
                    </a:cubicBezTo>
                    <a:cubicBezTo>
                      <a:pt x="16955" y="16604"/>
                      <a:pt x="16556" y="17687"/>
                      <a:pt x="16213" y="18616"/>
                    </a:cubicBezTo>
                    <a:cubicBezTo>
                      <a:pt x="15871" y="19530"/>
                      <a:pt x="15593" y="20281"/>
                      <a:pt x="15368" y="20794"/>
                    </a:cubicBezTo>
                    <a:cubicBezTo>
                      <a:pt x="15154" y="21307"/>
                      <a:pt x="15031" y="21600"/>
                      <a:pt x="15031" y="21600"/>
                    </a:cubicBezTo>
                    <a:cubicBezTo>
                      <a:pt x="15031" y="21600"/>
                      <a:pt x="11275" y="20066"/>
                      <a:pt x="7519" y="18531"/>
                    </a:cubicBezTo>
                    <a:cubicBezTo>
                      <a:pt x="3760" y="17025"/>
                      <a:pt x="0" y="15520"/>
                      <a:pt x="0" y="15520"/>
                    </a:cubicBezTo>
                    <a:cubicBezTo>
                      <a:pt x="0" y="15520"/>
                      <a:pt x="20" y="15375"/>
                      <a:pt x="50" y="15158"/>
                    </a:cubicBezTo>
                    <a:cubicBezTo>
                      <a:pt x="79" y="14942"/>
                      <a:pt x="124" y="14655"/>
                      <a:pt x="148" y="14360"/>
                    </a:cubicBezTo>
                    <a:cubicBezTo>
                      <a:pt x="207" y="13774"/>
                      <a:pt x="266" y="13189"/>
                      <a:pt x="266" y="13189"/>
                    </a:cubicBezTo>
                    <a:lnTo>
                      <a:pt x="1678" y="13666"/>
                    </a:lnTo>
                    <a:cubicBezTo>
                      <a:pt x="1678" y="13666"/>
                      <a:pt x="1754" y="12969"/>
                      <a:pt x="1869" y="11922"/>
                    </a:cubicBezTo>
                    <a:cubicBezTo>
                      <a:pt x="1980" y="10874"/>
                      <a:pt x="2061" y="9456"/>
                      <a:pt x="2186" y="8050"/>
                    </a:cubicBezTo>
                    <a:cubicBezTo>
                      <a:pt x="2272" y="6634"/>
                      <a:pt x="2323" y="5208"/>
                      <a:pt x="2387" y="4144"/>
                    </a:cubicBezTo>
                    <a:cubicBezTo>
                      <a:pt x="2413" y="3610"/>
                      <a:pt x="2406" y="3161"/>
                      <a:pt x="2416" y="2849"/>
                    </a:cubicBezTo>
                    <a:cubicBezTo>
                      <a:pt x="2421" y="2536"/>
                      <a:pt x="2424" y="2356"/>
                      <a:pt x="2424" y="2356"/>
                    </a:cubicBezTo>
                    <a:lnTo>
                      <a:pt x="935" y="2247"/>
                    </a:lnTo>
                    <a:cubicBezTo>
                      <a:pt x="935" y="2247"/>
                      <a:pt x="974" y="0"/>
                      <a:pt x="974" y="0"/>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07" name="Google Shape;407;p22"/>
              <p:cNvSpPr/>
              <p:nvPr/>
            </p:nvSpPr>
            <p:spPr>
              <a:xfrm>
                <a:off x="5613257" y="6748178"/>
                <a:ext cx="652323" cy="679981"/>
              </a:xfrm>
              <a:custGeom>
                <a:rect b="b" l="l" r="r" t="t"/>
                <a:pathLst>
                  <a:path extrusionOk="0" h="21600" w="21600">
                    <a:moveTo>
                      <a:pt x="8886" y="17965"/>
                    </a:moveTo>
                    <a:cubicBezTo>
                      <a:pt x="8886" y="17965"/>
                      <a:pt x="9041" y="17891"/>
                      <a:pt x="9294" y="17728"/>
                    </a:cubicBezTo>
                    <a:cubicBezTo>
                      <a:pt x="9548" y="17569"/>
                      <a:pt x="9912" y="17345"/>
                      <a:pt x="10351" y="17074"/>
                    </a:cubicBezTo>
                    <a:cubicBezTo>
                      <a:pt x="11218" y="16522"/>
                      <a:pt x="12410" y="15838"/>
                      <a:pt x="13551" y="15080"/>
                    </a:cubicBezTo>
                    <a:cubicBezTo>
                      <a:pt x="14684" y="14308"/>
                      <a:pt x="15814" y="13536"/>
                      <a:pt x="16663" y="12958"/>
                    </a:cubicBezTo>
                    <a:cubicBezTo>
                      <a:pt x="17095" y="12678"/>
                      <a:pt x="17428" y="12411"/>
                      <a:pt x="17667" y="12231"/>
                    </a:cubicBezTo>
                    <a:cubicBezTo>
                      <a:pt x="17905" y="12050"/>
                      <a:pt x="18042" y="11946"/>
                      <a:pt x="18042" y="11946"/>
                    </a:cubicBezTo>
                    <a:lnTo>
                      <a:pt x="16432" y="9931"/>
                    </a:lnTo>
                    <a:cubicBezTo>
                      <a:pt x="16432" y="9931"/>
                      <a:pt x="16299" y="10032"/>
                      <a:pt x="16068" y="10207"/>
                    </a:cubicBezTo>
                    <a:cubicBezTo>
                      <a:pt x="15834" y="10383"/>
                      <a:pt x="15510" y="10645"/>
                      <a:pt x="15089" y="10916"/>
                    </a:cubicBezTo>
                    <a:cubicBezTo>
                      <a:pt x="14263" y="11481"/>
                      <a:pt x="13161" y="12232"/>
                      <a:pt x="12061" y="12985"/>
                    </a:cubicBezTo>
                    <a:cubicBezTo>
                      <a:pt x="10947" y="13721"/>
                      <a:pt x="9787" y="14386"/>
                      <a:pt x="8941" y="14923"/>
                    </a:cubicBezTo>
                    <a:cubicBezTo>
                      <a:pt x="8517" y="15187"/>
                      <a:pt x="8161" y="15407"/>
                      <a:pt x="7912" y="15561"/>
                    </a:cubicBezTo>
                    <a:cubicBezTo>
                      <a:pt x="7668" y="15720"/>
                      <a:pt x="7516" y="15793"/>
                      <a:pt x="7516" y="15793"/>
                    </a:cubicBezTo>
                    <a:cubicBezTo>
                      <a:pt x="7516" y="15793"/>
                      <a:pt x="8886" y="17965"/>
                      <a:pt x="8886" y="17965"/>
                    </a:cubicBezTo>
                    <a:close/>
                    <a:moveTo>
                      <a:pt x="6469" y="14131"/>
                    </a:moveTo>
                    <a:cubicBezTo>
                      <a:pt x="6469" y="14131"/>
                      <a:pt x="6618" y="14059"/>
                      <a:pt x="6858" y="13902"/>
                    </a:cubicBezTo>
                    <a:cubicBezTo>
                      <a:pt x="7100" y="13753"/>
                      <a:pt x="7447" y="13536"/>
                      <a:pt x="7863" y="13278"/>
                    </a:cubicBezTo>
                    <a:cubicBezTo>
                      <a:pt x="8692" y="12753"/>
                      <a:pt x="9828" y="12101"/>
                      <a:pt x="10918" y="11378"/>
                    </a:cubicBezTo>
                    <a:cubicBezTo>
                      <a:pt x="11996" y="10643"/>
                      <a:pt x="13076" y="9907"/>
                      <a:pt x="13885" y="9355"/>
                    </a:cubicBezTo>
                    <a:cubicBezTo>
                      <a:pt x="14298" y="9089"/>
                      <a:pt x="14615" y="8831"/>
                      <a:pt x="14843" y="8661"/>
                    </a:cubicBezTo>
                    <a:cubicBezTo>
                      <a:pt x="15070" y="8490"/>
                      <a:pt x="15199" y="8390"/>
                      <a:pt x="15199" y="8390"/>
                    </a:cubicBezTo>
                    <a:lnTo>
                      <a:pt x="13588" y="6375"/>
                    </a:lnTo>
                    <a:cubicBezTo>
                      <a:pt x="13588" y="6375"/>
                      <a:pt x="13462" y="6470"/>
                      <a:pt x="13241" y="6638"/>
                    </a:cubicBezTo>
                    <a:cubicBezTo>
                      <a:pt x="13020" y="6804"/>
                      <a:pt x="12713" y="7055"/>
                      <a:pt x="12310" y="7313"/>
                    </a:cubicBezTo>
                    <a:cubicBezTo>
                      <a:pt x="11524" y="7850"/>
                      <a:pt x="10475" y="8567"/>
                      <a:pt x="9425" y="9282"/>
                    </a:cubicBezTo>
                    <a:cubicBezTo>
                      <a:pt x="8367" y="9985"/>
                      <a:pt x="7260" y="10615"/>
                      <a:pt x="6456" y="11128"/>
                    </a:cubicBezTo>
                    <a:cubicBezTo>
                      <a:pt x="6051" y="11381"/>
                      <a:pt x="5714" y="11589"/>
                      <a:pt x="5477" y="11737"/>
                    </a:cubicBezTo>
                    <a:cubicBezTo>
                      <a:pt x="5244" y="11888"/>
                      <a:pt x="5100" y="11958"/>
                      <a:pt x="5100" y="11958"/>
                    </a:cubicBezTo>
                    <a:cubicBezTo>
                      <a:pt x="5100" y="11958"/>
                      <a:pt x="6469" y="14131"/>
                      <a:pt x="6469" y="14131"/>
                    </a:cubicBezTo>
                    <a:close/>
                    <a:moveTo>
                      <a:pt x="4051" y="10296"/>
                    </a:moveTo>
                    <a:cubicBezTo>
                      <a:pt x="4051" y="10296"/>
                      <a:pt x="4193" y="10226"/>
                      <a:pt x="4421" y="10079"/>
                    </a:cubicBezTo>
                    <a:cubicBezTo>
                      <a:pt x="4652" y="9935"/>
                      <a:pt x="4983" y="9730"/>
                      <a:pt x="5379" y="9485"/>
                    </a:cubicBezTo>
                    <a:cubicBezTo>
                      <a:pt x="6163" y="8981"/>
                      <a:pt x="7248" y="8365"/>
                      <a:pt x="8283" y="7677"/>
                    </a:cubicBezTo>
                    <a:cubicBezTo>
                      <a:pt x="9310" y="6977"/>
                      <a:pt x="10337" y="6278"/>
                      <a:pt x="11107" y="5752"/>
                    </a:cubicBezTo>
                    <a:cubicBezTo>
                      <a:pt x="11499" y="5500"/>
                      <a:pt x="11801" y="5255"/>
                      <a:pt x="12018" y="5092"/>
                    </a:cubicBezTo>
                    <a:cubicBezTo>
                      <a:pt x="12233" y="4927"/>
                      <a:pt x="12356" y="4834"/>
                      <a:pt x="12356" y="4834"/>
                    </a:cubicBezTo>
                    <a:lnTo>
                      <a:pt x="10746" y="2818"/>
                    </a:lnTo>
                    <a:cubicBezTo>
                      <a:pt x="10746" y="2818"/>
                      <a:pt x="10626" y="2910"/>
                      <a:pt x="10417" y="3069"/>
                    </a:cubicBezTo>
                    <a:cubicBezTo>
                      <a:pt x="10207" y="3228"/>
                      <a:pt x="9914" y="3468"/>
                      <a:pt x="9533" y="3710"/>
                    </a:cubicBezTo>
                    <a:cubicBezTo>
                      <a:pt x="8785" y="4220"/>
                      <a:pt x="7788" y="4900"/>
                      <a:pt x="6791" y="5580"/>
                    </a:cubicBezTo>
                    <a:cubicBezTo>
                      <a:pt x="5786" y="6247"/>
                      <a:pt x="4734" y="6846"/>
                      <a:pt x="3971" y="7334"/>
                    </a:cubicBezTo>
                    <a:cubicBezTo>
                      <a:pt x="3585" y="7573"/>
                      <a:pt x="3266" y="7771"/>
                      <a:pt x="3042" y="7912"/>
                    </a:cubicBezTo>
                    <a:cubicBezTo>
                      <a:pt x="2820" y="8057"/>
                      <a:pt x="2683" y="8121"/>
                      <a:pt x="2683" y="8121"/>
                    </a:cubicBezTo>
                    <a:cubicBezTo>
                      <a:pt x="2683" y="8121"/>
                      <a:pt x="4051" y="10296"/>
                      <a:pt x="4051" y="10296"/>
                    </a:cubicBezTo>
                    <a:close/>
                    <a:moveTo>
                      <a:pt x="15979" y="16944"/>
                    </a:moveTo>
                    <a:cubicBezTo>
                      <a:pt x="15631" y="16464"/>
                      <a:pt x="15033" y="16294"/>
                      <a:pt x="14641" y="16563"/>
                    </a:cubicBezTo>
                    <a:cubicBezTo>
                      <a:pt x="14257" y="16838"/>
                      <a:pt x="14200" y="17427"/>
                      <a:pt x="14538" y="17913"/>
                    </a:cubicBezTo>
                    <a:cubicBezTo>
                      <a:pt x="14876" y="18397"/>
                      <a:pt x="15491" y="18592"/>
                      <a:pt x="15886" y="18310"/>
                    </a:cubicBezTo>
                    <a:cubicBezTo>
                      <a:pt x="16286" y="18034"/>
                      <a:pt x="16329" y="17423"/>
                      <a:pt x="15979" y="16944"/>
                    </a:cubicBezTo>
                    <a:close/>
                    <a:moveTo>
                      <a:pt x="8848" y="21600"/>
                    </a:moveTo>
                    <a:lnTo>
                      <a:pt x="0" y="6928"/>
                    </a:lnTo>
                    <a:lnTo>
                      <a:pt x="1436" y="6145"/>
                    </a:lnTo>
                    <a:lnTo>
                      <a:pt x="1635" y="6459"/>
                    </a:lnTo>
                    <a:cubicBezTo>
                      <a:pt x="1635" y="6459"/>
                      <a:pt x="1770" y="6396"/>
                      <a:pt x="1986" y="6255"/>
                    </a:cubicBezTo>
                    <a:cubicBezTo>
                      <a:pt x="2204" y="6118"/>
                      <a:pt x="2517" y="5922"/>
                      <a:pt x="2894" y="5689"/>
                    </a:cubicBezTo>
                    <a:cubicBezTo>
                      <a:pt x="3638" y="5212"/>
                      <a:pt x="4666" y="4628"/>
                      <a:pt x="5650" y="3976"/>
                    </a:cubicBezTo>
                    <a:cubicBezTo>
                      <a:pt x="6624" y="3312"/>
                      <a:pt x="7597" y="2646"/>
                      <a:pt x="8327" y="2149"/>
                    </a:cubicBezTo>
                    <a:cubicBezTo>
                      <a:pt x="8701" y="1910"/>
                      <a:pt x="8986" y="1678"/>
                      <a:pt x="9192" y="1523"/>
                    </a:cubicBezTo>
                    <a:cubicBezTo>
                      <a:pt x="9397" y="1365"/>
                      <a:pt x="9514" y="1276"/>
                      <a:pt x="9514" y="1276"/>
                    </a:cubicBezTo>
                    <a:lnTo>
                      <a:pt x="9281" y="985"/>
                    </a:lnTo>
                    <a:lnTo>
                      <a:pt x="10582" y="0"/>
                    </a:lnTo>
                    <a:lnTo>
                      <a:pt x="21600" y="13254"/>
                    </a:lnTo>
                    <a:cubicBezTo>
                      <a:pt x="21600" y="13254"/>
                      <a:pt x="21346" y="13682"/>
                      <a:pt x="20964" y="14325"/>
                    </a:cubicBezTo>
                    <a:cubicBezTo>
                      <a:pt x="20573" y="14961"/>
                      <a:pt x="20085" y="15862"/>
                      <a:pt x="19521" y="16690"/>
                    </a:cubicBezTo>
                    <a:cubicBezTo>
                      <a:pt x="18389" y="18378"/>
                      <a:pt x="17256" y="20067"/>
                      <a:pt x="17256" y="20067"/>
                    </a:cubicBezTo>
                    <a:cubicBezTo>
                      <a:pt x="17256" y="20069"/>
                      <a:pt x="16746" y="20213"/>
                      <a:pt x="15940" y="20359"/>
                    </a:cubicBezTo>
                    <a:cubicBezTo>
                      <a:pt x="15148" y="20512"/>
                      <a:pt x="14093" y="20716"/>
                      <a:pt x="13039" y="20920"/>
                    </a:cubicBezTo>
                    <a:cubicBezTo>
                      <a:pt x="11996" y="21126"/>
                      <a:pt x="10963" y="21322"/>
                      <a:pt x="10161" y="21418"/>
                    </a:cubicBezTo>
                    <a:cubicBezTo>
                      <a:pt x="9374" y="21527"/>
                      <a:pt x="8848" y="21600"/>
                      <a:pt x="8848" y="21600"/>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08" name="Google Shape;408;p22"/>
              <p:cNvSpPr/>
              <p:nvPr/>
            </p:nvSpPr>
            <p:spPr>
              <a:xfrm>
                <a:off x="3997784" y="7300301"/>
                <a:ext cx="553982" cy="1228910"/>
              </a:xfrm>
              <a:custGeom>
                <a:rect b="b" l="l" r="r" t="t"/>
                <a:pathLst>
                  <a:path extrusionOk="0" h="21600" w="21600">
                    <a:moveTo>
                      <a:pt x="17151" y="1890"/>
                    </a:moveTo>
                    <a:cubicBezTo>
                      <a:pt x="17151" y="1890"/>
                      <a:pt x="16420" y="1897"/>
                      <a:pt x="15325" y="1909"/>
                    </a:cubicBezTo>
                    <a:cubicBezTo>
                      <a:pt x="14228" y="1913"/>
                      <a:pt x="12766" y="1963"/>
                      <a:pt x="11305" y="1924"/>
                    </a:cubicBezTo>
                    <a:cubicBezTo>
                      <a:pt x="9844" y="1909"/>
                      <a:pt x="8382" y="1894"/>
                      <a:pt x="7287" y="1883"/>
                    </a:cubicBezTo>
                    <a:cubicBezTo>
                      <a:pt x="6198" y="1843"/>
                      <a:pt x="5471" y="1817"/>
                      <a:pt x="5471" y="1817"/>
                    </a:cubicBezTo>
                    <a:lnTo>
                      <a:pt x="5261" y="3219"/>
                    </a:lnTo>
                    <a:cubicBezTo>
                      <a:pt x="5261" y="3219"/>
                      <a:pt x="6009" y="3246"/>
                      <a:pt x="7130" y="3287"/>
                    </a:cubicBezTo>
                    <a:cubicBezTo>
                      <a:pt x="8258" y="3298"/>
                      <a:pt x="9762" y="3315"/>
                      <a:pt x="11264" y="3330"/>
                    </a:cubicBezTo>
                    <a:cubicBezTo>
                      <a:pt x="12769" y="3370"/>
                      <a:pt x="14273" y="3320"/>
                      <a:pt x="15400" y="3313"/>
                    </a:cubicBezTo>
                    <a:cubicBezTo>
                      <a:pt x="16528" y="3303"/>
                      <a:pt x="17281" y="3295"/>
                      <a:pt x="17281" y="3295"/>
                    </a:cubicBezTo>
                    <a:cubicBezTo>
                      <a:pt x="17281" y="3295"/>
                      <a:pt x="17151" y="1890"/>
                      <a:pt x="17151" y="1890"/>
                    </a:cubicBezTo>
                    <a:close/>
                    <a:moveTo>
                      <a:pt x="17380" y="4368"/>
                    </a:moveTo>
                    <a:cubicBezTo>
                      <a:pt x="17380" y="4368"/>
                      <a:pt x="16612" y="4376"/>
                      <a:pt x="15459" y="4387"/>
                    </a:cubicBezTo>
                    <a:cubicBezTo>
                      <a:pt x="14308" y="4394"/>
                      <a:pt x="12771" y="4444"/>
                      <a:pt x="11236" y="4404"/>
                    </a:cubicBezTo>
                    <a:cubicBezTo>
                      <a:pt x="9699" y="4387"/>
                      <a:pt x="8163" y="4371"/>
                      <a:pt x="7011" y="4359"/>
                    </a:cubicBezTo>
                    <a:cubicBezTo>
                      <a:pt x="5865" y="4318"/>
                      <a:pt x="5101" y="4291"/>
                      <a:pt x="5101" y="4291"/>
                    </a:cubicBezTo>
                    <a:lnTo>
                      <a:pt x="4891" y="5694"/>
                    </a:lnTo>
                    <a:cubicBezTo>
                      <a:pt x="4891" y="5694"/>
                      <a:pt x="5676" y="5722"/>
                      <a:pt x="6854" y="5764"/>
                    </a:cubicBezTo>
                    <a:cubicBezTo>
                      <a:pt x="8039" y="5776"/>
                      <a:pt x="9617" y="5793"/>
                      <a:pt x="11195" y="5810"/>
                    </a:cubicBezTo>
                    <a:cubicBezTo>
                      <a:pt x="12774" y="5850"/>
                      <a:pt x="14352" y="5800"/>
                      <a:pt x="15536" y="5793"/>
                    </a:cubicBezTo>
                    <a:cubicBezTo>
                      <a:pt x="16720" y="5781"/>
                      <a:pt x="17510" y="5773"/>
                      <a:pt x="17510" y="5773"/>
                    </a:cubicBezTo>
                    <a:cubicBezTo>
                      <a:pt x="17510" y="5773"/>
                      <a:pt x="17380" y="4368"/>
                      <a:pt x="17380" y="4368"/>
                    </a:cubicBezTo>
                    <a:close/>
                    <a:moveTo>
                      <a:pt x="17608" y="6847"/>
                    </a:moveTo>
                    <a:cubicBezTo>
                      <a:pt x="17608" y="6847"/>
                      <a:pt x="16803" y="6855"/>
                      <a:pt x="15594" y="6867"/>
                    </a:cubicBezTo>
                    <a:cubicBezTo>
                      <a:pt x="14386" y="6875"/>
                      <a:pt x="12775" y="6925"/>
                      <a:pt x="11165" y="6885"/>
                    </a:cubicBezTo>
                    <a:cubicBezTo>
                      <a:pt x="9553" y="6867"/>
                      <a:pt x="7943" y="6850"/>
                      <a:pt x="6735" y="6837"/>
                    </a:cubicBezTo>
                    <a:cubicBezTo>
                      <a:pt x="5533" y="6795"/>
                      <a:pt x="4731" y="6766"/>
                      <a:pt x="4731" y="6766"/>
                    </a:cubicBezTo>
                    <a:lnTo>
                      <a:pt x="4521" y="8168"/>
                    </a:lnTo>
                    <a:cubicBezTo>
                      <a:pt x="4521" y="8168"/>
                      <a:pt x="5344" y="8197"/>
                      <a:pt x="6578" y="8240"/>
                    </a:cubicBezTo>
                    <a:cubicBezTo>
                      <a:pt x="7818" y="8254"/>
                      <a:pt x="9472" y="8271"/>
                      <a:pt x="11125" y="8290"/>
                    </a:cubicBezTo>
                    <a:cubicBezTo>
                      <a:pt x="12778" y="8330"/>
                      <a:pt x="14432" y="8280"/>
                      <a:pt x="15672" y="8273"/>
                    </a:cubicBezTo>
                    <a:cubicBezTo>
                      <a:pt x="16911" y="8259"/>
                      <a:pt x="17738" y="8251"/>
                      <a:pt x="17738" y="8251"/>
                    </a:cubicBezTo>
                    <a:cubicBezTo>
                      <a:pt x="17738" y="8251"/>
                      <a:pt x="17608" y="6847"/>
                      <a:pt x="17608" y="6847"/>
                    </a:cubicBezTo>
                    <a:close/>
                    <a:moveTo>
                      <a:pt x="17837" y="9323"/>
                    </a:moveTo>
                    <a:cubicBezTo>
                      <a:pt x="17837" y="9323"/>
                      <a:pt x="16995" y="9332"/>
                      <a:pt x="15731" y="9346"/>
                    </a:cubicBezTo>
                    <a:cubicBezTo>
                      <a:pt x="14466" y="9353"/>
                      <a:pt x="12780" y="9404"/>
                      <a:pt x="11095" y="9364"/>
                    </a:cubicBezTo>
                    <a:cubicBezTo>
                      <a:pt x="9408" y="9345"/>
                      <a:pt x="7723" y="9327"/>
                      <a:pt x="6459" y="9313"/>
                    </a:cubicBezTo>
                    <a:cubicBezTo>
                      <a:pt x="5200" y="9268"/>
                      <a:pt x="4360" y="9240"/>
                      <a:pt x="4360" y="9240"/>
                    </a:cubicBezTo>
                    <a:lnTo>
                      <a:pt x="4150" y="10643"/>
                    </a:lnTo>
                    <a:cubicBezTo>
                      <a:pt x="4150" y="10643"/>
                      <a:pt x="5011" y="10673"/>
                      <a:pt x="6303" y="10717"/>
                    </a:cubicBezTo>
                    <a:cubicBezTo>
                      <a:pt x="7599" y="10732"/>
                      <a:pt x="9326" y="10750"/>
                      <a:pt x="11054" y="10769"/>
                    </a:cubicBezTo>
                    <a:cubicBezTo>
                      <a:pt x="12783" y="10811"/>
                      <a:pt x="14511" y="10760"/>
                      <a:pt x="15807" y="10751"/>
                    </a:cubicBezTo>
                    <a:cubicBezTo>
                      <a:pt x="17103" y="10738"/>
                      <a:pt x="17967" y="10728"/>
                      <a:pt x="17967" y="10728"/>
                    </a:cubicBezTo>
                    <a:cubicBezTo>
                      <a:pt x="17967" y="10728"/>
                      <a:pt x="17837" y="9323"/>
                      <a:pt x="17837" y="9323"/>
                    </a:cubicBezTo>
                    <a:close/>
                    <a:moveTo>
                      <a:pt x="18067" y="11803"/>
                    </a:moveTo>
                    <a:cubicBezTo>
                      <a:pt x="18067" y="11803"/>
                      <a:pt x="17186" y="11812"/>
                      <a:pt x="15866" y="11826"/>
                    </a:cubicBezTo>
                    <a:cubicBezTo>
                      <a:pt x="14546" y="11834"/>
                      <a:pt x="12784" y="11885"/>
                      <a:pt x="11024" y="11844"/>
                    </a:cubicBezTo>
                    <a:cubicBezTo>
                      <a:pt x="9264" y="11825"/>
                      <a:pt x="7503" y="11806"/>
                      <a:pt x="6183" y="11791"/>
                    </a:cubicBezTo>
                    <a:cubicBezTo>
                      <a:pt x="4868" y="11746"/>
                      <a:pt x="3991" y="11714"/>
                      <a:pt x="3991" y="11714"/>
                    </a:cubicBezTo>
                    <a:lnTo>
                      <a:pt x="3781" y="13116"/>
                    </a:lnTo>
                    <a:cubicBezTo>
                      <a:pt x="3781" y="13116"/>
                      <a:pt x="4679" y="13148"/>
                      <a:pt x="6027" y="13194"/>
                    </a:cubicBezTo>
                    <a:cubicBezTo>
                      <a:pt x="7378" y="13208"/>
                      <a:pt x="9182" y="13229"/>
                      <a:pt x="10985" y="13249"/>
                    </a:cubicBezTo>
                    <a:cubicBezTo>
                      <a:pt x="12788" y="13291"/>
                      <a:pt x="14590" y="13238"/>
                      <a:pt x="15943" y="13231"/>
                    </a:cubicBezTo>
                    <a:cubicBezTo>
                      <a:pt x="17294" y="13216"/>
                      <a:pt x="18196" y="13205"/>
                      <a:pt x="18196" y="13205"/>
                    </a:cubicBezTo>
                    <a:cubicBezTo>
                      <a:pt x="18196" y="13205"/>
                      <a:pt x="18067" y="11803"/>
                      <a:pt x="18067" y="11803"/>
                    </a:cubicBezTo>
                    <a:close/>
                    <a:moveTo>
                      <a:pt x="18295" y="14279"/>
                    </a:moveTo>
                    <a:cubicBezTo>
                      <a:pt x="18295" y="14279"/>
                      <a:pt x="17377" y="14289"/>
                      <a:pt x="16000" y="14304"/>
                    </a:cubicBezTo>
                    <a:cubicBezTo>
                      <a:pt x="14624" y="14312"/>
                      <a:pt x="12789" y="14365"/>
                      <a:pt x="10954" y="14323"/>
                    </a:cubicBezTo>
                    <a:cubicBezTo>
                      <a:pt x="9119" y="14302"/>
                      <a:pt x="7283" y="14281"/>
                      <a:pt x="5906" y="14267"/>
                    </a:cubicBezTo>
                    <a:cubicBezTo>
                      <a:pt x="4535" y="14219"/>
                      <a:pt x="3621" y="14188"/>
                      <a:pt x="3621" y="14188"/>
                    </a:cubicBezTo>
                    <a:lnTo>
                      <a:pt x="3410" y="15591"/>
                    </a:lnTo>
                    <a:cubicBezTo>
                      <a:pt x="3410" y="15591"/>
                      <a:pt x="4347" y="15623"/>
                      <a:pt x="5751" y="15671"/>
                    </a:cubicBezTo>
                    <a:cubicBezTo>
                      <a:pt x="7159" y="15686"/>
                      <a:pt x="9037" y="15708"/>
                      <a:pt x="10914" y="15728"/>
                    </a:cubicBezTo>
                    <a:cubicBezTo>
                      <a:pt x="12792" y="15771"/>
                      <a:pt x="14670" y="15718"/>
                      <a:pt x="16078" y="15710"/>
                    </a:cubicBezTo>
                    <a:cubicBezTo>
                      <a:pt x="17487" y="15695"/>
                      <a:pt x="18425" y="15683"/>
                      <a:pt x="18425" y="15683"/>
                    </a:cubicBezTo>
                    <a:cubicBezTo>
                      <a:pt x="18425" y="15683"/>
                      <a:pt x="18295" y="14279"/>
                      <a:pt x="18295" y="14279"/>
                    </a:cubicBezTo>
                    <a:close/>
                    <a:moveTo>
                      <a:pt x="18524" y="16757"/>
                    </a:moveTo>
                    <a:cubicBezTo>
                      <a:pt x="18524" y="16757"/>
                      <a:pt x="17569" y="16768"/>
                      <a:pt x="16136" y="16784"/>
                    </a:cubicBezTo>
                    <a:cubicBezTo>
                      <a:pt x="14704" y="16793"/>
                      <a:pt x="12794" y="16846"/>
                      <a:pt x="10883" y="16804"/>
                    </a:cubicBezTo>
                    <a:cubicBezTo>
                      <a:pt x="8974" y="16782"/>
                      <a:pt x="7064" y="16760"/>
                      <a:pt x="5631" y="16745"/>
                    </a:cubicBezTo>
                    <a:cubicBezTo>
                      <a:pt x="4202" y="16696"/>
                      <a:pt x="3250" y="16664"/>
                      <a:pt x="3250" y="16664"/>
                    </a:cubicBezTo>
                    <a:lnTo>
                      <a:pt x="3041" y="18066"/>
                    </a:lnTo>
                    <a:cubicBezTo>
                      <a:pt x="3041" y="18066"/>
                      <a:pt x="4014" y="18098"/>
                      <a:pt x="5475" y="18148"/>
                    </a:cubicBezTo>
                    <a:cubicBezTo>
                      <a:pt x="6939" y="18164"/>
                      <a:pt x="8892" y="18186"/>
                      <a:pt x="10844" y="18208"/>
                    </a:cubicBezTo>
                    <a:cubicBezTo>
                      <a:pt x="12797" y="18251"/>
                      <a:pt x="14748" y="18198"/>
                      <a:pt x="16214" y="18189"/>
                    </a:cubicBezTo>
                    <a:cubicBezTo>
                      <a:pt x="17678" y="18172"/>
                      <a:pt x="18653" y="18161"/>
                      <a:pt x="18653" y="18161"/>
                    </a:cubicBezTo>
                    <a:cubicBezTo>
                      <a:pt x="18653" y="18161"/>
                      <a:pt x="18524" y="16757"/>
                      <a:pt x="18524" y="16757"/>
                    </a:cubicBezTo>
                    <a:close/>
                    <a:moveTo>
                      <a:pt x="18941" y="91"/>
                    </a:moveTo>
                    <a:lnTo>
                      <a:pt x="21600" y="19831"/>
                    </a:lnTo>
                    <a:cubicBezTo>
                      <a:pt x="21600" y="19831"/>
                      <a:pt x="20949" y="19955"/>
                      <a:pt x="19970" y="20141"/>
                    </a:cubicBezTo>
                    <a:cubicBezTo>
                      <a:pt x="18978" y="20307"/>
                      <a:pt x="17655" y="20529"/>
                      <a:pt x="16332" y="20752"/>
                    </a:cubicBezTo>
                    <a:cubicBezTo>
                      <a:pt x="14986" y="20973"/>
                      <a:pt x="13640" y="21194"/>
                      <a:pt x="12630" y="21360"/>
                    </a:cubicBezTo>
                    <a:cubicBezTo>
                      <a:pt x="11608" y="21504"/>
                      <a:pt x="10927" y="21600"/>
                      <a:pt x="10927" y="21600"/>
                    </a:cubicBezTo>
                    <a:cubicBezTo>
                      <a:pt x="10927" y="21600"/>
                      <a:pt x="8158" y="21154"/>
                      <a:pt x="5389" y="20709"/>
                    </a:cubicBezTo>
                    <a:cubicBezTo>
                      <a:pt x="2656" y="20214"/>
                      <a:pt x="0" y="19702"/>
                      <a:pt x="0" y="19702"/>
                    </a:cubicBezTo>
                    <a:lnTo>
                      <a:pt x="3785" y="0"/>
                    </a:lnTo>
                    <a:cubicBezTo>
                      <a:pt x="3785" y="0"/>
                      <a:pt x="4729" y="32"/>
                      <a:pt x="6144" y="81"/>
                    </a:cubicBezTo>
                    <a:cubicBezTo>
                      <a:pt x="7553" y="159"/>
                      <a:pt x="9461" y="131"/>
                      <a:pt x="11356" y="169"/>
                    </a:cubicBezTo>
                    <a:cubicBezTo>
                      <a:pt x="11831" y="176"/>
                      <a:pt x="12305" y="182"/>
                      <a:pt x="12772" y="188"/>
                    </a:cubicBezTo>
                    <a:cubicBezTo>
                      <a:pt x="13239" y="181"/>
                      <a:pt x="13699" y="175"/>
                      <a:pt x="14143" y="167"/>
                    </a:cubicBezTo>
                    <a:cubicBezTo>
                      <a:pt x="15033" y="158"/>
                      <a:pt x="15863" y="149"/>
                      <a:pt x="16576" y="141"/>
                    </a:cubicBezTo>
                    <a:cubicBezTo>
                      <a:pt x="18002" y="141"/>
                      <a:pt x="18941" y="91"/>
                      <a:pt x="18941" y="91"/>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09" name="Google Shape;409;p22"/>
              <p:cNvSpPr/>
              <p:nvPr/>
            </p:nvSpPr>
            <p:spPr>
              <a:xfrm>
                <a:off x="2832190" y="7157159"/>
                <a:ext cx="805601" cy="1768871"/>
              </a:xfrm>
              <a:custGeom>
                <a:rect b="b" l="l" r="r" t="t"/>
                <a:pathLst>
                  <a:path extrusionOk="0" h="21600" w="21600">
                    <a:moveTo>
                      <a:pt x="18111" y="3809"/>
                    </a:moveTo>
                    <a:cubicBezTo>
                      <a:pt x="18111" y="3809"/>
                      <a:pt x="17443" y="3720"/>
                      <a:pt x="16774" y="3631"/>
                    </a:cubicBezTo>
                    <a:cubicBezTo>
                      <a:pt x="16117" y="3526"/>
                      <a:pt x="15459" y="3421"/>
                      <a:pt x="15459" y="3421"/>
                    </a:cubicBezTo>
                    <a:lnTo>
                      <a:pt x="13983" y="5415"/>
                    </a:lnTo>
                    <a:cubicBezTo>
                      <a:pt x="13983" y="5415"/>
                      <a:pt x="14680" y="5525"/>
                      <a:pt x="15378" y="5636"/>
                    </a:cubicBezTo>
                    <a:cubicBezTo>
                      <a:pt x="16082" y="5736"/>
                      <a:pt x="16794" y="5826"/>
                      <a:pt x="16794" y="5826"/>
                    </a:cubicBezTo>
                    <a:cubicBezTo>
                      <a:pt x="16794" y="5826"/>
                      <a:pt x="18111" y="3809"/>
                      <a:pt x="18111" y="3809"/>
                    </a:cubicBezTo>
                    <a:close/>
                    <a:moveTo>
                      <a:pt x="16213" y="6715"/>
                    </a:moveTo>
                    <a:cubicBezTo>
                      <a:pt x="16213" y="6716"/>
                      <a:pt x="15482" y="6624"/>
                      <a:pt x="14761" y="6520"/>
                    </a:cubicBezTo>
                    <a:cubicBezTo>
                      <a:pt x="14045" y="6407"/>
                      <a:pt x="13331" y="6294"/>
                      <a:pt x="13331" y="6294"/>
                    </a:cubicBezTo>
                    <a:lnTo>
                      <a:pt x="11850" y="8285"/>
                    </a:lnTo>
                    <a:cubicBezTo>
                      <a:pt x="11850" y="8285"/>
                      <a:pt x="12606" y="8405"/>
                      <a:pt x="13362" y="8524"/>
                    </a:cubicBezTo>
                    <a:cubicBezTo>
                      <a:pt x="14123" y="8635"/>
                      <a:pt x="14895" y="8731"/>
                      <a:pt x="14895" y="8731"/>
                    </a:cubicBezTo>
                    <a:cubicBezTo>
                      <a:pt x="14895" y="8731"/>
                      <a:pt x="16213" y="6715"/>
                      <a:pt x="16213" y="6715"/>
                    </a:cubicBezTo>
                    <a:close/>
                    <a:moveTo>
                      <a:pt x="14312" y="9620"/>
                    </a:moveTo>
                    <a:cubicBezTo>
                      <a:pt x="14312" y="9620"/>
                      <a:pt x="13522" y="9522"/>
                      <a:pt x="12744" y="9408"/>
                    </a:cubicBezTo>
                    <a:cubicBezTo>
                      <a:pt x="11970" y="9287"/>
                      <a:pt x="11197" y="9164"/>
                      <a:pt x="11197" y="9164"/>
                    </a:cubicBezTo>
                    <a:lnTo>
                      <a:pt x="9715" y="11156"/>
                    </a:lnTo>
                    <a:cubicBezTo>
                      <a:pt x="9715" y="11156"/>
                      <a:pt x="10528" y="11284"/>
                      <a:pt x="11341" y="11412"/>
                    </a:cubicBezTo>
                    <a:cubicBezTo>
                      <a:pt x="12160" y="11532"/>
                      <a:pt x="12990" y="11636"/>
                      <a:pt x="12990" y="11636"/>
                    </a:cubicBezTo>
                    <a:cubicBezTo>
                      <a:pt x="12990" y="11636"/>
                      <a:pt x="14312" y="9620"/>
                      <a:pt x="14312" y="9620"/>
                    </a:cubicBezTo>
                    <a:close/>
                    <a:moveTo>
                      <a:pt x="12406" y="12525"/>
                    </a:moveTo>
                    <a:cubicBezTo>
                      <a:pt x="12406" y="12525"/>
                      <a:pt x="11558" y="12419"/>
                      <a:pt x="10722" y="12296"/>
                    </a:cubicBezTo>
                    <a:cubicBezTo>
                      <a:pt x="9891" y="12165"/>
                      <a:pt x="9060" y="12035"/>
                      <a:pt x="9060" y="12035"/>
                    </a:cubicBezTo>
                    <a:lnTo>
                      <a:pt x="7575" y="14026"/>
                    </a:lnTo>
                    <a:cubicBezTo>
                      <a:pt x="7575" y="14026"/>
                      <a:pt x="8446" y="14163"/>
                      <a:pt x="9318" y="14299"/>
                    </a:cubicBezTo>
                    <a:cubicBezTo>
                      <a:pt x="10193" y="14429"/>
                      <a:pt x="11083" y="14540"/>
                      <a:pt x="11083" y="14540"/>
                    </a:cubicBezTo>
                    <a:cubicBezTo>
                      <a:pt x="11083" y="14540"/>
                      <a:pt x="12406" y="12525"/>
                      <a:pt x="12406" y="12525"/>
                    </a:cubicBezTo>
                    <a:close/>
                    <a:moveTo>
                      <a:pt x="10497" y="15428"/>
                    </a:moveTo>
                    <a:cubicBezTo>
                      <a:pt x="10497" y="15428"/>
                      <a:pt x="9590" y="15316"/>
                      <a:pt x="8697" y="15183"/>
                    </a:cubicBezTo>
                    <a:cubicBezTo>
                      <a:pt x="7809" y="15044"/>
                      <a:pt x="6920" y="14905"/>
                      <a:pt x="6920" y="14905"/>
                    </a:cubicBezTo>
                    <a:lnTo>
                      <a:pt x="5432" y="16896"/>
                    </a:lnTo>
                    <a:cubicBezTo>
                      <a:pt x="5432" y="16896"/>
                      <a:pt x="6361" y="17041"/>
                      <a:pt x="7290" y="17185"/>
                    </a:cubicBezTo>
                    <a:cubicBezTo>
                      <a:pt x="7751" y="17262"/>
                      <a:pt x="8230" y="17315"/>
                      <a:pt x="8581" y="17364"/>
                    </a:cubicBezTo>
                    <a:cubicBezTo>
                      <a:pt x="8935" y="17411"/>
                      <a:pt x="9170" y="17442"/>
                      <a:pt x="9170" y="17442"/>
                    </a:cubicBezTo>
                    <a:cubicBezTo>
                      <a:pt x="9170" y="17442"/>
                      <a:pt x="10497" y="15428"/>
                      <a:pt x="10497" y="15428"/>
                    </a:cubicBezTo>
                    <a:close/>
                    <a:moveTo>
                      <a:pt x="8584" y="18331"/>
                    </a:moveTo>
                    <a:cubicBezTo>
                      <a:pt x="8584" y="18331"/>
                      <a:pt x="8344" y="18299"/>
                      <a:pt x="7984" y="18252"/>
                    </a:cubicBezTo>
                    <a:cubicBezTo>
                      <a:pt x="7626" y="18201"/>
                      <a:pt x="7138" y="18147"/>
                      <a:pt x="6668" y="18069"/>
                    </a:cubicBezTo>
                    <a:cubicBezTo>
                      <a:pt x="5721" y="17922"/>
                      <a:pt x="4774" y="17775"/>
                      <a:pt x="4774" y="17775"/>
                    </a:cubicBezTo>
                    <a:lnTo>
                      <a:pt x="3284" y="19765"/>
                    </a:lnTo>
                    <a:cubicBezTo>
                      <a:pt x="3284" y="19765"/>
                      <a:pt x="4271" y="19919"/>
                      <a:pt x="5257" y="20072"/>
                    </a:cubicBezTo>
                    <a:cubicBezTo>
                      <a:pt x="5748" y="20153"/>
                      <a:pt x="6254" y="20210"/>
                      <a:pt x="6628" y="20263"/>
                    </a:cubicBezTo>
                    <a:cubicBezTo>
                      <a:pt x="7004" y="20313"/>
                      <a:pt x="7254" y="20346"/>
                      <a:pt x="7254" y="20346"/>
                    </a:cubicBezTo>
                    <a:cubicBezTo>
                      <a:pt x="7254" y="20346"/>
                      <a:pt x="8584" y="18331"/>
                      <a:pt x="8584" y="18331"/>
                    </a:cubicBezTo>
                    <a:close/>
                    <a:moveTo>
                      <a:pt x="21600" y="756"/>
                    </a:moveTo>
                    <a:lnTo>
                      <a:pt x="8961" y="21600"/>
                    </a:lnTo>
                    <a:cubicBezTo>
                      <a:pt x="8961" y="21600"/>
                      <a:pt x="8396" y="21526"/>
                      <a:pt x="7547" y="21414"/>
                    </a:cubicBezTo>
                    <a:cubicBezTo>
                      <a:pt x="6703" y="21298"/>
                      <a:pt x="5563" y="21164"/>
                      <a:pt x="4450" y="20992"/>
                    </a:cubicBezTo>
                    <a:cubicBezTo>
                      <a:pt x="2225" y="20644"/>
                      <a:pt x="0" y="20296"/>
                      <a:pt x="0" y="20296"/>
                    </a:cubicBezTo>
                    <a:lnTo>
                      <a:pt x="16284" y="0"/>
                    </a:lnTo>
                    <a:cubicBezTo>
                      <a:pt x="16284" y="0"/>
                      <a:pt x="17603" y="203"/>
                      <a:pt x="18922" y="407"/>
                    </a:cubicBezTo>
                    <a:cubicBezTo>
                      <a:pt x="20260" y="582"/>
                      <a:pt x="21600" y="756"/>
                      <a:pt x="21600" y="756"/>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10" name="Google Shape;410;p22"/>
              <p:cNvSpPr/>
              <p:nvPr/>
            </p:nvSpPr>
            <p:spPr>
              <a:xfrm>
                <a:off x="4570357" y="7208282"/>
                <a:ext cx="924471" cy="2216684"/>
              </a:xfrm>
              <a:custGeom>
                <a:rect b="b" l="l" r="r" t="t"/>
                <a:pathLst>
                  <a:path extrusionOk="0" h="21600" w="21600">
                    <a:moveTo>
                      <a:pt x="13978" y="15020"/>
                    </a:moveTo>
                    <a:cubicBezTo>
                      <a:pt x="13978" y="15020"/>
                      <a:pt x="15110" y="14906"/>
                      <a:pt x="16241" y="14793"/>
                    </a:cubicBezTo>
                    <a:cubicBezTo>
                      <a:pt x="16807" y="14735"/>
                      <a:pt x="17372" y="14678"/>
                      <a:pt x="17796" y="14635"/>
                    </a:cubicBezTo>
                    <a:cubicBezTo>
                      <a:pt x="18221" y="14593"/>
                      <a:pt x="18499" y="14558"/>
                      <a:pt x="18499" y="14558"/>
                    </a:cubicBezTo>
                    <a:lnTo>
                      <a:pt x="17421" y="12909"/>
                    </a:lnTo>
                    <a:cubicBezTo>
                      <a:pt x="17421" y="12909"/>
                      <a:pt x="17154" y="12943"/>
                      <a:pt x="16748" y="12982"/>
                    </a:cubicBezTo>
                    <a:cubicBezTo>
                      <a:pt x="16342" y="13023"/>
                      <a:pt x="15801" y="13078"/>
                      <a:pt x="15260" y="13134"/>
                    </a:cubicBezTo>
                    <a:cubicBezTo>
                      <a:pt x="14177" y="13243"/>
                      <a:pt x="13094" y="13352"/>
                      <a:pt x="13094" y="13352"/>
                    </a:cubicBezTo>
                    <a:cubicBezTo>
                      <a:pt x="13094" y="13352"/>
                      <a:pt x="13978" y="15020"/>
                      <a:pt x="13978" y="15020"/>
                    </a:cubicBezTo>
                    <a:close/>
                    <a:moveTo>
                      <a:pt x="12620" y="12453"/>
                    </a:moveTo>
                    <a:cubicBezTo>
                      <a:pt x="12620" y="12453"/>
                      <a:pt x="13677" y="12347"/>
                      <a:pt x="14733" y="12239"/>
                    </a:cubicBezTo>
                    <a:cubicBezTo>
                      <a:pt x="15261" y="12186"/>
                      <a:pt x="15789" y="12132"/>
                      <a:pt x="16185" y="12092"/>
                    </a:cubicBezTo>
                    <a:cubicBezTo>
                      <a:pt x="16582" y="12053"/>
                      <a:pt x="16843" y="12021"/>
                      <a:pt x="16843" y="12021"/>
                    </a:cubicBezTo>
                    <a:lnTo>
                      <a:pt x="15772" y="10372"/>
                    </a:lnTo>
                    <a:lnTo>
                      <a:pt x="11742" y="10785"/>
                    </a:lnTo>
                    <a:cubicBezTo>
                      <a:pt x="11742" y="10785"/>
                      <a:pt x="12620" y="12453"/>
                      <a:pt x="12620" y="12453"/>
                    </a:cubicBezTo>
                    <a:close/>
                    <a:moveTo>
                      <a:pt x="11271" y="9885"/>
                    </a:moveTo>
                    <a:lnTo>
                      <a:pt x="15197" y="9484"/>
                    </a:lnTo>
                    <a:lnTo>
                      <a:pt x="14133" y="7834"/>
                    </a:lnTo>
                    <a:lnTo>
                      <a:pt x="10400" y="8216"/>
                    </a:lnTo>
                    <a:cubicBezTo>
                      <a:pt x="10400" y="8216"/>
                      <a:pt x="11271" y="9885"/>
                      <a:pt x="11271" y="9885"/>
                    </a:cubicBezTo>
                    <a:close/>
                    <a:moveTo>
                      <a:pt x="9932" y="7317"/>
                    </a:moveTo>
                    <a:lnTo>
                      <a:pt x="13561" y="6946"/>
                    </a:lnTo>
                    <a:lnTo>
                      <a:pt x="12502" y="5295"/>
                    </a:lnTo>
                    <a:lnTo>
                      <a:pt x="9067" y="5647"/>
                    </a:lnTo>
                    <a:cubicBezTo>
                      <a:pt x="9067" y="5647"/>
                      <a:pt x="9932" y="7317"/>
                      <a:pt x="9932" y="7317"/>
                    </a:cubicBezTo>
                    <a:close/>
                    <a:moveTo>
                      <a:pt x="8603" y="4747"/>
                    </a:moveTo>
                    <a:lnTo>
                      <a:pt x="11933" y="4405"/>
                    </a:lnTo>
                    <a:lnTo>
                      <a:pt x="10881" y="2753"/>
                    </a:lnTo>
                    <a:lnTo>
                      <a:pt x="7744" y="3077"/>
                    </a:lnTo>
                    <a:cubicBezTo>
                      <a:pt x="7744" y="3077"/>
                      <a:pt x="8603" y="4747"/>
                      <a:pt x="8603" y="4747"/>
                    </a:cubicBezTo>
                    <a:close/>
                    <a:moveTo>
                      <a:pt x="11369" y="15237"/>
                    </a:moveTo>
                    <a:lnTo>
                      <a:pt x="10596" y="13558"/>
                    </a:lnTo>
                    <a:cubicBezTo>
                      <a:pt x="10596" y="13558"/>
                      <a:pt x="9501" y="13644"/>
                      <a:pt x="8406" y="13731"/>
                    </a:cubicBezTo>
                    <a:cubicBezTo>
                      <a:pt x="7302" y="13797"/>
                      <a:pt x="6199" y="13863"/>
                      <a:pt x="6199" y="13863"/>
                    </a:cubicBezTo>
                    <a:lnTo>
                      <a:pt x="6778" y="15555"/>
                    </a:lnTo>
                    <a:cubicBezTo>
                      <a:pt x="6778" y="15555"/>
                      <a:pt x="7932" y="15493"/>
                      <a:pt x="9081" y="15417"/>
                    </a:cubicBezTo>
                    <a:cubicBezTo>
                      <a:pt x="10225" y="15327"/>
                      <a:pt x="11369" y="15237"/>
                      <a:pt x="11369" y="15237"/>
                    </a:cubicBezTo>
                    <a:close/>
                    <a:moveTo>
                      <a:pt x="5890" y="12951"/>
                    </a:moveTo>
                    <a:cubicBezTo>
                      <a:pt x="5890" y="12951"/>
                      <a:pt x="6967" y="12887"/>
                      <a:pt x="8044" y="12823"/>
                    </a:cubicBezTo>
                    <a:cubicBezTo>
                      <a:pt x="9112" y="12738"/>
                      <a:pt x="10181" y="12654"/>
                      <a:pt x="10181" y="12654"/>
                    </a:cubicBezTo>
                    <a:lnTo>
                      <a:pt x="9414" y="10975"/>
                    </a:lnTo>
                    <a:cubicBezTo>
                      <a:pt x="9414" y="10975"/>
                      <a:pt x="8394" y="11057"/>
                      <a:pt x="7374" y="11138"/>
                    </a:cubicBezTo>
                    <a:cubicBezTo>
                      <a:pt x="6346" y="11198"/>
                      <a:pt x="5319" y="11259"/>
                      <a:pt x="5319" y="11259"/>
                    </a:cubicBezTo>
                    <a:cubicBezTo>
                      <a:pt x="5319" y="11259"/>
                      <a:pt x="5890" y="12951"/>
                      <a:pt x="5890" y="12951"/>
                    </a:cubicBezTo>
                    <a:close/>
                    <a:moveTo>
                      <a:pt x="5012" y="10348"/>
                    </a:moveTo>
                    <a:cubicBezTo>
                      <a:pt x="5012" y="10348"/>
                      <a:pt x="6014" y="10289"/>
                      <a:pt x="7016" y="10230"/>
                    </a:cubicBezTo>
                    <a:cubicBezTo>
                      <a:pt x="8009" y="10151"/>
                      <a:pt x="9003" y="10071"/>
                      <a:pt x="9003" y="10071"/>
                    </a:cubicBezTo>
                    <a:lnTo>
                      <a:pt x="8242" y="8392"/>
                    </a:lnTo>
                    <a:cubicBezTo>
                      <a:pt x="8242" y="8392"/>
                      <a:pt x="7298" y="8468"/>
                      <a:pt x="6353" y="8544"/>
                    </a:cubicBezTo>
                    <a:cubicBezTo>
                      <a:pt x="5400" y="8599"/>
                      <a:pt x="4448" y="8655"/>
                      <a:pt x="4448" y="8655"/>
                    </a:cubicBezTo>
                    <a:cubicBezTo>
                      <a:pt x="4448" y="8655"/>
                      <a:pt x="5012" y="10348"/>
                      <a:pt x="5012" y="10348"/>
                    </a:cubicBezTo>
                    <a:close/>
                    <a:moveTo>
                      <a:pt x="4145" y="7744"/>
                    </a:moveTo>
                    <a:cubicBezTo>
                      <a:pt x="4145" y="7744"/>
                      <a:pt x="5072" y="7690"/>
                      <a:pt x="5999" y="7636"/>
                    </a:cubicBezTo>
                    <a:cubicBezTo>
                      <a:pt x="6917" y="7561"/>
                      <a:pt x="7835" y="7487"/>
                      <a:pt x="7835" y="7487"/>
                    </a:cubicBezTo>
                    <a:lnTo>
                      <a:pt x="7081" y="5807"/>
                    </a:lnTo>
                    <a:cubicBezTo>
                      <a:pt x="7081" y="5807"/>
                      <a:pt x="6212" y="5878"/>
                      <a:pt x="5342" y="5948"/>
                    </a:cubicBezTo>
                    <a:cubicBezTo>
                      <a:pt x="4464" y="5999"/>
                      <a:pt x="3586" y="6050"/>
                      <a:pt x="3586" y="6050"/>
                    </a:cubicBezTo>
                    <a:cubicBezTo>
                      <a:pt x="3586" y="6050"/>
                      <a:pt x="4145" y="7744"/>
                      <a:pt x="4145" y="7744"/>
                    </a:cubicBezTo>
                    <a:close/>
                    <a:moveTo>
                      <a:pt x="3288" y="5138"/>
                    </a:moveTo>
                    <a:cubicBezTo>
                      <a:pt x="3288" y="5138"/>
                      <a:pt x="4140" y="5089"/>
                      <a:pt x="4991" y="5039"/>
                    </a:cubicBezTo>
                    <a:cubicBezTo>
                      <a:pt x="5834" y="4971"/>
                      <a:pt x="6677" y="4903"/>
                      <a:pt x="6677" y="4903"/>
                    </a:cubicBezTo>
                    <a:lnTo>
                      <a:pt x="5930" y="3222"/>
                    </a:lnTo>
                    <a:cubicBezTo>
                      <a:pt x="5930" y="3222"/>
                      <a:pt x="5135" y="3287"/>
                      <a:pt x="4341" y="3351"/>
                    </a:cubicBezTo>
                    <a:cubicBezTo>
                      <a:pt x="3538" y="3398"/>
                      <a:pt x="2736" y="3445"/>
                      <a:pt x="2736" y="3445"/>
                    </a:cubicBezTo>
                    <a:cubicBezTo>
                      <a:pt x="2736" y="3445"/>
                      <a:pt x="3288" y="5138"/>
                      <a:pt x="3288" y="5138"/>
                    </a:cubicBezTo>
                    <a:close/>
                    <a:moveTo>
                      <a:pt x="10863" y="0"/>
                    </a:moveTo>
                    <a:cubicBezTo>
                      <a:pt x="10863" y="0"/>
                      <a:pt x="13525" y="3752"/>
                      <a:pt x="16188" y="7505"/>
                    </a:cubicBezTo>
                    <a:cubicBezTo>
                      <a:pt x="18894" y="11252"/>
                      <a:pt x="21600" y="14999"/>
                      <a:pt x="21600" y="14999"/>
                    </a:cubicBezTo>
                    <a:cubicBezTo>
                      <a:pt x="21600" y="14999"/>
                      <a:pt x="20757" y="15438"/>
                      <a:pt x="19413" y="16102"/>
                    </a:cubicBezTo>
                    <a:cubicBezTo>
                      <a:pt x="18735" y="16427"/>
                      <a:pt x="17921" y="16793"/>
                      <a:pt x="17027" y="17194"/>
                    </a:cubicBezTo>
                    <a:cubicBezTo>
                      <a:pt x="16131" y="17590"/>
                      <a:pt x="15158" y="18031"/>
                      <a:pt x="14138" y="18429"/>
                    </a:cubicBezTo>
                    <a:cubicBezTo>
                      <a:pt x="13122" y="18837"/>
                      <a:pt x="12078" y="19245"/>
                      <a:pt x="11076" y="19627"/>
                    </a:cubicBezTo>
                    <a:cubicBezTo>
                      <a:pt x="10075" y="20013"/>
                      <a:pt x="9105" y="20337"/>
                      <a:pt x="8266" y="20633"/>
                    </a:cubicBezTo>
                    <a:cubicBezTo>
                      <a:pt x="6583" y="21214"/>
                      <a:pt x="5408" y="21600"/>
                      <a:pt x="5408" y="21600"/>
                    </a:cubicBezTo>
                    <a:cubicBezTo>
                      <a:pt x="5408" y="21600"/>
                      <a:pt x="4016" y="16415"/>
                      <a:pt x="2625" y="11232"/>
                    </a:cubicBezTo>
                    <a:cubicBezTo>
                      <a:pt x="1312" y="6044"/>
                      <a:pt x="0" y="856"/>
                      <a:pt x="0" y="856"/>
                    </a:cubicBezTo>
                    <a:cubicBezTo>
                      <a:pt x="0" y="856"/>
                      <a:pt x="196" y="850"/>
                      <a:pt x="490" y="841"/>
                    </a:cubicBezTo>
                    <a:cubicBezTo>
                      <a:pt x="781" y="825"/>
                      <a:pt x="1171" y="803"/>
                      <a:pt x="1560" y="781"/>
                    </a:cubicBezTo>
                    <a:cubicBezTo>
                      <a:pt x="2338" y="741"/>
                      <a:pt x="3117" y="701"/>
                      <a:pt x="3117" y="701"/>
                    </a:cubicBezTo>
                    <a:lnTo>
                      <a:pt x="3674" y="2196"/>
                    </a:lnTo>
                    <a:cubicBezTo>
                      <a:pt x="3674" y="2196"/>
                      <a:pt x="3978" y="2183"/>
                      <a:pt x="4424" y="2141"/>
                    </a:cubicBezTo>
                    <a:cubicBezTo>
                      <a:pt x="4871" y="2104"/>
                      <a:pt x="5469" y="2055"/>
                      <a:pt x="6066" y="2006"/>
                    </a:cubicBezTo>
                    <a:cubicBezTo>
                      <a:pt x="6664" y="1958"/>
                      <a:pt x="7263" y="1915"/>
                      <a:pt x="7702" y="1861"/>
                    </a:cubicBezTo>
                    <a:cubicBezTo>
                      <a:pt x="8143" y="1815"/>
                      <a:pt x="8439" y="1784"/>
                      <a:pt x="8439" y="1784"/>
                    </a:cubicBezTo>
                    <a:lnTo>
                      <a:pt x="7629" y="344"/>
                    </a:lnTo>
                    <a:cubicBezTo>
                      <a:pt x="7629" y="344"/>
                      <a:pt x="8443" y="267"/>
                      <a:pt x="9258" y="190"/>
                    </a:cubicBezTo>
                    <a:cubicBezTo>
                      <a:pt x="10060" y="95"/>
                      <a:pt x="10863" y="0"/>
                      <a:pt x="10863" y="0"/>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11" name="Google Shape;411;p22"/>
              <p:cNvSpPr/>
              <p:nvPr/>
            </p:nvSpPr>
            <p:spPr>
              <a:xfrm>
                <a:off x="3496783" y="7249179"/>
                <a:ext cx="507892" cy="1309099"/>
              </a:xfrm>
              <a:custGeom>
                <a:rect b="b" l="l" r="r" t="t"/>
                <a:pathLst>
                  <a:path extrusionOk="0" h="21600" w="21600">
                    <a:moveTo>
                      <a:pt x="18526" y="3396"/>
                    </a:moveTo>
                    <a:cubicBezTo>
                      <a:pt x="18526" y="3396"/>
                      <a:pt x="17694" y="3347"/>
                      <a:pt x="16862" y="3297"/>
                    </a:cubicBezTo>
                    <a:cubicBezTo>
                      <a:pt x="16039" y="3229"/>
                      <a:pt x="15215" y="3162"/>
                      <a:pt x="15215" y="3162"/>
                    </a:cubicBezTo>
                    <a:lnTo>
                      <a:pt x="14420" y="4853"/>
                    </a:lnTo>
                    <a:cubicBezTo>
                      <a:pt x="14420" y="4853"/>
                      <a:pt x="15275" y="4922"/>
                      <a:pt x="16129" y="4992"/>
                    </a:cubicBezTo>
                    <a:cubicBezTo>
                      <a:pt x="16990" y="5051"/>
                      <a:pt x="17856" y="5096"/>
                      <a:pt x="17856" y="5096"/>
                    </a:cubicBezTo>
                    <a:cubicBezTo>
                      <a:pt x="17856" y="5096"/>
                      <a:pt x="18526" y="3396"/>
                      <a:pt x="18526" y="3396"/>
                    </a:cubicBezTo>
                    <a:close/>
                    <a:moveTo>
                      <a:pt x="17492" y="6011"/>
                    </a:moveTo>
                    <a:cubicBezTo>
                      <a:pt x="17492" y="6011"/>
                      <a:pt x="16608" y="5966"/>
                      <a:pt x="15733" y="5904"/>
                    </a:cubicBezTo>
                    <a:cubicBezTo>
                      <a:pt x="14861" y="5834"/>
                      <a:pt x="13989" y="5763"/>
                      <a:pt x="13989" y="5763"/>
                    </a:cubicBezTo>
                    <a:lnTo>
                      <a:pt x="13189" y="7454"/>
                    </a:lnTo>
                    <a:cubicBezTo>
                      <a:pt x="13189" y="7454"/>
                      <a:pt x="14091" y="7526"/>
                      <a:pt x="14993" y="7599"/>
                    </a:cubicBezTo>
                    <a:cubicBezTo>
                      <a:pt x="15900" y="7665"/>
                      <a:pt x="16815" y="7711"/>
                      <a:pt x="16815" y="7711"/>
                    </a:cubicBezTo>
                    <a:cubicBezTo>
                      <a:pt x="16815" y="7711"/>
                      <a:pt x="17492" y="6011"/>
                      <a:pt x="17492" y="6011"/>
                    </a:cubicBezTo>
                    <a:close/>
                    <a:moveTo>
                      <a:pt x="16450" y="8625"/>
                    </a:moveTo>
                    <a:cubicBezTo>
                      <a:pt x="16450" y="8625"/>
                      <a:pt x="15516" y="8580"/>
                      <a:pt x="14595" y="8511"/>
                    </a:cubicBezTo>
                    <a:cubicBezTo>
                      <a:pt x="13674" y="8438"/>
                      <a:pt x="12754" y="8365"/>
                      <a:pt x="12754" y="8365"/>
                    </a:cubicBezTo>
                    <a:lnTo>
                      <a:pt x="11945" y="10055"/>
                    </a:lnTo>
                    <a:cubicBezTo>
                      <a:pt x="11945" y="10055"/>
                      <a:pt x="12897" y="10131"/>
                      <a:pt x="13849" y="10206"/>
                    </a:cubicBezTo>
                    <a:cubicBezTo>
                      <a:pt x="14322" y="10248"/>
                      <a:pt x="14807" y="10267"/>
                      <a:pt x="15166" y="10290"/>
                    </a:cubicBezTo>
                    <a:cubicBezTo>
                      <a:pt x="15526" y="10311"/>
                      <a:pt x="15766" y="10324"/>
                      <a:pt x="15766" y="10324"/>
                    </a:cubicBezTo>
                    <a:cubicBezTo>
                      <a:pt x="15766" y="10324"/>
                      <a:pt x="16450" y="8625"/>
                      <a:pt x="16450" y="8625"/>
                    </a:cubicBezTo>
                    <a:close/>
                    <a:moveTo>
                      <a:pt x="15396" y="11240"/>
                    </a:moveTo>
                    <a:cubicBezTo>
                      <a:pt x="15396" y="11240"/>
                      <a:pt x="15151" y="11227"/>
                      <a:pt x="14785" y="11205"/>
                    </a:cubicBezTo>
                    <a:cubicBezTo>
                      <a:pt x="14418" y="11182"/>
                      <a:pt x="13927" y="11161"/>
                      <a:pt x="13446" y="11118"/>
                    </a:cubicBezTo>
                    <a:cubicBezTo>
                      <a:pt x="12476" y="11042"/>
                      <a:pt x="11509" y="10965"/>
                      <a:pt x="11509" y="10965"/>
                    </a:cubicBezTo>
                    <a:lnTo>
                      <a:pt x="10693" y="12655"/>
                    </a:lnTo>
                    <a:cubicBezTo>
                      <a:pt x="10693" y="12655"/>
                      <a:pt x="11692" y="12734"/>
                      <a:pt x="12693" y="12811"/>
                    </a:cubicBezTo>
                    <a:cubicBezTo>
                      <a:pt x="13191" y="12855"/>
                      <a:pt x="13697" y="12881"/>
                      <a:pt x="14075" y="12903"/>
                    </a:cubicBezTo>
                    <a:cubicBezTo>
                      <a:pt x="14454" y="12924"/>
                      <a:pt x="14706" y="12938"/>
                      <a:pt x="14706" y="12938"/>
                    </a:cubicBezTo>
                    <a:cubicBezTo>
                      <a:pt x="14706" y="12938"/>
                      <a:pt x="15396" y="11240"/>
                      <a:pt x="15396" y="11240"/>
                    </a:cubicBezTo>
                    <a:close/>
                    <a:moveTo>
                      <a:pt x="14333" y="13853"/>
                    </a:moveTo>
                    <a:cubicBezTo>
                      <a:pt x="14333" y="13853"/>
                      <a:pt x="14077" y="13839"/>
                      <a:pt x="13691" y="13816"/>
                    </a:cubicBezTo>
                    <a:cubicBezTo>
                      <a:pt x="13307" y="13795"/>
                      <a:pt x="12794" y="13768"/>
                      <a:pt x="12286" y="13723"/>
                    </a:cubicBezTo>
                    <a:cubicBezTo>
                      <a:pt x="11270" y="13643"/>
                      <a:pt x="10253" y="13564"/>
                      <a:pt x="10253" y="13564"/>
                    </a:cubicBezTo>
                    <a:lnTo>
                      <a:pt x="9431" y="15255"/>
                    </a:lnTo>
                    <a:cubicBezTo>
                      <a:pt x="9431" y="15255"/>
                      <a:pt x="10479" y="15336"/>
                      <a:pt x="11527" y="15417"/>
                    </a:cubicBezTo>
                    <a:cubicBezTo>
                      <a:pt x="12049" y="15462"/>
                      <a:pt x="12578" y="15493"/>
                      <a:pt x="12975" y="15514"/>
                    </a:cubicBezTo>
                    <a:cubicBezTo>
                      <a:pt x="13372" y="15536"/>
                      <a:pt x="13636" y="15551"/>
                      <a:pt x="13636" y="15551"/>
                    </a:cubicBezTo>
                    <a:cubicBezTo>
                      <a:pt x="13636" y="15551"/>
                      <a:pt x="14333" y="13853"/>
                      <a:pt x="14333" y="13853"/>
                    </a:cubicBezTo>
                    <a:close/>
                    <a:moveTo>
                      <a:pt x="13334" y="3011"/>
                    </a:moveTo>
                    <a:cubicBezTo>
                      <a:pt x="13334" y="3011"/>
                      <a:pt x="12510" y="2948"/>
                      <a:pt x="11687" y="2883"/>
                    </a:cubicBezTo>
                    <a:cubicBezTo>
                      <a:pt x="11272" y="2857"/>
                      <a:pt x="10870" y="2810"/>
                      <a:pt x="10564" y="2779"/>
                    </a:cubicBezTo>
                    <a:cubicBezTo>
                      <a:pt x="10260" y="2749"/>
                      <a:pt x="10057" y="2728"/>
                      <a:pt x="10057" y="2728"/>
                    </a:cubicBezTo>
                    <a:lnTo>
                      <a:pt x="9066" y="4403"/>
                    </a:lnTo>
                    <a:cubicBezTo>
                      <a:pt x="9066" y="4403"/>
                      <a:pt x="9277" y="4425"/>
                      <a:pt x="9593" y="4457"/>
                    </a:cubicBezTo>
                    <a:cubicBezTo>
                      <a:pt x="9910" y="4487"/>
                      <a:pt x="10327" y="4538"/>
                      <a:pt x="10757" y="4566"/>
                    </a:cubicBezTo>
                    <a:cubicBezTo>
                      <a:pt x="11612" y="4632"/>
                      <a:pt x="12466" y="4698"/>
                      <a:pt x="12466" y="4698"/>
                    </a:cubicBezTo>
                    <a:cubicBezTo>
                      <a:pt x="12466" y="4698"/>
                      <a:pt x="13334" y="3011"/>
                      <a:pt x="13334" y="3011"/>
                    </a:cubicBezTo>
                    <a:close/>
                    <a:moveTo>
                      <a:pt x="11998" y="5607"/>
                    </a:moveTo>
                    <a:cubicBezTo>
                      <a:pt x="11998" y="5607"/>
                      <a:pt x="11127" y="5539"/>
                      <a:pt x="10255" y="5471"/>
                    </a:cubicBezTo>
                    <a:cubicBezTo>
                      <a:pt x="9385" y="5400"/>
                      <a:pt x="8530" y="5305"/>
                      <a:pt x="8530" y="5305"/>
                    </a:cubicBezTo>
                    <a:lnTo>
                      <a:pt x="7531" y="6979"/>
                    </a:lnTo>
                    <a:cubicBezTo>
                      <a:pt x="7531" y="6979"/>
                      <a:pt x="8419" y="7076"/>
                      <a:pt x="9318" y="7152"/>
                    </a:cubicBezTo>
                    <a:cubicBezTo>
                      <a:pt x="10220" y="7222"/>
                      <a:pt x="11124" y="7292"/>
                      <a:pt x="11124" y="7292"/>
                    </a:cubicBezTo>
                    <a:cubicBezTo>
                      <a:pt x="11124" y="7292"/>
                      <a:pt x="11998" y="5607"/>
                      <a:pt x="11998" y="5607"/>
                    </a:cubicBezTo>
                    <a:close/>
                    <a:moveTo>
                      <a:pt x="10650" y="8200"/>
                    </a:moveTo>
                    <a:cubicBezTo>
                      <a:pt x="10650" y="8200"/>
                      <a:pt x="9732" y="8128"/>
                      <a:pt x="8811" y="8057"/>
                    </a:cubicBezTo>
                    <a:cubicBezTo>
                      <a:pt x="7897" y="7978"/>
                      <a:pt x="6993" y="7881"/>
                      <a:pt x="6993" y="7880"/>
                    </a:cubicBezTo>
                    <a:lnTo>
                      <a:pt x="5987" y="9556"/>
                    </a:lnTo>
                    <a:cubicBezTo>
                      <a:pt x="5987" y="9556"/>
                      <a:pt x="6924" y="9654"/>
                      <a:pt x="7868" y="9739"/>
                    </a:cubicBezTo>
                    <a:cubicBezTo>
                      <a:pt x="8820" y="9811"/>
                      <a:pt x="9769" y="9885"/>
                      <a:pt x="9769" y="9885"/>
                    </a:cubicBezTo>
                    <a:cubicBezTo>
                      <a:pt x="9769" y="9885"/>
                      <a:pt x="10650" y="8200"/>
                      <a:pt x="10650" y="8200"/>
                    </a:cubicBezTo>
                    <a:close/>
                    <a:moveTo>
                      <a:pt x="9295" y="10792"/>
                    </a:moveTo>
                    <a:cubicBezTo>
                      <a:pt x="9295" y="10792"/>
                      <a:pt x="8327" y="10717"/>
                      <a:pt x="7360" y="10642"/>
                    </a:cubicBezTo>
                    <a:cubicBezTo>
                      <a:pt x="6403" y="10550"/>
                      <a:pt x="5445" y="10457"/>
                      <a:pt x="5445" y="10457"/>
                    </a:cubicBezTo>
                    <a:lnTo>
                      <a:pt x="4433" y="12131"/>
                    </a:lnTo>
                    <a:cubicBezTo>
                      <a:pt x="4433" y="12131"/>
                      <a:pt x="5421" y="12227"/>
                      <a:pt x="6410" y="12324"/>
                    </a:cubicBezTo>
                    <a:cubicBezTo>
                      <a:pt x="7409" y="12400"/>
                      <a:pt x="8408" y="12478"/>
                      <a:pt x="8408" y="12478"/>
                    </a:cubicBezTo>
                    <a:cubicBezTo>
                      <a:pt x="8408" y="12478"/>
                      <a:pt x="9295" y="10792"/>
                      <a:pt x="9295" y="10792"/>
                    </a:cubicBezTo>
                    <a:close/>
                    <a:moveTo>
                      <a:pt x="7928" y="13386"/>
                    </a:moveTo>
                    <a:cubicBezTo>
                      <a:pt x="7928" y="13386"/>
                      <a:pt x="6913" y="13306"/>
                      <a:pt x="5897" y="13228"/>
                    </a:cubicBezTo>
                    <a:cubicBezTo>
                      <a:pt x="4891" y="13130"/>
                      <a:pt x="3887" y="13032"/>
                      <a:pt x="3887" y="13032"/>
                    </a:cubicBezTo>
                    <a:lnTo>
                      <a:pt x="2869" y="14704"/>
                    </a:lnTo>
                    <a:cubicBezTo>
                      <a:pt x="2869" y="14704"/>
                      <a:pt x="3905" y="14806"/>
                      <a:pt x="4941" y="14907"/>
                    </a:cubicBezTo>
                    <a:cubicBezTo>
                      <a:pt x="5987" y="14988"/>
                      <a:pt x="7035" y="15069"/>
                      <a:pt x="7035" y="15069"/>
                    </a:cubicBezTo>
                    <a:cubicBezTo>
                      <a:pt x="7035" y="15069"/>
                      <a:pt x="7928" y="13386"/>
                      <a:pt x="7928" y="13386"/>
                    </a:cubicBezTo>
                    <a:close/>
                    <a:moveTo>
                      <a:pt x="21600" y="803"/>
                    </a:moveTo>
                    <a:cubicBezTo>
                      <a:pt x="21600" y="803"/>
                      <a:pt x="19788" y="6004"/>
                      <a:pt x="17977" y="11205"/>
                    </a:cubicBezTo>
                    <a:cubicBezTo>
                      <a:pt x="16085" y="16403"/>
                      <a:pt x="14194" y="21600"/>
                      <a:pt x="14194" y="21600"/>
                    </a:cubicBezTo>
                    <a:cubicBezTo>
                      <a:pt x="14194" y="21600"/>
                      <a:pt x="13222" y="21218"/>
                      <a:pt x="11764" y="20647"/>
                    </a:cubicBezTo>
                    <a:cubicBezTo>
                      <a:pt x="10318" y="20094"/>
                      <a:pt x="8474" y="19269"/>
                      <a:pt x="6697" y="18482"/>
                    </a:cubicBezTo>
                    <a:cubicBezTo>
                      <a:pt x="4916" y="17693"/>
                      <a:pt x="3218" y="16901"/>
                      <a:pt x="2004" y="16269"/>
                    </a:cubicBezTo>
                    <a:cubicBezTo>
                      <a:pt x="802" y="15653"/>
                      <a:pt x="0" y="15242"/>
                      <a:pt x="0" y="15242"/>
                    </a:cubicBezTo>
                    <a:cubicBezTo>
                      <a:pt x="0" y="15242"/>
                      <a:pt x="2475" y="11433"/>
                      <a:pt x="4949" y="7625"/>
                    </a:cubicBezTo>
                    <a:cubicBezTo>
                      <a:pt x="7381" y="3813"/>
                      <a:pt x="9811" y="0"/>
                      <a:pt x="9811" y="0"/>
                    </a:cubicBezTo>
                    <a:cubicBezTo>
                      <a:pt x="9811" y="0"/>
                      <a:pt x="10691" y="80"/>
                      <a:pt x="11570" y="159"/>
                    </a:cubicBezTo>
                    <a:cubicBezTo>
                      <a:pt x="12443" y="250"/>
                      <a:pt x="13337" y="304"/>
                      <a:pt x="13336" y="304"/>
                    </a:cubicBezTo>
                    <a:lnTo>
                      <a:pt x="12558" y="1737"/>
                    </a:lnTo>
                    <a:lnTo>
                      <a:pt x="17596" y="2139"/>
                    </a:lnTo>
                    <a:lnTo>
                      <a:pt x="18231" y="642"/>
                    </a:lnTo>
                    <a:cubicBezTo>
                      <a:pt x="18231" y="642"/>
                      <a:pt x="21600" y="803"/>
                      <a:pt x="21600" y="803"/>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12" name="Google Shape;412;p22"/>
              <p:cNvSpPr/>
              <p:nvPr/>
            </p:nvSpPr>
            <p:spPr>
              <a:xfrm>
                <a:off x="5112256" y="6962893"/>
                <a:ext cx="1125307" cy="1152749"/>
              </a:xfrm>
              <a:custGeom>
                <a:rect b="b" l="l" r="r" t="t"/>
                <a:pathLst>
                  <a:path extrusionOk="0" h="21571" w="21600">
                    <a:moveTo>
                      <a:pt x="10455" y="3168"/>
                    </a:moveTo>
                    <a:cubicBezTo>
                      <a:pt x="10455" y="3168"/>
                      <a:pt x="10127" y="3355"/>
                      <a:pt x="9779" y="3505"/>
                    </a:cubicBezTo>
                    <a:cubicBezTo>
                      <a:pt x="9436" y="3664"/>
                      <a:pt x="9093" y="3823"/>
                      <a:pt x="9093" y="3823"/>
                    </a:cubicBezTo>
                    <a:lnTo>
                      <a:pt x="9987" y="5567"/>
                    </a:lnTo>
                    <a:cubicBezTo>
                      <a:pt x="9987" y="5567"/>
                      <a:pt x="10342" y="5402"/>
                      <a:pt x="10698" y="5236"/>
                    </a:cubicBezTo>
                    <a:cubicBezTo>
                      <a:pt x="11059" y="5080"/>
                      <a:pt x="11400" y="4886"/>
                      <a:pt x="11400" y="4886"/>
                    </a:cubicBezTo>
                    <a:cubicBezTo>
                      <a:pt x="11400" y="4886"/>
                      <a:pt x="10455" y="3168"/>
                      <a:pt x="10455" y="3168"/>
                    </a:cubicBezTo>
                    <a:close/>
                    <a:moveTo>
                      <a:pt x="11908" y="5813"/>
                    </a:moveTo>
                    <a:cubicBezTo>
                      <a:pt x="11908" y="5813"/>
                      <a:pt x="11806" y="5870"/>
                      <a:pt x="11626" y="5970"/>
                    </a:cubicBezTo>
                    <a:cubicBezTo>
                      <a:pt x="11442" y="6061"/>
                      <a:pt x="11177" y="6192"/>
                      <a:pt x="10861" y="6348"/>
                    </a:cubicBezTo>
                    <a:cubicBezTo>
                      <a:pt x="10545" y="6503"/>
                      <a:pt x="10175" y="6685"/>
                      <a:pt x="9780" y="6881"/>
                    </a:cubicBezTo>
                    <a:cubicBezTo>
                      <a:pt x="9582" y="6979"/>
                      <a:pt x="9379" y="7080"/>
                      <a:pt x="9172" y="7184"/>
                    </a:cubicBezTo>
                    <a:cubicBezTo>
                      <a:pt x="8959" y="7275"/>
                      <a:pt x="8742" y="7369"/>
                      <a:pt x="8527" y="7462"/>
                    </a:cubicBezTo>
                    <a:cubicBezTo>
                      <a:pt x="7656" y="7821"/>
                      <a:pt x="6814" y="8244"/>
                      <a:pt x="6143" y="8469"/>
                    </a:cubicBezTo>
                    <a:cubicBezTo>
                      <a:pt x="5483" y="8718"/>
                      <a:pt x="5043" y="8884"/>
                      <a:pt x="5043" y="8884"/>
                    </a:cubicBezTo>
                    <a:lnTo>
                      <a:pt x="5738" y="10713"/>
                    </a:lnTo>
                    <a:cubicBezTo>
                      <a:pt x="5738" y="10713"/>
                      <a:pt x="6194" y="10540"/>
                      <a:pt x="6878" y="10282"/>
                    </a:cubicBezTo>
                    <a:cubicBezTo>
                      <a:pt x="7573" y="10049"/>
                      <a:pt x="8447" y="9613"/>
                      <a:pt x="9347" y="9239"/>
                    </a:cubicBezTo>
                    <a:cubicBezTo>
                      <a:pt x="9571" y="9143"/>
                      <a:pt x="9795" y="9047"/>
                      <a:pt x="10015" y="8952"/>
                    </a:cubicBezTo>
                    <a:cubicBezTo>
                      <a:pt x="10230" y="8845"/>
                      <a:pt x="10442" y="8741"/>
                      <a:pt x="10646" y="8639"/>
                    </a:cubicBezTo>
                    <a:cubicBezTo>
                      <a:pt x="11056" y="8436"/>
                      <a:pt x="11438" y="8248"/>
                      <a:pt x="11766" y="8086"/>
                    </a:cubicBezTo>
                    <a:cubicBezTo>
                      <a:pt x="12093" y="7925"/>
                      <a:pt x="12367" y="7791"/>
                      <a:pt x="12558" y="7696"/>
                    </a:cubicBezTo>
                    <a:cubicBezTo>
                      <a:pt x="12744" y="7593"/>
                      <a:pt x="12850" y="7533"/>
                      <a:pt x="12850" y="7533"/>
                    </a:cubicBezTo>
                    <a:cubicBezTo>
                      <a:pt x="12850" y="7533"/>
                      <a:pt x="11908" y="5813"/>
                      <a:pt x="11908" y="5813"/>
                    </a:cubicBezTo>
                    <a:close/>
                    <a:moveTo>
                      <a:pt x="13358" y="8459"/>
                    </a:moveTo>
                    <a:cubicBezTo>
                      <a:pt x="13358" y="8459"/>
                      <a:pt x="13249" y="8520"/>
                      <a:pt x="13059" y="8626"/>
                    </a:cubicBezTo>
                    <a:cubicBezTo>
                      <a:pt x="12865" y="8722"/>
                      <a:pt x="12587" y="8858"/>
                      <a:pt x="12252" y="9022"/>
                    </a:cubicBezTo>
                    <a:cubicBezTo>
                      <a:pt x="11918" y="9188"/>
                      <a:pt x="11529" y="9379"/>
                      <a:pt x="11112" y="9585"/>
                    </a:cubicBezTo>
                    <a:cubicBezTo>
                      <a:pt x="10904" y="9689"/>
                      <a:pt x="10688" y="9796"/>
                      <a:pt x="10469" y="9905"/>
                    </a:cubicBezTo>
                    <a:cubicBezTo>
                      <a:pt x="10245" y="10002"/>
                      <a:pt x="10017" y="10099"/>
                      <a:pt x="9789" y="10198"/>
                    </a:cubicBezTo>
                    <a:cubicBezTo>
                      <a:pt x="8872" y="10579"/>
                      <a:pt x="7981" y="11020"/>
                      <a:pt x="7273" y="11260"/>
                    </a:cubicBezTo>
                    <a:cubicBezTo>
                      <a:pt x="6577" y="11523"/>
                      <a:pt x="6112" y="11699"/>
                      <a:pt x="6112" y="11699"/>
                    </a:cubicBezTo>
                    <a:lnTo>
                      <a:pt x="6805" y="13529"/>
                    </a:lnTo>
                    <a:cubicBezTo>
                      <a:pt x="6805" y="13529"/>
                      <a:pt x="7285" y="13347"/>
                      <a:pt x="8005" y="13074"/>
                    </a:cubicBezTo>
                    <a:cubicBezTo>
                      <a:pt x="8737" y="12825"/>
                      <a:pt x="9660" y="12373"/>
                      <a:pt x="10606" y="11977"/>
                    </a:cubicBezTo>
                    <a:cubicBezTo>
                      <a:pt x="11561" y="11593"/>
                      <a:pt x="12456" y="11088"/>
                      <a:pt x="13153" y="10762"/>
                    </a:cubicBezTo>
                    <a:cubicBezTo>
                      <a:pt x="13499" y="10593"/>
                      <a:pt x="13787" y="10452"/>
                      <a:pt x="13989" y="10353"/>
                    </a:cubicBezTo>
                    <a:cubicBezTo>
                      <a:pt x="14185" y="10244"/>
                      <a:pt x="14297" y="10181"/>
                      <a:pt x="14297" y="10181"/>
                    </a:cubicBezTo>
                    <a:cubicBezTo>
                      <a:pt x="14297" y="10181"/>
                      <a:pt x="13358" y="8459"/>
                      <a:pt x="13358" y="8459"/>
                    </a:cubicBezTo>
                    <a:close/>
                    <a:moveTo>
                      <a:pt x="14803" y="11110"/>
                    </a:moveTo>
                    <a:cubicBezTo>
                      <a:pt x="14803" y="11110"/>
                      <a:pt x="14689" y="11173"/>
                      <a:pt x="14489" y="11284"/>
                    </a:cubicBezTo>
                    <a:cubicBezTo>
                      <a:pt x="14283" y="11384"/>
                      <a:pt x="13991" y="11528"/>
                      <a:pt x="13639" y="11701"/>
                    </a:cubicBezTo>
                    <a:cubicBezTo>
                      <a:pt x="12929" y="12033"/>
                      <a:pt x="12017" y="12544"/>
                      <a:pt x="11046" y="12936"/>
                    </a:cubicBezTo>
                    <a:cubicBezTo>
                      <a:pt x="10083" y="13340"/>
                      <a:pt x="9142" y="13797"/>
                      <a:pt x="8398" y="14051"/>
                    </a:cubicBezTo>
                    <a:cubicBezTo>
                      <a:pt x="7665" y="14328"/>
                      <a:pt x="7176" y="14513"/>
                      <a:pt x="7176" y="14513"/>
                    </a:cubicBezTo>
                    <a:lnTo>
                      <a:pt x="7866" y="16344"/>
                    </a:lnTo>
                    <a:cubicBezTo>
                      <a:pt x="7866" y="16344"/>
                      <a:pt x="8370" y="16153"/>
                      <a:pt x="9127" y="15866"/>
                    </a:cubicBezTo>
                    <a:cubicBezTo>
                      <a:pt x="9894" y="15603"/>
                      <a:pt x="10868" y="15135"/>
                      <a:pt x="11861" y="14716"/>
                    </a:cubicBezTo>
                    <a:cubicBezTo>
                      <a:pt x="12863" y="14310"/>
                      <a:pt x="13806" y="13786"/>
                      <a:pt x="14539" y="13443"/>
                    </a:cubicBezTo>
                    <a:cubicBezTo>
                      <a:pt x="14901" y="13264"/>
                      <a:pt x="15203" y="13115"/>
                      <a:pt x="15415" y="13011"/>
                    </a:cubicBezTo>
                    <a:cubicBezTo>
                      <a:pt x="15622" y="12897"/>
                      <a:pt x="15739" y="12833"/>
                      <a:pt x="15739" y="12833"/>
                    </a:cubicBezTo>
                    <a:cubicBezTo>
                      <a:pt x="15739" y="12833"/>
                      <a:pt x="14803" y="11110"/>
                      <a:pt x="14803" y="11110"/>
                    </a:cubicBezTo>
                    <a:close/>
                    <a:moveTo>
                      <a:pt x="16244" y="13761"/>
                    </a:moveTo>
                    <a:cubicBezTo>
                      <a:pt x="16244" y="13761"/>
                      <a:pt x="16124" y="13827"/>
                      <a:pt x="15913" y="13941"/>
                    </a:cubicBezTo>
                    <a:cubicBezTo>
                      <a:pt x="15698" y="14047"/>
                      <a:pt x="15390" y="14198"/>
                      <a:pt x="15022" y="14380"/>
                    </a:cubicBezTo>
                    <a:cubicBezTo>
                      <a:pt x="14279" y="14731"/>
                      <a:pt x="13317" y="15261"/>
                      <a:pt x="12299" y="15674"/>
                    </a:cubicBezTo>
                    <a:cubicBezTo>
                      <a:pt x="11289" y="16103"/>
                      <a:pt x="10299" y="16575"/>
                      <a:pt x="9519" y="16844"/>
                    </a:cubicBezTo>
                    <a:cubicBezTo>
                      <a:pt x="8749" y="17136"/>
                      <a:pt x="8236" y="17329"/>
                      <a:pt x="8236" y="17329"/>
                    </a:cubicBezTo>
                    <a:lnTo>
                      <a:pt x="8923" y="19162"/>
                    </a:lnTo>
                    <a:cubicBezTo>
                      <a:pt x="8923" y="19162"/>
                      <a:pt x="9452" y="18962"/>
                      <a:pt x="10246" y="18661"/>
                    </a:cubicBezTo>
                    <a:cubicBezTo>
                      <a:pt x="11049" y="18383"/>
                      <a:pt x="12072" y="17900"/>
                      <a:pt x="13112" y="17456"/>
                    </a:cubicBezTo>
                    <a:cubicBezTo>
                      <a:pt x="14160" y="17029"/>
                      <a:pt x="15153" y="16487"/>
                      <a:pt x="15918" y="16122"/>
                    </a:cubicBezTo>
                    <a:cubicBezTo>
                      <a:pt x="16299" y="15935"/>
                      <a:pt x="16615" y="15779"/>
                      <a:pt x="16837" y="15670"/>
                    </a:cubicBezTo>
                    <a:cubicBezTo>
                      <a:pt x="17058" y="15560"/>
                      <a:pt x="17179" y="15486"/>
                      <a:pt x="17179" y="15486"/>
                    </a:cubicBezTo>
                    <a:cubicBezTo>
                      <a:pt x="17179" y="15486"/>
                      <a:pt x="16244" y="13761"/>
                      <a:pt x="16244" y="13761"/>
                    </a:cubicBezTo>
                    <a:close/>
                    <a:moveTo>
                      <a:pt x="3158" y="6366"/>
                    </a:moveTo>
                    <a:cubicBezTo>
                      <a:pt x="3158" y="6366"/>
                      <a:pt x="3071" y="6402"/>
                      <a:pt x="2934" y="6440"/>
                    </a:cubicBezTo>
                    <a:cubicBezTo>
                      <a:pt x="2798" y="6479"/>
                      <a:pt x="2617" y="6533"/>
                      <a:pt x="2435" y="6587"/>
                    </a:cubicBezTo>
                    <a:cubicBezTo>
                      <a:pt x="2074" y="6695"/>
                      <a:pt x="1712" y="6804"/>
                      <a:pt x="1712" y="6804"/>
                    </a:cubicBezTo>
                    <a:lnTo>
                      <a:pt x="2324" y="8660"/>
                    </a:lnTo>
                    <a:cubicBezTo>
                      <a:pt x="2324" y="8660"/>
                      <a:pt x="2700" y="8547"/>
                      <a:pt x="3075" y="8433"/>
                    </a:cubicBezTo>
                    <a:cubicBezTo>
                      <a:pt x="3263" y="8378"/>
                      <a:pt x="3451" y="8322"/>
                      <a:pt x="3592" y="8279"/>
                    </a:cubicBezTo>
                    <a:cubicBezTo>
                      <a:pt x="3734" y="8241"/>
                      <a:pt x="3825" y="8204"/>
                      <a:pt x="3825" y="8204"/>
                    </a:cubicBezTo>
                    <a:cubicBezTo>
                      <a:pt x="3825" y="8204"/>
                      <a:pt x="3158" y="6366"/>
                      <a:pt x="3158" y="6366"/>
                    </a:cubicBezTo>
                    <a:close/>
                    <a:moveTo>
                      <a:pt x="4184" y="9195"/>
                    </a:moveTo>
                    <a:lnTo>
                      <a:pt x="2653" y="9660"/>
                    </a:lnTo>
                    <a:lnTo>
                      <a:pt x="3262" y="11517"/>
                    </a:lnTo>
                    <a:lnTo>
                      <a:pt x="4849" y="11036"/>
                    </a:lnTo>
                    <a:cubicBezTo>
                      <a:pt x="4849" y="11036"/>
                      <a:pt x="4184" y="9195"/>
                      <a:pt x="4184" y="9195"/>
                    </a:cubicBezTo>
                    <a:close/>
                    <a:moveTo>
                      <a:pt x="5205" y="12027"/>
                    </a:moveTo>
                    <a:lnTo>
                      <a:pt x="3589" y="12517"/>
                    </a:lnTo>
                    <a:lnTo>
                      <a:pt x="4196" y="14377"/>
                    </a:lnTo>
                    <a:lnTo>
                      <a:pt x="5867" y="13868"/>
                    </a:lnTo>
                    <a:cubicBezTo>
                      <a:pt x="5867" y="13868"/>
                      <a:pt x="5205" y="12027"/>
                      <a:pt x="5205" y="12027"/>
                    </a:cubicBezTo>
                    <a:close/>
                    <a:moveTo>
                      <a:pt x="6221" y="14859"/>
                    </a:moveTo>
                    <a:lnTo>
                      <a:pt x="4522" y="15378"/>
                    </a:lnTo>
                    <a:lnTo>
                      <a:pt x="5125" y="17236"/>
                    </a:lnTo>
                    <a:lnTo>
                      <a:pt x="6880" y="16700"/>
                    </a:lnTo>
                    <a:cubicBezTo>
                      <a:pt x="6880" y="16700"/>
                      <a:pt x="6221" y="14859"/>
                      <a:pt x="6221" y="14859"/>
                    </a:cubicBezTo>
                    <a:close/>
                    <a:moveTo>
                      <a:pt x="7234" y="17691"/>
                    </a:moveTo>
                    <a:lnTo>
                      <a:pt x="5449" y="18238"/>
                    </a:lnTo>
                    <a:lnTo>
                      <a:pt x="6050" y="20098"/>
                    </a:lnTo>
                    <a:lnTo>
                      <a:pt x="7889" y="19532"/>
                    </a:lnTo>
                    <a:cubicBezTo>
                      <a:pt x="7889" y="19532"/>
                      <a:pt x="7234" y="17691"/>
                      <a:pt x="7234" y="17691"/>
                    </a:cubicBezTo>
                    <a:close/>
                    <a:moveTo>
                      <a:pt x="4715" y="7882"/>
                    </a:moveTo>
                    <a:lnTo>
                      <a:pt x="6196" y="7358"/>
                    </a:lnTo>
                    <a:lnTo>
                      <a:pt x="5442" y="5553"/>
                    </a:lnTo>
                    <a:lnTo>
                      <a:pt x="4015" y="6055"/>
                    </a:lnTo>
                    <a:cubicBezTo>
                      <a:pt x="4015" y="6055"/>
                      <a:pt x="4715" y="7882"/>
                      <a:pt x="4715" y="7882"/>
                    </a:cubicBezTo>
                    <a:close/>
                    <a:moveTo>
                      <a:pt x="7369" y="6798"/>
                    </a:moveTo>
                    <a:cubicBezTo>
                      <a:pt x="7369" y="6798"/>
                      <a:pt x="7732" y="6649"/>
                      <a:pt x="8095" y="6500"/>
                    </a:cubicBezTo>
                    <a:cubicBezTo>
                      <a:pt x="8277" y="6426"/>
                      <a:pt x="8459" y="6352"/>
                      <a:pt x="8595" y="6297"/>
                    </a:cubicBezTo>
                    <a:cubicBezTo>
                      <a:pt x="8733" y="6245"/>
                      <a:pt x="8819" y="6197"/>
                      <a:pt x="8819" y="6197"/>
                    </a:cubicBezTo>
                    <a:lnTo>
                      <a:pt x="7969" y="4431"/>
                    </a:lnTo>
                    <a:cubicBezTo>
                      <a:pt x="7969" y="4431"/>
                      <a:pt x="7886" y="4477"/>
                      <a:pt x="7754" y="4529"/>
                    </a:cubicBezTo>
                    <a:cubicBezTo>
                      <a:pt x="7623" y="4583"/>
                      <a:pt x="7447" y="4653"/>
                      <a:pt x="7271" y="4724"/>
                    </a:cubicBezTo>
                    <a:cubicBezTo>
                      <a:pt x="6922" y="4867"/>
                      <a:pt x="6572" y="5009"/>
                      <a:pt x="6572" y="5009"/>
                    </a:cubicBezTo>
                    <a:cubicBezTo>
                      <a:pt x="6572" y="5009"/>
                      <a:pt x="7369" y="6798"/>
                      <a:pt x="7369" y="6798"/>
                    </a:cubicBezTo>
                    <a:close/>
                    <a:moveTo>
                      <a:pt x="9751" y="0"/>
                    </a:moveTo>
                    <a:cubicBezTo>
                      <a:pt x="9751" y="0"/>
                      <a:pt x="12729" y="5196"/>
                      <a:pt x="15707" y="10392"/>
                    </a:cubicBezTo>
                    <a:cubicBezTo>
                      <a:pt x="18653" y="15607"/>
                      <a:pt x="21600" y="20820"/>
                      <a:pt x="21600" y="20820"/>
                    </a:cubicBezTo>
                    <a:cubicBezTo>
                      <a:pt x="21600" y="20820"/>
                      <a:pt x="21339" y="20859"/>
                      <a:pt x="20881" y="20926"/>
                    </a:cubicBezTo>
                    <a:cubicBezTo>
                      <a:pt x="20427" y="20997"/>
                      <a:pt x="19776" y="21089"/>
                      <a:pt x="18983" y="21157"/>
                    </a:cubicBezTo>
                    <a:cubicBezTo>
                      <a:pt x="18205" y="21230"/>
                      <a:pt x="17297" y="21315"/>
                      <a:pt x="16324" y="21406"/>
                    </a:cubicBezTo>
                    <a:cubicBezTo>
                      <a:pt x="15348" y="21465"/>
                      <a:pt x="14310" y="21502"/>
                      <a:pt x="13293" y="21542"/>
                    </a:cubicBezTo>
                    <a:cubicBezTo>
                      <a:pt x="12281" y="21600"/>
                      <a:pt x="11243" y="21554"/>
                      <a:pt x="10302" y="21550"/>
                    </a:cubicBezTo>
                    <a:cubicBezTo>
                      <a:pt x="9357" y="21541"/>
                      <a:pt x="8487" y="21522"/>
                      <a:pt x="7732" y="21459"/>
                    </a:cubicBezTo>
                    <a:cubicBezTo>
                      <a:pt x="6250" y="21354"/>
                      <a:pt x="5262" y="21285"/>
                      <a:pt x="5262" y="21285"/>
                    </a:cubicBezTo>
                    <a:cubicBezTo>
                      <a:pt x="5262" y="21285"/>
                      <a:pt x="3957" y="17015"/>
                      <a:pt x="2651" y="12745"/>
                    </a:cubicBezTo>
                    <a:cubicBezTo>
                      <a:pt x="1325" y="8482"/>
                      <a:pt x="0" y="4218"/>
                      <a:pt x="0" y="4218"/>
                    </a:cubicBezTo>
                    <a:lnTo>
                      <a:pt x="1543" y="3708"/>
                    </a:lnTo>
                    <a:lnTo>
                      <a:pt x="2093" y="5278"/>
                    </a:lnTo>
                    <a:cubicBezTo>
                      <a:pt x="2093" y="5278"/>
                      <a:pt x="2560" y="5146"/>
                      <a:pt x="3235" y="4874"/>
                    </a:cubicBezTo>
                    <a:cubicBezTo>
                      <a:pt x="3910" y="4604"/>
                      <a:pt x="4839" y="4310"/>
                      <a:pt x="5717" y="3896"/>
                    </a:cubicBezTo>
                    <a:cubicBezTo>
                      <a:pt x="6163" y="3705"/>
                      <a:pt x="6609" y="3514"/>
                      <a:pt x="7028" y="3336"/>
                    </a:cubicBezTo>
                    <a:cubicBezTo>
                      <a:pt x="7444" y="3154"/>
                      <a:pt x="7817" y="2949"/>
                      <a:pt x="8146" y="2794"/>
                    </a:cubicBezTo>
                    <a:cubicBezTo>
                      <a:pt x="8800" y="2475"/>
                      <a:pt x="9237" y="2262"/>
                      <a:pt x="9237" y="2262"/>
                    </a:cubicBezTo>
                    <a:lnTo>
                      <a:pt x="8421" y="740"/>
                    </a:lnTo>
                    <a:cubicBezTo>
                      <a:pt x="8421" y="740"/>
                      <a:pt x="8506" y="696"/>
                      <a:pt x="8633" y="633"/>
                    </a:cubicBezTo>
                    <a:cubicBezTo>
                      <a:pt x="8757" y="562"/>
                      <a:pt x="8923" y="467"/>
                      <a:pt x="9087" y="374"/>
                    </a:cubicBezTo>
                    <a:cubicBezTo>
                      <a:pt x="9419" y="186"/>
                      <a:pt x="9751" y="0"/>
                      <a:pt x="9751" y="0"/>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13" name="Google Shape;413;p22"/>
              <p:cNvSpPr/>
              <p:nvPr/>
            </p:nvSpPr>
            <p:spPr>
              <a:xfrm>
                <a:off x="2750393" y="6962893"/>
                <a:ext cx="614750" cy="665187"/>
              </a:xfrm>
              <a:custGeom>
                <a:rect b="b" l="l" r="r" t="t"/>
                <a:pathLst>
                  <a:path extrusionOk="0" h="21585" w="21600">
                    <a:moveTo>
                      <a:pt x="3511" y="13159"/>
                    </a:moveTo>
                    <a:cubicBezTo>
                      <a:pt x="3511" y="13159"/>
                      <a:pt x="4137" y="13520"/>
                      <a:pt x="5131" y="13965"/>
                    </a:cubicBezTo>
                    <a:cubicBezTo>
                      <a:pt x="6112" y="14431"/>
                      <a:pt x="7421" y="15052"/>
                      <a:pt x="8729" y="15673"/>
                    </a:cubicBezTo>
                    <a:cubicBezTo>
                      <a:pt x="10070" y="16232"/>
                      <a:pt x="11410" y="16789"/>
                      <a:pt x="12415" y="17210"/>
                    </a:cubicBezTo>
                    <a:cubicBezTo>
                      <a:pt x="13413" y="17647"/>
                      <a:pt x="14102" y="17884"/>
                      <a:pt x="14102" y="17884"/>
                    </a:cubicBezTo>
                    <a:lnTo>
                      <a:pt x="15180" y="15489"/>
                    </a:lnTo>
                    <a:cubicBezTo>
                      <a:pt x="15180" y="15489"/>
                      <a:pt x="14509" y="15260"/>
                      <a:pt x="13539" y="14832"/>
                    </a:cubicBezTo>
                    <a:cubicBezTo>
                      <a:pt x="12560" y="14425"/>
                      <a:pt x="11256" y="13881"/>
                      <a:pt x="9951" y="13337"/>
                    </a:cubicBezTo>
                    <a:cubicBezTo>
                      <a:pt x="8676" y="12731"/>
                      <a:pt x="7403" y="12128"/>
                      <a:pt x="6447" y="11675"/>
                    </a:cubicBezTo>
                    <a:cubicBezTo>
                      <a:pt x="5480" y="11241"/>
                      <a:pt x="4871" y="10890"/>
                      <a:pt x="4871" y="10890"/>
                    </a:cubicBezTo>
                    <a:cubicBezTo>
                      <a:pt x="4871" y="10890"/>
                      <a:pt x="3511" y="13159"/>
                      <a:pt x="3511" y="13159"/>
                    </a:cubicBezTo>
                    <a:close/>
                    <a:moveTo>
                      <a:pt x="5910" y="9153"/>
                    </a:moveTo>
                    <a:cubicBezTo>
                      <a:pt x="5912" y="9153"/>
                      <a:pt x="6507" y="9497"/>
                      <a:pt x="7454" y="9921"/>
                    </a:cubicBezTo>
                    <a:cubicBezTo>
                      <a:pt x="8390" y="10365"/>
                      <a:pt x="9638" y="10957"/>
                      <a:pt x="10885" y="11549"/>
                    </a:cubicBezTo>
                    <a:cubicBezTo>
                      <a:pt x="12163" y="12082"/>
                      <a:pt x="13440" y="12615"/>
                      <a:pt x="14398" y="13014"/>
                    </a:cubicBezTo>
                    <a:cubicBezTo>
                      <a:pt x="15348" y="13432"/>
                      <a:pt x="16005" y="13657"/>
                      <a:pt x="16005" y="13657"/>
                    </a:cubicBezTo>
                    <a:lnTo>
                      <a:pt x="17084" y="11263"/>
                    </a:lnTo>
                    <a:cubicBezTo>
                      <a:pt x="17084" y="11263"/>
                      <a:pt x="16445" y="11044"/>
                      <a:pt x="15522" y="10638"/>
                    </a:cubicBezTo>
                    <a:cubicBezTo>
                      <a:pt x="14591" y="10248"/>
                      <a:pt x="13349" y="9730"/>
                      <a:pt x="12106" y="9213"/>
                    </a:cubicBezTo>
                    <a:cubicBezTo>
                      <a:pt x="10894" y="8638"/>
                      <a:pt x="9681" y="8061"/>
                      <a:pt x="8771" y="7629"/>
                    </a:cubicBezTo>
                    <a:cubicBezTo>
                      <a:pt x="7849" y="7221"/>
                      <a:pt x="7271" y="6884"/>
                      <a:pt x="7271" y="6884"/>
                    </a:cubicBezTo>
                    <a:cubicBezTo>
                      <a:pt x="7271" y="6884"/>
                      <a:pt x="5910" y="9153"/>
                      <a:pt x="5910" y="9153"/>
                    </a:cubicBezTo>
                    <a:close/>
                    <a:moveTo>
                      <a:pt x="8311" y="5146"/>
                    </a:moveTo>
                    <a:cubicBezTo>
                      <a:pt x="8311" y="5146"/>
                      <a:pt x="8876" y="5477"/>
                      <a:pt x="9778" y="5877"/>
                    </a:cubicBezTo>
                    <a:cubicBezTo>
                      <a:pt x="10668" y="6300"/>
                      <a:pt x="11854" y="6863"/>
                      <a:pt x="13041" y="7425"/>
                    </a:cubicBezTo>
                    <a:cubicBezTo>
                      <a:pt x="14256" y="7932"/>
                      <a:pt x="15471" y="8439"/>
                      <a:pt x="16382" y="8818"/>
                    </a:cubicBezTo>
                    <a:cubicBezTo>
                      <a:pt x="17284" y="9218"/>
                      <a:pt x="17910" y="9431"/>
                      <a:pt x="17910" y="9431"/>
                    </a:cubicBezTo>
                    <a:lnTo>
                      <a:pt x="18989" y="7035"/>
                    </a:lnTo>
                    <a:cubicBezTo>
                      <a:pt x="18989" y="7035"/>
                      <a:pt x="18381" y="6829"/>
                      <a:pt x="17505" y="6441"/>
                    </a:cubicBezTo>
                    <a:cubicBezTo>
                      <a:pt x="16620" y="6073"/>
                      <a:pt x="15441" y="5582"/>
                      <a:pt x="14262" y="5091"/>
                    </a:cubicBezTo>
                    <a:cubicBezTo>
                      <a:pt x="13110" y="4542"/>
                      <a:pt x="11958" y="3997"/>
                      <a:pt x="11095" y="3585"/>
                    </a:cubicBezTo>
                    <a:cubicBezTo>
                      <a:pt x="10218" y="3198"/>
                      <a:pt x="9670" y="2877"/>
                      <a:pt x="9670" y="2877"/>
                    </a:cubicBezTo>
                    <a:cubicBezTo>
                      <a:pt x="9670" y="2877"/>
                      <a:pt x="8311" y="5146"/>
                      <a:pt x="8311" y="5146"/>
                    </a:cubicBezTo>
                    <a:close/>
                    <a:moveTo>
                      <a:pt x="8227" y="18682"/>
                    </a:moveTo>
                    <a:cubicBezTo>
                      <a:pt x="8503" y="18140"/>
                      <a:pt x="8347" y="17550"/>
                      <a:pt x="7885" y="17354"/>
                    </a:cubicBezTo>
                    <a:cubicBezTo>
                      <a:pt x="7434" y="17137"/>
                      <a:pt x="6835" y="17395"/>
                      <a:pt x="6548" y="17932"/>
                    </a:cubicBezTo>
                    <a:cubicBezTo>
                      <a:pt x="6262" y="18467"/>
                      <a:pt x="6405" y="19080"/>
                      <a:pt x="6869" y="19302"/>
                    </a:cubicBezTo>
                    <a:cubicBezTo>
                      <a:pt x="7342" y="19502"/>
                      <a:pt x="7953" y="19219"/>
                      <a:pt x="8227" y="18682"/>
                    </a:cubicBezTo>
                    <a:close/>
                    <a:moveTo>
                      <a:pt x="0" y="14988"/>
                    </a:moveTo>
                    <a:lnTo>
                      <a:pt x="9390" y="0"/>
                    </a:lnTo>
                    <a:lnTo>
                      <a:pt x="10908" y="810"/>
                    </a:lnTo>
                    <a:lnTo>
                      <a:pt x="10710" y="1141"/>
                    </a:lnTo>
                    <a:cubicBezTo>
                      <a:pt x="10710" y="1141"/>
                      <a:pt x="11246" y="1454"/>
                      <a:pt x="12103" y="1832"/>
                    </a:cubicBezTo>
                    <a:cubicBezTo>
                      <a:pt x="12946" y="2233"/>
                      <a:pt x="14071" y="2768"/>
                      <a:pt x="15197" y="3303"/>
                    </a:cubicBezTo>
                    <a:cubicBezTo>
                      <a:pt x="16348" y="3782"/>
                      <a:pt x="17501" y="4262"/>
                      <a:pt x="18366" y="4623"/>
                    </a:cubicBezTo>
                    <a:cubicBezTo>
                      <a:pt x="19220" y="5002"/>
                      <a:pt x="19814" y="5204"/>
                      <a:pt x="19814" y="5204"/>
                    </a:cubicBezTo>
                    <a:lnTo>
                      <a:pt x="19970" y="4856"/>
                    </a:lnTo>
                    <a:lnTo>
                      <a:pt x="21600" y="5441"/>
                    </a:lnTo>
                    <a:lnTo>
                      <a:pt x="14736" y="21558"/>
                    </a:lnTo>
                    <a:cubicBezTo>
                      <a:pt x="14736" y="21558"/>
                      <a:pt x="14189" y="21563"/>
                      <a:pt x="13369" y="21573"/>
                    </a:cubicBezTo>
                    <a:cubicBezTo>
                      <a:pt x="12544" y="21588"/>
                      <a:pt x="11439" y="21600"/>
                      <a:pt x="10351" y="21540"/>
                    </a:cubicBezTo>
                    <a:cubicBezTo>
                      <a:pt x="8129" y="21450"/>
                      <a:pt x="5907" y="21363"/>
                      <a:pt x="5907" y="21363"/>
                    </a:cubicBezTo>
                    <a:cubicBezTo>
                      <a:pt x="5907" y="21363"/>
                      <a:pt x="4385" y="19785"/>
                      <a:pt x="2863" y="18207"/>
                    </a:cubicBezTo>
                    <a:cubicBezTo>
                      <a:pt x="2104" y="17447"/>
                      <a:pt x="1400" y="16616"/>
                      <a:pt x="873" y="16003"/>
                    </a:cubicBezTo>
                    <a:cubicBezTo>
                      <a:pt x="349" y="15395"/>
                      <a:pt x="0" y="14988"/>
                      <a:pt x="0" y="14988"/>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14" name="Google Shape;414;p22"/>
              <p:cNvSpPr/>
              <p:nvPr/>
            </p:nvSpPr>
            <p:spPr>
              <a:xfrm>
                <a:off x="940655" y="5807523"/>
                <a:ext cx="1208461" cy="959278"/>
              </a:xfrm>
              <a:custGeom>
                <a:rect b="b" l="l" r="r" t="t"/>
                <a:pathLst>
                  <a:path extrusionOk="0" h="21600" w="21600">
                    <a:moveTo>
                      <a:pt x="19615" y="7846"/>
                    </a:moveTo>
                    <a:cubicBezTo>
                      <a:pt x="19615" y="7846"/>
                      <a:pt x="19433" y="7494"/>
                      <a:pt x="19162" y="6966"/>
                    </a:cubicBezTo>
                    <a:cubicBezTo>
                      <a:pt x="18898" y="6431"/>
                      <a:pt x="18583" y="5691"/>
                      <a:pt x="18245" y="4968"/>
                    </a:cubicBezTo>
                    <a:cubicBezTo>
                      <a:pt x="17893" y="4255"/>
                      <a:pt x="17614" y="3492"/>
                      <a:pt x="17382" y="2935"/>
                    </a:cubicBezTo>
                    <a:cubicBezTo>
                      <a:pt x="17153" y="2377"/>
                      <a:pt x="17001" y="2004"/>
                      <a:pt x="17001" y="2004"/>
                    </a:cubicBezTo>
                    <a:lnTo>
                      <a:pt x="15717" y="2798"/>
                    </a:lnTo>
                    <a:cubicBezTo>
                      <a:pt x="15717" y="2798"/>
                      <a:pt x="15874" y="3182"/>
                      <a:pt x="16110" y="3757"/>
                    </a:cubicBezTo>
                    <a:cubicBezTo>
                      <a:pt x="16348" y="4330"/>
                      <a:pt x="16637" y="5115"/>
                      <a:pt x="16997" y="5851"/>
                    </a:cubicBezTo>
                    <a:cubicBezTo>
                      <a:pt x="17346" y="6594"/>
                      <a:pt x="17671" y="7356"/>
                      <a:pt x="17943" y="7906"/>
                    </a:cubicBezTo>
                    <a:cubicBezTo>
                      <a:pt x="18222" y="8451"/>
                      <a:pt x="18408" y="8814"/>
                      <a:pt x="18408" y="8814"/>
                    </a:cubicBezTo>
                    <a:cubicBezTo>
                      <a:pt x="18408" y="8814"/>
                      <a:pt x="19615" y="7846"/>
                      <a:pt x="19615" y="7846"/>
                    </a:cubicBezTo>
                    <a:close/>
                    <a:moveTo>
                      <a:pt x="17487" y="9552"/>
                    </a:moveTo>
                    <a:cubicBezTo>
                      <a:pt x="17487" y="9552"/>
                      <a:pt x="17297" y="9181"/>
                      <a:pt x="17012" y="8625"/>
                    </a:cubicBezTo>
                    <a:cubicBezTo>
                      <a:pt x="16734" y="8063"/>
                      <a:pt x="16401" y="7285"/>
                      <a:pt x="16045" y="6525"/>
                    </a:cubicBezTo>
                    <a:cubicBezTo>
                      <a:pt x="15677" y="5771"/>
                      <a:pt x="15381" y="4970"/>
                      <a:pt x="15138" y="4383"/>
                    </a:cubicBezTo>
                    <a:cubicBezTo>
                      <a:pt x="14897" y="3796"/>
                      <a:pt x="14737" y="3403"/>
                      <a:pt x="14737" y="3403"/>
                    </a:cubicBezTo>
                    <a:lnTo>
                      <a:pt x="13453" y="4197"/>
                    </a:lnTo>
                    <a:cubicBezTo>
                      <a:pt x="13453" y="4197"/>
                      <a:pt x="13618" y="4600"/>
                      <a:pt x="13865" y="5205"/>
                    </a:cubicBezTo>
                    <a:cubicBezTo>
                      <a:pt x="14116" y="5808"/>
                      <a:pt x="14421" y="6631"/>
                      <a:pt x="14798" y="7406"/>
                    </a:cubicBezTo>
                    <a:cubicBezTo>
                      <a:pt x="15164" y="8188"/>
                      <a:pt x="15507" y="8987"/>
                      <a:pt x="15792" y="9566"/>
                    </a:cubicBezTo>
                    <a:cubicBezTo>
                      <a:pt x="16085" y="10138"/>
                      <a:pt x="16281" y="10519"/>
                      <a:pt x="16281" y="10519"/>
                    </a:cubicBezTo>
                    <a:cubicBezTo>
                      <a:pt x="16281" y="10519"/>
                      <a:pt x="17487" y="9552"/>
                      <a:pt x="17487" y="9552"/>
                    </a:cubicBezTo>
                    <a:close/>
                    <a:moveTo>
                      <a:pt x="15359" y="11259"/>
                    </a:moveTo>
                    <a:cubicBezTo>
                      <a:pt x="15359" y="11259"/>
                      <a:pt x="15159" y="10869"/>
                      <a:pt x="14860" y="10285"/>
                    </a:cubicBezTo>
                    <a:cubicBezTo>
                      <a:pt x="14569" y="9694"/>
                      <a:pt x="14218" y="8879"/>
                      <a:pt x="13845" y="8079"/>
                    </a:cubicBezTo>
                    <a:cubicBezTo>
                      <a:pt x="13460" y="7288"/>
                      <a:pt x="13148" y="6449"/>
                      <a:pt x="12892" y="5833"/>
                    </a:cubicBezTo>
                    <a:cubicBezTo>
                      <a:pt x="12640" y="5215"/>
                      <a:pt x="12472" y="4803"/>
                      <a:pt x="12472" y="4803"/>
                    </a:cubicBezTo>
                    <a:lnTo>
                      <a:pt x="11189" y="5596"/>
                    </a:lnTo>
                    <a:cubicBezTo>
                      <a:pt x="11189" y="5596"/>
                      <a:pt x="11362" y="6019"/>
                      <a:pt x="11621" y="6654"/>
                    </a:cubicBezTo>
                    <a:cubicBezTo>
                      <a:pt x="11883" y="7286"/>
                      <a:pt x="12205" y="8148"/>
                      <a:pt x="12599" y="8961"/>
                    </a:cubicBezTo>
                    <a:cubicBezTo>
                      <a:pt x="12982" y="9781"/>
                      <a:pt x="13342" y="10618"/>
                      <a:pt x="13642" y="11224"/>
                    </a:cubicBezTo>
                    <a:cubicBezTo>
                      <a:pt x="13948" y="11825"/>
                      <a:pt x="14153" y="12226"/>
                      <a:pt x="14153" y="12226"/>
                    </a:cubicBezTo>
                    <a:cubicBezTo>
                      <a:pt x="14153" y="12226"/>
                      <a:pt x="15359" y="11259"/>
                      <a:pt x="15359" y="11259"/>
                    </a:cubicBezTo>
                    <a:close/>
                    <a:moveTo>
                      <a:pt x="13232" y="12964"/>
                    </a:moveTo>
                    <a:cubicBezTo>
                      <a:pt x="13232" y="12964"/>
                      <a:pt x="13023" y="12556"/>
                      <a:pt x="12710" y="11943"/>
                    </a:cubicBezTo>
                    <a:cubicBezTo>
                      <a:pt x="12405" y="11325"/>
                      <a:pt x="12036" y="10472"/>
                      <a:pt x="11647" y="9634"/>
                    </a:cubicBezTo>
                    <a:cubicBezTo>
                      <a:pt x="11245" y="8805"/>
                      <a:pt x="10916" y="7926"/>
                      <a:pt x="10649" y="7281"/>
                    </a:cubicBezTo>
                    <a:cubicBezTo>
                      <a:pt x="10385" y="6634"/>
                      <a:pt x="10208" y="6202"/>
                      <a:pt x="10208" y="6202"/>
                    </a:cubicBezTo>
                    <a:lnTo>
                      <a:pt x="8925" y="6996"/>
                    </a:lnTo>
                    <a:cubicBezTo>
                      <a:pt x="8925" y="6996"/>
                      <a:pt x="9105" y="7438"/>
                      <a:pt x="9376" y="8102"/>
                    </a:cubicBezTo>
                    <a:cubicBezTo>
                      <a:pt x="9650" y="8763"/>
                      <a:pt x="9988" y="9665"/>
                      <a:pt x="10400" y="10516"/>
                    </a:cubicBezTo>
                    <a:cubicBezTo>
                      <a:pt x="10800" y="11375"/>
                      <a:pt x="11178" y="12250"/>
                      <a:pt x="11491" y="12884"/>
                    </a:cubicBezTo>
                    <a:cubicBezTo>
                      <a:pt x="11812" y="13513"/>
                      <a:pt x="12026" y="13931"/>
                      <a:pt x="12026" y="13931"/>
                    </a:cubicBezTo>
                    <a:cubicBezTo>
                      <a:pt x="12026" y="13931"/>
                      <a:pt x="13232" y="12964"/>
                      <a:pt x="13232" y="12964"/>
                    </a:cubicBezTo>
                    <a:close/>
                    <a:moveTo>
                      <a:pt x="11103" y="14671"/>
                    </a:moveTo>
                    <a:cubicBezTo>
                      <a:pt x="11103" y="14671"/>
                      <a:pt x="10885" y="14244"/>
                      <a:pt x="10559" y="13603"/>
                    </a:cubicBezTo>
                    <a:cubicBezTo>
                      <a:pt x="10240" y="12957"/>
                      <a:pt x="9854" y="12065"/>
                      <a:pt x="9447" y="11189"/>
                    </a:cubicBezTo>
                    <a:cubicBezTo>
                      <a:pt x="9028" y="10322"/>
                      <a:pt x="8683" y="9404"/>
                      <a:pt x="8403" y="8730"/>
                    </a:cubicBezTo>
                    <a:cubicBezTo>
                      <a:pt x="8128" y="8053"/>
                      <a:pt x="7943" y="7602"/>
                      <a:pt x="7943" y="7602"/>
                    </a:cubicBezTo>
                    <a:lnTo>
                      <a:pt x="6661" y="8395"/>
                    </a:lnTo>
                    <a:cubicBezTo>
                      <a:pt x="6661" y="8395"/>
                      <a:pt x="6849" y="8856"/>
                      <a:pt x="7132" y="9550"/>
                    </a:cubicBezTo>
                    <a:cubicBezTo>
                      <a:pt x="7418" y="10241"/>
                      <a:pt x="7772" y="11182"/>
                      <a:pt x="8201" y="12071"/>
                    </a:cubicBezTo>
                    <a:cubicBezTo>
                      <a:pt x="8617" y="12968"/>
                      <a:pt x="9014" y="13881"/>
                      <a:pt x="9340" y="14543"/>
                    </a:cubicBezTo>
                    <a:cubicBezTo>
                      <a:pt x="9675" y="15200"/>
                      <a:pt x="9898" y="15637"/>
                      <a:pt x="9898" y="15637"/>
                    </a:cubicBezTo>
                    <a:cubicBezTo>
                      <a:pt x="9898" y="15637"/>
                      <a:pt x="11103" y="14671"/>
                      <a:pt x="11103" y="14671"/>
                    </a:cubicBezTo>
                    <a:close/>
                    <a:moveTo>
                      <a:pt x="8977" y="16376"/>
                    </a:moveTo>
                    <a:cubicBezTo>
                      <a:pt x="8977" y="16376"/>
                      <a:pt x="8750" y="15931"/>
                      <a:pt x="8409" y="15262"/>
                    </a:cubicBezTo>
                    <a:cubicBezTo>
                      <a:pt x="8077" y="14587"/>
                      <a:pt x="7672" y="13658"/>
                      <a:pt x="7249" y="12744"/>
                    </a:cubicBezTo>
                    <a:cubicBezTo>
                      <a:pt x="6812" y="11839"/>
                      <a:pt x="6451" y="10882"/>
                      <a:pt x="6160" y="10178"/>
                    </a:cubicBezTo>
                    <a:cubicBezTo>
                      <a:pt x="5872" y="9471"/>
                      <a:pt x="5680" y="9000"/>
                      <a:pt x="5680" y="9000"/>
                    </a:cubicBezTo>
                    <a:lnTo>
                      <a:pt x="4397" y="9793"/>
                    </a:lnTo>
                    <a:cubicBezTo>
                      <a:pt x="4397" y="9793"/>
                      <a:pt x="4593" y="10276"/>
                      <a:pt x="4887" y="10998"/>
                    </a:cubicBezTo>
                    <a:cubicBezTo>
                      <a:pt x="5185" y="11719"/>
                      <a:pt x="5556" y="12698"/>
                      <a:pt x="6002" y="13625"/>
                    </a:cubicBezTo>
                    <a:cubicBezTo>
                      <a:pt x="6435" y="14562"/>
                      <a:pt x="6850" y="15512"/>
                      <a:pt x="7190" y="16203"/>
                    </a:cubicBezTo>
                    <a:cubicBezTo>
                      <a:pt x="7538" y="16887"/>
                      <a:pt x="7771" y="17343"/>
                      <a:pt x="7771" y="17343"/>
                    </a:cubicBezTo>
                    <a:cubicBezTo>
                      <a:pt x="7771" y="17343"/>
                      <a:pt x="8977" y="16376"/>
                      <a:pt x="8977" y="16376"/>
                    </a:cubicBezTo>
                    <a:close/>
                    <a:moveTo>
                      <a:pt x="6849" y="18082"/>
                    </a:moveTo>
                    <a:cubicBezTo>
                      <a:pt x="6849" y="18082"/>
                      <a:pt x="6612" y="17618"/>
                      <a:pt x="6257" y="16922"/>
                    </a:cubicBezTo>
                    <a:cubicBezTo>
                      <a:pt x="5912" y="16220"/>
                      <a:pt x="5489" y="15253"/>
                      <a:pt x="5049" y="14300"/>
                    </a:cubicBezTo>
                    <a:cubicBezTo>
                      <a:pt x="4595" y="13356"/>
                      <a:pt x="4217" y="12360"/>
                      <a:pt x="3914" y="11627"/>
                    </a:cubicBezTo>
                    <a:cubicBezTo>
                      <a:pt x="3615" y="10891"/>
                      <a:pt x="3415" y="10399"/>
                      <a:pt x="3415" y="10399"/>
                    </a:cubicBezTo>
                    <a:lnTo>
                      <a:pt x="2132" y="11192"/>
                    </a:lnTo>
                    <a:cubicBezTo>
                      <a:pt x="2132" y="11192"/>
                      <a:pt x="2336" y="11695"/>
                      <a:pt x="2643" y="12447"/>
                    </a:cubicBezTo>
                    <a:cubicBezTo>
                      <a:pt x="2953" y="13197"/>
                      <a:pt x="3340" y="14215"/>
                      <a:pt x="3803" y="15181"/>
                    </a:cubicBezTo>
                    <a:cubicBezTo>
                      <a:pt x="4253" y="16155"/>
                      <a:pt x="4685" y="17143"/>
                      <a:pt x="5039" y="17863"/>
                    </a:cubicBezTo>
                    <a:cubicBezTo>
                      <a:pt x="5401" y="18574"/>
                      <a:pt x="5643" y="19049"/>
                      <a:pt x="5643" y="19049"/>
                    </a:cubicBezTo>
                    <a:cubicBezTo>
                      <a:pt x="5643" y="19049"/>
                      <a:pt x="6849" y="18082"/>
                      <a:pt x="6849" y="18082"/>
                    </a:cubicBezTo>
                    <a:close/>
                    <a:moveTo>
                      <a:pt x="21600" y="7588"/>
                    </a:moveTo>
                    <a:lnTo>
                      <a:pt x="4844" y="21600"/>
                    </a:lnTo>
                    <a:cubicBezTo>
                      <a:pt x="4844" y="21600"/>
                      <a:pt x="3828" y="20583"/>
                      <a:pt x="2811" y="19566"/>
                    </a:cubicBezTo>
                    <a:cubicBezTo>
                      <a:pt x="1819" y="18511"/>
                      <a:pt x="838" y="17396"/>
                      <a:pt x="838" y="17396"/>
                    </a:cubicBezTo>
                    <a:cubicBezTo>
                      <a:pt x="838" y="17396"/>
                      <a:pt x="770" y="16980"/>
                      <a:pt x="667" y="16355"/>
                    </a:cubicBezTo>
                    <a:cubicBezTo>
                      <a:pt x="566" y="15731"/>
                      <a:pt x="472" y="14880"/>
                      <a:pt x="364" y="14047"/>
                    </a:cubicBezTo>
                    <a:cubicBezTo>
                      <a:pt x="264" y="13216"/>
                      <a:pt x="163" y="12386"/>
                      <a:pt x="88" y="11764"/>
                    </a:cubicBezTo>
                    <a:cubicBezTo>
                      <a:pt x="35" y="11135"/>
                      <a:pt x="0" y="10717"/>
                      <a:pt x="0" y="10717"/>
                    </a:cubicBezTo>
                    <a:lnTo>
                      <a:pt x="18223" y="0"/>
                    </a:lnTo>
                    <a:cubicBezTo>
                      <a:pt x="18223" y="0"/>
                      <a:pt x="18267" y="124"/>
                      <a:pt x="18344" y="341"/>
                    </a:cubicBezTo>
                    <a:cubicBezTo>
                      <a:pt x="18414" y="563"/>
                      <a:pt x="18539" y="864"/>
                      <a:pt x="18690" y="1225"/>
                    </a:cubicBezTo>
                    <a:cubicBezTo>
                      <a:pt x="18837" y="1588"/>
                      <a:pt x="19010" y="2011"/>
                      <a:pt x="19194" y="2465"/>
                    </a:cubicBezTo>
                    <a:cubicBezTo>
                      <a:pt x="19286" y="2693"/>
                      <a:pt x="19380" y="2929"/>
                      <a:pt x="19475" y="3168"/>
                    </a:cubicBezTo>
                    <a:cubicBezTo>
                      <a:pt x="19582" y="3399"/>
                      <a:pt x="19691" y="3633"/>
                      <a:pt x="19800" y="3869"/>
                    </a:cubicBezTo>
                    <a:cubicBezTo>
                      <a:pt x="20235" y="4810"/>
                      <a:pt x="20646" y="5768"/>
                      <a:pt x="21018" y="6440"/>
                    </a:cubicBezTo>
                    <a:cubicBezTo>
                      <a:pt x="21367" y="7129"/>
                      <a:pt x="21600" y="7588"/>
                      <a:pt x="21600" y="7588"/>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15" name="Google Shape;415;p22"/>
              <p:cNvSpPr/>
              <p:nvPr/>
            </p:nvSpPr>
            <p:spPr>
              <a:xfrm>
                <a:off x="20449" y="5173603"/>
                <a:ext cx="1787567" cy="646212"/>
              </a:xfrm>
              <a:custGeom>
                <a:rect b="b" l="l" r="r" t="t"/>
                <a:pathLst>
                  <a:path extrusionOk="0" h="21600" w="21600">
                    <a:moveTo>
                      <a:pt x="18200" y="7186"/>
                    </a:moveTo>
                    <a:lnTo>
                      <a:pt x="17925" y="3796"/>
                    </a:lnTo>
                    <a:lnTo>
                      <a:pt x="15885" y="4923"/>
                    </a:lnTo>
                    <a:lnTo>
                      <a:pt x="16175" y="8518"/>
                    </a:lnTo>
                    <a:cubicBezTo>
                      <a:pt x="16175" y="8518"/>
                      <a:pt x="18200" y="7186"/>
                      <a:pt x="18200" y="7186"/>
                    </a:cubicBezTo>
                    <a:close/>
                    <a:moveTo>
                      <a:pt x="15282" y="9104"/>
                    </a:moveTo>
                    <a:lnTo>
                      <a:pt x="14984" y="5419"/>
                    </a:lnTo>
                    <a:lnTo>
                      <a:pt x="12943" y="6540"/>
                    </a:lnTo>
                    <a:cubicBezTo>
                      <a:pt x="12943" y="6540"/>
                      <a:pt x="12958" y="6786"/>
                      <a:pt x="12990" y="7150"/>
                    </a:cubicBezTo>
                    <a:cubicBezTo>
                      <a:pt x="13020" y="7515"/>
                      <a:pt x="13059" y="8001"/>
                      <a:pt x="13099" y="8487"/>
                    </a:cubicBezTo>
                    <a:cubicBezTo>
                      <a:pt x="13178" y="9460"/>
                      <a:pt x="13257" y="10432"/>
                      <a:pt x="13257" y="10432"/>
                    </a:cubicBezTo>
                    <a:cubicBezTo>
                      <a:pt x="13257" y="10432"/>
                      <a:pt x="15282" y="9104"/>
                      <a:pt x="15282" y="9104"/>
                    </a:cubicBezTo>
                    <a:close/>
                    <a:moveTo>
                      <a:pt x="12363" y="11017"/>
                    </a:moveTo>
                    <a:cubicBezTo>
                      <a:pt x="12363" y="11017"/>
                      <a:pt x="12283" y="10022"/>
                      <a:pt x="12202" y="9027"/>
                    </a:cubicBezTo>
                    <a:cubicBezTo>
                      <a:pt x="12161" y="8529"/>
                      <a:pt x="12120" y="8032"/>
                      <a:pt x="12090" y="7659"/>
                    </a:cubicBezTo>
                    <a:cubicBezTo>
                      <a:pt x="12057" y="7288"/>
                      <a:pt x="12043" y="7036"/>
                      <a:pt x="12043" y="7036"/>
                    </a:cubicBezTo>
                    <a:lnTo>
                      <a:pt x="10002" y="8154"/>
                    </a:lnTo>
                    <a:cubicBezTo>
                      <a:pt x="10002" y="8154"/>
                      <a:pt x="10016" y="8419"/>
                      <a:pt x="10051" y="8810"/>
                    </a:cubicBezTo>
                    <a:cubicBezTo>
                      <a:pt x="10083" y="9203"/>
                      <a:pt x="10125" y="9725"/>
                      <a:pt x="10168" y="10249"/>
                    </a:cubicBezTo>
                    <a:cubicBezTo>
                      <a:pt x="10253" y="11295"/>
                      <a:pt x="10338" y="12341"/>
                      <a:pt x="10338" y="12341"/>
                    </a:cubicBezTo>
                    <a:cubicBezTo>
                      <a:pt x="10338" y="12341"/>
                      <a:pt x="12363" y="11017"/>
                      <a:pt x="12363" y="11017"/>
                    </a:cubicBezTo>
                    <a:close/>
                    <a:moveTo>
                      <a:pt x="9444" y="12925"/>
                    </a:moveTo>
                    <a:cubicBezTo>
                      <a:pt x="9444" y="12925"/>
                      <a:pt x="9358" y="11856"/>
                      <a:pt x="9270" y="10787"/>
                    </a:cubicBezTo>
                    <a:cubicBezTo>
                      <a:pt x="9227" y="10253"/>
                      <a:pt x="9183" y="9719"/>
                      <a:pt x="9151" y="9317"/>
                    </a:cubicBezTo>
                    <a:cubicBezTo>
                      <a:pt x="9116" y="8918"/>
                      <a:pt x="9101" y="8647"/>
                      <a:pt x="9101" y="8647"/>
                    </a:cubicBezTo>
                    <a:lnTo>
                      <a:pt x="7059" y="9763"/>
                    </a:lnTo>
                    <a:cubicBezTo>
                      <a:pt x="7059" y="9763"/>
                      <a:pt x="7075" y="10047"/>
                      <a:pt x="7111" y="10466"/>
                    </a:cubicBezTo>
                    <a:cubicBezTo>
                      <a:pt x="7145" y="10886"/>
                      <a:pt x="7191" y="11446"/>
                      <a:pt x="7236" y="12006"/>
                    </a:cubicBezTo>
                    <a:cubicBezTo>
                      <a:pt x="7328" y="13127"/>
                      <a:pt x="7419" y="14246"/>
                      <a:pt x="7419" y="14246"/>
                    </a:cubicBezTo>
                    <a:cubicBezTo>
                      <a:pt x="7419" y="14246"/>
                      <a:pt x="9444" y="12925"/>
                      <a:pt x="9444" y="12925"/>
                    </a:cubicBezTo>
                    <a:close/>
                    <a:moveTo>
                      <a:pt x="6525" y="14828"/>
                    </a:moveTo>
                    <a:cubicBezTo>
                      <a:pt x="6525" y="14828"/>
                      <a:pt x="6432" y="13686"/>
                      <a:pt x="6339" y="12543"/>
                    </a:cubicBezTo>
                    <a:cubicBezTo>
                      <a:pt x="6292" y="11971"/>
                      <a:pt x="6246" y="11401"/>
                      <a:pt x="6211" y="10972"/>
                    </a:cubicBezTo>
                    <a:cubicBezTo>
                      <a:pt x="6174" y="10546"/>
                      <a:pt x="6159" y="10254"/>
                      <a:pt x="6159" y="10254"/>
                    </a:cubicBezTo>
                    <a:lnTo>
                      <a:pt x="4117" y="11367"/>
                    </a:lnTo>
                    <a:cubicBezTo>
                      <a:pt x="4117" y="11367"/>
                      <a:pt x="4133" y="11669"/>
                      <a:pt x="4171" y="12116"/>
                    </a:cubicBezTo>
                    <a:cubicBezTo>
                      <a:pt x="4208" y="12564"/>
                      <a:pt x="4256" y="13161"/>
                      <a:pt x="4305" y="13758"/>
                    </a:cubicBezTo>
                    <a:cubicBezTo>
                      <a:pt x="4402" y="14951"/>
                      <a:pt x="4500" y="16144"/>
                      <a:pt x="4500" y="16144"/>
                    </a:cubicBezTo>
                    <a:cubicBezTo>
                      <a:pt x="4500" y="16144"/>
                      <a:pt x="6525" y="14828"/>
                      <a:pt x="6525" y="14828"/>
                    </a:cubicBezTo>
                    <a:close/>
                    <a:moveTo>
                      <a:pt x="3606" y="16726"/>
                    </a:moveTo>
                    <a:cubicBezTo>
                      <a:pt x="3606" y="16726"/>
                      <a:pt x="3507" y="15509"/>
                      <a:pt x="3407" y="14293"/>
                    </a:cubicBezTo>
                    <a:cubicBezTo>
                      <a:pt x="3358" y="13684"/>
                      <a:pt x="3308" y="13077"/>
                      <a:pt x="3271" y="12619"/>
                    </a:cubicBezTo>
                    <a:cubicBezTo>
                      <a:pt x="3232" y="12165"/>
                      <a:pt x="3216" y="11856"/>
                      <a:pt x="3216" y="11856"/>
                    </a:cubicBezTo>
                    <a:lnTo>
                      <a:pt x="1174" y="12965"/>
                    </a:lnTo>
                    <a:cubicBezTo>
                      <a:pt x="1174" y="12965"/>
                      <a:pt x="1191" y="13287"/>
                      <a:pt x="1231" y="13762"/>
                    </a:cubicBezTo>
                    <a:cubicBezTo>
                      <a:pt x="1270" y="14237"/>
                      <a:pt x="1321" y="14871"/>
                      <a:pt x="1372" y="15505"/>
                    </a:cubicBezTo>
                    <a:cubicBezTo>
                      <a:pt x="1476" y="16772"/>
                      <a:pt x="1579" y="18040"/>
                      <a:pt x="1579" y="18040"/>
                    </a:cubicBezTo>
                    <a:cubicBezTo>
                      <a:pt x="1579" y="18040"/>
                      <a:pt x="3606" y="16726"/>
                      <a:pt x="3606" y="16726"/>
                    </a:cubicBezTo>
                    <a:close/>
                    <a:moveTo>
                      <a:pt x="21600" y="6788"/>
                    </a:moveTo>
                    <a:lnTo>
                      <a:pt x="880" y="21600"/>
                    </a:lnTo>
                    <a:cubicBezTo>
                      <a:pt x="880" y="21600"/>
                      <a:pt x="806" y="20896"/>
                      <a:pt x="722" y="19821"/>
                    </a:cubicBezTo>
                    <a:cubicBezTo>
                      <a:pt x="634" y="18748"/>
                      <a:pt x="517" y="17319"/>
                      <a:pt x="400" y="15889"/>
                    </a:cubicBezTo>
                    <a:cubicBezTo>
                      <a:pt x="343" y="15174"/>
                      <a:pt x="286" y="14457"/>
                      <a:pt x="232" y="13786"/>
                    </a:cubicBezTo>
                    <a:cubicBezTo>
                      <a:pt x="189" y="13110"/>
                      <a:pt x="149" y="12479"/>
                      <a:pt x="114" y="11938"/>
                    </a:cubicBezTo>
                    <a:cubicBezTo>
                      <a:pt x="46" y="10856"/>
                      <a:pt x="0" y="10133"/>
                      <a:pt x="0" y="10133"/>
                    </a:cubicBezTo>
                    <a:lnTo>
                      <a:pt x="21064" y="0"/>
                    </a:lnTo>
                    <a:cubicBezTo>
                      <a:pt x="21064" y="0"/>
                      <a:pt x="21092" y="428"/>
                      <a:pt x="21132" y="1070"/>
                    </a:cubicBezTo>
                    <a:cubicBezTo>
                      <a:pt x="21154" y="1391"/>
                      <a:pt x="21173" y="1769"/>
                      <a:pt x="21203" y="2167"/>
                    </a:cubicBezTo>
                    <a:cubicBezTo>
                      <a:pt x="21237" y="2564"/>
                      <a:pt x="21273" y="2986"/>
                      <a:pt x="21310" y="3409"/>
                    </a:cubicBezTo>
                    <a:cubicBezTo>
                      <a:pt x="21380" y="4256"/>
                      <a:pt x="21449" y="5101"/>
                      <a:pt x="21502" y="5737"/>
                    </a:cubicBezTo>
                    <a:cubicBezTo>
                      <a:pt x="21548" y="6377"/>
                      <a:pt x="21600" y="6788"/>
                      <a:pt x="21600" y="6788"/>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16" name="Google Shape;416;p22"/>
              <p:cNvSpPr/>
              <p:nvPr/>
            </p:nvSpPr>
            <p:spPr>
              <a:xfrm>
                <a:off x="480552" y="6216503"/>
                <a:ext cx="2034724" cy="1527877"/>
              </a:xfrm>
              <a:custGeom>
                <a:rect b="b" l="l" r="r" t="t"/>
                <a:pathLst>
                  <a:path extrusionOk="0" h="21600" w="21600">
                    <a:moveTo>
                      <a:pt x="8145" y="17626"/>
                    </a:moveTo>
                    <a:cubicBezTo>
                      <a:pt x="8145" y="17626"/>
                      <a:pt x="8233" y="17757"/>
                      <a:pt x="8365" y="17954"/>
                    </a:cubicBezTo>
                    <a:cubicBezTo>
                      <a:pt x="8504" y="18143"/>
                      <a:pt x="8687" y="18395"/>
                      <a:pt x="8871" y="18648"/>
                    </a:cubicBezTo>
                    <a:cubicBezTo>
                      <a:pt x="9240" y="19151"/>
                      <a:pt x="9609" y="19654"/>
                      <a:pt x="9609" y="19654"/>
                    </a:cubicBezTo>
                    <a:lnTo>
                      <a:pt x="10919" y="17891"/>
                    </a:lnTo>
                    <a:cubicBezTo>
                      <a:pt x="10919" y="17891"/>
                      <a:pt x="10566" y="17409"/>
                      <a:pt x="10213" y="16927"/>
                    </a:cubicBezTo>
                    <a:cubicBezTo>
                      <a:pt x="10036" y="16687"/>
                      <a:pt x="9860" y="16446"/>
                      <a:pt x="9727" y="16264"/>
                    </a:cubicBezTo>
                    <a:cubicBezTo>
                      <a:pt x="9601" y="16075"/>
                      <a:pt x="9517" y="15950"/>
                      <a:pt x="9517" y="15950"/>
                    </a:cubicBezTo>
                    <a:cubicBezTo>
                      <a:pt x="9517" y="15950"/>
                      <a:pt x="8145" y="17626"/>
                      <a:pt x="8145" y="17626"/>
                    </a:cubicBezTo>
                    <a:close/>
                    <a:moveTo>
                      <a:pt x="10257" y="15048"/>
                    </a:moveTo>
                    <a:cubicBezTo>
                      <a:pt x="10257" y="15048"/>
                      <a:pt x="10339" y="15171"/>
                      <a:pt x="10462" y="15355"/>
                    </a:cubicBezTo>
                    <a:cubicBezTo>
                      <a:pt x="10591" y="15531"/>
                      <a:pt x="10763" y="15767"/>
                      <a:pt x="10935" y="16003"/>
                    </a:cubicBezTo>
                    <a:cubicBezTo>
                      <a:pt x="11280" y="16473"/>
                      <a:pt x="11625" y="16943"/>
                      <a:pt x="11625" y="16943"/>
                    </a:cubicBezTo>
                    <a:lnTo>
                      <a:pt x="12938" y="15183"/>
                    </a:lnTo>
                    <a:cubicBezTo>
                      <a:pt x="12938" y="15183"/>
                      <a:pt x="12608" y="14735"/>
                      <a:pt x="12279" y="14286"/>
                    </a:cubicBezTo>
                    <a:cubicBezTo>
                      <a:pt x="12114" y="14061"/>
                      <a:pt x="11950" y="13836"/>
                      <a:pt x="11826" y="13667"/>
                    </a:cubicBezTo>
                    <a:cubicBezTo>
                      <a:pt x="11709" y="13491"/>
                      <a:pt x="11631" y="13374"/>
                      <a:pt x="11631" y="13374"/>
                    </a:cubicBezTo>
                    <a:cubicBezTo>
                      <a:pt x="11631" y="13374"/>
                      <a:pt x="10257" y="15048"/>
                      <a:pt x="10257" y="15048"/>
                    </a:cubicBezTo>
                    <a:close/>
                    <a:moveTo>
                      <a:pt x="12372" y="12473"/>
                    </a:moveTo>
                    <a:cubicBezTo>
                      <a:pt x="12372" y="12473"/>
                      <a:pt x="12448" y="12588"/>
                      <a:pt x="12562" y="12759"/>
                    </a:cubicBezTo>
                    <a:cubicBezTo>
                      <a:pt x="12682" y="12923"/>
                      <a:pt x="12842" y="13143"/>
                      <a:pt x="13003" y="13362"/>
                    </a:cubicBezTo>
                    <a:cubicBezTo>
                      <a:pt x="13324" y="13799"/>
                      <a:pt x="13645" y="14237"/>
                      <a:pt x="13645" y="14237"/>
                    </a:cubicBezTo>
                    <a:lnTo>
                      <a:pt x="14959" y="12481"/>
                    </a:lnTo>
                    <a:cubicBezTo>
                      <a:pt x="14959" y="12481"/>
                      <a:pt x="14653" y="12064"/>
                      <a:pt x="14348" y="11648"/>
                    </a:cubicBezTo>
                    <a:cubicBezTo>
                      <a:pt x="14195" y="11440"/>
                      <a:pt x="14039" y="11235"/>
                      <a:pt x="13929" y="11075"/>
                    </a:cubicBezTo>
                    <a:cubicBezTo>
                      <a:pt x="13820" y="10911"/>
                      <a:pt x="13747" y="10803"/>
                      <a:pt x="13747" y="10803"/>
                    </a:cubicBezTo>
                    <a:cubicBezTo>
                      <a:pt x="13747" y="10803"/>
                      <a:pt x="12372" y="12473"/>
                      <a:pt x="12372" y="12473"/>
                    </a:cubicBezTo>
                    <a:close/>
                    <a:moveTo>
                      <a:pt x="14489" y="9903"/>
                    </a:moveTo>
                    <a:cubicBezTo>
                      <a:pt x="14489" y="9903"/>
                      <a:pt x="14560" y="10009"/>
                      <a:pt x="14665" y="10168"/>
                    </a:cubicBezTo>
                    <a:cubicBezTo>
                      <a:pt x="14772" y="10325"/>
                      <a:pt x="14925" y="10522"/>
                      <a:pt x="15073" y="10726"/>
                    </a:cubicBezTo>
                    <a:cubicBezTo>
                      <a:pt x="15370" y="11131"/>
                      <a:pt x="15667" y="11534"/>
                      <a:pt x="15667" y="11534"/>
                    </a:cubicBezTo>
                    <a:lnTo>
                      <a:pt x="16983" y="9781"/>
                    </a:lnTo>
                    <a:cubicBezTo>
                      <a:pt x="16983" y="9781"/>
                      <a:pt x="16702" y="9398"/>
                      <a:pt x="16420" y="9015"/>
                    </a:cubicBezTo>
                    <a:cubicBezTo>
                      <a:pt x="16280" y="8823"/>
                      <a:pt x="16134" y="8638"/>
                      <a:pt x="16034" y="8486"/>
                    </a:cubicBezTo>
                    <a:cubicBezTo>
                      <a:pt x="15934" y="8336"/>
                      <a:pt x="15867" y="8236"/>
                      <a:pt x="15867" y="8236"/>
                    </a:cubicBezTo>
                    <a:cubicBezTo>
                      <a:pt x="15867" y="8236"/>
                      <a:pt x="14489" y="9903"/>
                      <a:pt x="14489" y="9903"/>
                    </a:cubicBezTo>
                    <a:close/>
                    <a:moveTo>
                      <a:pt x="16610" y="7338"/>
                    </a:moveTo>
                    <a:cubicBezTo>
                      <a:pt x="16610" y="7338"/>
                      <a:pt x="16865" y="7731"/>
                      <a:pt x="17146" y="8094"/>
                    </a:cubicBezTo>
                    <a:cubicBezTo>
                      <a:pt x="17420" y="8466"/>
                      <a:pt x="17693" y="8837"/>
                      <a:pt x="17693" y="8837"/>
                    </a:cubicBezTo>
                    <a:lnTo>
                      <a:pt x="19011" y="7086"/>
                    </a:lnTo>
                    <a:cubicBezTo>
                      <a:pt x="19011" y="7086"/>
                      <a:pt x="18753" y="6736"/>
                      <a:pt x="18495" y="6386"/>
                    </a:cubicBezTo>
                    <a:cubicBezTo>
                      <a:pt x="18230" y="6046"/>
                      <a:pt x="17990" y="5673"/>
                      <a:pt x="17989" y="5673"/>
                    </a:cubicBezTo>
                    <a:cubicBezTo>
                      <a:pt x="17989" y="5673"/>
                      <a:pt x="16610" y="7338"/>
                      <a:pt x="16610" y="7338"/>
                    </a:cubicBezTo>
                    <a:close/>
                    <a:moveTo>
                      <a:pt x="7344" y="16423"/>
                    </a:moveTo>
                    <a:lnTo>
                      <a:pt x="8750" y="14798"/>
                    </a:lnTo>
                    <a:cubicBezTo>
                      <a:pt x="8750" y="14798"/>
                      <a:pt x="8406" y="14302"/>
                      <a:pt x="8096" y="13769"/>
                    </a:cubicBezTo>
                    <a:cubicBezTo>
                      <a:pt x="7778" y="13245"/>
                      <a:pt x="7461" y="12719"/>
                      <a:pt x="7461" y="12719"/>
                    </a:cubicBezTo>
                    <a:lnTo>
                      <a:pt x="5998" y="14253"/>
                    </a:lnTo>
                    <a:cubicBezTo>
                      <a:pt x="5998" y="14253"/>
                      <a:pt x="6329" y="14802"/>
                      <a:pt x="6661" y="15350"/>
                    </a:cubicBezTo>
                    <a:cubicBezTo>
                      <a:pt x="6826" y="15625"/>
                      <a:pt x="6991" y="15900"/>
                      <a:pt x="7126" y="16094"/>
                    </a:cubicBezTo>
                    <a:cubicBezTo>
                      <a:pt x="7257" y="16292"/>
                      <a:pt x="7344" y="16423"/>
                      <a:pt x="7344" y="16423"/>
                    </a:cubicBezTo>
                    <a:close/>
                    <a:moveTo>
                      <a:pt x="8249" y="11894"/>
                    </a:moveTo>
                    <a:cubicBezTo>
                      <a:pt x="8249" y="11894"/>
                      <a:pt x="8559" y="12406"/>
                      <a:pt x="8869" y="12919"/>
                    </a:cubicBezTo>
                    <a:cubicBezTo>
                      <a:pt x="9172" y="13439"/>
                      <a:pt x="9508" y="13923"/>
                      <a:pt x="9508" y="13923"/>
                    </a:cubicBezTo>
                    <a:lnTo>
                      <a:pt x="10915" y="12301"/>
                    </a:lnTo>
                    <a:cubicBezTo>
                      <a:pt x="10915" y="12301"/>
                      <a:pt x="10595" y="11839"/>
                      <a:pt x="10306" y="11342"/>
                    </a:cubicBezTo>
                    <a:cubicBezTo>
                      <a:pt x="10010" y="10853"/>
                      <a:pt x="9714" y="10363"/>
                      <a:pt x="9714" y="10363"/>
                    </a:cubicBezTo>
                    <a:cubicBezTo>
                      <a:pt x="9714" y="10363"/>
                      <a:pt x="8249" y="11894"/>
                      <a:pt x="8249" y="11894"/>
                    </a:cubicBezTo>
                    <a:close/>
                    <a:moveTo>
                      <a:pt x="10503" y="9540"/>
                    </a:moveTo>
                    <a:cubicBezTo>
                      <a:pt x="10503" y="9540"/>
                      <a:pt x="10791" y="10016"/>
                      <a:pt x="11080" y="10493"/>
                    </a:cubicBezTo>
                    <a:cubicBezTo>
                      <a:pt x="11361" y="10978"/>
                      <a:pt x="11673" y="11428"/>
                      <a:pt x="11673" y="11428"/>
                    </a:cubicBezTo>
                    <a:lnTo>
                      <a:pt x="13083" y="9808"/>
                    </a:lnTo>
                    <a:cubicBezTo>
                      <a:pt x="13083" y="9808"/>
                      <a:pt x="12787" y="9380"/>
                      <a:pt x="12519" y="8919"/>
                    </a:cubicBezTo>
                    <a:cubicBezTo>
                      <a:pt x="12244" y="8466"/>
                      <a:pt x="11969" y="8013"/>
                      <a:pt x="11969" y="8013"/>
                    </a:cubicBezTo>
                    <a:cubicBezTo>
                      <a:pt x="11969" y="8013"/>
                      <a:pt x="10503" y="9540"/>
                      <a:pt x="10503" y="9540"/>
                    </a:cubicBezTo>
                    <a:close/>
                    <a:moveTo>
                      <a:pt x="12759" y="7191"/>
                    </a:moveTo>
                    <a:cubicBezTo>
                      <a:pt x="12759" y="7191"/>
                      <a:pt x="13027" y="7632"/>
                      <a:pt x="13294" y="8071"/>
                    </a:cubicBezTo>
                    <a:cubicBezTo>
                      <a:pt x="13554" y="8520"/>
                      <a:pt x="13843" y="8937"/>
                      <a:pt x="13843" y="8937"/>
                    </a:cubicBezTo>
                    <a:lnTo>
                      <a:pt x="15254" y="7321"/>
                    </a:lnTo>
                    <a:cubicBezTo>
                      <a:pt x="15254" y="7321"/>
                      <a:pt x="14981" y="6925"/>
                      <a:pt x="14735" y="6500"/>
                    </a:cubicBezTo>
                    <a:cubicBezTo>
                      <a:pt x="14481" y="6083"/>
                      <a:pt x="14227" y="5666"/>
                      <a:pt x="14227" y="5666"/>
                    </a:cubicBezTo>
                    <a:cubicBezTo>
                      <a:pt x="14227" y="5666"/>
                      <a:pt x="12759" y="7191"/>
                      <a:pt x="12759" y="7191"/>
                    </a:cubicBezTo>
                    <a:close/>
                    <a:moveTo>
                      <a:pt x="15018" y="4847"/>
                    </a:moveTo>
                    <a:cubicBezTo>
                      <a:pt x="15018" y="4847"/>
                      <a:pt x="15265" y="5251"/>
                      <a:pt x="15511" y="5655"/>
                    </a:cubicBezTo>
                    <a:cubicBezTo>
                      <a:pt x="15750" y="6068"/>
                      <a:pt x="16015" y="6451"/>
                      <a:pt x="16015" y="6451"/>
                    </a:cubicBezTo>
                    <a:lnTo>
                      <a:pt x="17428" y="4837"/>
                    </a:lnTo>
                    <a:cubicBezTo>
                      <a:pt x="17428" y="4837"/>
                      <a:pt x="17366" y="4746"/>
                      <a:pt x="17274" y="4609"/>
                    </a:cubicBezTo>
                    <a:cubicBezTo>
                      <a:pt x="17181" y="4472"/>
                      <a:pt x="17071" y="4276"/>
                      <a:pt x="16953" y="4087"/>
                    </a:cubicBezTo>
                    <a:cubicBezTo>
                      <a:pt x="16721" y="3706"/>
                      <a:pt x="16488" y="3325"/>
                      <a:pt x="16488" y="3325"/>
                    </a:cubicBezTo>
                    <a:cubicBezTo>
                      <a:pt x="16488" y="3325"/>
                      <a:pt x="15018" y="4847"/>
                      <a:pt x="15018" y="4847"/>
                    </a:cubicBezTo>
                    <a:close/>
                    <a:moveTo>
                      <a:pt x="21600" y="5088"/>
                    </a:moveTo>
                    <a:cubicBezTo>
                      <a:pt x="21600" y="5088"/>
                      <a:pt x="18666" y="9207"/>
                      <a:pt x="15732" y="13325"/>
                    </a:cubicBezTo>
                    <a:cubicBezTo>
                      <a:pt x="12813" y="17463"/>
                      <a:pt x="9894" y="21600"/>
                      <a:pt x="9894" y="21600"/>
                    </a:cubicBezTo>
                    <a:cubicBezTo>
                      <a:pt x="9894" y="21600"/>
                      <a:pt x="9741" y="21568"/>
                      <a:pt x="9473" y="21512"/>
                    </a:cubicBezTo>
                    <a:cubicBezTo>
                      <a:pt x="9206" y="21454"/>
                      <a:pt x="8812" y="21382"/>
                      <a:pt x="8360" y="21254"/>
                    </a:cubicBezTo>
                    <a:cubicBezTo>
                      <a:pt x="7453" y="21003"/>
                      <a:pt x="6195" y="20667"/>
                      <a:pt x="4969" y="20189"/>
                    </a:cubicBezTo>
                    <a:cubicBezTo>
                      <a:pt x="4355" y="19954"/>
                      <a:pt x="3715" y="19725"/>
                      <a:pt x="3142" y="19463"/>
                    </a:cubicBezTo>
                    <a:cubicBezTo>
                      <a:pt x="2565" y="19205"/>
                      <a:pt x="2021" y="18952"/>
                      <a:pt x="1552" y="18728"/>
                    </a:cubicBezTo>
                    <a:cubicBezTo>
                      <a:pt x="1080" y="18506"/>
                      <a:pt x="690" y="18307"/>
                      <a:pt x="424" y="18158"/>
                    </a:cubicBezTo>
                    <a:cubicBezTo>
                      <a:pt x="154" y="18011"/>
                      <a:pt x="0" y="17926"/>
                      <a:pt x="0" y="17926"/>
                    </a:cubicBezTo>
                    <a:cubicBezTo>
                      <a:pt x="0" y="17926"/>
                      <a:pt x="4568" y="13426"/>
                      <a:pt x="9135" y="8925"/>
                    </a:cubicBezTo>
                    <a:cubicBezTo>
                      <a:pt x="13724" y="4462"/>
                      <a:pt x="18313" y="0"/>
                      <a:pt x="18313" y="0"/>
                    </a:cubicBezTo>
                    <a:cubicBezTo>
                      <a:pt x="18313" y="0"/>
                      <a:pt x="18364" y="97"/>
                      <a:pt x="18441" y="243"/>
                    </a:cubicBezTo>
                    <a:cubicBezTo>
                      <a:pt x="18521" y="386"/>
                      <a:pt x="18616" y="588"/>
                      <a:pt x="18728" y="773"/>
                    </a:cubicBezTo>
                    <a:cubicBezTo>
                      <a:pt x="18949" y="1146"/>
                      <a:pt x="19171" y="1519"/>
                      <a:pt x="19171" y="1519"/>
                    </a:cubicBezTo>
                    <a:lnTo>
                      <a:pt x="17889" y="2898"/>
                    </a:lnTo>
                    <a:cubicBezTo>
                      <a:pt x="17889" y="2898"/>
                      <a:pt x="18229" y="3483"/>
                      <a:pt x="18610" y="4021"/>
                    </a:cubicBezTo>
                    <a:cubicBezTo>
                      <a:pt x="18794" y="4297"/>
                      <a:pt x="18979" y="4572"/>
                      <a:pt x="19117" y="4779"/>
                    </a:cubicBezTo>
                    <a:cubicBezTo>
                      <a:pt x="19258" y="4982"/>
                      <a:pt x="19359" y="5109"/>
                      <a:pt x="19359" y="5109"/>
                    </a:cubicBezTo>
                    <a:lnTo>
                      <a:pt x="20532" y="3640"/>
                    </a:lnTo>
                    <a:cubicBezTo>
                      <a:pt x="20532" y="3640"/>
                      <a:pt x="20795" y="4007"/>
                      <a:pt x="21058" y="4374"/>
                    </a:cubicBezTo>
                    <a:cubicBezTo>
                      <a:pt x="21188" y="4561"/>
                      <a:pt x="21320" y="4744"/>
                      <a:pt x="21427" y="4870"/>
                    </a:cubicBezTo>
                    <a:cubicBezTo>
                      <a:pt x="21531" y="5001"/>
                      <a:pt x="21600" y="5088"/>
                      <a:pt x="21600" y="5088"/>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17" name="Google Shape;417;p22"/>
              <p:cNvSpPr/>
              <p:nvPr/>
            </p:nvSpPr>
            <p:spPr>
              <a:xfrm>
                <a:off x="746389" y="5470114"/>
                <a:ext cx="1179080" cy="742696"/>
              </a:xfrm>
              <a:custGeom>
                <a:rect b="b" l="l" r="r" t="t"/>
                <a:pathLst>
                  <a:path extrusionOk="0" h="21600" w="21600">
                    <a:moveTo>
                      <a:pt x="18461" y="8137"/>
                    </a:moveTo>
                    <a:lnTo>
                      <a:pt x="17963" y="5979"/>
                    </a:lnTo>
                    <a:lnTo>
                      <a:pt x="16164" y="6997"/>
                    </a:lnTo>
                    <a:lnTo>
                      <a:pt x="16682" y="9235"/>
                    </a:lnTo>
                    <a:cubicBezTo>
                      <a:pt x="16682" y="9235"/>
                      <a:pt x="18461" y="8137"/>
                      <a:pt x="18461" y="8137"/>
                    </a:cubicBezTo>
                    <a:close/>
                    <a:moveTo>
                      <a:pt x="15724" y="9825"/>
                    </a:moveTo>
                    <a:lnTo>
                      <a:pt x="15195" y="7542"/>
                    </a:lnTo>
                    <a:lnTo>
                      <a:pt x="13395" y="8555"/>
                    </a:lnTo>
                    <a:lnTo>
                      <a:pt x="13944" y="10919"/>
                    </a:lnTo>
                    <a:cubicBezTo>
                      <a:pt x="13944" y="10919"/>
                      <a:pt x="15724" y="9825"/>
                      <a:pt x="15724" y="9825"/>
                    </a:cubicBezTo>
                    <a:close/>
                    <a:moveTo>
                      <a:pt x="12986" y="11507"/>
                    </a:moveTo>
                    <a:lnTo>
                      <a:pt x="12425" y="9100"/>
                    </a:lnTo>
                    <a:lnTo>
                      <a:pt x="10624" y="10108"/>
                    </a:lnTo>
                    <a:lnTo>
                      <a:pt x="11205" y="12597"/>
                    </a:lnTo>
                    <a:cubicBezTo>
                      <a:pt x="11205" y="12597"/>
                      <a:pt x="12986" y="11507"/>
                      <a:pt x="12986" y="11507"/>
                    </a:cubicBezTo>
                    <a:close/>
                    <a:moveTo>
                      <a:pt x="10245" y="13183"/>
                    </a:moveTo>
                    <a:lnTo>
                      <a:pt x="9655" y="10650"/>
                    </a:lnTo>
                    <a:lnTo>
                      <a:pt x="7853" y="11653"/>
                    </a:lnTo>
                    <a:lnTo>
                      <a:pt x="8463" y="14269"/>
                    </a:lnTo>
                    <a:cubicBezTo>
                      <a:pt x="8463" y="14269"/>
                      <a:pt x="10245" y="13183"/>
                      <a:pt x="10245" y="13183"/>
                    </a:cubicBezTo>
                    <a:close/>
                    <a:moveTo>
                      <a:pt x="7503" y="14852"/>
                    </a:moveTo>
                    <a:lnTo>
                      <a:pt x="6882" y="12193"/>
                    </a:lnTo>
                    <a:lnTo>
                      <a:pt x="5078" y="13193"/>
                    </a:lnTo>
                    <a:lnTo>
                      <a:pt x="5720" y="15933"/>
                    </a:lnTo>
                    <a:cubicBezTo>
                      <a:pt x="5720" y="15933"/>
                      <a:pt x="7503" y="14852"/>
                      <a:pt x="7503" y="14852"/>
                    </a:cubicBezTo>
                    <a:close/>
                    <a:moveTo>
                      <a:pt x="17710" y="4731"/>
                    </a:moveTo>
                    <a:lnTo>
                      <a:pt x="17281" y="2539"/>
                    </a:lnTo>
                    <a:lnTo>
                      <a:pt x="15455" y="3426"/>
                    </a:lnTo>
                    <a:lnTo>
                      <a:pt x="15902" y="5700"/>
                    </a:lnTo>
                    <a:cubicBezTo>
                      <a:pt x="15902" y="5700"/>
                      <a:pt x="17710" y="4731"/>
                      <a:pt x="17710" y="4731"/>
                    </a:cubicBezTo>
                    <a:close/>
                    <a:moveTo>
                      <a:pt x="14927" y="6221"/>
                    </a:moveTo>
                    <a:lnTo>
                      <a:pt x="14472" y="3902"/>
                    </a:lnTo>
                    <a:lnTo>
                      <a:pt x="12645" y="4783"/>
                    </a:lnTo>
                    <a:lnTo>
                      <a:pt x="13118" y="7185"/>
                    </a:lnTo>
                    <a:cubicBezTo>
                      <a:pt x="13118" y="7185"/>
                      <a:pt x="14927" y="6221"/>
                      <a:pt x="14927" y="6221"/>
                    </a:cubicBezTo>
                    <a:close/>
                    <a:moveTo>
                      <a:pt x="12144" y="7703"/>
                    </a:moveTo>
                    <a:lnTo>
                      <a:pt x="11661" y="5257"/>
                    </a:lnTo>
                    <a:lnTo>
                      <a:pt x="9833" y="6135"/>
                    </a:lnTo>
                    <a:lnTo>
                      <a:pt x="10334" y="8664"/>
                    </a:lnTo>
                    <a:cubicBezTo>
                      <a:pt x="10334" y="8664"/>
                      <a:pt x="12144" y="7703"/>
                      <a:pt x="12144" y="7703"/>
                    </a:cubicBezTo>
                    <a:close/>
                    <a:moveTo>
                      <a:pt x="9359" y="9180"/>
                    </a:moveTo>
                    <a:lnTo>
                      <a:pt x="8848" y="6606"/>
                    </a:lnTo>
                    <a:lnTo>
                      <a:pt x="7020" y="7479"/>
                    </a:lnTo>
                    <a:lnTo>
                      <a:pt x="7547" y="10136"/>
                    </a:lnTo>
                    <a:cubicBezTo>
                      <a:pt x="7547" y="10136"/>
                      <a:pt x="9359" y="9180"/>
                      <a:pt x="9359" y="9180"/>
                    </a:cubicBezTo>
                    <a:close/>
                    <a:moveTo>
                      <a:pt x="6572" y="10649"/>
                    </a:moveTo>
                    <a:lnTo>
                      <a:pt x="6035" y="7947"/>
                    </a:lnTo>
                    <a:lnTo>
                      <a:pt x="4206" y="8816"/>
                    </a:lnTo>
                    <a:lnTo>
                      <a:pt x="4760" y="11601"/>
                    </a:lnTo>
                    <a:cubicBezTo>
                      <a:pt x="4760" y="11601"/>
                      <a:pt x="6572" y="10649"/>
                      <a:pt x="6572" y="10649"/>
                    </a:cubicBezTo>
                    <a:close/>
                    <a:moveTo>
                      <a:pt x="21600" y="7682"/>
                    </a:moveTo>
                    <a:cubicBezTo>
                      <a:pt x="21600" y="7682"/>
                      <a:pt x="16205" y="11188"/>
                      <a:pt x="10809" y="14694"/>
                    </a:cubicBezTo>
                    <a:cubicBezTo>
                      <a:pt x="5405" y="18147"/>
                      <a:pt x="0" y="21600"/>
                      <a:pt x="0" y="21600"/>
                    </a:cubicBezTo>
                    <a:cubicBezTo>
                      <a:pt x="0" y="21600"/>
                      <a:pt x="166" y="20683"/>
                      <a:pt x="415" y="19307"/>
                    </a:cubicBezTo>
                    <a:cubicBezTo>
                      <a:pt x="678" y="17938"/>
                      <a:pt x="990" y="16170"/>
                      <a:pt x="1393" y="14409"/>
                    </a:cubicBezTo>
                    <a:cubicBezTo>
                      <a:pt x="1792" y="12647"/>
                      <a:pt x="2202" y="10936"/>
                      <a:pt x="2515" y="9680"/>
                    </a:cubicBezTo>
                    <a:cubicBezTo>
                      <a:pt x="2665" y="9053"/>
                      <a:pt x="2817" y="8524"/>
                      <a:pt x="2917" y="8159"/>
                    </a:cubicBezTo>
                    <a:cubicBezTo>
                      <a:pt x="3019" y="7795"/>
                      <a:pt x="3077" y="7587"/>
                      <a:pt x="3077" y="7587"/>
                    </a:cubicBezTo>
                    <a:cubicBezTo>
                      <a:pt x="3077" y="7587"/>
                      <a:pt x="7272" y="5704"/>
                      <a:pt x="11467" y="3823"/>
                    </a:cubicBezTo>
                    <a:cubicBezTo>
                      <a:pt x="15656" y="1912"/>
                      <a:pt x="19846" y="0"/>
                      <a:pt x="19846" y="0"/>
                    </a:cubicBezTo>
                    <a:cubicBezTo>
                      <a:pt x="19846" y="0"/>
                      <a:pt x="19942" y="598"/>
                      <a:pt x="20079" y="1177"/>
                    </a:cubicBezTo>
                    <a:cubicBezTo>
                      <a:pt x="20205" y="1761"/>
                      <a:pt x="20330" y="2344"/>
                      <a:pt x="20330" y="2344"/>
                    </a:cubicBezTo>
                    <a:lnTo>
                      <a:pt x="18785" y="3143"/>
                    </a:lnTo>
                    <a:cubicBezTo>
                      <a:pt x="18785" y="3143"/>
                      <a:pt x="18946" y="3983"/>
                      <a:pt x="19107" y="4823"/>
                    </a:cubicBezTo>
                    <a:cubicBezTo>
                      <a:pt x="19297" y="5648"/>
                      <a:pt x="19487" y="6473"/>
                      <a:pt x="19487" y="6473"/>
                    </a:cubicBezTo>
                    <a:lnTo>
                      <a:pt x="21062" y="5531"/>
                    </a:lnTo>
                    <a:cubicBezTo>
                      <a:pt x="21062" y="5531"/>
                      <a:pt x="21195" y="6070"/>
                      <a:pt x="21328" y="6608"/>
                    </a:cubicBezTo>
                    <a:cubicBezTo>
                      <a:pt x="21394" y="6879"/>
                      <a:pt x="21460" y="7149"/>
                      <a:pt x="21509" y="7351"/>
                    </a:cubicBezTo>
                    <a:cubicBezTo>
                      <a:pt x="21557" y="7554"/>
                      <a:pt x="21600" y="7682"/>
                      <a:pt x="21600" y="7682"/>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18" name="Google Shape;418;p22"/>
              <p:cNvSpPr/>
              <p:nvPr/>
            </p:nvSpPr>
            <p:spPr>
              <a:xfrm>
                <a:off x="1922208" y="6635708"/>
                <a:ext cx="1102981" cy="1418512"/>
              </a:xfrm>
              <a:custGeom>
                <a:rect b="b" l="l" r="r" t="t"/>
                <a:pathLst>
                  <a:path extrusionOk="0" h="21600" w="21600">
                    <a:moveTo>
                      <a:pt x="19080" y="6778"/>
                    </a:moveTo>
                    <a:cubicBezTo>
                      <a:pt x="19080" y="6778"/>
                      <a:pt x="18995" y="6743"/>
                      <a:pt x="18876" y="6676"/>
                    </a:cubicBezTo>
                    <a:cubicBezTo>
                      <a:pt x="18757" y="6612"/>
                      <a:pt x="18597" y="6527"/>
                      <a:pt x="18436" y="6441"/>
                    </a:cubicBezTo>
                    <a:cubicBezTo>
                      <a:pt x="18116" y="6271"/>
                      <a:pt x="17795" y="6102"/>
                      <a:pt x="17795" y="6102"/>
                    </a:cubicBezTo>
                    <a:lnTo>
                      <a:pt x="16667" y="7424"/>
                    </a:lnTo>
                    <a:cubicBezTo>
                      <a:pt x="16667" y="7424"/>
                      <a:pt x="17000" y="7600"/>
                      <a:pt x="17333" y="7775"/>
                    </a:cubicBezTo>
                    <a:cubicBezTo>
                      <a:pt x="17500" y="7864"/>
                      <a:pt x="17665" y="7952"/>
                      <a:pt x="17790" y="8018"/>
                    </a:cubicBezTo>
                    <a:cubicBezTo>
                      <a:pt x="17914" y="8087"/>
                      <a:pt x="18001" y="8125"/>
                      <a:pt x="18001" y="8125"/>
                    </a:cubicBezTo>
                    <a:cubicBezTo>
                      <a:pt x="18001" y="8125"/>
                      <a:pt x="19080" y="6778"/>
                      <a:pt x="19080" y="6778"/>
                    </a:cubicBezTo>
                    <a:close/>
                    <a:moveTo>
                      <a:pt x="17420" y="8850"/>
                    </a:moveTo>
                    <a:cubicBezTo>
                      <a:pt x="17420" y="8850"/>
                      <a:pt x="17314" y="8804"/>
                      <a:pt x="17139" y="8712"/>
                    </a:cubicBezTo>
                    <a:cubicBezTo>
                      <a:pt x="16962" y="8622"/>
                      <a:pt x="16710" y="8494"/>
                      <a:pt x="16406" y="8340"/>
                    </a:cubicBezTo>
                    <a:cubicBezTo>
                      <a:pt x="15801" y="8030"/>
                      <a:pt x="14975" y="7640"/>
                      <a:pt x="14205" y="7185"/>
                    </a:cubicBezTo>
                    <a:cubicBezTo>
                      <a:pt x="13420" y="6746"/>
                      <a:pt x="12628" y="6317"/>
                      <a:pt x="12075" y="5951"/>
                    </a:cubicBezTo>
                    <a:cubicBezTo>
                      <a:pt x="11507" y="5602"/>
                      <a:pt x="11128" y="5368"/>
                      <a:pt x="11128" y="5368"/>
                    </a:cubicBezTo>
                    <a:lnTo>
                      <a:pt x="9824" y="6589"/>
                    </a:lnTo>
                    <a:cubicBezTo>
                      <a:pt x="9824" y="6589"/>
                      <a:pt x="10216" y="6831"/>
                      <a:pt x="10804" y="7193"/>
                    </a:cubicBezTo>
                    <a:cubicBezTo>
                      <a:pt x="11378" y="7570"/>
                      <a:pt x="12196" y="8018"/>
                      <a:pt x="13009" y="8471"/>
                    </a:cubicBezTo>
                    <a:cubicBezTo>
                      <a:pt x="13808" y="8941"/>
                      <a:pt x="14661" y="9348"/>
                      <a:pt x="15289" y="9667"/>
                    </a:cubicBezTo>
                    <a:cubicBezTo>
                      <a:pt x="15603" y="9827"/>
                      <a:pt x="15865" y="9959"/>
                      <a:pt x="16048" y="10052"/>
                    </a:cubicBezTo>
                    <a:cubicBezTo>
                      <a:pt x="16231" y="10146"/>
                      <a:pt x="16338" y="10196"/>
                      <a:pt x="16338" y="10196"/>
                    </a:cubicBezTo>
                    <a:cubicBezTo>
                      <a:pt x="16338" y="10196"/>
                      <a:pt x="17420" y="8850"/>
                      <a:pt x="17420" y="8850"/>
                    </a:cubicBezTo>
                    <a:close/>
                    <a:moveTo>
                      <a:pt x="15755" y="10920"/>
                    </a:moveTo>
                    <a:cubicBezTo>
                      <a:pt x="15755" y="10920"/>
                      <a:pt x="15328" y="10704"/>
                      <a:pt x="14686" y="10382"/>
                    </a:cubicBezTo>
                    <a:cubicBezTo>
                      <a:pt x="14046" y="10057"/>
                      <a:pt x="13179" y="9641"/>
                      <a:pt x="12365" y="9163"/>
                    </a:cubicBezTo>
                    <a:cubicBezTo>
                      <a:pt x="11536" y="8703"/>
                      <a:pt x="10704" y="8245"/>
                      <a:pt x="10119" y="7862"/>
                    </a:cubicBezTo>
                    <a:cubicBezTo>
                      <a:pt x="9520" y="7493"/>
                      <a:pt x="9121" y="7246"/>
                      <a:pt x="9121" y="7246"/>
                    </a:cubicBezTo>
                    <a:lnTo>
                      <a:pt x="7815" y="8466"/>
                    </a:lnTo>
                    <a:cubicBezTo>
                      <a:pt x="7815" y="8466"/>
                      <a:pt x="8228" y="8720"/>
                      <a:pt x="8847" y="9102"/>
                    </a:cubicBezTo>
                    <a:cubicBezTo>
                      <a:pt x="9159" y="9288"/>
                      <a:pt x="9507" y="9526"/>
                      <a:pt x="9911" y="9747"/>
                    </a:cubicBezTo>
                    <a:cubicBezTo>
                      <a:pt x="10311" y="9970"/>
                      <a:pt x="10740" y="10209"/>
                      <a:pt x="11168" y="10447"/>
                    </a:cubicBezTo>
                    <a:cubicBezTo>
                      <a:pt x="12009" y="10941"/>
                      <a:pt x="12903" y="11374"/>
                      <a:pt x="13566" y="11708"/>
                    </a:cubicBezTo>
                    <a:cubicBezTo>
                      <a:pt x="14229" y="12043"/>
                      <a:pt x="14670" y="12266"/>
                      <a:pt x="14670" y="12266"/>
                    </a:cubicBezTo>
                    <a:cubicBezTo>
                      <a:pt x="14670" y="12266"/>
                      <a:pt x="15755" y="10920"/>
                      <a:pt x="15755" y="10920"/>
                    </a:cubicBezTo>
                    <a:close/>
                    <a:moveTo>
                      <a:pt x="14085" y="12990"/>
                    </a:moveTo>
                    <a:cubicBezTo>
                      <a:pt x="14085" y="12990"/>
                      <a:pt x="13635" y="12763"/>
                      <a:pt x="12962" y="12422"/>
                    </a:cubicBezTo>
                    <a:cubicBezTo>
                      <a:pt x="12287" y="12083"/>
                      <a:pt x="11379" y="11640"/>
                      <a:pt x="10522" y="11139"/>
                    </a:cubicBezTo>
                    <a:cubicBezTo>
                      <a:pt x="10086" y="10896"/>
                      <a:pt x="9651" y="10653"/>
                      <a:pt x="9242" y="10426"/>
                    </a:cubicBezTo>
                    <a:cubicBezTo>
                      <a:pt x="8833" y="10199"/>
                      <a:pt x="8478" y="9959"/>
                      <a:pt x="8160" y="9769"/>
                    </a:cubicBezTo>
                    <a:cubicBezTo>
                      <a:pt x="7530" y="9380"/>
                      <a:pt x="7111" y="9121"/>
                      <a:pt x="7111" y="9121"/>
                    </a:cubicBezTo>
                    <a:lnTo>
                      <a:pt x="5802" y="10340"/>
                    </a:lnTo>
                    <a:cubicBezTo>
                      <a:pt x="5802" y="10340"/>
                      <a:pt x="6235" y="10607"/>
                      <a:pt x="6885" y="11007"/>
                    </a:cubicBezTo>
                    <a:cubicBezTo>
                      <a:pt x="7213" y="11204"/>
                      <a:pt x="7581" y="11450"/>
                      <a:pt x="8001" y="11686"/>
                    </a:cubicBezTo>
                    <a:cubicBezTo>
                      <a:pt x="8423" y="11921"/>
                      <a:pt x="8872" y="12172"/>
                      <a:pt x="9322" y="12422"/>
                    </a:cubicBezTo>
                    <a:cubicBezTo>
                      <a:pt x="10207" y="12939"/>
                      <a:pt x="11142" y="13398"/>
                      <a:pt x="11839" y="13748"/>
                    </a:cubicBezTo>
                    <a:cubicBezTo>
                      <a:pt x="12535" y="14099"/>
                      <a:pt x="12999" y="14333"/>
                      <a:pt x="12999" y="14333"/>
                    </a:cubicBezTo>
                    <a:cubicBezTo>
                      <a:pt x="12999" y="14333"/>
                      <a:pt x="14085" y="12990"/>
                      <a:pt x="14085" y="12990"/>
                    </a:cubicBezTo>
                    <a:close/>
                    <a:moveTo>
                      <a:pt x="12414" y="15055"/>
                    </a:moveTo>
                    <a:cubicBezTo>
                      <a:pt x="12414" y="15055"/>
                      <a:pt x="11942" y="14818"/>
                      <a:pt x="11234" y="14460"/>
                    </a:cubicBezTo>
                    <a:cubicBezTo>
                      <a:pt x="10525" y="14106"/>
                      <a:pt x="9575" y="13637"/>
                      <a:pt x="8674" y="13112"/>
                    </a:cubicBezTo>
                    <a:cubicBezTo>
                      <a:pt x="8218" y="12857"/>
                      <a:pt x="7761" y="12603"/>
                      <a:pt x="7332" y="12365"/>
                    </a:cubicBezTo>
                    <a:cubicBezTo>
                      <a:pt x="6906" y="12122"/>
                      <a:pt x="6531" y="11874"/>
                      <a:pt x="6198" y="11673"/>
                    </a:cubicBezTo>
                    <a:cubicBezTo>
                      <a:pt x="5537" y="11266"/>
                      <a:pt x="5096" y="10995"/>
                      <a:pt x="5096" y="10995"/>
                    </a:cubicBezTo>
                    <a:lnTo>
                      <a:pt x="3785" y="12212"/>
                    </a:lnTo>
                    <a:cubicBezTo>
                      <a:pt x="3785" y="12212"/>
                      <a:pt x="4238" y="12492"/>
                      <a:pt x="4920" y="12911"/>
                    </a:cubicBezTo>
                    <a:cubicBezTo>
                      <a:pt x="5263" y="13119"/>
                      <a:pt x="5651" y="13373"/>
                      <a:pt x="6088" y="13623"/>
                    </a:cubicBezTo>
                    <a:cubicBezTo>
                      <a:pt x="6530" y="13869"/>
                      <a:pt x="7001" y="14132"/>
                      <a:pt x="7471" y="14395"/>
                    </a:cubicBezTo>
                    <a:cubicBezTo>
                      <a:pt x="7946" y="14652"/>
                      <a:pt x="8405" y="14930"/>
                      <a:pt x="8862" y="15157"/>
                    </a:cubicBezTo>
                    <a:cubicBezTo>
                      <a:pt x="9319" y="15387"/>
                      <a:pt x="9744" y="15601"/>
                      <a:pt x="10109" y="15784"/>
                    </a:cubicBezTo>
                    <a:cubicBezTo>
                      <a:pt x="10839" y="16151"/>
                      <a:pt x="11325" y="16397"/>
                      <a:pt x="11325" y="16397"/>
                    </a:cubicBezTo>
                    <a:cubicBezTo>
                      <a:pt x="11325" y="16397"/>
                      <a:pt x="12414" y="15055"/>
                      <a:pt x="12414" y="15055"/>
                    </a:cubicBezTo>
                    <a:close/>
                    <a:moveTo>
                      <a:pt x="12456" y="3042"/>
                    </a:moveTo>
                    <a:lnTo>
                      <a:pt x="11310" y="2228"/>
                    </a:lnTo>
                    <a:lnTo>
                      <a:pt x="9940" y="3403"/>
                    </a:lnTo>
                    <a:lnTo>
                      <a:pt x="11129" y="4247"/>
                    </a:lnTo>
                    <a:cubicBezTo>
                      <a:pt x="11129" y="4247"/>
                      <a:pt x="12456" y="3042"/>
                      <a:pt x="12456" y="3042"/>
                    </a:cubicBezTo>
                    <a:close/>
                    <a:moveTo>
                      <a:pt x="10414" y="4896"/>
                    </a:moveTo>
                    <a:lnTo>
                      <a:pt x="9201" y="4036"/>
                    </a:lnTo>
                    <a:lnTo>
                      <a:pt x="7828" y="5210"/>
                    </a:lnTo>
                    <a:lnTo>
                      <a:pt x="9085" y="6100"/>
                    </a:lnTo>
                    <a:cubicBezTo>
                      <a:pt x="9085" y="6100"/>
                      <a:pt x="10414" y="4896"/>
                      <a:pt x="10414" y="4896"/>
                    </a:cubicBezTo>
                    <a:close/>
                    <a:moveTo>
                      <a:pt x="8369" y="6747"/>
                    </a:moveTo>
                    <a:lnTo>
                      <a:pt x="7088" y="5842"/>
                    </a:lnTo>
                    <a:lnTo>
                      <a:pt x="5712" y="7015"/>
                    </a:lnTo>
                    <a:lnTo>
                      <a:pt x="7038" y="7949"/>
                    </a:lnTo>
                    <a:cubicBezTo>
                      <a:pt x="7038" y="7949"/>
                      <a:pt x="8369" y="6747"/>
                      <a:pt x="8369" y="6747"/>
                    </a:cubicBezTo>
                    <a:close/>
                    <a:moveTo>
                      <a:pt x="6320" y="8596"/>
                    </a:moveTo>
                    <a:lnTo>
                      <a:pt x="4971" y="7646"/>
                    </a:lnTo>
                    <a:lnTo>
                      <a:pt x="3593" y="8816"/>
                    </a:lnTo>
                    <a:lnTo>
                      <a:pt x="4986" y="9796"/>
                    </a:lnTo>
                    <a:cubicBezTo>
                      <a:pt x="4986" y="9796"/>
                      <a:pt x="6320" y="8596"/>
                      <a:pt x="6320" y="8596"/>
                    </a:cubicBezTo>
                    <a:close/>
                    <a:moveTo>
                      <a:pt x="4268" y="10443"/>
                    </a:moveTo>
                    <a:lnTo>
                      <a:pt x="2851" y="9447"/>
                    </a:lnTo>
                    <a:lnTo>
                      <a:pt x="1471" y="10617"/>
                    </a:lnTo>
                    <a:lnTo>
                      <a:pt x="2932" y="11642"/>
                    </a:lnTo>
                    <a:cubicBezTo>
                      <a:pt x="2932" y="11642"/>
                      <a:pt x="4268" y="10443"/>
                      <a:pt x="4268" y="10443"/>
                    </a:cubicBezTo>
                    <a:close/>
                    <a:moveTo>
                      <a:pt x="11871" y="4735"/>
                    </a:moveTo>
                    <a:lnTo>
                      <a:pt x="13112" y="5534"/>
                    </a:lnTo>
                    <a:lnTo>
                      <a:pt x="14366" y="4283"/>
                    </a:lnTo>
                    <a:lnTo>
                      <a:pt x="13171" y="3512"/>
                    </a:lnTo>
                    <a:cubicBezTo>
                      <a:pt x="13171" y="3512"/>
                      <a:pt x="11871" y="4735"/>
                      <a:pt x="11871" y="4735"/>
                    </a:cubicBezTo>
                    <a:close/>
                    <a:moveTo>
                      <a:pt x="14214" y="6122"/>
                    </a:moveTo>
                    <a:lnTo>
                      <a:pt x="15501" y="6875"/>
                    </a:lnTo>
                    <a:lnTo>
                      <a:pt x="16669" y="5576"/>
                    </a:lnTo>
                    <a:lnTo>
                      <a:pt x="15430" y="4848"/>
                    </a:lnTo>
                    <a:cubicBezTo>
                      <a:pt x="15430" y="4848"/>
                      <a:pt x="14214" y="6122"/>
                      <a:pt x="14214" y="6122"/>
                    </a:cubicBezTo>
                    <a:close/>
                    <a:moveTo>
                      <a:pt x="21600" y="5004"/>
                    </a:moveTo>
                    <a:cubicBezTo>
                      <a:pt x="21600" y="5004"/>
                      <a:pt x="18400" y="9160"/>
                      <a:pt x="15199" y="13316"/>
                    </a:cubicBezTo>
                    <a:cubicBezTo>
                      <a:pt x="11967" y="17458"/>
                      <a:pt x="8735" y="21600"/>
                      <a:pt x="8735" y="21600"/>
                    </a:cubicBezTo>
                    <a:cubicBezTo>
                      <a:pt x="8735" y="21600"/>
                      <a:pt x="8566" y="21436"/>
                      <a:pt x="8271" y="21150"/>
                    </a:cubicBezTo>
                    <a:cubicBezTo>
                      <a:pt x="7971" y="20873"/>
                      <a:pt x="7576" y="20438"/>
                      <a:pt x="7102" y="19933"/>
                    </a:cubicBezTo>
                    <a:cubicBezTo>
                      <a:pt x="6632" y="19422"/>
                      <a:pt x="6078" y="18846"/>
                      <a:pt x="5523" y="18206"/>
                    </a:cubicBezTo>
                    <a:cubicBezTo>
                      <a:pt x="4990" y="17559"/>
                      <a:pt x="4421" y="16871"/>
                      <a:pt x="3852" y="16182"/>
                    </a:cubicBezTo>
                    <a:cubicBezTo>
                      <a:pt x="2779" y="14776"/>
                      <a:pt x="1763" y="13402"/>
                      <a:pt x="1101" y="12321"/>
                    </a:cubicBezTo>
                    <a:cubicBezTo>
                      <a:pt x="765" y="11792"/>
                      <a:pt x="485" y="11351"/>
                      <a:pt x="289" y="11042"/>
                    </a:cubicBezTo>
                    <a:cubicBezTo>
                      <a:pt x="190" y="10891"/>
                      <a:pt x="120" y="10767"/>
                      <a:pt x="73" y="10682"/>
                    </a:cubicBezTo>
                    <a:cubicBezTo>
                      <a:pt x="25" y="10597"/>
                      <a:pt x="0" y="10552"/>
                      <a:pt x="0" y="10552"/>
                    </a:cubicBezTo>
                    <a:cubicBezTo>
                      <a:pt x="0" y="10552"/>
                      <a:pt x="3202" y="7919"/>
                      <a:pt x="6403" y="5286"/>
                    </a:cubicBezTo>
                    <a:cubicBezTo>
                      <a:pt x="9590" y="2643"/>
                      <a:pt x="12776" y="0"/>
                      <a:pt x="12776" y="0"/>
                    </a:cubicBezTo>
                    <a:lnTo>
                      <a:pt x="14040" y="849"/>
                    </a:lnTo>
                    <a:lnTo>
                      <a:pt x="12897" y="1866"/>
                    </a:lnTo>
                    <a:cubicBezTo>
                      <a:pt x="12897" y="1866"/>
                      <a:pt x="12990" y="1930"/>
                      <a:pt x="13153" y="2042"/>
                    </a:cubicBezTo>
                    <a:cubicBezTo>
                      <a:pt x="13318" y="2155"/>
                      <a:pt x="13543" y="2323"/>
                      <a:pt x="13842" y="2497"/>
                    </a:cubicBezTo>
                    <a:cubicBezTo>
                      <a:pt x="14135" y="2678"/>
                      <a:pt x="14476" y="2889"/>
                      <a:pt x="14842" y="3115"/>
                    </a:cubicBezTo>
                    <a:cubicBezTo>
                      <a:pt x="15206" y="3344"/>
                      <a:pt x="15589" y="3592"/>
                      <a:pt x="16002" y="3810"/>
                    </a:cubicBezTo>
                    <a:cubicBezTo>
                      <a:pt x="16817" y="4256"/>
                      <a:pt x="17603" y="4736"/>
                      <a:pt x="18245" y="5033"/>
                    </a:cubicBezTo>
                    <a:cubicBezTo>
                      <a:pt x="18871" y="5351"/>
                      <a:pt x="19289" y="5564"/>
                      <a:pt x="19289" y="5564"/>
                    </a:cubicBezTo>
                    <a:lnTo>
                      <a:pt x="20256" y="4385"/>
                    </a:lnTo>
                    <a:cubicBezTo>
                      <a:pt x="20256" y="4385"/>
                      <a:pt x="20338" y="4426"/>
                      <a:pt x="20461" y="4488"/>
                    </a:cubicBezTo>
                    <a:cubicBezTo>
                      <a:pt x="20581" y="4553"/>
                      <a:pt x="20749" y="4630"/>
                      <a:pt x="20921" y="4703"/>
                    </a:cubicBezTo>
                    <a:cubicBezTo>
                      <a:pt x="21261" y="4853"/>
                      <a:pt x="21600" y="5004"/>
                      <a:pt x="21600" y="5004"/>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19" name="Google Shape;419;p22"/>
              <p:cNvSpPr/>
              <p:nvPr/>
            </p:nvSpPr>
            <p:spPr>
              <a:xfrm>
                <a:off x="1104247" y="4713500"/>
                <a:ext cx="646242" cy="465586"/>
              </a:xfrm>
              <a:custGeom>
                <a:rect b="b" l="l" r="r" t="t"/>
                <a:pathLst>
                  <a:path extrusionOk="0" h="21600" w="21600">
                    <a:moveTo>
                      <a:pt x="6157" y="2714"/>
                    </a:moveTo>
                    <a:cubicBezTo>
                      <a:pt x="6157" y="2714"/>
                      <a:pt x="6175" y="3689"/>
                      <a:pt x="6201" y="5151"/>
                    </a:cubicBezTo>
                    <a:cubicBezTo>
                      <a:pt x="6221" y="5881"/>
                      <a:pt x="6210" y="6737"/>
                      <a:pt x="6256" y="7648"/>
                    </a:cubicBezTo>
                    <a:cubicBezTo>
                      <a:pt x="6308" y="8558"/>
                      <a:pt x="6363" y="9529"/>
                      <a:pt x="6418" y="10499"/>
                    </a:cubicBezTo>
                    <a:cubicBezTo>
                      <a:pt x="6538" y="12439"/>
                      <a:pt x="6587" y="14388"/>
                      <a:pt x="6759" y="15830"/>
                    </a:cubicBezTo>
                    <a:cubicBezTo>
                      <a:pt x="6894" y="17275"/>
                      <a:pt x="6983" y="18240"/>
                      <a:pt x="6983" y="18240"/>
                    </a:cubicBezTo>
                    <a:lnTo>
                      <a:pt x="9632" y="17764"/>
                    </a:lnTo>
                    <a:cubicBezTo>
                      <a:pt x="9632" y="17764"/>
                      <a:pt x="9545" y="16825"/>
                      <a:pt x="9414" y="15418"/>
                    </a:cubicBezTo>
                    <a:cubicBezTo>
                      <a:pt x="9246" y="14017"/>
                      <a:pt x="9201" y="12114"/>
                      <a:pt x="9082" y="10227"/>
                    </a:cubicBezTo>
                    <a:cubicBezTo>
                      <a:pt x="9029" y="9281"/>
                      <a:pt x="8975" y="8336"/>
                      <a:pt x="8924" y="7450"/>
                    </a:cubicBezTo>
                    <a:cubicBezTo>
                      <a:pt x="8879" y="6564"/>
                      <a:pt x="8891" y="5729"/>
                      <a:pt x="8871" y="5018"/>
                    </a:cubicBezTo>
                    <a:cubicBezTo>
                      <a:pt x="8846" y="3592"/>
                      <a:pt x="8828" y="2644"/>
                      <a:pt x="8828" y="2644"/>
                    </a:cubicBezTo>
                    <a:cubicBezTo>
                      <a:pt x="8828" y="2644"/>
                      <a:pt x="6157" y="2714"/>
                      <a:pt x="6157" y="2714"/>
                    </a:cubicBezTo>
                    <a:close/>
                    <a:moveTo>
                      <a:pt x="10873" y="2590"/>
                    </a:moveTo>
                    <a:cubicBezTo>
                      <a:pt x="10873" y="2590"/>
                      <a:pt x="10889" y="3521"/>
                      <a:pt x="10914" y="4915"/>
                    </a:cubicBezTo>
                    <a:cubicBezTo>
                      <a:pt x="10933" y="5614"/>
                      <a:pt x="10920" y="6430"/>
                      <a:pt x="10966" y="7299"/>
                    </a:cubicBezTo>
                    <a:cubicBezTo>
                      <a:pt x="11015" y="8167"/>
                      <a:pt x="11068" y="9092"/>
                      <a:pt x="11121" y="10018"/>
                    </a:cubicBezTo>
                    <a:cubicBezTo>
                      <a:pt x="11237" y="11868"/>
                      <a:pt x="11279" y="13730"/>
                      <a:pt x="11446" y="15102"/>
                    </a:cubicBezTo>
                    <a:cubicBezTo>
                      <a:pt x="11574" y="16481"/>
                      <a:pt x="11660" y="17400"/>
                      <a:pt x="11660" y="17400"/>
                    </a:cubicBezTo>
                    <a:lnTo>
                      <a:pt x="14309" y="16924"/>
                    </a:lnTo>
                    <a:cubicBezTo>
                      <a:pt x="14309" y="16924"/>
                      <a:pt x="14226" y="16031"/>
                      <a:pt x="14101" y="14690"/>
                    </a:cubicBezTo>
                    <a:cubicBezTo>
                      <a:pt x="13938" y="13355"/>
                      <a:pt x="13898" y="11545"/>
                      <a:pt x="13785" y="9745"/>
                    </a:cubicBezTo>
                    <a:cubicBezTo>
                      <a:pt x="13734" y="8846"/>
                      <a:pt x="13682" y="7946"/>
                      <a:pt x="13633" y="7102"/>
                    </a:cubicBezTo>
                    <a:cubicBezTo>
                      <a:pt x="13589" y="6256"/>
                      <a:pt x="13602" y="5461"/>
                      <a:pt x="13584" y="4784"/>
                    </a:cubicBezTo>
                    <a:cubicBezTo>
                      <a:pt x="13560" y="3426"/>
                      <a:pt x="13544" y="2520"/>
                      <a:pt x="13544" y="2520"/>
                    </a:cubicBezTo>
                    <a:cubicBezTo>
                      <a:pt x="13544" y="2520"/>
                      <a:pt x="10873" y="2590"/>
                      <a:pt x="10873" y="2590"/>
                    </a:cubicBezTo>
                    <a:close/>
                    <a:moveTo>
                      <a:pt x="15587" y="2467"/>
                    </a:moveTo>
                    <a:cubicBezTo>
                      <a:pt x="15587" y="2467"/>
                      <a:pt x="15603" y="3353"/>
                      <a:pt x="15627" y="4681"/>
                    </a:cubicBezTo>
                    <a:cubicBezTo>
                      <a:pt x="15645" y="5344"/>
                      <a:pt x="15631" y="6123"/>
                      <a:pt x="15675" y="6950"/>
                    </a:cubicBezTo>
                    <a:cubicBezTo>
                      <a:pt x="15722" y="7776"/>
                      <a:pt x="15774" y="8657"/>
                      <a:pt x="15824" y="9538"/>
                    </a:cubicBezTo>
                    <a:cubicBezTo>
                      <a:pt x="15935" y="11297"/>
                      <a:pt x="15972" y="13070"/>
                      <a:pt x="16133" y="14375"/>
                    </a:cubicBezTo>
                    <a:cubicBezTo>
                      <a:pt x="16255" y="15686"/>
                      <a:pt x="16336" y="16562"/>
                      <a:pt x="16336" y="16562"/>
                    </a:cubicBezTo>
                    <a:lnTo>
                      <a:pt x="18986" y="16085"/>
                    </a:lnTo>
                    <a:cubicBezTo>
                      <a:pt x="18986" y="16085"/>
                      <a:pt x="18907" y="15238"/>
                      <a:pt x="18788" y="13963"/>
                    </a:cubicBezTo>
                    <a:cubicBezTo>
                      <a:pt x="18630" y="12696"/>
                      <a:pt x="18597" y="10974"/>
                      <a:pt x="18489" y="9265"/>
                    </a:cubicBezTo>
                    <a:cubicBezTo>
                      <a:pt x="18439" y="8409"/>
                      <a:pt x="18389" y="7554"/>
                      <a:pt x="18343" y="6753"/>
                    </a:cubicBezTo>
                    <a:cubicBezTo>
                      <a:pt x="18300" y="5950"/>
                      <a:pt x="18314" y="5194"/>
                      <a:pt x="18297" y="4548"/>
                    </a:cubicBezTo>
                    <a:cubicBezTo>
                      <a:pt x="18274" y="3257"/>
                      <a:pt x="18258" y="2395"/>
                      <a:pt x="18258" y="2395"/>
                    </a:cubicBezTo>
                    <a:cubicBezTo>
                      <a:pt x="18258" y="2395"/>
                      <a:pt x="15587" y="2467"/>
                      <a:pt x="15587" y="2467"/>
                    </a:cubicBezTo>
                    <a:close/>
                    <a:moveTo>
                      <a:pt x="3474" y="12081"/>
                    </a:moveTo>
                    <a:cubicBezTo>
                      <a:pt x="4087" y="12008"/>
                      <a:pt x="4554" y="11405"/>
                      <a:pt x="4517" y="10736"/>
                    </a:cubicBezTo>
                    <a:cubicBezTo>
                      <a:pt x="4480" y="10065"/>
                      <a:pt x="3953" y="9564"/>
                      <a:pt x="3338" y="9619"/>
                    </a:cubicBezTo>
                    <a:cubicBezTo>
                      <a:pt x="2725" y="9672"/>
                      <a:pt x="2258" y="10275"/>
                      <a:pt x="2296" y="10963"/>
                    </a:cubicBezTo>
                    <a:cubicBezTo>
                      <a:pt x="2334" y="11651"/>
                      <a:pt x="2862" y="12151"/>
                      <a:pt x="3474" y="12081"/>
                    </a:cubicBezTo>
                    <a:close/>
                    <a:moveTo>
                      <a:pt x="2801" y="0"/>
                    </a:moveTo>
                    <a:lnTo>
                      <a:pt x="20637" y="0"/>
                    </a:lnTo>
                    <a:lnTo>
                      <a:pt x="20690" y="2333"/>
                    </a:lnTo>
                    <a:lnTo>
                      <a:pt x="20302" y="2342"/>
                    </a:lnTo>
                    <a:cubicBezTo>
                      <a:pt x="20302" y="2342"/>
                      <a:pt x="20317" y="3184"/>
                      <a:pt x="20340" y="4447"/>
                    </a:cubicBezTo>
                    <a:cubicBezTo>
                      <a:pt x="20357" y="5076"/>
                      <a:pt x="20341" y="5816"/>
                      <a:pt x="20384" y="6601"/>
                    </a:cubicBezTo>
                    <a:cubicBezTo>
                      <a:pt x="20430" y="7385"/>
                      <a:pt x="20478" y="8220"/>
                      <a:pt x="20527" y="9057"/>
                    </a:cubicBezTo>
                    <a:cubicBezTo>
                      <a:pt x="20634" y="10727"/>
                      <a:pt x="20664" y="12411"/>
                      <a:pt x="20820" y="13648"/>
                    </a:cubicBezTo>
                    <a:cubicBezTo>
                      <a:pt x="20936" y="14892"/>
                      <a:pt x="21013" y="15722"/>
                      <a:pt x="21013" y="15722"/>
                    </a:cubicBezTo>
                    <a:lnTo>
                      <a:pt x="21398" y="15651"/>
                    </a:lnTo>
                    <a:lnTo>
                      <a:pt x="21600" y="17953"/>
                    </a:lnTo>
                    <a:lnTo>
                      <a:pt x="3958" y="21600"/>
                    </a:lnTo>
                    <a:cubicBezTo>
                      <a:pt x="3958" y="21600"/>
                      <a:pt x="2936" y="19080"/>
                      <a:pt x="1914" y="16559"/>
                    </a:cubicBezTo>
                    <a:cubicBezTo>
                      <a:pt x="1375" y="15284"/>
                      <a:pt x="932" y="13976"/>
                      <a:pt x="582" y="12989"/>
                    </a:cubicBezTo>
                    <a:cubicBezTo>
                      <a:pt x="233" y="11997"/>
                      <a:pt x="0" y="11336"/>
                      <a:pt x="0" y="11336"/>
                    </a:cubicBezTo>
                    <a:cubicBezTo>
                      <a:pt x="0" y="11336"/>
                      <a:pt x="157" y="10613"/>
                      <a:pt x="392" y="9527"/>
                    </a:cubicBezTo>
                    <a:cubicBezTo>
                      <a:pt x="509" y="8989"/>
                      <a:pt x="646" y="8361"/>
                      <a:pt x="792" y="7689"/>
                    </a:cubicBezTo>
                    <a:cubicBezTo>
                      <a:pt x="966" y="7020"/>
                      <a:pt x="1150" y="6308"/>
                      <a:pt x="1334" y="5594"/>
                    </a:cubicBezTo>
                    <a:cubicBezTo>
                      <a:pt x="2067" y="2797"/>
                      <a:pt x="2801" y="0"/>
                      <a:pt x="2801" y="0"/>
                    </a:cubicBezTo>
                    <a:close/>
                  </a:path>
                </a:pathLst>
              </a:custGeom>
              <a:solidFill>
                <a:srgbClr val="FFFFFF"/>
              </a:solidFill>
              <a:ln cap="flat" cmpd="sng" w="11525">
                <a:solidFill>
                  <a:srgbClr val="DCDEE0"/>
                </a:solidFill>
                <a:prstDash val="solid"/>
                <a:round/>
                <a:headEnd len="sm" w="sm" type="none"/>
                <a:tailEnd len="sm" w="sm" type="none"/>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20" name="Google Shape;420;p22"/>
              <p:cNvSpPr/>
              <p:nvPr/>
            </p:nvSpPr>
            <p:spPr>
              <a:xfrm>
                <a:off x="5511012" y="3026455"/>
                <a:ext cx="254815" cy="296942"/>
              </a:xfrm>
              <a:custGeom>
                <a:rect b="b" l="l" r="r" t="t"/>
                <a:pathLst>
                  <a:path extrusionOk="0" h="21600" w="21600">
                    <a:moveTo>
                      <a:pt x="8226" y="11337"/>
                    </a:moveTo>
                    <a:lnTo>
                      <a:pt x="8665" y="14322"/>
                    </a:lnTo>
                    <a:lnTo>
                      <a:pt x="3475" y="15245"/>
                    </a:lnTo>
                    <a:lnTo>
                      <a:pt x="2773" y="21600"/>
                    </a:lnTo>
                    <a:lnTo>
                      <a:pt x="9021" y="21600"/>
                    </a:lnTo>
                    <a:lnTo>
                      <a:pt x="17321" y="20915"/>
                    </a:lnTo>
                    <a:lnTo>
                      <a:pt x="21600" y="16539"/>
                    </a:lnTo>
                    <a:lnTo>
                      <a:pt x="17046" y="15017"/>
                    </a:lnTo>
                    <a:lnTo>
                      <a:pt x="14555" y="12561"/>
                    </a:lnTo>
                    <a:lnTo>
                      <a:pt x="10800" y="7355"/>
                    </a:lnTo>
                    <a:lnTo>
                      <a:pt x="9021" y="0"/>
                    </a:lnTo>
                    <a:lnTo>
                      <a:pt x="1970" y="1223"/>
                    </a:lnTo>
                    <a:lnTo>
                      <a:pt x="0" y="3822"/>
                    </a:lnTo>
                    <a:lnTo>
                      <a:pt x="0" y="6741"/>
                    </a:lnTo>
                    <a:lnTo>
                      <a:pt x="3390" y="8729"/>
                    </a:lnTo>
                    <a:cubicBezTo>
                      <a:pt x="3390" y="8729"/>
                      <a:pt x="8226" y="11337"/>
                      <a:pt x="8226" y="11337"/>
                    </a:cubicBezTo>
                    <a:close/>
                  </a:path>
                </a:pathLst>
              </a:custGeom>
              <a:solidFill>
                <a:srgbClr val="E6E7EA"/>
              </a:solidFill>
              <a:ln>
                <a:noFill/>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21" name="Google Shape;421;p22"/>
              <p:cNvSpPr/>
              <p:nvPr/>
            </p:nvSpPr>
            <p:spPr>
              <a:xfrm>
                <a:off x="5378093" y="3138925"/>
                <a:ext cx="167537" cy="149505"/>
              </a:xfrm>
              <a:custGeom>
                <a:rect b="b" l="l" r="r" t="t"/>
                <a:pathLst>
                  <a:path extrusionOk="0" h="21600" w="21600">
                    <a:moveTo>
                      <a:pt x="21028" y="10953"/>
                    </a:moveTo>
                    <a:lnTo>
                      <a:pt x="21600" y="3050"/>
                    </a:lnTo>
                    <a:lnTo>
                      <a:pt x="15327" y="0"/>
                    </a:lnTo>
                    <a:lnTo>
                      <a:pt x="6533" y="2284"/>
                    </a:lnTo>
                    <a:lnTo>
                      <a:pt x="0" y="14000"/>
                    </a:lnTo>
                    <a:lnTo>
                      <a:pt x="0" y="21600"/>
                    </a:lnTo>
                    <a:lnTo>
                      <a:pt x="7600" y="21600"/>
                    </a:lnTo>
                    <a:cubicBezTo>
                      <a:pt x="7600" y="21600"/>
                      <a:pt x="21028" y="10953"/>
                      <a:pt x="21028" y="10953"/>
                    </a:cubicBezTo>
                    <a:close/>
                  </a:path>
                </a:pathLst>
              </a:custGeom>
              <a:solidFill>
                <a:srgbClr val="E6E7EA"/>
              </a:solidFill>
              <a:ln>
                <a:noFill/>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grpSp>
            <p:nvGrpSpPr>
              <p:cNvPr id="422" name="Google Shape;422;p22"/>
              <p:cNvGrpSpPr/>
              <p:nvPr/>
            </p:nvGrpSpPr>
            <p:grpSpPr>
              <a:xfrm>
                <a:off x="1273630" y="1641712"/>
                <a:ext cx="6026481" cy="5820046"/>
                <a:chOff x="0" y="0"/>
                <a:chExt cx="6026479" cy="5820044"/>
              </a:xfrm>
            </p:grpSpPr>
            <p:sp>
              <p:nvSpPr>
                <p:cNvPr id="423" name="Google Shape;423;p22"/>
                <p:cNvSpPr/>
                <p:nvPr/>
              </p:nvSpPr>
              <p:spPr>
                <a:xfrm>
                  <a:off x="0" y="0"/>
                  <a:ext cx="5730300" cy="5757000"/>
                </a:xfrm>
                <a:prstGeom prst="ellipse">
                  <a:avLst/>
                </a:prstGeom>
                <a:solidFill>
                  <a:schemeClr val="accent2"/>
                </a:solidFill>
                <a:ln>
                  <a:noFill/>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sp>
              <p:nvSpPr>
                <p:cNvPr id="424" name="Google Shape;424;p22"/>
                <p:cNvSpPr/>
                <p:nvPr/>
              </p:nvSpPr>
              <p:spPr>
                <a:xfrm>
                  <a:off x="107431" y="513788"/>
                  <a:ext cx="5919048" cy="5306256"/>
                </a:xfrm>
                <a:custGeom>
                  <a:rect b="b" l="l" r="r" t="t"/>
                  <a:pathLst>
                    <a:path extrusionOk="0" h="21600" w="21600">
                      <a:moveTo>
                        <a:pt x="5878" y="0"/>
                      </a:moveTo>
                      <a:lnTo>
                        <a:pt x="5241" y="531"/>
                      </a:lnTo>
                      <a:lnTo>
                        <a:pt x="5825" y="531"/>
                      </a:lnTo>
                      <a:lnTo>
                        <a:pt x="5878" y="722"/>
                      </a:lnTo>
                      <a:lnTo>
                        <a:pt x="5727" y="881"/>
                      </a:lnTo>
                      <a:lnTo>
                        <a:pt x="6373" y="902"/>
                      </a:lnTo>
                      <a:lnTo>
                        <a:pt x="6471" y="1161"/>
                      </a:lnTo>
                      <a:lnTo>
                        <a:pt x="5743" y="1132"/>
                      </a:lnTo>
                      <a:lnTo>
                        <a:pt x="5708" y="932"/>
                      </a:lnTo>
                      <a:lnTo>
                        <a:pt x="5251" y="821"/>
                      </a:lnTo>
                      <a:lnTo>
                        <a:pt x="5008" y="671"/>
                      </a:lnTo>
                      <a:lnTo>
                        <a:pt x="4480" y="676"/>
                      </a:lnTo>
                      <a:cubicBezTo>
                        <a:pt x="2900" y="1948"/>
                        <a:pt x="1644" y="3688"/>
                        <a:pt x="868" y="5710"/>
                      </a:cubicBezTo>
                      <a:lnTo>
                        <a:pt x="868" y="6391"/>
                      </a:lnTo>
                      <a:lnTo>
                        <a:pt x="1318" y="6632"/>
                      </a:lnTo>
                      <a:lnTo>
                        <a:pt x="1318" y="7585"/>
                      </a:lnTo>
                      <a:lnTo>
                        <a:pt x="1748" y="8404"/>
                      </a:lnTo>
                      <a:lnTo>
                        <a:pt x="2097" y="8465"/>
                      </a:lnTo>
                      <a:lnTo>
                        <a:pt x="2143" y="8183"/>
                      </a:lnTo>
                      <a:lnTo>
                        <a:pt x="1730" y="7472"/>
                      </a:lnTo>
                      <a:lnTo>
                        <a:pt x="1649" y="6781"/>
                      </a:lnTo>
                      <a:lnTo>
                        <a:pt x="1892" y="6781"/>
                      </a:lnTo>
                      <a:lnTo>
                        <a:pt x="1994" y="7493"/>
                      </a:lnTo>
                      <a:lnTo>
                        <a:pt x="2592" y="8465"/>
                      </a:lnTo>
                      <a:lnTo>
                        <a:pt x="2437" y="8779"/>
                      </a:lnTo>
                      <a:lnTo>
                        <a:pt x="2817" y="9426"/>
                      </a:lnTo>
                      <a:lnTo>
                        <a:pt x="3759" y="9686"/>
                      </a:lnTo>
                      <a:lnTo>
                        <a:pt x="3759" y="9516"/>
                      </a:lnTo>
                      <a:lnTo>
                        <a:pt x="4137" y="9577"/>
                      </a:lnTo>
                      <a:lnTo>
                        <a:pt x="4101" y="9877"/>
                      </a:lnTo>
                      <a:lnTo>
                        <a:pt x="4397" y="9937"/>
                      </a:lnTo>
                      <a:lnTo>
                        <a:pt x="4855" y="10076"/>
                      </a:lnTo>
                      <a:lnTo>
                        <a:pt x="5501" y="10899"/>
                      </a:lnTo>
                      <a:lnTo>
                        <a:pt x="6328" y="10969"/>
                      </a:lnTo>
                      <a:lnTo>
                        <a:pt x="6408" y="11721"/>
                      </a:lnTo>
                      <a:lnTo>
                        <a:pt x="5843" y="12161"/>
                      </a:lnTo>
                      <a:lnTo>
                        <a:pt x="5816" y="12831"/>
                      </a:lnTo>
                      <a:lnTo>
                        <a:pt x="5736" y="13242"/>
                      </a:lnTo>
                      <a:lnTo>
                        <a:pt x="6552" y="14384"/>
                      </a:lnTo>
                      <a:lnTo>
                        <a:pt x="6615" y="14775"/>
                      </a:lnTo>
                      <a:cubicBezTo>
                        <a:pt x="6615" y="14775"/>
                        <a:pt x="6911" y="14865"/>
                        <a:pt x="6947" y="14865"/>
                      </a:cubicBezTo>
                      <a:cubicBezTo>
                        <a:pt x="6983" y="14865"/>
                        <a:pt x="7612" y="15396"/>
                        <a:pt x="7612" y="15396"/>
                      </a:cubicBezTo>
                      <a:lnTo>
                        <a:pt x="7612" y="17460"/>
                      </a:lnTo>
                      <a:lnTo>
                        <a:pt x="7837" y="17530"/>
                      </a:lnTo>
                      <a:lnTo>
                        <a:pt x="7684" y="18482"/>
                      </a:lnTo>
                      <a:lnTo>
                        <a:pt x="8062" y="19042"/>
                      </a:lnTo>
                      <a:lnTo>
                        <a:pt x="7991" y="19987"/>
                      </a:lnTo>
                      <a:lnTo>
                        <a:pt x="8489" y="20964"/>
                      </a:lnTo>
                      <a:lnTo>
                        <a:pt x="9130" y="21586"/>
                      </a:lnTo>
                      <a:lnTo>
                        <a:pt x="9773" y="21600"/>
                      </a:lnTo>
                      <a:lnTo>
                        <a:pt x="9836" y="21369"/>
                      </a:lnTo>
                      <a:lnTo>
                        <a:pt x="9363" y="20926"/>
                      </a:lnTo>
                      <a:lnTo>
                        <a:pt x="9390" y="20706"/>
                      </a:lnTo>
                      <a:lnTo>
                        <a:pt x="9475" y="20434"/>
                      </a:lnTo>
                      <a:lnTo>
                        <a:pt x="9494" y="20160"/>
                      </a:lnTo>
                      <a:lnTo>
                        <a:pt x="9173" y="20150"/>
                      </a:lnTo>
                      <a:lnTo>
                        <a:pt x="9012" y="19923"/>
                      </a:lnTo>
                      <a:lnTo>
                        <a:pt x="9278" y="19638"/>
                      </a:lnTo>
                      <a:lnTo>
                        <a:pt x="9313" y="19422"/>
                      </a:lnTo>
                      <a:lnTo>
                        <a:pt x="9017" y="19328"/>
                      </a:lnTo>
                      <a:lnTo>
                        <a:pt x="9034" y="19128"/>
                      </a:lnTo>
                      <a:lnTo>
                        <a:pt x="9457" y="19056"/>
                      </a:lnTo>
                      <a:lnTo>
                        <a:pt x="10100" y="18713"/>
                      </a:lnTo>
                      <a:lnTo>
                        <a:pt x="10315" y="18271"/>
                      </a:lnTo>
                      <a:lnTo>
                        <a:pt x="10837" y="17527"/>
                      </a:lnTo>
                      <a:lnTo>
                        <a:pt x="10989" y="17309"/>
                      </a:lnTo>
                      <a:lnTo>
                        <a:pt x="10837" y="16560"/>
                      </a:lnTo>
                      <a:lnTo>
                        <a:pt x="10835" y="16558"/>
                      </a:lnTo>
                      <a:lnTo>
                        <a:pt x="10837" y="16556"/>
                      </a:lnTo>
                      <a:lnTo>
                        <a:pt x="11042" y="16158"/>
                      </a:lnTo>
                      <a:lnTo>
                        <a:pt x="11662" y="16177"/>
                      </a:lnTo>
                      <a:lnTo>
                        <a:pt x="12080" y="15810"/>
                      </a:lnTo>
                      <a:lnTo>
                        <a:pt x="12213" y="14359"/>
                      </a:lnTo>
                      <a:lnTo>
                        <a:pt x="12677" y="13704"/>
                      </a:lnTo>
                      <a:lnTo>
                        <a:pt x="12757" y="13282"/>
                      </a:lnTo>
                      <a:lnTo>
                        <a:pt x="12336" y="13131"/>
                      </a:lnTo>
                      <a:lnTo>
                        <a:pt x="12057" y="12622"/>
                      </a:lnTo>
                      <a:lnTo>
                        <a:pt x="11105" y="12612"/>
                      </a:lnTo>
                      <a:lnTo>
                        <a:pt x="10837" y="12498"/>
                      </a:lnTo>
                      <a:lnTo>
                        <a:pt x="10351" y="12291"/>
                      </a:lnTo>
                      <a:lnTo>
                        <a:pt x="10315" y="11690"/>
                      </a:lnTo>
                      <a:lnTo>
                        <a:pt x="10063" y="11200"/>
                      </a:lnTo>
                      <a:lnTo>
                        <a:pt x="9382" y="11189"/>
                      </a:lnTo>
                      <a:lnTo>
                        <a:pt x="8987" y="10497"/>
                      </a:lnTo>
                      <a:lnTo>
                        <a:pt x="8636" y="10307"/>
                      </a:lnTo>
                      <a:lnTo>
                        <a:pt x="8618" y="10518"/>
                      </a:lnTo>
                      <a:lnTo>
                        <a:pt x="7981" y="10559"/>
                      </a:lnTo>
                      <a:lnTo>
                        <a:pt x="7747" y="10197"/>
                      </a:lnTo>
                      <a:lnTo>
                        <a:pt x="7082" y="10047"/>
                      </a:lnTo>
                      <a:lnTo>
                        <a:pt x="6535" y="10754"/>
                      </a:lnTo>
                      <a:lnTo>
                        <a:pt x="5673" y="10590"/>
                      </a:lnTo>
                      <a:lnTo>
                        <a:pt x="5609" y="9506"/>
                      </a:lnTo>
                      <a:lnTo>
                        <a:pt x="4981" y="9387"/>
                      </a:lnTo>
                      <a:lnTo>
                        <a:pt x="5232" y="8855"/>
                      </a:lnTo>
                      <a:lnTo>
                        <a:pt x="5160" y="8549"/>
                      </a:lnTo>
                      <a:lnTo>
                        <a:pt x="4334" y="9166"/>
                      </a:lnTo>
                      <a:lnTo>
                        <a:pt x="3814" y="9095"/>
                      </a:lnTo>
                      <a:lnTo>
                        <a:pt x="3628" y="8642"/>
                      </a:lnTo>
                      <a:lnTo>
                        <a:pt x="3742" y="8175"/>
                      </a:lnTo>
                      <a:lnTo>
                        <a:pt x="4028" y="7585"/>
                      </a:lnTo>
                      <a:lnTo>
                        <a:pt x="4688" y="7212"/>
                      </a:lnTo>
                      <a:lnTo>
                        <a:pt x="5963" y="7212"/>
                      </a:lnTo>
                      <a:lnTo>
                        <a:pt x="5959" y="7645"/>
                      </a:lnTo>
                      <a:lnTo>
                        <a:pt x="6418" y="7883"/>
                      </a:lnTo>
                      <a:lnTo>
                        <a:pt x="6382" y="7141"/>
                      </a:lnTo>
                      <a:lnTo>
                        <a:pt x="6711" y="6771"/>
                      </a:lnTo>
                      <a:lnTo>
                        <a:pt x="7378" y="6283"/>
                      </a:lnTo>
                      <a:lnTo>
                        <a:pt x="7423" y="5939"/>
                      </a:lnTo>
                      <a:lnTo>
                        <a:pt x="8088" y="5169"/>
                      </a:lnTo>
                      <a:lnTo>
                        <a:pt x="8795" y="4733"/>
                      </a:lnTo>
                      <a:lnTo>
                        <a:pt x="8732" y="4675"/>
                      </a:lnTo>
                      <a:lnTo>
                        <a:pt x="9211" y="4172"/>
                      </a:lnTo>
                      <a:lnTo>
                        <a:pt x="9385" y="4225"/>
                      </a:lnTo>
                      <a:lnTo>
                        <a:pt x="9466" y="4337"/>
                      </a:lnTo>
                      <a:lnTo>
                        <a:pt x="9648" y="4112"/>
                      </a:lnTo>
                      <a:lnTo>
                        <a:pt x="9692" y="4091"/>
                      </a:lnTo>
                      <a:lnTo>
                        <a:pt x="9494" y="4058"/>
                      </a:lnTo>
                      <a:lnTo>
                        <a:pt x="9292" y="3984"/>
                      </a:lnTo>
                      <a:lnTo>
                        <a:pt x="9292" y="3766"/>
                      </a:lnTo>
                      <a:lnTo>
                        <a:pt x="9399" y="3669"/>
                      </a:lnTo>
                      <a:lnTo>
                        <a:pt x="9634" y="3669"/>
                      </a:lnTo>
                      <a:lnTo>
                        <a:pt x="9742" y="3721"/>
                      </a:lnTo>
                      <a:lnTo>
                        <a:pt x="9837" y="3932"/>
                      </a:lnTo>
                      <a:lnTo>
                        <a:pt x="9951" y="3912"/>
                      </a:lnTo>
                      <a:lnTo>
                        <a:pt x="9951" y="3894"/>
                      </a:lnTo>
                      <a:lnTo>
                        <a:pt x="9985" y="3906"/>
                      </a:lnTo>
                      <a:lnTo>
                        <a:pt x="10315" y="3849"/>
                      </a:lnTo>
                      <a:lnTo>
                        <a:pt x="10362" y="3669"/>
                      </a:lnTo>
                      <a:lnTo>
                        <a:pt x="10550" y="3721"/>
                      </a:lnTo>
                      <a:lnTo>
                        <a:pt x="10550" y="3916"/>
                      </a:lnTo>
                      <a:lnTo>
                        <a:pt x="10376" y="4051"/>
                      </a:lnTo>
                      <a:lnTo>
                        <a:pt x="10401" y="4267"/>
                      </a:lnTo>
                      <a:lnTo>
                        <a:pt x="10837" y="4416"/>
                      </a:lnTo>
                      <a:lnTo>
                        <a:pt x="11002" y="4472"/>
                      </a:lnTo>
                      <a:cubicBezTo>
                        <a:pt x="11002" y="4472"/>
                        <a:pt x="11003" y="4476"/>
                        <a:pt x="11003" y="4481"/>
                      </a:cubicBezTo>
                      <a:lnTo>
                        <a:pt x="11141" y="4468"/>
                      </a:lnTo>
                      <a:lnTo>
                        <a:pt x="11150" y="4178"/>
                      </a:lnTo>
                      <a:lnTo>
                        <a:pt x="10837" y="4018"/>
                      </a:lnTo>
                      <a:lnTo>
                        <a:pt x="10674" y="3936"/>
                      </a:lnTo>
                      <a:lnTo>
                        <a:pt x="10647" y="3797"/>
                      </a:lnTo>
                      <a:lnTo>
                        <a:pt x="10837" y="3725"/>
                      </a:lnTo>
                      <a:lnTo>
                        <a:pt x="11042" y="3646"/>
                      </a:lnTo>
                      <a:lnTo>
                        <a:pt x="11060" y="3225"/>
                      </a:lnTo>
                      <a:lnTo>
                        <a:pt x="10837" y="3073"/>
                      </a:lnTo>
                      <a:lnTo>
                        <a:pt x="10647" y="2945"/>
                      </a:lnTo>
                      <a:lnTo>
                        <a:pt x="10621" y="2234"/>
                      </a:lnTo>
                      <a:lnTo>
                        <a:pt x="10055" y="2544"/>
                      </a:lnTo>
                      <a:lnTo>
                        <a:pt x="9848" y="2544"/>
                      </a:lnTo>
                      <a:lnTo>
                        <a:pt x="9901" y="2003"/>
                      </a:lnTo>
                      <a:lnTo>
                        <a:pt x="9132" y="1800"/>
                      </a:lnTo>
                      <a:lnTo>
                        <a:pt x="8814" y="2068"/>
                      </a:lnTo>
                      <a:lnTo>
                        <a:pt x="8814" y="2887"/>
                      </a:lnTo>
                      <a:lnTo>
                        <a:pt x="8241" y="3090"/>
                      </a:lnTo>
                      <a:lnTo>
                        <a:pt x="8011" y="3623"/>
                      </a:lnTo>
                      <a:lnTo>
                        <a:pt x="7762" y="3669"/>
                      </a:lnTo>
                      <a:lnTo>
                        <a:pt x="7762" y="2986"/>
                      </a:lnTo>
                      <a:lnTo>
                        <a:pt x="7224" y="2903"/>
                      </a:lnTo>
                      <a:lnTo>
                        <a:pt x="6955" y="2707"/>
                      </a:lnTo>
                      <a:lnTo>
                        <a:pt x="6846" y="2264"/>
                      </a:lnTo>
                      <a:lnTo>
                        <a:pt x="7809" y="1634"/>
                      </a:lnTo>
                      <a:lnTo>
                        <a:pt x="8281" y="1475"/>
                      </a:lnTo>
                      <a:lnTo>
                        <a:pt x="8328" y="1829"/>
                      </a:lnTo>
                      <a:lnTo>
                        <a:pt x="8592" y="1813"/>
                      </a:lnTo>
                      <a:lnTo>
                        <a:pt x="8612" y="1634"/>
                      </a:lnTo>
                      <a:lnTo>
                        <a:pt x="8886" y="1591"/>
                      </a:lnTo>
                      <a:lnTo>
                        <a:pt x="8891" y="1529"/>
                      </a:lnTo>
                      <a:lnTo>
                        <a:pt x="8773" y="1475"/>
                      </a:lnTo>
                      <a:lnTo>
                        <a:pt x="8746" y="1287"/>
                      </a:lnTo>
                      <a:lnTo>
                        <a:pt x="9084" y="1256"/>
                      </a:lnTo>
                      <a:lnTo>
                        <a:pt x="9287" y="1019"/>
                      </a:lnTo>
                      <a:lnTo>
                        <a:pt x="9298" y="1002"/>
                      </a:lnTo>
                      <a:lnTo>
                        <a:pt x="9301" y="1002"/>
                      </a:lnTo>
                      <a:lnTo>
                        <a:pt x="9363" y="932"/>
                      </a:lnTo>
                      <a:lnTo>
                        <a:pt x="10073" y="831"/>
                      </a:lnTo>
                      <a:lnTo>
                        <a:pt x="10386" y="1129"/>
                      </a:lnTo>
                      <a:lnTo>
                        <a:pt x="9565" y="1617"/>
                      </a:lnTo>
                      <a:lnTo>
                        <a:pt x="10611" y="1893"/>
                      </a:lnTo>
                      <a:lnTo>
                        <a:pt x="10746" y="1502"/>
                      </a:lnTo>
                      <a:lnTo>
                        <a:pt x="10837" y="1502"/>
                      </a:lnTo>
                      <a:lnTo>
                        <a:pt x="11204" y="1502"/>
                      </a:lnTo>
                      <a:lnTo>
                        <a:pt x="11367" y="1161"/>
                      </a:lnTo>
                      <a:lnTo>
                        <a:pt x="11042" y="1071"/>
                      </a:lnTo>
                      <a:lnTo>
                        <a:pt x="11042" y="641"/>
                      </a:lnTo>
                      <a:lnTo>
                        <a:pt x="10837" y="539"/>
                      </a:lnTo>
                      <a:lnTo>
                        <a:pt x="10028" y="139"/>
                      </a:lnTo>
                      <a:lnTo>
                        <a:pt x="9327" y="229"/>
                      </a:lnTo>
                      <a:lnTo>
                        <a:pt x="8932" y="460"/>
                      </a:lnTo>
                      <a:lnTo>
                        <a:pt x="8959" y="1022"/>
                      </a:lnTo>
                      <a:lnTo>
                        <a:pt x="8546" y="952"/>
                      </a:lnTo>
                      <a:lnTo>
                        <a:pt x="8482" y="641"/>
                      </a:lnTo>
                      <a:lnTo>
                        <a:pt x="8878" y="241"/>
                      </a:lnTo>
                      <a:lnTo>
                        <a:pt x="8160" y="200"/>
                      </a:lnTo>
                      <a:lnTo>
                        <a:pt x="7953" y="270"/>
                      </a:lnTo>
                      <a:lnTo>
                        <a:pt x="7863" y="541"/>
                      </a:lnTo>
                      <a:lnTo>
                        <a:pt x="8133" y="591"/>
                      </a:lnTo>
                      <a:lnTo>
                        <a:pt x="8079" y="891"/>
                      </a:lnTo>
                      <a:lnTo>
                        <a:pt x="7621" y="922"/>
                      </a:lnTo>
                      <a:lnTo>
                        <a:pt x="7549" y="1122"/>
                      </a:lnTo>
                      <a:lnTo>
                        <a:pt x="6885" y="1142"/>
                      </a:lnTo>
                      <a:cubicBezTo>
                        <a:pt x="6885" y="1142"/>
                        <a:pt x="6867" y="722"/>
                        <a:pt x="6840" y="722"/>
                      </a:cubicBezTo>
                      <a:cubicBezTo>
                        <a:pt x="6813" y="722"/>
                        <a:pt x="7361" y="711"/>
                        <a:pt x="7361" y="711"/>
                      </a:cubicBezTo>
                      <a:lnTo>
                        <a:pt x="7756" y="280"/>
                      </a:lnTo>
                      <a:lnTo>
                        <a:pt x="7540" y="160"/>
                      </a:lnTo>
                      <a:lnTo>
                        <a:pt x="7254" y="470"/>
                      </a:lnTo>
                      <a:lnTo>
                        <a:pt x="6777" y="441"/>
                      </a:lnTo>
                      <a:lnTo>
                        <a:pt x="6489" y="0"/>
                      </a:lnTo>
                      <a:lnTo>
                        <a:pt x="5878" y="0"/>
                      </a:lnTo>
                      <a:close/>
                      <a:moveTo>
                        <a:pt x="868" y="5710"/>
                      </a:moveTo>
                      <a:lnTo>
                        <a:pt x="868" y="5704"/>
                      </a:lnTo>
                      <a:cubicBezTo>
                        <a:pt x="850" y="5751"/>
                        <a:pt x="834" y="5800"/>
                        <a:pt x="816" y="5848"/>
                      </a:cubicBezTo>
                      <a:cubicBezTo>
                        <a:pt x="834" y="5802"/>
                        <a:pt x="851" y="5755"/>
                        <a:pt x="868" y="5710"/>
                      </a:cubicBezTo>
                      <a:close/>
                      <a:moveTo>
                        <a:pt x="17957" y="1411"/>
                      </a:moveTo>
                      <a:lnTo>
                        <a:pt x="17841" y="1640"/>
                      </a:lnTo>
                      <a:cubicBezTo>
                        <a:pt x="17841" y="1640"/>
                        <a:pt x="17342" y="1858"/>
                        <a:pt x="17342" y="1858"/>
                      </a:cubicBezTo>
                      <a:lnTo>
                        <a:pt x="17133" y="2113"/>
                      </a:lnTo>
                      <a:lnTo>
                        <a:pt x="17181" y="2409"/>
                      </a:lnTo>
                      <a:lnTo>
                        <a:pt x="17438" y="2449"/>
                      </a:lnTo>
                      <a:lnTo>
                        <a:pt x="17593" y="2882"/>
                      </a:lnTo>
                      <a:lnTo>
                        <a:pt x="18036" y="2682"/>
                      </a:lnTo>
                      <a:lnTo>
                        <a:pt x="18109" y="3260"/>
                      </a:lnTo>
                      <a:lnTo>
                        <a:pt x="17976" y="3260"/>
                      </a:lnTo>
                      <a:lnTo>
                        <a:pt x="17611" y="3200"/>
                      </a:lnTo>
                      <a:lnTo>
                        <a:pt x="17207" y="3276"/>
                      </a:lnTo>
                      <a:lnTo>
                        <a:pt x="16817" y="3891"/>
                      </a:lnTo>
                      <a:lnTo>
                        <a:pt x="16258" y="3989"/>
                      </a:lnTo>
                      <a:lnTo>
                        <a:pt x="16177" y="4523"/>
                      </a:lnTo>
                      <a:lnTo>
                        <a:pt x="16413" y="4585"/>
                      </a:lnTo>
                      <a:lnTo>
                        <a:pt x="16345" y="4928"/>
                      </a:lnTo>
                      <a:lnTo>
                        <a:pt x="15790" y="4803"/>
                      </a:lnTo>
                      <a:lnTo>
                        <a:pt x="15281" y="4928"/>
                      </a:lnTo>
                      <a:lnTo>
                        <a:pt x="15173" y="5244"/>
                      </a:lnTo>
                      <a:lnTo>
                        <a:pt x="15261" y="5907"/>
                      </a:lnTo>
                      <a:lnTo>
                        <a:pt x="15560" y="6063"/>
                      </a:lnTo>
                      <a:lnTo>
                        <a:pt x="16061" y="6059"/>
                      </a:lnTo>
                      <a:lnTo>
                        <a:pt x="16399" y="6025"/>
                      </a:lnTo>
                      <a:lnTo>
                        <a:pt x="16503" y="5725"/>
                      </a:lnTo>
                      <a:lnTo>
                        <a:pt x="17032" y="4958"/>
                      </a:lnTo>
                      <a:lnTo>
                        <a:pt x="17380" y="5037"/>
                      </a:lnTo>
                      <a:lnTo>
                        <a:pt x="17722" y="4692"/>
                      </a:lnTo>
                      <a:lnTo>
                        <a:pt x="17786" y="4962"/>
                      </a:lnTo>
                      <a:lnTo>
                        <a:pt x="18631" y="5597"/>
                      </a:lnTo>
                      <a:lnTo>
                        <a:pt x="18528" y="5752"/>
                      </a:lnTo>
                      <a:lnTo>
                        <a:pt x="18147" y="5729"/>
                      </a:lnTo>
                      <a:lnTo>
                        <a:pt x="18294" y="5960"/>
                      </a:lnTo>
                      <a:lnTo>
                        <a:pt x="18528" y="6018"/>
                      </a:lnTo>
                      <a:lnTo>
                        <a:pt x="18801" y="5890"/>
                      </a:lnTo>
                      <a:lnTo>
                        <a:pt x="18797" y="5521"/>
                      </a:lnTo>
                      <a:lnTo>
                        <a:pt x="18918" y="5453"/>
                      </a:lnTo>
                      <a:lnTo>
                        <a:pt x="18821" y="5338"/>
                      </a:lnTo>
                      <a:lnTo>
                        <a:pt x="18258" y="4988"/>
                      </a:lnTo>
                      <a:lnTo>
                        <a:pt x="18109" y="4523"/>
                      </a:lnTo>
                      <a:lnTo>
                        <a:pt x="18578" y="4523"/>
                      </a:lnTo>
                      <a:lnTo>
                        <a:pt x="18726" y="4688"/>
                      </a:lnTo>
                      <a:lnTo>
                        <a:pt x="19130" y="5075"/>
                      </a:lnTo>
                      <a:lnTo>
                        <a:pt x="19147" y="5544"/>
                      </a:lnTo>
                      <a:lnTo>
                        <a:pt x="19564" y="6039"/>
                      </a:lnTo>
                      <a:lnTo>
                        <a:pt x="19720" y="5359"/>
                      </a:lnTo>
                      <a:lnTo>
                        <a:pt x="20009" y="5183"/>
                      </a:lnTo>
                      <a:lnTo>
                        <a:pt x="20063" y="5739"/>
                      </a:lnTo>
                      <a:lnTo>
                        <a:pt x="20346" y="6086"/>
                      </a:lnTo>
                      <a:lnTo>
                        <a:pt x="20884" y="6076"/>
                      </a:lnTo>
                      <a:cubicBezTo>
                        <a:pt x="20253" y="4268"/>
                        <a:pt x="19240" y="2672"/>
                        <a:pt x="17957" y="1411"/>
                      </a:cubicBezTo>
                      <a:close/>
                      <a:moveTo>
                        <a:pt x="10045" y="4377"/>
                      </a:moveTo>
                      <a:cubicBezTo>
                        <a:pt x="10045" y="4377"/>
                        <a:pt x="9923" y="4379"/>
                        <a:pt x="9923" y="4379"/>
                      </a:cubicBezTo>
                      <a:lnTo>
                        <a:pt x="9859" y="4564"/>
                      </a:lnTo>
                      <a:lnTo>
                        <a:pt x="9549" y="4564"/>
                      </a:lnTo>
                      <a:lnTo>
                        <a:pt x="9549" y="4743"/>
                      </a:lnTo>
                      <a:lnTo>
                        <a:pt x="9623" y="4743"/>
                      </a:lnTo>
                      <a:cubicBezTo>
                        <a:pt x="9623" y="4743"/>
                        <a:pt x="9626" y="4780"/>
                        <a:pt x="9633" y="4830"/>
                      </a:cubicBezTo>
                      <a:lnTo>
                        <a:pt x="9823" y="4812"/>
                      </a:lnTo>
                      <a:lnTo>
                        <a:pt x="9941" y="4730"/>
                      </a:lnTo>
                      <a:lnTo>
                        <a:pt x="9972" y="4564"/>
                      </a:lnTo>
                      <a:lnTo>
                        <a:pt x="10126" y="4548"/>
                      </a:lnTo>
                      <a:lnTo>
                        <a:pt x="10187" y="4409"/>
                      </a:lnTo>
                      <a:lnTo>
                        <a:pt x="10045" y="4377"/>
                      </a:lnTo>
                      <a:close/>
                      <a:moveTo>
                        <a:pt x="9226" y="4572"/>
                      </a:moveTo>
                      <a:cubicBezTo>
                        <a:pt x="9226" y="4572"/>
                        <a:pt x="9125" y="4712"/>
                        <a:pt x="9125" y="4712"/>
                      </a:cubicBezTo>
                      <a:lnTo>
                        <a:pt x="9113" y="4886"/>
                      </a:lnTo>
                      <a:lnTo>
                        <a:pt x="9337" y="4865"/>
                      </a:lnTo>
                      <a:lnTo>
                        <a:pt x="9360" y="4689"/>
                      </a:lnTo>
                      <a:lnTo>
                        <a:pt x="9226" y="4572"/>
                      </a:lnTo>
                      <a:close/>
                      <a:moveTo>
                        <a:pt x="17863" y="5981"/>
                      </a:moveTo>
                      <a:lnTo>
                        <a:pt x="16651" y="6087"/>
                      </a:lnTo>
                      <a:lnTo>
                        <a:pt x="16274" y="6314"/>
                      </a:lnTo>
                      <a:lnTo>
                        <a:pt x="15794" y="6314"/>
                      </a:lnTo>
                      <a:lnTo>
                        <a:pt x="15558" y="6287"/>
                      </a:lnTo>
                      <a:lnTo>
                        <a:pt x="14973" y="6649"/>
                      </a:lnTo>
                      <a:lnTo>
                        <a:pt x="14973" y="7330"/>
                      </a:lnTo>
                      <a:lnTo>
                        <a:pt x="13778" y="8291"/>
                      </a:lnTo>
                      <a:lnTo>
                        <a:pt x="13877" y="8703"/>
                      </a:lnTo>
                      <a:lnTo>
                        <a:pt x="14119" y="8703"/>
                      </a:lnTo>
                      <a:lnTo>
                        <a:pt x="14056" y="9092"/>
                      </a:lnTo>
                      <a:lnTo>
                        <a:pt x="13886" y="9163"/>
                      </a:lnTo>
                      <a:lnTo>
                        <a:pt x="13877" y="10185"/>
                      </a:lnTo>
                      <a:lnTo>
                        <a:pt x="14909" y="11497"/>
                      </a:lnTo>
                      <a:lnTo>
                        <a:pt x="15358" y="11497"/>
                      </a:lnTo>
                      <a:lnTo>
                        <a:pt x="15386" y="11417"/>
                      </a:lnTo>
                      <a:lnTo>
                        <a:pt x="16194" y="11417"/>
                      </a:lnTo>
                      <a:lnTo>
                        <a:pt x="16427" y="11176"/>
                      </a:lnTo>
                      <a:lnTo>
                        <a:pt x="16885" y="11176"/>
                      </a:lnTo>
                      <a:lnTo>
                        <a:pt x="17136" y="11456"/>
                      </a:lnTo>
                      <a:lnTo>
                        <a:pt x="17819" y="11536"/>
                      </a:lnTo>
                      <a:lnTo>
                        <a:pt x="17730" y="12548"/>
                      </a:lnTo>
                      <a:lnTo>
                        <a:pt x="18488" y="14041"/>
                      </a:lnTo>
                      <a:lnTo>
                        <a:pt x="18088" y="14892"/>
                      </a:lnTo>
                      <a:lnTo>
                        <a:pt x="18116" y="15293"/>
                      </a:lnTo>
                      <a:lnTo>
                        <a:pt x="18430" y="15644"/>
                      </a:lnTo>
                      <a:lnTo>
                        <a:pt x="18430" y="16607"/>
                      </a:lnTo>
                      <a:lnTo>
                        <a:pt x="18843" y="17226"/>
                      </a:lnTo>
                      <a:lnTo>
                        <a:pt x="18843" y="18029"/>
                      </a:lnTo>
                      <a:lnTo>
                        <a:pt x="19182" y="18029"/>
                      </a:lnTo>
                      <a:cubicBezTo>
                        <a:pt x="20693" y="15958"/>
                        <a:pt x="21600" y="13318"/>
                        <a:pt x="21600" y="10441"/>
                      </a:cubicBezTo>
                      <a:cubicBezTo>
                        <a:pt x="21600" y="9264"/>
                        <a:pt x="21447" y="8128"/>
                        <a:pt x="21165" y="7053"/>
                      </a:cubicBezTo>
                      <a:lnTo>
                        <a:pt x="21124" y="7095"/>
                      </a:lnTo>
                      <a:cubicBezTo>
                        <a:pt x="21124" y="7095"/>
                        <a:pt x="20262" y="7095"/>
                        <a:pt x="20262" y="7095"/>
                      </a:cubicBezTo>
                      <a:lnTo>
                        <a:pt x="19736" y="6658"/>
                      </a:lnTo>
                      <a:lnTo>
                        <a:pt x="19185" y="6718"/>
                      </a:lnTo>
                      <a:lnTo>
                        <a:pt x="19185" y="7095"/>
                      </a:lnTo>
                      <a:lnTo>
                        <a:pt x="19009" y="7095"/>
                      </a:lnTo>
                      <a:lnTo>
                        <a:pt x="18820" y="6944"/>
                      </a:lnTo>
                      <a:lnTo>
                        <a:pt x="17863" y="6674"/>
                      </a:lnTo>
                      <a:lnTo>
                        <a:pt x="17863" y="5981"/>
                      </a:lnTo>
                      <a:close/>
                      <a:moveTo>
                        <a:pt x="57" y="9260"/>
                      </a:moveTo>
                      <a:cubicBezTo>
                        <a:pt x="23" y="9647"/>
                        <a:pt x="0" y="10037"/>
                        <a:pt x="0" y="10434"/>
                      </a:cubicBezTo>
                      <a:cubicBezTo>
                        <a:pt x="0" y="15421"/>
                        <a:pt x="2723" y="19699"/>
                        <a:pt x="6601" y="21524"/>
                      </a:cubicBezTo>
                      <a:cubicBezTo>
                        <a:pt x="2729" y="19689"/>
                        <a:pt x="5" y="15404"/>
                        <a:pt x="5" y="10423"/>
                      </a:cubicBezTo>
                      <a:cubicBezTo>
                        <a:pt x="5" y="10031"/>
                        <a:pt x="24" y="9643"/>
                        <a:pt x="57" y="9260"/>
                      </a:cubicBezTo>
                      <a:close/>
                    </a:path>
                  </a:pathLst>
                </a:custGeom>
                <a:solidFill>
                  <a:srgbClr val="E6E7EA"/>
                </a:solidFill>
                <a:ln>
                  <a:noFill/>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rgbClr val="007272"/>
                    </a:solidFill>
                    <a:latin typeface="Arial"/>
                    <a:ea typeface="Arial"/>
                    <a:cs typeface="Arial"/>
                    <a:sym typeface="Arial"/>
                  </a:endParaRPr>
                </a:p>
              </p:txBody>
            </p:sp>
          </p:grpSp>
        </p:grpSp>
        <p:sp>
          <p:nvSpPr>
            <p:cNvPr id="425" name="Google Shape;425;p22"/>
            <p:cNvSpPr/>
            <p:nvPr/>
          </p:nvSpPr>
          <p:spPr>
            <a:xfrm>
              <a:off x="-3690760" y="1106728"/>
              <a:ext cx="3496800" cy="438900"/>
            </a:xfrm>
            <a:prstGeom prst="rect">
              <a:avLst/>
            </a:prstGeom>
            <a:noFill/>
            <a:ln>
              <a:noFill/>
            </a:ln>
          </p:spPr>
          <p:txBody>
            <a:bodyPr anchorCtr="0" anchor="ctr" bIns="23050" lIns="22850" spcFirstLastPara="1" rIns="23050" wrap="square" tIns="23050">
              <a:noAutofit/>
            </a:bodyPr>
            <a:lstStyle/>
            <a:p>
              <a:pPr indent="0" lvl="0" marL="0" marR="0" rtl="0" algn="l">
                <a:lnSpc>
                  <a:spcPct val="100000"/>
                </a:lnSpc>
                <a:spcBef>
                  <a:spcPts val="0"/>
                </a:spcBef>
                <a:spcAft>
                  <a:spcPts val="0"/>
                </a:spcAft>
                <a:buClr>
                  <a:srgbClr val="000000"/>
                </a:buClr>
                <a:buSzPts val="1089"/>
                <a:buFont typeface="Arial"/>
                <a:buNone/>
              </a:pPr>
              <a:r>
                <a:rPr b="1" i="0" lang="en-US" sz="1300" u="sng" cap="none" strike="noStrike">
                  <a:solidFill>
                    <a:schemeClr val="accent2"/>
                  </a:solidFill>
                  <a:latin typeface="Arial"/>
                  <a:ea typeface="Arial"/>
                  <a:cs typeface="Arial"/>
                  <a:sym typeface="Arial"/>
                </a:rPr>
                <a:t>MySQL OLAP Warehouse：</a:t>
              </a:r>
              <a:endParaRPr b="1" i="0" sz="1300" u="sng" cap="none" strike="noStrike">
                <a:solidFill>
                  <a:schemeClr val="accent2"/>
                </a:solidFill>
                <a:latin typeface="Arial"/>
                <a:ea typeface="Arial"/>
                <a:cs typeface="Arial"/>
                <a:sym typeface="Arial"/>
              </a:endParaRPr>
            </a:p>
          </p:txBody>
        </p:sp>
        <p:sp>
          <p:nvSpPr>
            <p:cNvPr id="426" name="Google Shape;426;p22"/>
            <p:cNvSpPr/>
            <p:nvPr/>
          </p:nvSpPr>
          <p:spPr>
            <a:xfrm>
              <a:off x="-3771244" y="3351857"/>
              <a:ext cx="3900600" cy="684000"/>
            </a:xfrm>
            <a:prstGeom prst="rect">
              <a:avLst/>
            </a:prstGeom>
            <a:noFill/>
            <a:ln>
              <a:noFill/>
            </a:ln>
          </p:spPr>
          <p:txBody>
            <a:bodyPr anchorCtr="0" anchor="ctr" bIns="23050" lIns="22850" spcFirstLastPara="1" rIns="23050" wrap="square" tIns="23050">
              <a:noAutofit/>
            </a:bodyPr>
            <a:lstStyle/>
            <a:p>
              <a:pPr indent="0" lvl="0" marL="0" marR="0" rtl="0" algn="l">
                <a:lnSpc>
                  <a:spcPct val="100000"/>
                </a:lnSpc>
                <a:spcBef>
                  <a:spcPts val="0"/>
                </a:spcBef>
                <a:spcAft>
                  <a:spcPts val="0"/>
                </a:spcAft>
                <a:buClr>
                  <a:srgbClr val="000000"/>
                </a:buClr>
                <a:buSzPts val="1089"/>
                <a:buFont typeface="Arial"/>
                <a:buNone/>
              </a:pPr>
              <a:r>
                <a:rPr b="1" i="0" lang="en-US" sz="1300" u="sng" cap="none" strike="noStrike">
                  <a:solidFill>
                    <a:schemeClr val="accent2"/>
                  </a:solidFill>
                  <a:highlight>
                    <a:schemeClr val="lt1"/>
                  </a:highlight>
                  <a:latin typeface="Arial"/>
                  <a:ea typeface="Arial"/>
                  <a:cs typeface="Arial"/>
                  <a:sym typeface="Arial"/>
                </a:rPr>
                <a:t>Robust Pipeline Architecture：</a:t>
              </a:r>
              <a:endParaRPr b="1" i="0" sz="1300" u="sng" cap="none" strike="noStrike">
                <a:solidFill>
                  <a:schemeClr val="accent2"/>
                </a:solidFill>
                <a:highlight>
                  <a:schemeClr val="lt1"/>
                </a:highlight>
                <a:latin typeface="Arial"/>
                <a:ea typeface="Arial"/>
                <a:cs typeface="Arial"/>
                <a:sym typeface="Arial"/>
              </a:endParaRPr>
            </a:p>
          </p:txBody>
        </p:sp>
        <p:grpSp>
          <p:nvGrpSpPr>
            <p:cNvPr id="427" name="Google Shape;427;p22"/>
            <p:cNvGrpSpPr/>
            <p:nvPr/>
          </p:nvGrpSpPr>
          <p:grpSpPr>
            <a:xfrm>
              <a:off x="1676232" y="2091559"/>
              <a:ext cx="2562986" cy="704815"/>
              <a:chOff x="1676232" y="2091559"/>
              <a:chExt cx="2562986" cy="704815"/>
            </a:xfrm>
          </p:grpSpPr>
          <p:grpSp>
            <p:nvGrpSpPr>
              <p:cNvPr id="428" name="Google Shape;428;p22"/>
              <p:cNvGrpSpPr/>
              <p:nvPr/>
            </p:nvGrpSpPr>
            <p:grpSpPr>
              <a:xfrm flipH="1">
                <a:off x="1775731" y="2161373"/>
                <a:ext cx="2463487" cy="635001"/>
                <a:chOff x="0" y="0"/>
                <a:chExt cx="4926973" cy="1270000"/>
              </a:xfrm>
            </p:grpSpPr>
            <p:cxnSp>
              <p:nvCxnSpPr>
                <p:cNvPr id="429" name="Google Shape;429;p22"/>
                <p:cNvCxnSpPr/>
                <p:nvPr/>
              </p:nvCxnSpPr>
              <p:spPr>
                <a:xfrm flipH="1" rot="10800000">
                  <a:off x="0" y="0"/>
                  <a:ext cx="1270000" cy="1270000"/>
                </a:xfrm>
                <a:prstGeom prst="straightConnector1">
                  <a:avLst/>
                </a:prstGeom>
                <a:noFill/>
                <a:ln cap="flat" cmpd="sng" w="8650">
                  <a:solidFill>
                    <a:srgbClr val="A6AAA9"/>
                  </a:solidFill>
                  <a:prstDash val="solid"/>
                  <a:miter lim="400000"/>
                  <a:headEnd len="sm" w="sm" type="none"/>
                  <a:tailEnd len="sm" w="sm" type="none"/>
                </a:ln>
              </p:spPr>
            </p:cxnSp>
            <p:cxnSp>
              <p:nvCxnSpPr>
                <p:cNvPr id="430" name="Google Shape;430;p22"/>
                <p:cNvCxnSpPr/>
                <p:nvPr/>
              </p:nvCxnSpPr>
              <p:spPr>
                <a:xfrm>
                  <a:off x="1253173" y="0"/>
                  <a:ext cx="3673800" cy="0"/>
                </a:xfrm>
                <a:prstGeom prst="straightConnector1">
                  <a:avLst/>
                </a:prstGeom>
                <a:noFill/>
                <a:ln cap="flat" cmpd="sng" w="8650">
                  <a:solidFill>
                    <a:srgbClr val="A6AAA9"/>
                  </a:solidFill>
                  <a:prstDash val="solid"/>
                  <a:miter lim="400000"/>
                  <a:headEnd len="sm" w="sm" type="none"/>
                  <a:tailEnd len="sm" w="sm" type="none"/>
                </a:ln>
              </p:spPr>
            </p:cxnSp>
          </p:grpSp>
          <p:sp>
            <p:nvSpPr>
              <p:cNvPr id="431" name="Google Shape;431;p22"/>
              <p:cNvSpPr/>
              <p:nvPr/>
            </p:nvSpPr>
            <p:spPr>
              <a:xfrm>
                <a:off x="1676232" y="2091559"/>
                <a:ext cx="125894" cy="125894"/>
              </a:xfrm>
              <a:prstGeom prst="ellipse">
                <a:avLst/>
              </a:prstGeom>
              <a:solidFill>
                <a:schemeClr val="accent1"/>
              </a:solidFill>
              <a:ln>
                <a:noFill/>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grpSp>
        <p:grpSp>
          <p:nvGrpSpPr>
            <p:cNvPr id="432" name="Google Shape;432;p22"/>
            <p:cNvGrpSpPr/>
            <p:nvPr/>
          </p:nvGrpSpPr>
          <p:grpSpPr>
            <a:xfrm>
              <a:off x="1676232" y="4334402"/>
              <a:ext cx="2562986" cy="691716"/>
              <a:chOff x="1676232" y="4334402"/>
              <a:chExt cx="2562986" cy="691716"/>
            </a:xfrm>
          </p:grpSpPr>
          <p:grpSp>
            <p:nvGrpSpPr>
              <p:cNvPr id="433" name="Google Shape;433;p22"/>
              <p:cNvGrpSpPr/>
              <p:nvPr/>
            </p:nvGrpSpPr>
            <p:grpSpPr>
              <a:xfrm rot="10800000">
                <a:off x="1775802" y="4334402"/>
                <a:ext cx="2463416" cy="635001"/>
                <a:chOff x="0" y="0"/>
                <a:chExt cx="4926832" cy="1270000"/>
              </a:xfrm>
            </p:grpSpPr>
            <p:cxnSp>
              <p:nvCxnSpPr>
                <p:cNvPr id="434" name="Google Shape;434;p22"/>
                <p:cNvCxnSpPr/>
                <p:nvPr/>
              </p:nvCxnSpPr>
              <p:spPr>
                <a:xfrm flipH="1" rot="10800000">
                  <a:off x="0" y="0"/>
                  <a:ext cx="1270000" cy="1270000"/>
                </a:xfrm>
                <a:prstGeom prst="straightConnector1">
                  <a:avLst/>
                </a:prstGeom>
                <a:noFill/>
                <a:ln cap="flat" cmpd="sng" w="8650">
                  <a:solidFill>
                    <a:srgbClr val="A6AAA9"/>
                  </a:solidFill>
                  <a:prstDash val="solid"/>
                  <a:miter lim="400000"/>
                  <a:headEnd len="sm" w="sm" type="none"/>
                  <a:tailEnd len="sm" w="sm" type="none"/>
                </a:ln>
              </p:spPr>
            </p:cxnSp>
            <p:cxnSp>
              <p:nvCxnSpPr>
                <p:cNvPr id="435" name="Google Shape;435;p22"/>
                <p:cNvCxnSpPr/>
                <p:nvPr/>
              </p:nvCxnSpPr>
              <p:spPr>
                <a:xfrm>
                  <a:off x="1253171" y="0"/>
                  <a:ext cx="3673661" cy="0"/>
                </a:xfrm>
                <a:prstGeom prst="straightConnector1">
                  <a:avLst/>
                </a:prstGeom>
                <a:noFill/>
                <a:ln cap="flat" cmpd="sng" w="8650">
                  <a:solidFill>
                    <a:srgbClr val="A6AAA9"/>
                  </a:solidFill>
                  <a:prstDash val="solid"/>
                  <a:miter lim="400000"/>
                  <a:headEnd len="sm" w="sm" type="none"/>
                  <a:tailEnd len="sm" w="sm" type="none"/>
                </a:ln>
              </p:spPr>
            </p:cxnSp>
          </p:grpSp>
          <p:sp>
            <p:nvSpPr>
              <p:cNvPr id="436" name="Google Shape;436;p22"/>
              <p:cNvSpPr/>
              <p:nvPr/>
            </p:nvSpPr>
            <p:spPr>
              <a:xfrm>
                <a:off x="1676232" y="4900224"/>
                <a:ext cx="125894" cy="125894"/>
              </a:xfrm>
              <a:prstGeom prst="ellipse">
                <a:avLst/>
              </a:prstGeom>
              <a:solidFill>
                <a:schemeClr val="accent2"/>
              </a:solidFill>
              <a:ln>
                <a:noFill/>
              </a:ln>
            </p:spPr>
            <p:txBody>
              <a:bodyPr anchorCtr="0" anchor="ctr" bIns="41475" lIns="82975" spcFirstLastPara="1" rIns="82975" wrap="square" tIns="41475">
                <a:noAutofit/>
              </a:bodyPr>
              <a:lstStyle/>
              <a:p>
                <a:pPr indent="0" lvl="0" marL="0" marR="0" rtl="0" algn="ctr">
                  <a:lnSpc>
                    <a:spcPct val="100000"/>
                  </a:lnSpc>
                  <a:spcBef>
                    <a:spcPts val="0"/>
                  </a:spcBef>
                  <a:spcAft>
                    <a:spcPts val="0"/>
                  </a:spcAft>
                  <a:buClr>
                    <a:srgbClr val="000000"/>
                  </a:buClr>
                  <a:buSzPts val="1634"/>
                  <a:buFont typeface="Arial"/>
                  <a:buNone/>
                </a:pPr>
                <a:r>
                  <a:t/>
                </a:r>
                <a:endParaRPr b="0" i="0" sz="1633" u="none" cap="none" strike="noStrike">
                  <a:solidFill>
                    <a:schemeClr val="dk1"/>
                  </a:solidFill>
                  <a:latin typeface="Arial"/>
                  <a:ea typeface="Arial"/>
                  <a:cs typeface="Arial"/>
                  <a:sym typeface="Arial"/>
                </a:endParaRPr>
              </a:p>
            </p:txBody>
          </p:sp>
        </p:grpSp>
        <p:cxnSp>
          <p:nvCxnSpPr>
            <p:cNvPr id="437" name="Google Shape;437;p22"/>
            <p:cNvCxnSpPr/>
            <p:nvPr/>
          </p:nvCxnSpPr>
          <p:spPr>
            <a:xfrm>
              <a:off x="1716626" y="6734359"/>
              <a:ext cx="1836900" cy="0"/>
            </a:xfrm>
            <a:prstGeom prst="straightConnector1">
              <a:avLst/>
            </a:prstGeom>
            <a:noFill/>
            <a:ln cap="flat" cmpd="sng" w="8650">
              <a:solidFill>
                <a:srgbClr val="A6AAA9"/>
              </a:solidFill>
              <a:prstDash val="solid"/>
              <a:miter lim="400000"/>
              <a:headEnd len="sm" w="sm" type="none"/>
              <a:tailEnd len="sm" w="sm" type="none"/>
            </a:ln>
          </p:spPr>
        </p:cxnSp>
      </p:grpSp>
      <p:sp>
        <p:nvSpPr>
          <p:cNvPr id="438" name="Google Shape;438;p22"/>
          <p:cNvSpPr/>
          <p:nvPr/>
        </p:nvSpPr>
        <p:spPr>
          <a:xfrm>
            <a:off x="225702" y="114102"/>
            <a:ext cx="4659900" cy="47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4C65"/>
                </a:solidFill>
              </a:rPr>
              <a:t>DESIGN CONSIDERATIONS</a:t>
            </a:r>
            <a:endParaRPr b="1" i="0" sz="2000" u="none" cap="none" strike="noStrike">
              <a:solidFill>
                <a:srgbClr val="004C65"/>
              </a:solidFill>
            </a:endParaRPr>
          </a:p>
        </p:txBody>
      </p:sp>
      <p:pic>
        <p:nvPicPr>
          <p:cNvPr id="439" name="Google Shape;439;p22"/>
          <p:cNvPicPr preferRelativeResize="0"/>
          <p:nvPr/>
        </p:nvPicPr>
        <p:blipFill rotWithShape="1">
          <a:blip r:embed="rId3">
            <a:alphaModFix amt="60000"/>
          </a:blip>
          <a:srcRect b="11584" l="0" r="10897" t="13569"/>
          <a:stretch/>
        </p:blipFill>
        <p:spPr>
          <a:xfrm>
            <a:off x="8340487" y="4532812"/>
            <a:ext cx="803513" cy="610688"/>
          </a:xfrm>
          <a:prstGeom prst="rect">
            <a:avLst/>
          </a:prstGeom>
          <a:noFill/>
          <a:ln>
            <a:noFill/>
          </a:ln>
        </p:spPr>
      </p:pic>
      <p:cxnSp>
        <p:nvCxnSpPr>
          <p:cNvPr id="440" name="Google Shape;440;p22"/>
          <p:cNvCxnSpPr/>
          <p:nvPr/>
        </p:nvCxnSpPr>
        <p:spPr>
          <a:xfrm flipH="1">
            <a:off x="5271025" y="3461675"/>
            <a:ext cx="982800" cy="998700"/>
          </a:xfrm>
          <a:prstGeom prst="straightConnector1">
            <a:avLst/>
          </a:prstGeom>
          <a:noFill/>
          <a:ln cap="flat" cmpd="sng" w="8650">
            <a:solidFill>
              <a:srgbClr val="A6AAA9"/>
            </a:solidFill>
            <a:prstDash val="solid"/>
            <a:miter lim="400000"/>
            <a:headEnd len="sm" w="sm" type="none"/>
            <a:tailEnd len="sm" w="sm" type="none"/>
          </a:ln>
        </p:spPr>
      </p:cxnSp>
      <p:sp>
        <p:nvSpPr>
          <p:cNvPr id="441" name="Google Shape;441;p22"/>
          <p:cNvSpPr/>
          <p:nvPr/>
        </p:nvSpPr>
        <p:spPr>
          <a:xfrm>
            <a:off x="3984402" y="4438309"/>
            <a:ext cx="94500" cy="945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2" name="Google Shape;442;p22"/>
          <p:cNvSpPr/>
          <p:nvPr/>
        </p:nvSpPr>
        <p:spPr>
          <a:xfrm>
            <a:off x="7723425" y="220425"/>
            <a:ext cx="922500" cy="844200"/>
          </a:xfrm>
          <a:prstGeom prst="sun">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icrosoft YaHei"/>
              <a:ea typeface="Microsoft YaHei"/>
              <a:cs typeface="Microsoft YaHei"/>
              <a:sym typeface="Microsoft YaHe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pic>
        <p:nvPicPr>
          <p:cNvPr id="448" name="Google Shape;448;p23"/>
          <p:cNvPicPr preferRelativeResize="0"/>
          <p:nvPr/>
        </p:nvPicPr>
        <p:blipFill rotWithShape="1">
          <a:blip r:embed="rId3">
            <a:alphaModFix/>
          </a:blip>
          <a:srcRect b="7787" l="8912" r="11583" t="13073"/>
          <a:stretch/>
        </p:blipFill>
        <p:spPr>
          <a:xfrm rot="900486">
            <a:off x="7280892" y="3372831"/>
            <a:ext cx="591993" cy="623937"/>
          </a:xfrm>
          <a:prstGeom prst="ellipse">
            <a:avLst/>
          </a:prstGeom>
          <a:noFill/>
          <a:ln>
            <a:noFill/>
          </a:ln>
        </p:spPr>
      </p:pic>
      <p:pic>
        <p:nvPicPr>
          <p:cNvPr id="449" name="Google Shape;449;p23"/>
          <p:cNvPicPr preferRelativeResize="0"/>
          <p:nvPr/>
        </p:nvPicPr>
        <p:blipFill rotWithShape="1">
          <a:blip r:embed="rId4">
            <a:alphaModFix/>
          </a:blip>
          <a:srcRect b="-519" l="1543" r="12234" t="24148"/>
          <a:stretch/>
        </p:blipFill>
        <p:spPr>
          <a:xfrm rot="-1260478">
            <a:off x="7635726" y="3413239"/>
            <a:ext cx="543100" cy="543100"/>
          </a:xfrm>
          <a:prstGeom prst="ellipse">
            <a:avLst/>
          </a:prstGeom>
          <a:noFill/>
          <a:ln>
            <a:noFill/>
          </a:ln>
        </p:spPr>
      </p:pic>
      <p:pic>
        <p:nvPicPr>
          <p:cNvPr id="450" name="Google Shape;450;p23"/>
          <p:cNvPicPr preferRelativeResize="0"/>
          <p:nvPr/>
        </p:nvPicPr>
        <p:blipFill rotWithShape="1">
          <a:blip r:embed="rId4">
            <a:alphaModFix/>
          </a:blip>
          <a:srcRect b="10646" l="8199" r="5578" t="12983"/>
          <a:stretch/>
        </p:blipFill>
        <p:spPr>
          <a:xfrm rot="-1260478">
            <a:off x="2273501" y="3756139"/>
            <a:ext cx="543100" cy="543100"/>
          </a:xfrm>
          <a:prstGeom prst="ellipse">
            <a:avLst/>
          </a:prstGeom>
          <a:noFill/>
          <a:ln>
            <a:noFill/>
          </a:ln>
        </p:spPr>
      </p:pic>
      <p:pic>
        <p:nvPicPr>
          <p:cNvPr id="451" name="Google Shape;451;p23"/>
          <p:cNvPicPr preferRelativeResize="0"/>
          <p:nvPr/>
        </p:nvPicPr>
        <p:blipFill rotWithShape="1">
          <a:blip r:embed="rId4">
            <a:alphaModFix/>
          </a:blip>
          <a:srcRect b="10646" l="8199" r="5578" t="12983"/>
          <a:stretch/>
        </p:blipFill>
        <p:spPr>
          <a:xfrm rot="-1260478">
            <a:off x="6454401" y="3318264"/>
            <a:ext cx="543100" cy="543100"/>
          </a:xfrm>
          <a:prstGeom prst="ellipse">
            <a:avLst/>
          </a:prstGeom>
          <a:noFill/>
          <a:ln>
            <a:noFill/>
          </a:ln>
        </p:spPr>
      </p:pic>
      <p:pic>
        <p:nvPicPr>
          <p:cNvPr id="452" name="Google Shape;452;p23"/>
          <p:cNvPicPr preferRelativeResize="0"/>
          <p:nvPr/>
        </p:nvPicPr>
        <p:blipFill rotWithShape="1">
          <a:blip r:embed="rId3">
            <a:alphaModFix/>
          </a:blip>
          <a:srcRect b="7787" l="8912" r="11583" t="13073"/>
          <a:stretch/>
        </p:blipFill>
        <p:spPr>
          <a:xfrm rot="900486">
            <a:off x="4443579" y="3557881"/>
            <a:ext cx="591993" cy="623937"/>
          </a:xfrm>
          <a:prstGeom prst="ellipse">
            <a:avLst/>
          </a:prstGeom>
          <a:noFill/>
          <a:ln>
            <a:noFill/>
          </a:ln>
        </p:spPr>
      </p:pic>
      <p:pic>
        <p:nvPicPr>
          <p:cNvPr id="453" name="Google Shape;453;p23"/>
          <p:cNvPicPr preferRelativeResize="0"/>
          <p:nvPr/>
        </p:nvPicPr>
        <p:blipFill rotWithShape="1">
          <a:blip r:embed="rId3">
            <a:alphaModFix/>
          </a:blip>
          <a:srcRect b="7787" l="8912" r="11583" t="13073"/>
          <a:stretch/>
        </p:blipFill>
        <p:spPr>
          <a:xfrm rot="900486">
            <a:off x="5277442" y="3677631"/>
            <a:ext cx="591993" cy="623937"/>
          </a:xfrm>
          <a:prstGeom prst="ellipse">
            <a:avLst/>
          </a:prstGeom>
          <a:noFill/>
          <a:ln>
            <a:noFill/>
          </a:ln>
        </p:spPr>
      </p:pic>
      <p:pic>
        <p:nvPicPr>
          <p:cNvPr id="454" name="Google Shape;454;p23"/>
          <p:cNvPicPr preferRelativeResize="0"/>
          <p:nvPr/>
        </p:nvPicPr>
        <p:blipFill rotWithShape="1">
          <a:blip r:embed="rId4">
            <a:alphaModFix/>
          </a:blip>
          <a:srcRect b="10646" l="8199" r="5578" t="12983"/>
          <a:stretch/>
        </p:blipFill>
        <p:spPr>
          <a:xfrm rot="-1259700">
            <a:off x="7184009" y="3000037"/>
            <a:ext cx="609568" cy="609568"/>
          </a:xfrm>
          <a:prstGeom prst="ellipse">
            <a:avLst/>
          </a:prstGeom>
          <a:noFill/>
          <a:ln>
            <a:noFill/>
          </a:ln>
        </p:spPr>
      </p:pic>
      <p:grpSp>
        <p:nvGrpSpPr>
          <p:cNvPr id="455" name="Google Shape;455;p23"/>
          <p:cNvGrpSpPr/>
          <p:nvPr/>
        </p:nvGrpSpPr>
        <p:grpSpPr>
          <a:xfrm>
            <a:off x="309207" y="783481"/>
            <a:ext cx="2716322" cy="3546500"/>
            <a:chOff x="641174" y="1927727"/>
            <a:chExt cx="2502600" cy="3041334"/>
          </a:xfrm>
        </p:grpSpPr>
        <p:sp>
          <p:nvSpPr>
            <p:cNvPr id="456" name="Google Shape;456;p23"/>
            <p:cNvSpPr/>
            <p:nvPr/>
          </p:nvSpPr>
          <p:spPr>
            <a:xfrm>
              <a:off x="654122" y="2492936"/>
              <a:ext cx="2487008" cy="2476125"/>
            </a:xfrm>
            <a:prstGeom prst="rect">
              <a:avLst/>
            </a:prstGeom>
            <a:no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en-US">
                  <a:solidFill>
                    <a:srgbClr val="3F3F3F"/>
                  </a:solidFill>
                </a:rPr>
                <a:t>Currently, the pipeline places too much trust in API data. To improve, we can add duplicate detection, schema validation, and anomaly identification to improve pipeline reliability, enhance the stability of forecasting and also make the pipeline more automated.</a:t>
              </a:r>
              <a:endParaRPr>
                <a:solidFill>
                  <a:srgbClr val="3F3F3F"/>
                </a:solidFill>
              </a:endParaRPr>
            </a:p>
            <a:p>
              <a:pPr indent="0" lvl="0" marL="0" rtl="0" algn="l">
                <a:spcBef>
                  <a:spcPts val="0"/>
                </a:spcBef>
                <a:spcAft>
                  <a:spcPts val="0"/>
                </a:spcAft>
                <a:buClr>
                  <a:schemeClr val="dk1"/>
                </a:buClr>
                <a:buSzPts val="1400"/>
                <a:buFont typeface="Arial"/>
                <a:buNone/>
              </a:pPr>
              <a:r>
                <a:t/>
              </a:r>
              <a:endParaRPr>
                <a:solidFill>
                  <a:srgbClr val="3F3F3F"/>
                </a:solidFill>
              </a:endParaRPr>
            </a:p>
            <a:p>
              <a:pPr indent="0" lvl="0" marL="0" rtl="0" algn="l">
                <a:spcBef>
                  <a:spcPts val="0"/>
                </a:spcBef>
                <a:spcAft>
                  <a:spcPts val="0"/>
                </a:spcAft>
                <a:buClr>
                  <a:schemeClr val="dk1"/>
                </a:buClr>
                <a:buSzPts val="1400"/>
                <a:buFont typeface="Arial"/>
                <a:buNone/>
              </a:pPr>
              <a:r>
                <a:t/>
              </a:r>
              <a:endParaRPr>
                <a:solidFill>
                  <a:srgbClr val="3F3F3F"/>
                </a:solidFill>
              </a:endParaRPr>
            </a:p>
            <a:p>
              <a:pPr indent="0" lvl="0" marL="0" rtl="0" algn="l">
                <a:spcBef>
                  <a:spcPts val="0"/>
                </a:spcBef>
                <a:spcAft>
                  <a:spcPts val="0"/>
                </a:spcAft>
                <a:buClr>
                  <a:schemeClr val="dk1"/>
                </a:buClr>
                <a:buSzPts val="1400"/>
                <a:buFont typeface="Arial"/>
                <a:buNone/>
              </a:pPr>
              <a:r>
                <a:t/>
              </a:r>
              <a:endParaRPr>
                <a:solidFill>
                  <a:srgbClr val="3F3F3F"/>
                </a:solidFill>
              </a:endParaRPr>
            </a:p>
          </p:txBody>
        </p:sp>
        <p:sp>
          <p:nvSpPr>
            <p:cNvPr id="457" name="Google Shape;457;p23"/>
            <p:cNvSpPr/>
            <p:nvPr/>
          </p:nvSpPr>
          <p:spPr>
            <a:xfrm>
              <a:off x="641174" y="1927727"/>
              <a:ext cx="2502600" cy="438300"/>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200"/>
                <a:buFont typeface="Arial"/>
                <a:buNone/>
              </a:pPr>
              <a:r>
                <a:rPr b="1" lang="en-US" sz="1200">
                  <a:solidFill>
                    <a:schemeClr val="lt1"/>
                  </a:solidFill>
                </a:rPr>
                <a:t>Enhance Data Quality Checks</a:t>
              </a:r>
              <a:endParaRPr b="0" i="0" sz="1800" u="none" cap="none" strike="noStrike">
                <a:solidFill>
                  <a:schemeClr val="lt1"/>
                </a:solidFill>
                <a:latin typeface="Arial"/>
                <a:ea typeface="Arial"/>
                <a:cs typeface="Arial"/>
                <a:sym typeface="Arial"/>
              </a:endParaRPr>
            </a:p>
          </p:txBody>
        </p:sp>
      </p:grpSp>
      <p:sp>
        <p:nvSpPr>
          <p:cNvPr id="458" name="Google Shape;458;p23"/>
          <p:cNvSpPr/>
          <p:nvPr/>
        </p:nvSpPr>
        <p:spPr>
          <a:xfrm>
            <a:off x="3195662" y="1425250"/>
            <a:ext cx="2801700" cy="2913900"/>
          </a:xfrm>
          <a:prstGeom prst="rect">
            <a:avLst/>
          </a:prstGeom>
          <a:no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en-US">
                <a:solidFill>
                  <a:srgbClr val="3F3F3F"/>
                </a:solidFill>
              </a:rPr>
              <a:t>The current process is manual ingestion. We can use Airflow or Prefect to schedule 30-minute ingestions and daily aggregations, enabling near real-time updates.</a:t>
            </a:r>
            <a:endParaRPr>
              <a:solidFill>
                <a:srgbClr val="3F3F3F"/>
              </a:solidFill>
            </a:endParaRPr>
          </a:p>
          <a:p>
            <a:pPr indent="0" lvl="0" marL="0" rtl="0" algn="l">
              <a:spcBef>
                <a:spcPts val="0"/>
              </a:spcBef>
              <a:spcAft>
                <a:spcPts val="0"/>
              </a:spcAft>
              <a:buClr>
                <a:schemeClr val="dk1"/>
              </a:buClr>
              <a:buSzPts val="1400"/>
              <a:buFont typeface="Arial"/>
              <a:buNone/>
            </a:pPr>
            <a:r>
              <a:t/>
            </a:r>
            <a:endParaRPr>
              <a:solidFill>
                <a:srgbClr val="3F3F3F"/>
              </a:solidFill>
            </a:endParaRPr>
          </a:p>
          <a:p>
            <a:pPr indent="0" lvl="0" marL="0" rtl="0" algn="l">
              <a:spcBef>
                <a:spcPts val="0"/>
              </a:spcBef>
              <a:spcAft>
                <a:spcPts val="0"/>
              </a:spcAft>
              <a:buClr>
                <a:schemeClr val="dk1"/>
              </a:buClr>
              <a:buSzPts val="1400"/>
              <a:buFont typeface="Arial"/>
              <a:buNone/>
            </a:pPr>
            <a:r>
              <a:t/>
            </a:r>
            <a:endParaRPr>
              <a:solidFill>
                <a:srgbClr val="3F3F3F"/>
              </a:solidFill>
            </a:endParaRPr>
          </a:p>
          <a:p>
            <a:pPr indent="0" lvl="0" marL="0" rtl="0" algn="l">
              <a:spcBef>
                <a:spcPts val="0"/>
              </a:spcBef>
              <a:spcAft>
                <a:spcPts val="0"/>
              </a:spcAft>
              <a:buClr>
                <a:schemeClr val="dk1"/>
              </a:buClr>
              <a:buSzPts val="1400"/>
              <a:buFont typeface="Arial"/>
              <a:buNone/>
            </a:pPr>
            <a:r>
              <a:t/>
            </a:r>
            <a:endParaRPr>
              <a:solidFill>
                <a:srgbClr val="3F3F3F"/>
              </a:solidFill>
            </a:endParaRPr>
          </a:p>
          <a:p>
            <a:pPr indent="0" lvl="0" marL="0" rtl="0" algn="l">
              <a:spcBef>
                <a:spcPts val="0"/>
              </a:spcBef>
              <a:spcAft>
                <a:spcPts val="0"/>
              </a:spcAft>
              <a:buClr>
                <a:schemeClr val="dk1"/>
              </a:buClr>
              <a:buSzPts val="1400"/>
              <a:buFont typeface="Arial"/>
              <a:buNone/>
            </a:pPr>
            <a:r>
              <a:t/>
            </a:r>
            <a:endParaRPr>
              <a:solidFill>
                <a:srgbClr val="3F3F3F"/>
              </a:solidFill>
            </a:endParaRPr>
          </a:p>
          <a:p>
            <a:pPr indent="0" lvl="0" marL="0" rtl="0" algn="l">
              <a:spcBef>
                <a:spcPts val="0"/>
              </a:spcBef>
              <a:spcAft>
                <a:spcPts val="0"/>
              </a:spcAft>
              <a:buClr>
                <a:schemeClr val="dk1"/>
              </a:buClr>
              <a:buSzPts val="1400"/>
              <a:buFont typeface="Arial"/>
              <a:buNone/>
            </a:pPr>
            <a:r>
              <a:t/>
            </a:r>
            <a:endParaRPr>
              <a:solidFill>
                <a:srgbClr val="3F3F3F"/>
              </a:solidFill>
            </a:endParaRPr>
          </a:p>
          <a:p>
            <a:pPr indent="0" lvl="0" marL="0" rtl="0" algn="l">
              <a:spcBef>
                <a:spcPts val="0"/>
              </a:spcBef>
              <a:spcAft>
                <a:spcPts val="0"/>
              </a:spcAft>
              <a:buClr>
                <a:schemeClr val="dk1"/>
              </a:buClr>
              <a:buSzPts val="1400"/>
              <a:buFont typeface="Arial"/>
              <a:buNone/>
            </a:pPr>
            <a:r>
              <a:t/>
            </a:r>
            <a:endParaRPr>
              <a:solidFill>
                <a:srgbClr val="3F3F3F"/>
              </a:solidFill>
            </a:endParaRPr>
          </a:p>
        </p:txBody>
      </p:sp>
      <p:sp>
        <p:nvSpPr>
          <p:cNvPr id="459" name="Google Shape;459;p23"/>
          <p:cNvSpPr/>
          <p:nvPr/>
        </p:nvSpPr>
        <p:spPr>
          <a:xfrm>
            <a:off x="3217882" y="783458"/>
            <a:ext cx="2801700" cy="511200"/>
          </a:xfrm>
          <a:prstGeom prst="rect">
            <a:avLst/>
          </a:prstGeom>
          <a:solidFill>
            <a:schemeClr val="accent3"/>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200"/>
              <a:buFont typeface="Arial"/>
              <a:buNone/>
            </a:pPr>
            <a:r>
              <a:rPr b="1" lang="en-US" sz="1200">
                <a:solidFill>
                  <a:schemeClr val="lt1"/>
                </a:solidFill>
              </a:rPr>
              <a:t>Automate the Pipeline instead of manually executing Python scripts: </a:t>
            </a:r>
            <a:endParaRPr sz="1800">
              <a:solidFill>
                <a:schemeClr val="lt1"/>
              </a:solidFill>
            </a:endParaRPr>
          </a:p>
        </p:txBody>
      </p:sp>
      <p:sp>
        <p:nvSpPr>
          <p:cNvPr id="460" name="Google Shape;460;p23"/>
          <p:cNvSpPr/>
          <p:nvPr/>
        </p:nvSpPr>
        <p:spPr>
          <a:xfrm>
            <a:off x="6170500" y="1434400"/>
            <a:ext cx="2571900" cy="2895600"/>
          </a:xfrm>
          <a:prstGeom prst="rect">
            <a:avLst/>
          </a:prstGeom>
          <a:no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3F3F3F"/>
              </a:buClr>
              <a:buSzPts val="1400"/>
              <a:buFont typeface="Arial"/>
              <a:buNone/>
            </a:pPr>
            <a:r>
              <a:rPr lang="en-US">
                <a:solidFill>
                  <a:srgbClr val="3F3F3F"/>
                </a:solidFill>
              </a:rPr>
              <a:t>Further improve query performance for fact_ohlcv and fact_ohlcv_daily.</a:t>
            </a:r>
            <a:endParaRPr>
              <a:solidFill>
                <a:srgbClr val="3F3F3F"/>
              </a:solidFill>
            </a:endParaRPr>
          </a:p>
          <a:p>
            <a:pPr indent="0" lvl="0" marL="0" rtl="0" algn="l">
              <a:spcBef>
                <a:spcPts val="0"/>
              </a:spcBef>
              <a:spcAft>
                <a:spcPts val="0"/>
              </a:spcAft>
              <a:buClr>
                <a:srgbClr val="3F3F3F"/>
              </a:buClr>
              <a:buSzPts val="1400"/>
              <a:buFont typeface="Arial"/>
              <a:buNone/>
            </a:pPr>
            <a:r>
              <a:t/>
            </a:r>
            <a:endParaRPr>
              <a:solidFill>
                <a:srgbClr val="3F3F3F"/>
              </a:solidFill>
            </a:endParaRPr>
          </a:p>
          <a:p>
            <a:pPr indent="0" lvl="0" marL="0" rtl="0" algn="l">
              <a:spcBef>
                <a:spcPts val="0"/>
              </a:spcBef>
              <a:spcAft>
                <a:spcPts val="0"/>
              </a:spcAft>
              <a:buClr>
                <a:srgbClr val="3F3F3F"/>
              </a:buClr>
              <a:buSzPts val="1400"/>
              <a:buFont typeface="Arial"/>
              <a:buNone/>
            </a:pPr>
            <a:r>
              <a:t/>
            </a:r>
            <a:endParaRPr>
              <a:solidFill>
                <a:srgbClr val="3F3F3F"/>
              </a:solidFill>
            </a:endParaRPr>
          </a:p>
          <a:p>
            <a:pPr indent="0" lvl="0" marL="0" rtl="0" algn="l">
              <a:spcBef>
                <a:spcPts val="0"/>
              </a:spcBef>
              <a:spcAft>
                <a:spcPts val="0"/>
              </a:spcAft>
              <a:buClr>
                <a:srgbClr val="3F3F3F"/>
              </a:buClr>
              <a:buSzPts val="1400"/>
              <a:buFont typeface="Arial"/>
              <a:buNone/>
            </a:pPr>
            <a:r>
              <a:t/>
            </a:r>
            <a:endParaRPr>
              <a:solidFill>
                <a:srgbClr val="3F3F3F"/>
              </a:solidFill>
            </a:endParaRPr>
          </a:p>
          <a:p>
            <a:pPr indent="0" lvl="0" marL="0" rtl="0" algn="l">
              <a:spcBef>
                <a:spcPts val="0"/>
              </a:spcBef>
              <a:spcAft>
                <a:spcPts val="0"/>
              </a:spcAft>
              <a:buClr>
                <a:srgbClr val="3F3F3F"/>
              </a:buClr>
              <a:buSzPts val="1400"/>
              <a:buFont typeface="Arial"/>
              <a:buNone/>
            </a:pPr>
            <a:r>
              <a:t/>
            </a:r>
            <a:endParaRPr>
              <a:solidFill>
                <a:srgbClr val="3F3F3F"/>
              </a:solidFill>
            </a:endParaRPr>
          </a:p>
          <a:p>
            <a:pPr indent="0" lvl="0" marL="0" rtl="0" algn="l">
              <a:spcBef>
                <a:spcPts val="0"/>
              </a:spcBef>
              <a:spcAft>
                <a:spcPts val="0"/>
              </a:spcAft>
              <a:buClr>
                <a:srgbClr val="3F3F3F"/>
              </a:buClr>
              <a:buSzPts val="1400"/>
              <a:buFont typeface="Arial"/>
              <a:buNone/>
            </a:pPr>
            <a:r>
              <a:t/>
            </a:r>
            <a:endParaRPr>
              <a:solidFill>
                <a:srgbClr val="3F3F3F"/>
              </a:solidFill>
            </a:endParaRPr>
          </a:p>
          <a:p>
            <a:pPr indent="0" lvl="0" marL="0" rtl="0" algn="l">
              <a:spcBef>
                <a:spcPts val="0"/>
              </a:spcBef>
              <a:spcAft>
                <a:spcPts val="0"/>
              </a:spcAft>
              <a:buClr>
                <a:srgbClr val="3F3F3F"/>
              </a:buClr>
              <a:buSzPts val="1400"/>
              <a:buFont typeface="Arial"/>
              <a:buNone/>
            </a:pPr>
            <a:r>
              <a:t/>
            </a:r>
            <a:endParaRPr>
              <a:solidFill>
                <a:srgbClr val="3F3F3F"/>
              </a:solidFill>
            </a:endParaRPr>
          </a:p>
          <a:p>
            <a:pPr indent="0" lvl="0" marL="0" rtl="0" algn="l">
              <a:spcBef>
                <a:spcPts val="0"/>
              </a:spcBef>
              <a:spcAft>
                <a:spcPts val="0"/>
              </a:spcAft>
              <a:buClr>
                <a:srgbClr val="3F3F3F"/>
              </a:buClr>
              <a:buSzPts val="1400"/>
              <a:buFont typeface="Arial"/>
              <a:buNone/>
            </a:pPr>
            <a:r>
              <a:t/>
            </a:r>
            <a:endParaRPr>
              <a:solidFill>
                <a:srgbClr val="3F3F3F"/>
              </a:solidFill>
            </a:endParaRPr>
          </a:p>
          <a:p>
            <a:pPr indent="0" lvl="0" marL="0" rtl="0" algn="l">
              <a:spcBef>
                <a:spcPts val="0"/>
              </a:spcBef>
              <a:spcAft>
                <a:spcPts val="0"/>
              </a:spcAft>
              <a:buClr>
                <a:srgbClr val="3F3F3F"/>
              </a:buClr>
              <a:buSzPts val="1400"/>
              <a:buFont typeface="Arial"/>
              <a:buNone/>
            </a:pPr>
            <a:r>
              <a:t/>
            </a:r>
            <a:endParaRPr>
              <a:solidFill>
                <a:srgbClr val="3F3F3F"/>
              </a:solidFill>
            </a:endParaRPr>
          </a:p>
          <a:p>
            <a:pPr indent="0" lvl="0" marL="0" rtl="0" algn="l">
              <a:spcBef>
                <a:spcPts val="0"/>
              </a:spcBef>
              <a:spcAft>
                <a:spcPts val="0"/>
              </a:spcAft>
              <a:buClr>
                <a:srgbClr val="3F3F3F"/>
              </a:buClr>
              <a:buSzPts val="1400"/>
              <a:buFont typeface="Arial"/>
              <a:buNone/>
            </a:pPr>
            <a:r>
              <a:t/>
            </a:r>
            <a:endParaRPr>
              <a:solidFill>
                <a:srgbClr val="3F3F3F"/>
              </a:solidFill>
            </a:endParaRPr>
          </a:p>
        </p:txBody>
      </p:sp>
      <p:sp>
        <p:nvSpPr>
          <p:cNvPr id="461" name="Google Shape;461;p23"/>
          <p:cNvSpPr/>
          <p:nvPr/>
        </p:nvSpPr>
        <p:spPr>
          <a:xfrm>
            <a:off x="6212019" y="781938"/>
            <a:ext cx="2530200" cy="514200"/>
          </a:xfrm>
          <a:prstGeom prst="rect">
            <a:avLst/>
          </a:prstGeom>
          <a:solidFill>
            <a:schemeClr val="accent4"/>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Optimize Schema and Indexing:</a:t>
            </a:r>
            <a:endParaRPr b="1" i="0" sz="1200" u="none" cap="none" strike="noStrike">
              <a:solidFill>
                <a:schemeClr val="lt1"/>
              </a:solidFill>
              <a:latin typeface="Arial"/>
              <a:ea typeface="Arial"/>
              <a:cs typeface="Arial"/>
              <a:sym typeface="Arial"/>
            </a:endParaRPr>
          </a:p>
        </p:txBody>
      </p:sp>
      <p:sp>
        <p:nvSpPr>
          <p:cNvPr id="462" name="Google Shape;462;p23"/>
          <p:cNvSpPr txBox="1"/>
          <p:nvPr/>
        </p:nvSpPr>
        <p:spPr>
          <a:xfrm>
            <a:off x="218130" y="117969"/>
            <a:ext cx="4572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4C65"/>
                </a:solidFill>
              </a:rPr>
              <a:t>CORRECTIVE MEASURES</a:t>
            </a:r>
            <a:endParaRPr b="1" i="0" sz="2000" u="none" cap="none" strike="noStrike">
              <a:solidFill>
                <a:srgbClr val="004C65"/>
              </a:solidFill>
            </a:endParaRPr>
          </a:p>
        </p:txBody>
      </p:sp>
      <p:pic>
        <p:nvPicPr>
          <p:cNvPr id="463" name="Google Shape;463;p23"/>
          <p:cNvPicPr preferRelativeResize="0"/>
          <p:nvPr/>
        </p:nvPicPr>
        <p:blipFill rotWithShape="1">
          <a:blip r:embed="rId5">
            <a:alphaModFix amt="60000"/>
          </a:blip>
          <a:srcRect b="11584" l="0" r="10897" t="13569"/>
          <a:stretch/>
        </p:blipFill>
        <p:spPr>
          <a:xfrm>
            <a:off x="8340487" y="4532812"/>
            <a:ext cx="803513" cy="610688"/>
          </a:xfrm>
          <a:prstGeom prst="rect">
            <a:avLst/>
          </a:prstGeom>
          <a:noFill/>
          <a:ln>
            <a:noFill/>
          </a:ln>
        </p:spPr>
      </p:pic>
      <p:sp>
        <p:nvSpPr>
          <p:cNvPr id="464" name="Google Shape;464;p23"/>
          <p:cNvSpPr/>
          <p:nvPr/>
        </p:nvSpPr>
        <p:spPr>
          <a:xfrm>
            <a:off x="323230" y="4155926"/>
            <a:ext cx="2699283" cy="174042"/>
          </a:xfrm>
          <a:prstGeom prst="rect">
            <a:avLst/>
          </a:prstGeom>
          <a:solidFill>
            <a:schemeClr val="accent1"/>
          </a:solidFill>
          <a:ln cap="flat" cmpd="sng" w="25400">
            <a:solidFill>
              <a:srgbClr val="0040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65" name="Google Shape;465;p23"/>
          <p:cNvSpPr/>
          <p:nvPr/>
        </p:nvSpPr>
        <p:spPr>
          <a:xfrm>
            <a:off x="3197187" y="4144839"/>
            <a:ext cx="2801700" cy="196200"/>
          </a:xfrm>
          <a:prstGeom prst="rect">
            <a:avLst/>
          </a:prstGeom>
          <a:solidFill>
            <a:schemeClr val="accent1"/>
          </a:solidFill>
          <a:ln cap="flat" cmpd="sng" w="25400">
            <a:solidFill>
              <a:srgbClr val="0040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66" name="Google Shape;466;p23"/>
          <p:cNvSpPr/>
          <p:nvPr/>
        </p:nvSpPr>
        <p:spPr>
          <a:xfrm>
            <a:off x="3197195" y="3935131"/>
            <a:ext cx="2801700" cy="185100"/>
          </a:xfrm>
          <a:prstGeom prst="rect">
            <a:avLst/>
          </a:prstGeom>
          <a:solidFill>
            <a:schemeClr val="accent1"/>
          </a:solidFill>
          <a:ln cap="flat" cmpd="sng" w="25400">
            <a:solidFill>
              <a:srgbClr val="0040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67" name="Google Shape;467;p23"/>
          <p:cNvSpPr/>
          <p:nvPr/>
        </p:nvSpPr>
        <p:spPr>
          <a:xfrm>
            <a:off x="6167575" y="4138625"/>
            <a:ext cx="2571900" cy="185100"/>
          </a:xfrm>
          <a:prstGeom prst="rect">
            <a:avLst/>
          </a:prstGeom>
          <a:solidFill>
            <a:schemeClr val="accent1"/>
          </a:solidFill>
          <a:ln cap="flat" cmpd="sng" w="25400">
            <a:solidFill>
              <a:srgbClr val="0040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68" name="Google Shape;468;p23"/>
          <p:cNvSpPr/>
          <p:nvPr/>
        </p:nvSpPr>
        <p:spPr>
          <a:xfrm>
            <a:off x="6167575" y="3929575"/>
            <a:ext cx="2571900" cy="196200"/>
          </a:xfrm>
          <a:prstGeom prst="rect">
            <a:avLst/>
          </a:prstGeom>
          <a:solidFill>
            <a:schemeClr val="accent1"/>
          </a:solidFill>
          <a:ln cap="flat" cmpd="sng" w="25400">
            <a:solidFill>
              <a:srgbClr val="0040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69" name="Google Shape;469;p23"/>
          <p:cNvSpPr/>
          <p:nvPr/>
        </p:nvSpPr>
        <p:spPr>
          <a:xfrm>
            <a:off x="6167575" y="3755552"/>
            <a:ext cx="2571900" cy="174000"/>
          </a:xfrm>
          <a:prstGeom prst="rect">
            <a:avLst/>
          </a:prstGeom>
          <a:solidFill>
            <a:schemeClr val="accent1"/>
          </a:solidFill>
          <a:ln cap="flat" cmpd="sng" w="25400">
            <a:solidFill>
              <a:srgbClr val="0040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470" name="Google Shape;470;p23"/>
          <p:cNvPicPr preferRelativeResize="0"/>
          <p:nvPr/>
        </p:nvPicPr>
        <p:blipFill rotWithShape="1">
          <a:blip r:embed="rId3">
            <a:alphaModFix/>
          </a:blip>
          <a:srcRect b="7787" l="8912" r="11583" t="13073"/>
          <a:stretch/>
        </p:blipFill>
        <p:spPr>
          <a:xfrm rot="900486">
            <a:off x="4972642" y="3372831"/>
            <a:ext cx="591993" cy="623937"/>
          </a:xfrm>
          <a:prstGeom prst="ellipse">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24"/>
          <p:cNvSpPr/>
          <p:nvPr/>
        </p:nvSpPr>
        <p:spPr>
          <a:xfrm>
            <a:off x="228575" y="1490800"/>
            <a:ext cx="2855400" cy="2015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250"/>
              <a:buFont typeface="Arial"/>
              <a:buNone/>
            </a:pPr>
            <a:r>
              <a:rPr b="1" lang="en-US" u="sng">
                <a:solidFill>
                  <a:schemeClr val="accent1"/>
                </a:solidFill>
              </a:rPr>
              <a:t>Enhance Database Design &amp; Data Governance: </a:t>
            </a:r>
            <a:endParaRPr>
              <a:solidFill>
                <a:srgbClr val="3F3F3F"/>
              </a:solidFill>
            </a:endParaRPr>
          </a:p>
          <a:p>
            <a:pPr indent="0" lvl="0" marL="0" rtl="0" algn="l">
              <a:spcBef>
                <a:spcPts val="0"/>
              </a:spcBef>
              <a:spcAft>
                <a:spcPts val="0"/>
              </a:spcAft>
              <a:buClr>
                <a:srgbClr val="3F3F3F"/>
              </a:buClr>
              <a:buSzPts val="1400"/>
              <a:buFont typeface="Arial"/>
              <a:buNone/>
            </a:pPr>
            <a:r>
              <a:rPr lang="en-US">
                <a:solidFill>
                  <a:srgbClr val="3F3F3F"/>
                </a:solidFill>
              </a:rPr>
              <a:t>Improve indexing, time-based partitioning, and automated data validation to ensure high performance, strong data integrity, and production-level reliability.</a:t>
            </a:r>
            <a:endParaRPr>
              <a:latin typeface="Microsoft YaHei"/>
              <a:ea typeface="Microsoft YaHei"/>
              <a:cs typeface="Microsoft YaHei"/>
              <a:sym typeface="Microsoft YaHei"/>
            </a:endParaRPr>
          </a:p>
        </p:txBody>
      </p:sp>
      <p:sp>
        <p:nvSpPr>
          <p:cNvPr id="477" name="Google Shape;477;p24"/>
          <p:cNvSpPr/>
          <p:nvPr/>
        </p:nvSpPr>
        <p:spPr>
          <a:xfrm>
            <a:off x="3290275" y="628026"/>
            <a:ext cx="2885700" cy="1457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rPr b="1" lang="en-US" u="sng">
                <a:solidFill>
                  <a:schemeClr val="accent3"/>
                </a:solidFill>
              </a:rPr>
              <a:t>Cloud Architecture Expansion: </a:t>
            </a:r>
            <a:r>
              <a:rPr lang="en-US">
                <a:solidFill>
                  <a:srgbClr val="3F3F3F"/>
                </a:solidFill>
              </a:rPr>
              <a:t>Move storage to S3/GCS and adopt Snowflake/BigQuery for scalable analytics.</a:t>
            </a:r>
            <a:endParaRPr>
              <a:solidFill>
                <a:srgbClr val="3F3F3F"/>
              </a:solidFill>
            </a:endParaRPr>
          </a:p>
          <a:p>
            <a:pPr indent="0" lvl="0" marL="0" rtl="0" algn="l">
              <a:spcBef>
                <a:spcPts val="0"/>
              </a:spcBef>
              <a:spcAft>
                <a:spcPts val="0"/>
              </a:spcAft>
              <a:buClr>
                <a:schemeClr val="dk1"/>
              </a:buClr>
              <a:buSzPts val="1400"/>
              <a:buFont typeface="Arial"/>
              <a:buNone/>
            </a:pPr>
            <a:r>
              <a:t/>
            </a:r>
            <a:endParaRPr>
              <a:solidFill>
                <a:srgbClr val="3F3F3F"/>
              </a:solidFill>
            </a:endParaRPr>
          </a:p>
        </p:txBody>
      </p:sp>
      <p:sp>
        <p:nvSpPr>
          <p:cNvPr id="478" name="Google Shape;478;p24"/>
          <p:cNvSpPr/>
          <p:nvPr/>
        </p:nvSpPr>
        <p:spPr>
          <a:xfrm>
            <a:off x="6133550" y="2335925"/>
            <a:ext cx="2727000" cy="2134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430" u="sng">
                <a:solidFill>
                  <a:schemeClr val="accent2"/>
                </a:solidFill>
              </a:rPr>
              <a:t>Add More Market Indicators:</a:t>
            </a:r>
            <a:endParaRPr b="1" sz="1430" u="sng">
              <a:solidFill>
                <a:schemeClr val="accent2"/>
              </a:solidFill>
            </a:endParaRPr>
          </a:p>
          <a:p>
            <a:pPr indent="0" lvl="0" marL="0" rtl="0" algn="l">
              <a:spcBef>
                <a:spcPts val="0"/>
              </a:spcBef>
              <a:spcAft>
                <a:spcPts val="0"/>
              </a:spcAft>
              <a:buClr>
                <a:schemeClr val="dk1"/>
              </a:buClr>
              <a:buSzPts val="1400"/>
              <a:buFont typeface="Arial"/>
              <a:buNone/>
            </a:pPr>
            <a:r>
              <a:rPr lang="en-US">
                <a:solidFill>
                  <a:srgbClr val="3F3F3F"/>
                </a:solidFill>
              </a:rPr>
              <a:t>Incorporate order-book depth, funding rates, liquidation data and sentiment signals to enhance data integrity and also makes the dashboard closer to real transaction scenarios.</a:t>
            </a:r>
            <a:endParaRPr>
              <a:solidFill>
                <a:srgbClr val="3F3F3F"/>
              </a:solidFill>
            </a:endParaRPr>
          </a:p>
          <a:p>
            <a:pPr indent="0" lvl="0" marL="0" rtl="0" algn="l">
              <a:spcBef>
                <a:spcPts val="0"/>
              </a:spcBef>
              <a:spcAft>
                <a:spcPts val="0"/>
              </a:spcAft>
              <a:buClr>
                <a:schemeClr val="dk1"/>
              </a:buClr>
              <a:buSzPts val="1400"/>
              <a:buFont typeface="Arial"/>
              <a:buNone/>
            </a:pPr>
            <a:r>
              <a:t/>
            </a:r>
            <a:endParaRPr>
              <a:solidFill>
                <a:srgbClr val="3F3F3F"/>
              </a:solidFill>
            </a:endParaRPr>
          </a:p>
        </p:txBody>
      </p:sp>
      <p:cxnSp>
        <p:nvCxnSpPr>
          <p:cNvPr id="479" name="Google Shape;479;p24"/>
          <p:cNvCxnSpPr/>
          <p:nvPr/>
        </p:nvCxnSpPr>
        <p:spPr>
          <a:xfrm flipH="1">
            <a:off x="502444" y="1761660"/>
            <a:ext cx="6152059" cy="2846059"/>
          </a:xfrm>
          <a:prstGeom prst="straightConnector1">
            <a:avLst/>
          </a:prstGeom>
          <a:noFill/>
          <a:ln cap="rnd" cmpd="sng" w="76200">
            <a:solidFill>
              <a:srgbClr val="D8D8D8"/>
            </a:solidFill>
            <a:prstDash val="solid"/>
            <a:round/>
            <a:headEnd len="sm" w="sm" type="none"/>
            <a:tailEnd len="sm" w="sm" type="none"/>
          </a:ln>
        </p:spPr>
      </p:cxnSp>
      <p:grpSp>
        <p:nvGrpSpPr>
          <p:cNvPr id="480" name="Google Shape;480;p24"/>
          <p:cNvGrpSpPr/>
          <p:nvPr/>
        </p:nvGrpSpPr>
        <p:grpSpPr>
          <a:xfrm>
            <a:off x="6516216" y="1221600"/>
            <a:ext cx="864096" cy="864096"/>
            <a:chOff x="3025614" y="1870779"/>
            <a:chExt cx="808632" cy="808632"/>
          </a:xfrm>
        </p:grpSpPr>
        <p:sp>
          <p:nvSpPr>
            <p:cNvPr id="481" name="Google Shape;481;p24"/>
            <p:cNvSpPr/>
            <p:nvPr/>
          </p:nvSpPr>
          <p:spPr>
            <a:xfrm>
              <a:off x="3025614" y="1870779"/>
              <a:ext cx="808632" cy="808632"/>
            </a:xfrm>
            <a:custGeom>
              <a:rect b="b" l="l" r="r" t="t"/>
              <a:pathLst>
                <a:path extrusionOk="0" h="19679" w="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lt1"/>
            </a:solidFill>
            <a:ln cap="flat" cmpd="sng" w="63500">
              <a:solidFill>
                <a:schemeClr val="accent1"/>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2" name="Google Shape;482;p24"/>
            <p:cNvSpPr/>
            <p:nvPr/>
          </p:nvSpPr>
          <p:spPr>
            <a:xfrm>
              <a:off x="3163933" y="2009098"/>
              <a:ext cx="531993" cy="531994"/>
            </a:xfrm>
            <a:custGeom>
              <a:rect b="b" l="l" r="r" t="t"/>
              <a:pathLst>
                <a:path extrusionOk="0" h="19679" w="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3" name="Google Shape;483;p24"/>
            <p:cNvSpPr/>
            <p:nvPr/>
          </p:nvSpPr>
          <p:spPr>
            <a:xfrm>
              <a:off x="3282109" y="2117458"/>
              <a:ext cx="305623" cy="305161"/>
            </a:xfrm>
            <a:custGeom>
              <a:rect b="b" l="l" r="r" t="t"/>
              <a:pathLst>
                <a:path extrusionOk="0" h="606722" w="607639">
                  <a:moveTo>
                    <a:pt x="303775" y="525007"/>
                  </a:moveTo>
                  <a:cubicBezTo>
                    <a:pt x="310366" y="525007"/>
                    <a:pt x="315710" y="530333"/>
                    <a:pt x="315710" y="536902"/>
                  </a:cubicBezTo>
                  <a:lnTo>
                    <a:pt x="315710" y="552347"/>
                  </a:lnTo>
                  <a:cubicBezTo>
                    <a:pt x="315710" y="558915"/>
                    <a:pt x="310366" y="564241"/>
                    <a:pt x="303775" y="564241"/>
                  </a:cubicBezTo>
                  <a:cubicBezTo>
                    <a:pt x="297184" y="564241"/>
                    <a:pt x="291929" y="558915"/>
                    <a:pt x="291929" y="552347"/>
                  </a:cubicBezTo>
                  <a:lnTo>
                    <a:pt x="291929" y="536902"/>
                  </a:lnTo>
                  <a:cubicBezTo>
                    <a:pt x="291929" y="530333"/>
                    <a:pt x="297184" y="525007"/>
                    <a:pt x="303775" y="525007"/>
                  </a:cubicBezTo>
                  <a:close/>
                  <a:moveTo>
                    <a:pt x="429885" y="509483"/>
                  </a:moveTo>
                  <a:cubicBezTo>
                    <a:pt x="436472" y="509483"/>
                    <a:pt x="441811" y="514822"/>
                    <a:pt x="441811" y="521409"/>
                  </a:cubicBezTo>
                  <a:cubicBezTo>
                    <a:pt x="441811" y="527996"/>
                    <a:pt x="436472" y="533335"/>
                    <a:pt x="429885" y="533335"/>
                  </a:cubicBezTo>
                  <a:cubicBezTo>
                    <a:pt x="423298" y="533335"/>
                    <a:pt x="417959" y="527996"/>
                    <a:pt x="417959" y="521409"/>
                  </a:cubicBezTo>
                  <a:cubicBezTo>
                    <a:pt x="417959" y="514822"/>
                    <a:pt x="423298" y="509483"/>
                    <a:pt x="429885" y="509483"/>
                  </a:cubicBezTo>
                  <a:close/>
                  <a:moveTo>
                    <a:pt x="177720" y="509483"/>
                  </a:moveTo>
                  <a:cubicBezTo>
                    <a:pt x="184287" y="509483"/>
                    <a:pt x="189611" y="514822"/>
                    <a:pt x="189611" y="521409"/>
                  </a:cubicBezTo>
                  <a:cubicBezTo>
                    <a:pt x="189611" y="527996"/>
                    <a:pt x="184287" y="533335"/>
                    <a:pt x="177720" y="533335"/>
                  </a:cubicBezTo>
                  <a:cubicBezTo>
                    <a:pt x="171153" y="533335"/>
                    <a:pt x="165829" y="527996"/>
                    <a:pt x="165829" y="521409"/>
                  </a:cubicBezTo>
                  <a:cubicBezTo>
                    <a:pt x="165829" y="514822"/>
                    <a:pt x="171153" y="509483"/>
                    <a:pt x="177720" y="509483"/>
                  </a:cubicBezTo>
                  <a:close/>
                  <a:moveTo>
                    <a:pt x="522185" y="417324"/>
                  </a:moveTo>
                  <a:cubicBezTo>
                    <a:pt x="528772" y="417324"/>
                    <a:pt x="534111" y="422663"/>
                    <a:pt x="534111" y="429250"/>
                  </a:cubicBezTo>
                  <a:cubicBezTo>
                    <a:pt x="534111" y="435837"/>
                    <a:pt x="528772" y="441176"/>
                    <a:pt x="522185" y="441176"/>
                  </a:cubicBezTo>
                  <a:cubicBezTo>
                    <a:pt x="515598" y="441176"/>
                    <a:pt x="510259" y="435837"/>
                    <a:pt x="510259" y="429250"/>
                  </a:cubicBezTo>
                  <a:cubicBezTo>
                    <a:pt x="510259" y="422663"/>
                    <a:pt x="515598" y="417324"/>
                    <a:pt x="522185" y="417324"/>
                  </a:cubicBezTo>
                  <a:close/>
                  <a:moveTo>
                    <a:pt x="85420" y="417324"/>
                  </a:moveTo>
                  <a:cubicBezTo>
                    <a:pt x="91987" y="417324"/>
                    <a:pt x="97311" y="422663"/>
                    <a:pt x="97311" y="429250"/>
                  </a:cubicBezTo>
                  <a:cubicBezTo>
                    <a:pt x="97311" y="435837"/>
                    <a:pt x="91987" y="441176"/>
                    <a:pt x="85420" y="441176"/>
                  </a:cubicBezTo>
                  <a:cubicBezTo>
                    <a:pt x="78853" y="441176"/>
                    <a:pt x="73529" y="435837"/>
                    <a:pt x="73529" y="429250"/>
                  </a:cubicBezTo>
                  <a:cubicBezTo>
                    <a:pt x="73529" y="422663"/>
                    <a:pt x="78853" y="417324"/>
                    <a:pt x="85420" y="417324"/>
                  </a:cubicBezTo>
                  <a:close/>
                  <a:moveTo>
                    <a:pt x="537643" y="291506"/>
                  </a:moveTo>
                  <a:lnTo>
                    <a:pt x="555628" y="291506"/>
                  </a:lnTo>
                  <a:cubicBezTo>
                    <a:pt x="562216" y="291506"/>
                    <a:pt x="567558" y="296745"/>
                    <a:pt x="567558" y="303316"/>
                  </a:cubicBezTo>
                  <a:cubicBezTo>
                    <a:pt x="567558" y="309888"/>
                    <a:pt x="562216" y="315216"/>
                    <a:pt x="555628" y="315216"/>
                  </a:cubicBezTo>
                  <a:lnTo>
                    <a:pt x="537643" y="315216"/>
                  </a:lnTo>
                  <a:cubicBezTo>
                    <a:pt x="531055" y="315216"/>
                    <a:pt x="525713" y="309888"/>
                    <a:pt x="525713" y="303316"/>
                  </a:cubicBezTo>
                  <a:cubicBezTo>
                    <a:pt x="525713" y="296745"/>
                    <a:pt x="531055" y="291506"/>
                    <a:pt x="537643" y="291506"/>
                  </a:cubicBezTo>
                  <a:close/>
                  <a:moveTo>
                    <a:pt x="51991" y="291506"/>
                  </a:moveTo>
                  <a:lnTo>
                    <a:pt x="69946" y="291506"/>
                  </a:lnTo>
                  <a:cubicBezTo>
                    <a:pt x="76523" y="291506"/>
                    <a:pt x="81856" y="296745"/>
                    <a:pt x="81856" y="303316"/>
                  </a:cubicBezTo>
                  <a:cubicBezTo>
                    <a:pt x="81856" y="309888"/>
                    <a:pt x="76523" y="315216"/>
                    <a:pt x="69946" y="315216"/>
                  </a:cubicBezTo>
                  <a:lnTo>
                    <a:pt x="51991" y="315216"/>
                  </a:lnTo>
                  <a:cubicBezTo>
                    <a:pt x="45414" y="315216"/>
                    <a:pt x="40081" y="309888"/>
                    <a:pt x="40081" y="303316"/>
                  </a:cubicBezTo>
                  <a:cubicBezTo>
                    <a:pt x="40081" y="296745"/>
                    <a:pt x="45414" y="291506"/>
                    <a:pt x="51991" y="291506"/>
                  </a:cubicBezTo>
                  <a:close/>
                  <a:moveTo>
                    <a:pt x="412608" y="222096"/>
                  </a:moveTo>
                  <a:lnTo>
                    <a:pt x="345491" y="334245"/>
                  </a:lnTo>
                  <a:lnTo>
                    <a:pt x="412608" y="334245"/>
                  </a:lnTo>
                  <a:close/>
                  <a:moveTo>
                    <a:pt x="427651" y="167533"/>
                  </a:moveTo>
                  <a:cubicBezTo>
                    <a:pt x="432814" y="168954"/>
                    <a:pt x="436375" y="173664"/>
                    <a:pt x="436375" y="178996"/>
                  </a:cubicBezTo>
                  <a:lnTo>
                    <a:pt x="436375" y="334245"/>
                  </a:lnTo>
                  <a:lnTo>
                    <a:pt x="469399" y="334245"/>
                  </a:lnTo>
                  <a:cubicBezTo>
                    <a:pt x="475986" y="334245"/>
                    <a:pt x="481327" y="339577"/>
                    <a:pt x="481327" y="346153"/>
                  </a:cubicBezTo>
                  <a:cubicBezTo>
                    <a:pt x="481327" y="352641"/>
                    <a:pt x="475986" y="357973"/>
                    <a:pt x="469399" y="357973"/>
                  </a:cubicBezTo>
                  <a:lnTo>
                    <a:pt x="436375" y="357973"/>
                  </a:lnTo>
                  <a:lnTo>
                    <a:pt x="436375" y="427733"/>
                  </a:lnTo>
                  <a:cubicBezTo>
                    <a:pt x="436375" y="434220"/>
                    <a:pt x="431123" y="439552"/>
                    <a:pt x="424536" y="439552"/>
                  </a:cubicBezTo>
                  <a:cubicBezTo>
                    <a:pt x="417949" y="439552"/>
                    <a:pt x="412608" y="434220"/>
                    <a:pt x="412608" y="427733"/>
                  </a:cubicBezTo>
                  <a:lnTo>
                    <a:pt x="412608" y="357973"/>
                  </a:lnTo>
                  <a:lnTo>
                    <a:pt x="324573" y="357973"/>
                  </a:lnTo>
                  <a:cubicBezTo>
                    <a:pt x="320300" y="357973"/>
                    <a:pt x="316295" y="355662"/>
                    <a:pt x="314158" y="352019"/>
                  </a:cubicBezTo>
                  <a:cubicBezTo>
                    <a:pt x="312111" y="348286"/>
                    <a:pt x="312111" y="343665"/>
                    <a:pt x="314336" y="340022"/>
                  </a:cubicBezTo>
                  <a:lnTo>
                    <a:pt x="414299" y="172953"/>
                  </a:lnTo>
                  <a:cubicBezTo>
                    <a:pt x="417059" y="168332"/>
                    <a:pt x="422489" y="166111"/>
                    <a:pt x="427651" y="167533"/>
                  </a:cubicBezTo>
                  <a:close/>
                  <a:moveTo>
                    <a:pt x="216270" y="167099"/>
                  </a:moveTo>
                  <a:cubicBezTo>
                    <a:pt x="257222" y="167099"/>
                    <a:pt x="290518" y="200333"/>
                    <a:pt x="290518" y="241210"/>
                  </a:cubicBezTo>
                  <a:cubicBezTo>
                    <a:pt x="290518" y="284486"/>
                    <a:pt x="273603" y="325097"/>
                    <a:pt x="242978" y="355754"/>
                  </a:cubicBezTo>
                  <a:lnTo>
                    <a:pt x="182707" y="415825"/>
                  </a:lnTo>
                  <a:lnTo>
                    <a:pt x="278588" y="415825"/>
                  </a:lnTo>
                  <a:cubicBezTo>
                    <a:pt x="285176" y="415825"/>
                    <a:pt x="290518" y="421158"/>
                    <a:pt x="290518" y="427734"/>
                  </a:cubicBezTo>
                  <a:cubicBezTo>
                    <a:pt x="290518" y="434220"/>
                    <a:pt x="285176" y="439552"/>
                    <a:pt x="278588" y="439552"/>
                  </a:cubicBezTo>
                  <a:lnTo>
                    <a:pt x="154040" y="439552"/>
                  </a:lnTo>
                  <a:cubicBezTo>
                    <a:pt x="149232" y="439552"/>
                    <a:pt x="144870" y="436709"/>
                    <a:pt x="143001" y="432265"/>
                  </a:cubicBezTo>
                  <a:cubicBezTo>
                    <a:pt x="141131" y="427822"/>
                    <a:pt x="142199" y="422668"/>
                    <a:pt x="145582" y="419292"/>
                  </a:cubicBezTo>
                  <a:lnTo>
                    <a:pt x="226152" y="338959"/>
                  </a:lnTo>
                  <a:cubicBezTo>
                    <a:pt x="252236" y="312834"/>
                    <a:pt x="266659" y="278088"/>
                    <a:pt x="266659" y="241210"/>
                  </a:cubicBezTo>
                  <a:cubicBezTo>
                    <a:pt x="266659" y="213485"/>
                    <a:pt x="244046" y="190914"/>
                    <a:pt x="216270" y="190914"/>
                  </a:cubicBezTo>
                  <a:cubicBezTo>
                    <a:pt x="188493" y="190914"/>
                    <a:pt x="165880" y="213485"/>
                    <a:pt x="165880" y="241210"/>
                  </a:cubicBezTo>
                  <a:cubicBezTo>
                    <a:pt x="165880" y="247786"/>
                    <a:pt x="160539" y="253029"/>
                    <a:pt x="154040" y="253029"/>
                  </a:cubicBezTo>
                  <a:cubicBezTo>
                    <a:pt x="147452" y="253029"/>
                    <a:pt x="142110" y="247786"/>
                    <a:pt x="142110" y="241210"/>
                  </a:cubicBezTo>
                  <a:cubicBezTo>
                    <a:pt x="142110" y="200333"/>
                    <a:pt x="175406" y="167099"/>
                    <a:pt x="216270" y="167099"/>
                  </a:cubicBezTo>
                  <a:close/>
                  <a:moveTo>
                    <a:pt x="522185" y="165547"/>
                  </a:moveTo>
                  <a:cubicBezTo>
                    <a:pt x="528772" y="165547"/>
                    <a:pt x="534111" y="170871"/>
                    <a:pt x="534111" y="177438"/>
                  </a:cubicBezTo>
                  <a:cubicBezTo>
                    <a:pt x="534111" y="184005"/>
                    <a:pt x="528772" y="189329"/>
                    <a:pt x="522185" y="189329"/>
                  </a:cubicBezTo>
                  <a:cubicBezTo>
                    <a:pt x="515598" y="189329"/>
                    <a:pt x="510259" y="184005"/>
                    <a:pt x="510259" y="177438"/>
                  </a:cubicBezTo>
                  <a:cubicBezTo>
                    <a:pt x="510259" y="170871"/>
                    <a:pt x="515598" y="165547"/>
                    <a:pt x="522185" y="165547"/>
                  </a:cubicBezTo>
                  <a:close/>
                  <a:moveTo>
                    <a:pt x="85420" y="165547"/>
                  </a:moveTo>
                  <a:cubicBezTo>
                    <a:pt x="91987" y="165547"/>
                    <a:pt x="97311" y="170871"/>
                    <a:pt x="97311" y="177438"/>
                  </a:cubicBezTo>
                  <a:cubicBezTo>
                    <a:pt x="97311" y="184005"/>
                    <a:pt x="91987" y="189329"/>
                    <a:pt x="85420" y="189329"/>
                  </a:cubicBezTo>
                  <a:cubicBezTo>
                    <a:pt x="78853" y="189329"/>
                    <a:pt x="73529" y="184005"/>
                    <a:pt x="73529" y="177438"/>
                  </a:cubicBezTo>
                  <a:cubicBezTo>
                    <a:pt x="73529" y="170871"/>
                    <a:pt x="78853" y="165547"/>
                    <a:pt x="85420" y="165547"/>
                  </a:cubicBezTo>
                  <a:close/>
                  <a:moveTo>
                    <a:pt x="429885" y="73388"/>
                  </a:moveTo>
                  <a:cubicBezTo>
                    <a:pt x="436472" y="73388"/>
                    <a:pt x="441811" y="78712"/>
                    <a:pt x="441811" y="85279"/>
                  </a:cubicBezTo>
                  <a:cubicBezTo>
                    <a:pt x="441811" y="91846"/>
                    <a:pt x="436472" y="97170"/>
                    <a:pt x="429885" y="97170"/>
                  </a:cubicBezTo>
                  <a:cubicBezTo>
                    <a:pt x="423298" y="97170"/>
                    <a:pt x="417959" y="91846"/>
                    <a:pt x="417959" y="85279"/>
                  </a:cubicBezTo>
                  <a:cubicBezTo>
                    <a:pt x="417959" y="78712"/>
                    <a:pt x="423298" y="73388"/>
                    <a:pt x="429885" y="73388"/>
                  </a:cubicBezTo>
                  <a:close/>
                  <a:moveTo>
                    <a:pt x="177720" y="73388"/>
                  </a:moveTo>
                  <a:cubicBezTo>
                    <a:pt x="184287" y="73388"/>
                    <a:pt x="189611" y="78712"/>
                    <a:pt x="189611" y="85279"/>
                  </a:cubicBezTo>
                  <a:cubicBezTo>
                    <a:pt x="189611" y="91846"/>
                    <a:pt x="184287" y="97170"/>
                    <a:pt x="177720" y="97170"/>
                  </a:cubicBezTo>
                  <a:cubicBezTo>
                    <a:pt x="171153" y="97170"/>
                    <a:pt x="165829" y="91846"/>
                    <a:pt x="165829" y="85279"/>
                  </a:cubicBezTo>
                  <a:cubicBezTo>
                    <a:pt x="165829" y="78712"/>
                    <a:pt x="171153" y="73388"/>
                    <a:pt x="177720" y="73388"/>
                  </a:cubicBezTo>
                  <a:close/>
                  <a:moveTo>
                    <a:pt x="303775" y="42480"/>
                  </a:moveTo>
                  <a:cubicBezTo>
                    <a:pt x="310366" y="42480"/>
                    <a:pt x="315710" y="47815"/>
                    <a:pt x="315710" y="54396"/>
                  </a:cubicBezTo>
                  <a:lnTo>
                    <a:pt x="315710" y="69869"/>
                  </a:lnTo>
                  <a:cubicBezTo>
                    <a:pt x="315710" y="76449"/>
                    <a:pt x="310366" y="81785"/>
                    <a:pt x="303775" y="81785"/>
                  </a:cubicBezTo>
                  <a:cubicBezTo>
                    <a:pt x="297184" y="81785"/>
                    <a:pt x="291929" y="76449"/>
                    <a:pt x="291929" y="69869"/>
                  </a:cubicBezTo>
                  <a:lnTo>
                    <a:pt x="291929" y="54396"/>
                  </a:lnTo>
                  <a:cubicBezTo>
                    <a:pt x="291929" y="47815"/>
                    <a:pt x="297184" y="42480"/>
                    <a:pt x="303775" y="42480"/>
                  </a:cubicBezTo>
                  <a:close/>
                  <a:moveTo>
                    <a:pt x="303775" y="0"/>
                  </a:moveTo>
                  <a:cubicBezTo>
                    <a:pt x="394204" y="0"/>
                    <a:pt x="479560" y="40347"/>
                    <a:pt x="537058" y="108956"/>
                  </a:cubicBezTo>
                  <a:lnTo>
                    <a:pt x="537058" y="93048"/>
                  </a:lnTo>
                  <a:cubicBezTo>
                    <a:pt x="537058" y="86471"/>
                    <a:pt x="542309" y="81139"/>
                    <a:pt x="548895" y="81139"/>
                  </a:cubicBezTo>
                  <a:cubicBezTo>
                    <a:pt x="555482" y="81139"/>
                    <a:pt x="560822" y="86471"/>
                    <a:pt x="560822" y="93048"/>
                  </a:cubicBezTo>
                  <a:lnTo>
                    <a:pt x="560822" y="138994"/>
                  </a:lnTo>
                  <a:cubicBezTo>
                    <a:pt x="560822" y="145570"/>
                    <a:pt x="555482" y="150903"/>
                    <a:pt x="548895" y="150903"/>
                  </a:cubicBezTo>
                  <a:lnTo>
                    <a:pt x="502880" y="150903"/>
                  </a:lnTo>
                  <a:cubicBezTo>
                    <a:pt x="496293" y="150903"/>
                    <a:pt x="490953" y="145570"/>
                    <a:pt x="490953" y="138994"/>
                  </a:cubicBezTo>
                  <a:cubicBezTo>
                    <a:pt x="490953" y="132417"/>
                    <a:pt x="496293" y="127174"/>
                    <a:pt x="502880" y="127174"/>
                  </a:cubicBezTo>
                  <a:lnTo>
                    <a:pt x="521126" y="127174"/>
                  </a:lnTo>
                  <a:cubicBezTo>
                    <a:pt x="468168" y="62032"/>
                    <a:pt x="388419" y="23728"/>
                    <a:pt x="303775" y="23728"/>
                  </a:cubicBezTo>
                  <a:cubicBezTo>
                    <a:pt x="149440" y="23728"/>
                    <a:pt x="23764" y="149214"/>
                    <a:pt x="23764" y="303316"/>
                  </a:cubicBezTo>
                  <a:cubicBezTo>
                    <a:pt x="23764" y="457508"/>
                    <a:pt x="149440" y="582905"/>
                    <a:pt x="303775" y="582905"/>
                  </a:cubicBezTo>
                  <a:cubicBezTo>
                    <a:pt x="458199" y="582905"/>
                    <a:pt x="583786" y="457508"/>
                    <a:pt x="583786" y="303316"/>
                  </a:cubicBezTo>
                  <a:cubicBezTo>
                    <a:pt x="583786" y="278255"/>
                    <a:pt x="580492" y="253371"/>
                    <a:pt x="573906" y="229376"/>
                  </a:cubicBezTo>
                  <a:cubicBezTo>
                    <a:pt x="572126" y="223066"/>
                    <a:pt x="575864" y="216489"/>
                    <a:pt x="582273" y="214801"/>
                  </a:cubicBezTo>
                  <a:cubicBezTo>
                    <a:pt x="588592" y="213023"/>
                    <a:pt x="595089" y="216756"/>
                    <a:pt x="596869" y="223066"/>
                  </a:cubicBezTo>
                  <a:cubicBezTo>
                    <a:pt x="603990" y="249194"/>
                    <a:pt x="607639" y="276122"/>
                    <a:pt x="607639" y="303316"/>
                  </a:cubicBezTo>
                  <a:cubicBezTo>
                    <a:pt x="607639" y="470572"/>
                    <a:pt x="471283" y="606722"/>
                    <a:pt x="303775" y="606722"/>
                  </a:cubicBezTo>
                  <a:cubicBezTo>
                    <a:pt x="136267" y="606722"/>
                    <a:pt x="0" y="470572"/>
                    <a:pt x="0" y="303316"/>
                  </a:cubicBezTo>
                  <a:cubicBezTo>
                    <a:pt x="0" y="136061"/>
                    <a:pt x="136267" y="0"/>
                    <a:pt x="303775"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84" name="Google Shape;484;p24"/>
          <p:cNvSpPr/>
          <p:nvPr/>
        </p:nvSpPr>
        <p:spPr>
          <a:xfrm>
            <a:off x="2022317" y="3416902"/>
            <a:ext cx="606474" cy="606474"/>
          </a:xfrm>
          <a:custGeom>
            <a:rect b="b" l="l" r="r" t="t"/>
            <a:pathLst>
              <a:path extrusionOk="0" h="19679" w="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lt1"/>
          </a:solidFill>
          <a:ln cap="flat" cmpd="sng" w="63500">
            <a:solidFill>
              <a:schemeClr val="accent3"/>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5" name="Google Shape;485;p24"/>
          <p:cNvSpPr/>
          <p:nvPr/>
        </p:nvSpPr>
        <p:spPr>
          <a:xfrm>
            <a:off x="2126056" y="3520641"/>
            <a:ext cx="398995" cy="398996"/>
          </a:xfrm>
          <a:custGeom>
            <a:rect b="b" l="l" r="r" t="t"/>
            <a:pathLst>
              <a:path extrusionOk="0" h="19679" w="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6" name="Google Shape;486;p24"/>
          <p:cNvSpPr/>
          <p:nvPr/>
        </p:nvSpPr>
        <p:spPr>
          <a:xfrm>
            <a:off x="2214688" y="3601809"/>
            <a:ext cx="229217" cy="229076"/>
          </a:xfrm>
          <a:custGeom>
            <a:rect b="b" l="l" r="r" t="t"/>
            <a:pathLst>
              <a:path extrusionOk="0" h="606722" w="607097">
                <a:moveTo>
                  <a:pt x="482620" y="381169"/>
                </a:moveTo>
                <a:cubicBezTo>
                  <a:pt x="486624" y="377172"/>
                  <a:pt x="492675" y="377172"/>
                  <a:pt x="496768" y="381169"/>
                </a:cubicBezTo>
                <a:lnTo>
                  <a:pt x="510916" y="395381"/>
                </a:lnTo>
                <a:cubicBezTo>
                  <a:pt x="515009" y="399379"/>
                  <a:pt x="515009" y="405419"/>
                  <a:pt x="510916" y="409505"/>
                </a:cubicBezTo>
                <a:cubicBezTo>
                  <a:pt x="509937" y="412525"/>
                  <a:pt x="506912" y="412525"/>
                  <a:pt x="503887" y="412525"/>
                </a:cubicBezTo>
                <a:cubicBezTo>
                  <a:pt x="500861" y="412525"/>
                  <a:pt x="498815" y="411548"/>
                  <a:pt x="496768" y="409505"/>
                </a:cubicBezTo>
                <a:lnTo>
                  <a:pt x="482620" y="395381"/>
                </a:lnTo>
                <a:cubicBezTo>
                  <a:pt x="478527" y="391295"/>
                  <a:pt x="478527" y="385255"/>
                  <a:pt x="482620" y="381169"/>
                </a:cubicBezTo>
                <a:close/>
                <a:moveTo>
                  <a:pt x="546398" y="242745"/>
                </a:moveTo>
                <a:lnTo>
                  <a:pt x="566606" y="242745"/>
                </a:lnTo>
                <a:cubicBezTo>
                  <a:pt x="572659" y="242745"/>
                  <a:pt x="576754" y="246732"/>
                  <a:pt x="576754" y="252756"/>
                </a:cubicBezTo>
                <a:cubicBezTo>
                  <a:pt x="576754" y="258869"/>
                  <a:pt x="572659" y="262856"/>
                  <a:pt x="566606" y="262856"/>
                </a:cubicBezTo>
                <a:lnTo>
                  <a:pt x="546398" y="262856"/>
                </a:lnTo>
                <a:cubicBezTo>
                  <a:pt x="540255" y="262856"/>
                  <a:pt x="536249" y="258869"/>
                  <a:pt x="536249" y="252756"/>
                </a:cubicBezTo>
                <a:cubicBezTo>
                  <a:pt x="536249" y="246732"/>
                  <a:pt x="540255" y="242745"/>
                  <a:pt x="546398" y="242745"/>
                </a:cubicBezTo>
                <a:close/>
                <a:moveTo>
                  <a:pt x="353968" y="101120"/>
                </a:moveTo>
                <a:cubicBezTo>
                  <a:pt x="360022" y="101120"/>
                  <a:pt x="364118" y="105119"/>
                  <a:pt x="364118" y="111251"/>
                </a:cubicBezTo>
                <a:lnTo>
                  <a:pt x="364118" y="242683"/>
                </a:lnTo>
                <a:lnTo>
                  <a:pt x="424838" y="242683"/>
                </a:lnTo>
                <a:cubicBezTo>
                  <a:pt x="430893" y="242683"/>
                  <a:pt x="434988" y="246682"/>
                  <a:pt x="434988" y="252725"/>
                </a:cubicBezTo>
                <a:cubicBezTo>
                  <a:pt x="434988" y="258857"/>
                  <a:pt x="430893" y="262856"/>
                  <a:pt x="424838" y="262856"/>
                </a:cubicBezTo>
                <a:lnTo>
                  <a:pt x="353968" y="262856"/>
                </a:lnTo>
                <a:cubicBezTo>
                  <a:pt x="347825" y="262856"/>
                  <a:pt x="343818" y="258857"/>
                  <a:pt x="343818" y="252725"/>
                </a:cubicBezTo>
                <a:lnTo>
                  <a:pt x="343818" y="111251"/>
                </a:lnTo>
                <a:cubicBezTo>
                  <a:pt x="343818" y="105119"/>
                  <a:pt x="347825" y="101120"/>
                  <a:pt x="353968" y="101120"/>
                </a:cubicBezTo>
                <a:close/>
                <a:moveTo>
                  <a:pt x="496768" y="96101"/>
                </a:moveTo>
                <a:cubicBezTo>
                  <a:pt x="500861" y="92017"/>
                  <a:pt x="506912" y="92017"/>
                  <a:pt x="510916" y="96101"/>
                </a:cubicBezTo>
                <a:cubicBezTo>
                  <a:pt x="515009" y="100096"/>
                  <a:pt x="515009" y="106222"/>
                  <a:pt x="510916" y="110217"/>
                </a:cubicBezTo>
                <a:lnTo>
                  <a:pt x="496768" y="124334"/>
                </a:lnTo>
                <a:cubicBezTo>
                  <a:pt x="494722" y="126376"/>
                  <a:pt x="492675" y="127441"/>
                  <a:pt x="489650" y="127441"/>
                </a:cubicBezTo>
                <a:cubicBezTo>
                  <a:pt x="486624" y="127441"/>
                  <a:pt x="484578" y="126376"/>
                  <a:pt x="482620" y="124334"/>
                </a:cubicBezTo>
                <a:cubicBezTo>
                  <a:pt x="478527" y="120338"/>
                  <a:pt x="478527" y="114301"/>
                  <a:pt x="482620" y="110217"/>
                </a:cubicBezTo>
                <a:close/>
                <a:moveTo>
                  <a:pt x="196955" y="96101"/>
                </a:moveTo>
                <a:cubicBezTo>
                  <a:pt x="201050" y="92017"/>
                  <a:pt x="207104" y="92017"/>
                  <a:pt x="211110" y="96101"/>
                </a:cubicBezTo>
                <a:lnTo>
                  <a:pt x="225355" y="110217"/>
                </a:lnTo>
                <a:cubicBezTo>
                  <a:pt x="229361" y="114301"/>
                  <a:pt x="229361" y="120338"/>
                  <a:pt x="225355" y="124334"/>
                </a:cubicBezTo>
                <a:cubicBezTo>
                  <a:pt x="223307" y="126376"/>
                  <a:pt x="220280" y="127441"/>
                  <a:pt x="218233" y="127441"/>
                </a:cubicBezTo>
                <a:cubicBezTo>
                  <a:pt x="215206" y="127441"/>
                  <a:pt x="213158" y="126376"/>
                  <a:pt x="211110" y="124334"/>
                </a:cubicBezTo>
                <a:lnTo>
                  <a:pt x="196955" y="110217"/>
                </a:lnTo>
                <a:cubicBezTo>
                  <a:pt x="192949" y="106222"/>
                  <a:pt x="192949" y="100096"/>
                  <a:pt x="196955" y="96101"/>
                </a:cubicBezTo>
                <a:close/>
                <a:moveTo>
                  <a:pt x="103963" y="81761"/>
                </a:moveTo>
                <a:cubicBezTo>
                  <a:pt x="98011" y="82650"/>
                  <a:pt x="92182" y="85449"/>
                  <a:pt x="87598" y="90026"/>
                </a:cubicBezTo>
                <a:lnTo>
                  <a:pt x="62322" y="115266"/>
                </a:lnTo>
                <a:cubicBezTo>
                  <a:pt x="17732" y="159790"/>
                  <a:pt x="8654" y="209291"/>
                  <a:pt x="34998" y="265902"/>
                </a:cubicBezTo>
                <a:cubicBezTo>
                  <a:pt x="44077" y="285187"/>
                  <a:pt x="57249" y="304383"/>
                  <a:pt x="75494" y="322602"/>
                </a:cubicBezTo>
                <a:lnTo>
                  <a:pt x="283044" y="530826"/>
                </a:lnTo>
                <a:cubicBezTo>
                  <a:pt x="297284" y="545046"/>
                  <a:pt x="312415" y="557132"/>
                  <a:pt x="327634" y="565219"/>
                </a:cubicBezTo>
                <a:cubicBezTo>
                  <a:pt x="389401" y="599612"/>
                  <a:pt x="443068" y="592503"/>
                  <a:pt x="490684" y="545046"/>
                </a:cubicBezTo>
                <a:lnTo>
                  <a:pt x="515960" y="519717"/>
                </a:lnTo>
                <a:cubicBezTo>
                  <a:pt x="525127" y="510653"/>
                  <a:pt x="527085" y="496433"/>
                  <a:pt x="521033" y="485324"/>
                </a:cubicBezTo>
                <a:cubicBezTo>
                  <a:pt x="503856" y="451998"/>
                  <a:pt x="434969" y="411561"/>
                  <a:pt x="434969" y="411561"/>
                </a:cubicBezTo>
                <a:cubicBezTo>
                  <a:pt x="427582" y="407829"/>
                  <a:pt x="420195" y="405874"/>
                  <a:pt x="414321" y="406318"/>
                </a:cubicBezTo>
                <a:cubicBezTo>
                  <a:pt x="414143" y="406318"/>
                  <a:pt x="413876" y="406407"/>
                  <a:pt x="413698" y="406496"/>
                </a:cubicBezTo>
                <a:cubicBezTo>
                  <a:pt x="409604" y="407473"/>
                  <a:pt x="407646" y="409517"/>
                  <a:pt x="405599" y="413605"/>
                </a:cubicBezTo>
                <a:lnTo>
                  <a:pt x="404620" y="414583"/>
                </a:lnTo>
                <a:cubicBezTo>
                  <a:pt x="397500" y="423648"/>
                  <a:pt x="380323" y="443910"/>
                  <a:pt x="373202" y="447910"/>
                </a:cubicBezTo>
                <a:cubicBezTo>
                  <a:pt x="365548" y="453242"/>
                  <a:pt x="357538" y="457152"/>
                  <a:pt x="349528" y="459552"/>
                </a:cubicBezTo>
                <a:cubicBezTo>
                  <a:pt x="365281" y="466839"/>
                  <a:pt x="384328" y="473149"/>
                  <a:pt x="405599" y="475282"/>
                </a:cubicBezTo>
                <a:cubicBezTo>
                  <a:pt x="410672" y="476259"/>
                  <a:pt x="414677" y="480259"/>
                  <a:pt x="414677" y="486391"/>
                </a:cubicBezTo>
                <a:cubicBezTo>
                  <a:pt x="413698" y="491456"/>
                  <a:pt x="409604" y="495456"/>
                  <a:pt x="404620" y="495456"/>
                </a:cubicBezTo>
                <a:lnTo>
                  <a:pt x="403552" y="495456"/>
                </a:lnTo>
                <a:cubicBezTo>
                  <a:pt x="333686" y="488346"/>
                  <a:pt x="288117" y="443910"/>
                  <a:pt x="287138" y="441866"/>
                </a:cubicBezTo>
                <a:cubicBezTo>
                  <a:pt x="286871" y="441600"/>
                  <a:pt x="286604" y="441333"/>
                  <a:pt x="286426" y="441067"/>
                </a:cubicBezTo>
                <a:cubicBezTo>
                  <a:pt x="285625" y="440356"/>
                  <a:pt x="284824" y="439645"/>
                  <a:pt x="284112" y="438845"/>
                </a:cubicBezTo>
                <a:lnTo>
                  <a:pt x="176777" y="331666"/>
                </a:lnTo>
                <a:cubicBezTo>
                  <a:pt x="174730" y="329622"/>
                  <a:pt x="119015" y="284120"/>
                  <a:pt x="111895" y="213379"/>
                </a:cubicBezTo>
                <a:cubicBezTo>
                  <a:pt x="110916" y="208314"/>
                  <a:pt x="115010" y="203248"/>
                  <a:pt x="121062" y="202270"/>
                </a:cubicBezTo>
                <a:cubicBezTo>
                  <a:pt x="127115" y="201204"/>
                  <a:pt x="131209" y="205292"/>
                  <a:pt x="132188" y="211335"/>
                </a:cubicBezTo>
                <a:cubicBezTo>
                  <a:pt x="133968" y="229109"/>
                  <a:pt x="139486" y="245284"/>
                  <a:pt x="146428" y="259325"/>
                </a:cubicBezTo>
                <a:cubicBezTo>
                  <a:pt x="148653" y="250794"/>
                  <a:pt x="152658" y="242262"/>
                  <a:pt x="158532" y="233553"/>
                </a:cubicBezTo>
                <a:cubicBezTo>
                  <a:pt x="162537" y="227510"/>
                  <a:pt x="183808" y="210358"/>
                  <a:pt x="191907" y="202270"/>
                </a:cubicBezTo>
                <a:lnTo>
                  <a:pt x="192975" y="201204"/>
                </a:lnTo>
                <a:cubicBezTo>
                  <a:pt x="196980" y="199160"/>
                  <a:pt x="199027" y="196138"/>
                  <a:pt x="200006" y="193117"/>
                </a:cubicBezTo>
                <a:cubicBezTo>
                  <a:pt x="202053" y="187073"/>
                  <a:pt x="200006" y="178986"/>
                  <a:pt x="194933" y="170899"/>
                </a:cubicBezTo>
                <a:cubicBezTo>
                  <a:pt x="194933" y="169832"/>
                  <a:pt x="154438" y="102113"/>
                  <a:pt x="121062" y="84961"/>
                </a:cubicBezTo>
                <a:cubicBezTo>
                  <a:pt x="115989" y="81895"/>
                  <a:pt x="109915" y="80873"/>
                  <a:pt x="103963" y="81761"/>
                </a:cubicBezTo>
                <a:close/>
                <a:moveTo>
                  <a:pt x="353980" y="30273"/>
                </a:moveTo>
                <a:cubicBezTo>
                  <a:pt x="360041" y="30273"/>
                  <a:pt x="364141" y="34368"/>
                  <a:pt x="364141" y="40422"/>
                </a:cubicBezTo>
                <a:lnTo>
                  <a:pt x="364141" y="60719"/>
                </a:lnTo>
                <a:cubicBezTo>
                  <a:pt x="364141" y="66772"/>
                  <a:pt x="360041" y="70778"/>
                  <a:pt x="353980" y="70778"/>
                </a:cubicBezTo>
                <a:cubicBezTo>
                  <a:pt x="347829" y="70778"/>
                  <a:pt x="343818" y="66772"/>
                  <a:pt x="343818" y="60719"/>
                </a:cubicBezTo>
                <a:lnTo>
                  <a:pt x="343818" y="40422"/>
                </a:lnTo>
                <a:cubicBezTo>
                  <a:pt x="343818" y="34368"/>
                  <a:pt x="347829" y="30273"/>
                  <a:pt x="353980" y="30273"/>
                </a:cubicBezTo>
                <a:close/>
                <a:moveTo>
                  <a:pt x="353978" y="20263"/>
                </a:moveTo>
                <a:cubicBezTo>
                  <a:pt x="284112" y="20263"/>
                  <a:pt x="219409" y="50479"/>
                  <a:pt x="174819" y="104957"/>
                </a:cubicBezTo>
                <a:cubicBezTo>
                  <a:pt x="196446" y="130818"/>
                  <a:pt x="212911" y="158901"/>
                  <a:pt x="214246" y="160768"/>
                </a:cubicBezTo>
                <a:cubicBezTo>
                  <a:pt x="221278" y="173920"/>
                  <a:pt x="224304" y="187073"/>
                  <a:pt x="221278" y="198182"/>
                </a:cubicBezTo>
                <a:cubicBezTo>
                  <a:pt x="220299" y="202093"/>
                  <a:pt x="218430" y="205736"/>
                  <a:pt x="215938" y="209025"/>
                </a:cubicBezTo>
                <a:cubicBezTo>
                  <a:pt x="214336" y="211335"/>
                  <a:pt x="212466" y="213379"/>
                  <a:pt x="210152" y="215157"/>
                </a:cubicBezTo>
                <a:cubicBezTo>
                  <a:pt x="208906" y="216312"/>
                  <a:pt x="207482" y="217378"/>
                  <a:pt x="206147" y="218445"/>
                </a:cubicBezTo>
                <a:cubicBezTo>
                  <a:pt x="193954" y="228487"/>
                  <a:pt x="179803" y="241640"/>
                  <a:pt x="176777" y="244662"/>
                </a:cubicBezTo>
                <a:cubicBezTo>
                  <a:pt x="160579" y="269012"/>
                  <a:pt x="162537" y="287142"/>
                  <a:pt x="182829" y="308382"/>
                </a:cubicBezTo>
                <a:lnTo>
                  <a:pt x="189504" y="315136"/>
                </a:lnTo>
                <a:cubicBezTo>
                  <a:pt x="189771" y="315403"/>
                  <a:pt x="189949" y="315492"/>
                  <a:pt x="189949" y="315492"/>
                </a:cubicBezTo>
                <a:cubicBezTo>
                  <a:pt x="190572" y="316025"/>
                  <a:pt x="191195" y="316647"/>
                  <a:pt x="191640" y="317269"/>
                </a:cubicBezTo>
                <a:lnTo>
                  <a:pt x="298263" y="424714"/>
                </a:lnTo>
                <a:cubicBezTo>
                  <a:pt x="318556" y="444888"/>
                  <a:pt x="337780" y="446932"/>
                  <a:pt x="362077" y="430758"/>
                </a:cubicBezTo>
                <a:cubicBezTo>
                  <a:pt x="365103" y="428713"/>
                  <a:pt x="378275" y="414583"/>
                  <a:pt x="388422" y="401430"/>
                </a:cubicBezTo>
                <a:cubicBezTo>
                  <a:pt x="393406" y="393343"/>
                  <a:pt x="400526" y="388277"/>
                  <a:pt x="408625" y="386233"/>
                </a:cubicBezTo>
                <a:cubicBezTo>
                  <a:pt x="412096" y="385344"/>
                  <a:pt x="415834" y="384900"/>
                  <a:pt x="419661" y="384900"/>
                </a:cubicBezTo>
                <a:cubicBezTo>
                  <a:pt x="428294" y="384989"/>
                  <a:pt x="437728" y="387477"/>
                  <a:pt x="446094" y="392365"/>
                </a:cubicBezTo>
                <a:cubicBezTo>
                  <a:pt x="447963" y="393609"/>
                  <a:pt x="476088" y="410051"/>
                  <a:pt x="501987" y="431646"/>
                </a:cubicBezTo>
                <a:cubicBezTo>
                  <a:pt x="556545" y="387122"/>
                  <a:pt x="586894" y="322513"/>
                  <a:pt x="586894" y="252749"/>
                </a:cubicBezTo>
                <a:cubicBezTo>
                  <a:pt x="586894" y="124330"/>
                  <a:pt x="482585" y="20263"/>
                  <a:pt x="353978" y="20263"/>
                </a:cubicBezTo>
                <a:close/>
                <a:moveTo>
                  <a:pt x="353978" y="0"/>
                </a:moveTo>
                <a:cubicBezTo>
                  <a:pt x="493710" y="0"/>
                  <a:pt x="607097" y="113222"/>
                  <a:pt x="607097" y="252749"/>
                </a:cubicBezTo>
                <a:cubicBezTo>
                  <a:pt x="607097" y="327578"/>
                  <a:pt x="574345" y="397786"/>
                  <a:pt x="517384" y="445421"/>
                </a:cubicBezTo>
                <a:cubicBezTo>
                  <a:pt x="526907" y="454753"/>
                  <a:pt x="535184" y="464617"/>
                  <a:pt x="540257" y="474215"/>
                </a:cubicBezTo>
                <a:cubicBezTo>
                  <a:pt x="550403" y="493412"/>
                  <a:pt x="547377" y="517673"/>
                  <a:pt x="531179" y="532870"/>
                </a:cubicBezTo>
                <a:lnTo>
                  <a:pt x="505814" y="559176"/>
                </a:lnTo>
                <a:cubicBezTo>
                  <a:pt x="474486" y="590548"/>
                  <a:pt x="438974" y="606722"/>
                  <a:pt x="401505" y="606722"/>
                </a:cubicBezTo>
                <a:cubicBezTo>
                  <a:pt x="375249" y="606722"/>
                  <a:pt x="346858" y="598635"/>
                  <a:pt x="318556" y="582460"/>
                </a:cubicBezTo>
                <a:cubicBezTo>
                  <a:pt x="301289" y="573307"/>
                  <a:pt x="285091" y="560154"/>
                  <a:pt x="268893" y="543979"/>
                </a:cubicBezTo>
                <a:lnTo>
                  <a:pt x="61343" y="336732"/>
                </a:lnTo>
                <a:cubicBezTo>
                  <a:pt x="42030" y="317536"/>
                  <a:pt x="26899" y="296296"/>
                  <a:pt x="16753" y="275056"/>
                </a:cubicBezTo>
                <a:cubicBezTo>
                  <a:pt x="-13596" y="210358"/>
                  <a:pt x="-2471" y="151703"/>
                  <a:pt x="48171" y="101135"/>
                </a:cubicBezTo>
                <a:lnTo>
                  <a:pt x="73447" y="75807"/>
                </a:lnTo>
                <a:cubicBezTo>
                  <a:pt x="88666" y="60699"/>
                  <a:pt x="112963" y="56611"/>
                  <a:pt x="132188" y="66742"/>
                </a:cubicBezTo>
                <a:cubicBezTo>
                  <a:pt x="141711" y="71719"/>
                  <a:pt x="151412" y="79895"/>
                  <a:pt x="160757" y="89315"/>
                </a:cubicBezTo>
                <a:cubicBezTo>
                  <a:pt x="209173" y="32971"/>
                  <a:pt x="278772" y="0"/>
                  <a:pt x="353978"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7" name="Google Shape;487;p24"/>
          <p:cNvSpPr/>
          <p:nvPr/>
        </p:nvSpPr>
        <p:spPr>
          <a:xfrm>
            <a:off x="4170569" y="2458648"/>
            <a:ext cx="606474" cy="606474"/>
          </a:xfrm>
          <a:custGeom>
            <a:rect b="b" l="l" r="r" t="t"/>
            <a:pathLst>
              <a:path extrusionOk="0" h="19679" w="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lt1"/>
          </a:solidFill>
          <a:ln cap="flat" cmpd="sng" w="63500">
            <a:solidFill>
              <a:schemeClr val="accent2"/>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8" name="Google Shape;488;p24"/>
          <p:cNvSpPr/>
          <p:nvPr/>
        </p:nvSpPr>
        <p:spPr>
          <a:xfrm>
            <a:off x="4274308" y="2562387"/>
            <a:ext cx="398995" cy="398996"/>
          </a:xfrm>
          <a:custGeom>
            <a:rect b="b" l="l" r="r" t="t"/>
            <a:pathLst>
              <a:path extrusionOk="0" h="19679" w="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9" name="Google Shape;489;p24"/>
          <p:cNvSpPr/>
          <p:nvPr/>
        </p:nvSpPr>
        <p:spPr>
          <a:xfrm>
            <a:off x="4362940" y="2643660"/>
            <a:ext cx="229217" cy="228866"/>
          </a:xfrm>
          <a:custGeom>
            <a:rect b="b" l="l" r="r" t="t"/>
            <a:pathLst>
              <a:path extrusionOk="0" h="606604" w="607535">
                <a:moveTo>
                  <a:pt x="394900" y="353768"/>
                </a:moveTo>
                <a:cubicBezTo>
                  <a:pt x="400507" y="353768"/>
                  <a:pt x="405045" y="358301"/>
                  <a:pt x="405045" y="363900"/>
                </a:cubicBezTo>
                <a:lnTo>
                  <a:pt x="405045" y="515616"/>
                </a:lnTo>
                <a:cubicBezTo>
                  <a:pt x="405045" y="543435"/>
                  <a:pt x="382353" y="566099"/>
                  <a:pt x="354410" y="566099"/>
                </a:cubicBezTo>
                <a:lnTo>
                  <a:pt x="212649" y="566099"/>
                </a:lnTo>
                <a:cubicBezTo>
                  <a:pt x="207131" y="566099"/>
                  <a:pt x="202593" y="561566"/>
                  <a:pt x="202593" y="556056"/>
                </a:cubicBezTo>
                <a:cubicBezTo>
                  <a:pt x="202593" y="550457"/>
                  <a:pt x="207131" y="545924"/>
                  <a:pt x="212649" y="545924"/>
                </a:cubicBezTo>
                <a:lnTo>
                  <a:pt x="354410" y="545924"/>
                </a:lnTo>
                <a:cubicBezTo>
                  <a:pt x="371140" y="545924"/>
                  <a:pt x="384845" y="532325"/>
                  <a:pt x="384845" y="515616"/>
                </a:cubicBezTo>
                <a:lnTo>
                  <a:pt x="384845" y="363900"/>
                </a:lnTo>
                <a:cubicBezTo>
                  <a:pt x="384845" y="358301"/>
                  <a:pt x="389294" y="353768"/>
                  <a:pt x="394900" y="353768"/>
                </a:cubicBezTo>
                <a:close/>
                <a:moveTo>
                  <a:pt x="131640" y="262739"/>
                </a:moveTo>
                <a:cubicBezTo>
                  <a:pt x="137236" y="262739"/>
                  <a:pt x="141766" y="267271"/>
                  <a:pt x="141766" y="272870"/>
                </a:cubicBezTo>
                <a:lnTo>
                  <a:pt x="141766" y="333565"/>
                </a:lnTo>
                <a:cubicBezTo>
                  <a:pt x="141766" y="339075"/>
                  <a:pt x="137236" y="343607"/>
                  <a:pt x="131640" y="343607"/>
                </a:cubicBezTo>
                <a:cubicBezTo>
                  <a:pt x="126044" y="343607"/>
                  <a:pt x="121514" y="339075"/>
                  <a:pt x="121514" y="333565"/>
                </a:cubicBezTo>
                <a:lnTo>
                  <a:pt x="121514" y="272870"/>
                </a:lnTo>
                <a:cubicBezTo>
                  <a:pt x="121514" y="267271"/>
                  <a:pt x="126044" y="262739"/>
                  <a:pt x="131640" y="262739"/>
                </a:cubicBezTo>
                <a:close/>
                <a:moveTo>
                  <a:pt x="489057" y="194973"/>
                </a:moveTo>
                <a:cubicBezTo>
                  <a:pt x="492973" y="190974"/>
                  <a:pt x="499381" y="190974"/>
                  <a:pt x="503386" y="194973"/>
                </a:cubicBezTo>
                <a:lnTo>
                  <a:pt x="604576" y="296095"/>
                </a:lnTo>
                <a:cubicBezTo>
                  <a:pt x="605555" y="296983"/>
                  <a:pt x="606267" y="298138"/>
                  <a:pt x="606801" y="299383"/>
                </a:cubicBezTo>
                <a:cubicBezTo>
                  <a:pt x="607780" y="301871"/>
                  <a:pt x="607780" y="304625"/>
                  <a:pt x="606801" y="307113"/>
                </a:cubicBezTo>
                <a:cubicBezTo>
                  <a:pt x="606267" y="308357"/>
                  <a:pt x="605555" y="309424"/>
                  <a:pt x="604576" y="310401"/>
                </a:cubicBezTo>
                <a:lnTo>
                  <a:pt x="503386" y="411434"/>
                </a:lnTo>
                <a:cubicBezTo>
                  <a:pt x="501339" y="413478"/>
                  <a:pt x="498758" y="414455"/>
                  <a:pt x="496177" y="414455"/>
                </a:cubicBezTo>
                <a:cubicBezTo>
                  <a:pt x="493596" y="414455"/>
                  <a:pt x="491015" y="413478"/>
                  <a:pt x="489057" y="411434"/>
                </a:cubicBezTo>
                <a:cubicBezTo>
                  <a:pt x="485052" y="407524"/>
                  <a:pt x="485052" y="401126"/>
                  <a:pt x="489057" y="397217"/>
                </a:cubicBezTo>
                <a:lnTo>
                  <a:pt x="572982" y="313333"/>
                </a:lnTo>
                <a:lnTo>
                  <a:pt x="232921" y="313333"/>
                </a:lnTo>
                <a:cubicBezTo>
                  <a:pt x="227314" y="313333"/>
                  <a:pt x="222775" y="308802"/>
                  <a:pt x="222775" y="303203"/>
                </a:cubicBezTo>
                <a:cubicBezTo>
                  <a:pt x="222775" y="297605"/>
                  <a:pt x="227314" y="293074"/>
                  <a:pt x="232921" y="293074"/>
                </a:cubicBezTo>
                <a:lnTo>
                  <a:pt x="572982" y="293074"/>
                </a:lnTo>
                <a:lnTo>
                  <a:pt x="489057" y="209279"/>
                </a:lnTo>
                <a:cubicBezTo>
                  <a:pt x="485052" y="205281"/>
                  <a:pt x="485052" y="198883"/>
                  <a:pt x="489057" y="194973"/>
                </a:cubicBezTo>
                <a:close/>
                <a:moveTo>
                  <a:pt x="211398" y="40317"/>
                </a:moveTo>
                <a:lnTo>
                  <a:pt x="354409" y="40317"/>
                </a:lnTo>
                <a:cubicBezTo>
                  <a:pt x="382353" y="40317"/>
                  <a:pt x="405046" y="62981"/>
                  <a:pt x="405046" y="90889"/>
                </a:cubicBezTo>
                <a:lnTo>
                  <a:pt x="405046" y="242605"/>
                </a:lnTo>
                <a:cubicBezTo>
                  <a:pt x="405046" y="248115"/>
                  <a:pt x="400508" y="252648"/>
                  <a:pt x="394901" y="252648"/>
                </a:cubicBezTo>
                <a:cubicBezTo>
                  <a:pt x="389295" y="252648"/>
                  <a:pt x="384845" y="248115"/>
                  <a:pt x="384845" y="242605"/>
                </a:cubicBezTo>
                <a:lnTo>
                  <a:pt x="384845" y="90889"/>
                </a:lnTo>
                <a:cubicBezTo>
                  <a:pt x="384845" y="74180"/>
                  <a:pt x="371140" y="60581"/>
                  <a:pt x="354409" y="60581"/>
                </a:cubicBezTo>
                <a:lnTo>
                  <a:pt x="211398" y="60581"/>
                </a:lnTo>
                <a:cubicBezTo>
                  <a:pt x="205791" y="60581"/>
                  <a:pt x="201253" y="56048"/>
                  <a:pt x="201253" y="50449"/>
                </a:cubicBezTo>
                <a:cubicBezTo>
                  <a:pt x="201253" y="44850"/>
                  <a:pt x="205791" y="40317"/>
                  <a:pt x="211398" y="40317"/>
                </a:cubicBezTo>
                <a:close/>
                <a:moveTo>
                  <a:pt x="147115" y="20146"/>
                </a:moveTo>
                <a:cubicBezTo>
                  <a:pt x="144890" y="20146"/>
                  <a:pt x="142576" y="20590"/>
                  <a:pt x="140084" y="21568"/>
                </a:cubicBezTo>
                <a:lnTo>
                  <a:pt x="44232" y="59782"/>
                </a:lnTo>
                <a:cubicBezTo>
                  <a:pt x="24919" y="66981"/>
                  <a:pt x="20292" y="73024"/>
                  <a:pt x="20292" y="90887"/>
                </a:cubicBezTo>
                <a:lnTo>
                  <a:pt x="20292" y="515689"/>
                </a:lnTo>
                <a:cubicBezTo>
                  <a:pt x="20292" y="533464"/>
                  <a:pt x="24919" y="539596"/>
                  <a:pt x="44054" y="546616"/>
                </a:cubicBezTo>
                <a:lnTo>
                  <a:pt x="140262" y="585098"/>
                </a:lnTo>
                <a:cubicBezTo>
                  <a:pt x="142576" y="585897"/>
                  <a:pt x="144890" y="586431"/>
                  <a:pt x="147115" y="586431"/>
                </a:cubicBezTo>
                <a:cubicBezTo>
                  <a:pt x="156015" y="586431"/>
                  <a:pt x="161978" y="578254"/>
                  <a:pt x="161978" y="566257"/>
                </a:cubicBezTo>
                <a:lnTo>
                  <a:pt x="161978" y="40319"/>
                </a:lnTo>
                <a:cubicBezTo>
                  <a:pt x="161978" y="28233"/>
                  <a:pt x="156015" y="20146"/>
                  <a:pt x="147115" y="20146"/>
                </a:cubicBezTo>
                <a:close/>
                <a:moveTo>
                  <a:pt x="151669" y="315"/>
                </a:moveTo>
                <a:cubicBezTo>
                  <a:pt x="169354" y="2727"/>
                  <a:pt x="182270" y="18724"/>
                  <a:pt x="182270" y="40319"/>
                </a:cubicBezTo>
                <a:lnTo>
                  <a:pt x="182270" y="566257"/>
                </a:lnTo>
                <a:cubicBezTo>
                  <a:pt x="182270" y="589630"/>
                  <a:pt x="167496" y="606604"/>
                  <a:pt x="147115" y="606604"/>
                </a:cubicBezTo>
                <a:cubicBezTo>
                  <a:pt x="142487" y="606604"/>
                  <a:pt x="137681" y="605716"/>
                  <a:pt x="132964" y="603938"/>
                </a:cubicBezTo>
                <a:lnTo>
                  <a:pt x="36756" y="565457"/>
                </a:lnTo>
                <a:cubicBezTo>
                  <a:pt x="10057" y="555592"/>
                  <a:pt x="0" y="542084"/>
                  <a:pt x="0" y="515689"/>
                </a:cubicBezTo>
                <a:lnTo>
                  <a:pt x="0" y="90887"/>
                </a:lnTo>
                <a:cubicBezTo>
                  <a:pt x="0" y="64492"/>
                  <a:pt x="10057" y="50895"/>
                  <a:pt x="37023" y="40942"/>
                </a:cubicBezTo>
                <a:lnTo>
                  <a:pt x="132697" y="2727"/>
                </a:lnTo>
                <a:cubicBezTo>
                  <a:pt x="139350" y="217"/>
                  <a:pt x="145774" y="-489"/>
                  <a:pt x="151669" y="31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0" name="Google Shape;490;p24"/>
          <p:cNvSpPr/>
          <p:nvPr/>
        </p:nvSpPr>
        <p:spPr>
          <a:xfrm>
            <a:off x="228574" y="123475"/>
            <a:ext cx="4450200" cy="399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4C65"/>
                </a:solidFill>
              </a:rPr>
              <a:t>SCOPE FOR IMPROVEMENT</a:t>
            </a:r>
            <a:endParaRPr b="1" i="0" sz="2000" u="none" cap="none" strike="noStrike">
              <a:solidFill>
                <a:srgbClr val="004C65"/>
              </a:solidFill>
            </a:endParaRPr>
          </a:p>
        </p:txBody>
      </p:sp>
      <p:pic>
        <p:nvPicPr>
          <p:cNvPr id="491" name="Google Shape;491;p24"/>
          <p:cNvPicPr preferRelativeResize="0"/>
          <p:nvPr/>
        </p:nvPicPr>
        <p:blipFill rotWithShape="1">
          <a:blip r:embed="rId3">
            <a:alphaModFix amt="60000"/>
          </a:blip>
          <a:srcRect b="11584" l="0" r="10897" t="13569"/>
          <a:stretch/>
        </p:blipFill>
        <p:spPr>
          <a:xfrm>
            <a:off x="8340487" y="4532812"/>
            <a:ext cx="803513" cy="610688"/>
          </a:xfrm>
          <a:prstGeom prst="rect">
            <a:avLst/>
          </a:prstGeom>
          <a:noFill/>
          <a:ln>
            <a:noFill/>
          </a:ln>
        </p:spPr>
      </p:pic>
      <p:pic>
        <p:nvPicPr>
          <p:cNvPr descr="ChatGPT Image Dec 5, 2025, 05_36_01 PM" id="492" name="Google Shape;492;p24"/>
          <p:cNvPicPr preferRelativeResize="0"/>
          <p:nvPr/>
        </p:nvPicPr>
        <p:blipFill rotWithShape="1">
          <a:blip r:embed="rId4">
            <a:alphaModFix/>
          </a:blip>
          <a:srcRect b="0" l="0" r="0" t="0"/>
          <a:stretch/>
        </p:blipFill>
        <p:spPr>
          <a:xfrm rot="420000">
            <a:off x="7822327" y="243206"/>
            <a:ext cx="1036320" cy="1036320"/>
          </a:xfrm>
          <a:prstGeom prst="ellipse">
            <a:avLst/>
          </a:prstGeom>
          <a:noFill/>
          <a:ln>
            <a:noFill/>
          </a:ln>
        </p:spPr>
      </p:pic>
      <p:cxnSp>
        <p:nvCxnSpPr>
          <p:cNvPr id="493" name="Google Shape;493;p24"/>
          <p:cNvCxnSpPr/>
          <p:nvPr/>
        </p:nvCxnSpPr>
        <p:spPr>
          <a:xfrm flipH="1" rot="10800000">
            <a:off x="7380312" y="1131590"/>
            <a:ext cx="379546" cy="207222"/>
          </a:xfrm>
          <a:prstGeom prst="straightConnector1">
            <a:avLst/>
          </a:prstGeom>
          <a:noFill/>
          <a:ln cap="flat" cmpd="sng" w="9525">
            <a:solidFill>
              <a:srgbClr val="009898"/>
            </a:solidFill>
            <a:prstDash val="solid"/>
            <a:round/>
            <a:headEnd len="sm" w="sm" type="none"/>
            <a:tailEnd len="med" w="med" type="triangle"/>
          </a:ln>
        </p:spPr>
      </p:cxnSp>
      <p:sp>
        <p:nvSpPr>
          <p:cNvPr id="494" name="Google Shape;494;p24"/>
          <p:cNvSpPr/>
          <p:nvPr/>
        </p:nvSpPr>
        <p:spPr>
          <a:xfrm rot="-6580830">
            <a:off x="3238905" y="2382457"/>
            <a:ext cx="606637" cy="751248"/>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icrosoft YaHei"/>
              <a:ea typeface="Microsoft YaHei"/>
              <a:cs typeface="Microsoft YaHei"/>
              <a:sym typeface="Microsoft YaHei"/>
            </a:endParaRPr>
          </a:p>
        </p:txBody>
      </p:sp>
      <p:sp>
        <p:nvSpPr>
          <p:cNvPr id="495" name="Google Shape;495;p24"/>
          <p:cNvSpPr/>
          <p:nvPr/>
        </p:nvSpPr>
        <p:spPr>
          <a:xfrm rot="-2469808">
            <a:off x="4992776" y="2398634"/>
            <a:ext cx="504095" cy="959084"/>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icrosoft YaHei"/>
              <a:ea typeface="Microsoft YaHei"/>
              <a:cs typeface="Microsoft YaHei"/>
              <a:sym typeface="Microsoft YaHe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3af27d324c4_1_82"/>
          <p:cNvSpPr/>
          <p:nvPr/>
        </p:nvSpPr>
        <p:spPr>
          <a:xfrm>
            <a:off x="1115616" y="1779662"/>
            <a:ext cx="6624600" cy="1368300"/>
          </a:xfrm>
          <a:prstGeom prst="rect">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pic>
        <p:nvPicPr>
          <p:cNvPr id="502" name="Google Shape;502;g3af27d324c4_1_82"/>
          <p:cNvPicPr preferRelativeResize="0"/>
          <p:nvPr/>
        </p:nvPicPr>
        <p:blipFill rotWithShape="1">
          <a:blip r:embed="rId3">
            <a:alphaModFix/>
          </a:blip>
          <a:srcRect b="0" l="0" r="0" t="0"/>
          <a:stretch/>
        </p:blipFill>
        <p:spPr>
          <a:xfrm>
            <a:off x="0" y="-1"/>
            <a:ext cx="9143999" cy="5143501"/>
          </a:xfrm>
          <a:prstGeom prst="rect">
            <a:avLst/>
          </a:prstGeom>
          <a:noFill/>
          <a:ln>
            <a:noFill/>
          </a:ln>
        </p:spPr>
      </p:pic>
      <p:sp>
        <p:nvSpPr>
          <p:cNvPr id="503" name="Google Shape;503;g3af27d324c4_1_82"/>
          <p:cNvSpPr/>
          <p:nvPr/>
        </p:nvSpPr>
        <p:spPr>
          <a:xfrm>
            <a:off x="1597531" y="2920769"/>
            <a:ext cx="1031700" cy="10317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504" name="Google Shape;504;g3af27d324c4_1_82"/>
          <p:cNvSpPr/>
          <p:nvPr/>
        </p:nvSpPr>
        <p:spPr>
          <a:xfrm>
            <a:off x="3419872" y="3219822"/>
            <a:ext cx="433800" cy="4338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505" name="Google Shape;505;g3af27d324c4_1_82"/>
          <p:cNvSpPr/>
          <p:nvPr/>
        </p:nvSpPr>
        <p:spPr>
          <a:xfrm>
            <a:off x="5348099" y="1263746"/>
            <a:ext cx="516000" cy="5160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506" name="Google Shape;506;g3af27d324c4_1_82"/>
          <p:cNvSpPr/>
          <p:nvPr/>
        </p:nvSpPr>
        <p:spPr>
          <a:xfrm>
            <a:off x="7170441" y="1562800"/>
            <a:ext cx="216900" cy="2169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pic>
        <p:nvPicPr>
          <p:cNvPr id="507" name="Google Shape;507;g3af27d324c4_1_82"/>
          <p:cNvPicPr preferRelativeResize="0"/>
          <p:nvPr/>
        </p:nvPicPr>
        <p:blipFill rotWithShape="1">
          <a:blip r:embed="rId4">
            <a:alphaModFix amt="60000"/>
          </a:blip>
          <a:srcRect b="11585" l="0" r="10897" t="13569"/>
          <a:stretch/>
        </p:blipFill>
        <p:spPr>
          <a:xfrm>
            <a:off x="8340487" y="4532812"/>
            <a:ext cx="803513" cy="610688"/>
          </a:xfrm>
          <a:prstGeom prst="rect">
            <a:avLst/>
          </a:prstGeom>
          <a:noFill/>
          <a:ln>
            <a:noFill/>
          </a:ln>
        </p:spPr>
      </p:pic>
      <p:sp>
        <p:nvSpPr>
          <p:cNvPr id="508" name="Google Shape;508;g3af27d324c4_1_82"/>
          <p:cNvSpPr txBox="1"/>
          <p:nvPr/>
        </p:nvSpPr>
        <p:spPr>
          <a:xfrm>
            <a:off x="2103175" y="2004475"/>
            <a:ext cx="5925900" cy="9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F0FEFE"/>
                </a:solidFill>
              </a:rPr>
              <a:t>07    </a:t>
            </a:r>
            <a:r>
              <a:rPr b="1" lang="en-US" sz="3200">
                <a:solidFill>
                  <a:srgbClr val="F0FEFE"/>
                </a:solidFill>
              </a:rPr>
              <a:t>Lessons  Learned</a:t>
            </a:r>
            <a:r>
              <a:rPr b="1" lang="en-US" sz="3200">
                <a:solidFill>
                  <a:schemeClr val="dk1"/>
                </a:solidFill>
                <a:latin typeface="Microsoft YaHei"/>
                <a:ea typeface="Microsoft YaHei"/>
                <a:cs typeface="Microsoft YaHei"/>
                <a:sym typeface="Microsoft YaHei"/>
              </a:rPr>
              <a:t>              </a:t>
            </a:r>
            <a:endParaRPr b="1" sz="3200">
              <a:solidFill>
                <a:srgbClr val="F0FEFE"/>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pic>
        <p:nvPicPr>
          <p:cNvPr id="514" name="Google Shape;514;g3af27d324c4_0_27"/>
          <p:cNvPicPr preferRelativeResize="0"/>
          <p:nvPr/>
        </p:nvPicPr>
        <p:blipFill rotWithShape="1">
          <a:blip r:embed="rId3">
            <a:alphaModFix amt="60000"/>
          </a:blip>
          <a:srcRect b="11585" l="0" r="10897" t="13569"/>
          <a:stretch/>
        </p:blipFill>
        <p:spPr>
          <a:xfrm>
            <a:off x="8340487" y="4532812"/>
            <a:ext cx="803513" cy="610688"/>
          </a:xfrm>
          <a:prstGeom prst="rect">
            <a:avLst/>
          </a:prstGeom>
          <a:noFill/>
          <a:ln>
            <a:noFill/>
          </a:ln>
        </p:spPr>
      </p:pic>
      <p:sp>
        <p:nvSpPr>
          <p:cNvPr id="515" name="Google Shape;515;g3af27d324c4_0_27"/>
          <p:cNvSpPr/>
          <p:nvPr/>
        </p:nvSpPr>
        <p:spPr>
          <a:xfrm>
            <a:off x="220074" y="114975"/>
            <a:ext cx="4450200" cy="3990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000"/>
              <a:buFont typeface="Arial"/>
              <a:buNone/>
            </a:pPr>
            <a:r>
              <a:rPr b="1" lang="en-US" sz="2000">
                <a:solidFill>
                  <a:srgbClr val="004C65"/>
                </a:solidFill>
              </a:rPr>
              <a:t>LESSONS LEARNED</a:t>
            </a:r>
            <a:endParaRPr b="1" i="0" sz="2000" u="none" cap="none" strike="noStrike">
              <a:solidFill>
                <a:srgbClr val="004C65"/>
              </a:solidFill>
            </a:endParaRPr>
          </a:p>
        </p:txBody>
      </p:sp>
      <p:pic>
        <p:nvPicPr>
          <p:cNvPr id="516" name="Google Shape;516;g3af27d324c4_0_27"/>
          <p:cNvPicPr preferRelativeResize="0"/>
          <p:nvPr/>
        </p:nvPicPr>
        <p:blipFill>
          <a:blip r:embed="rId4">
            <a:alphaModFix/>
          </a:blip>
          <a:stretch>
            <a:fillRect/>
          </a:stretch>
        </p:blipFill>
        <p:spPr>
          <a:xfrm>
            <a:off x="3317050" y="4282413"/>
            <a:ext cx="794400" cy="794400"/>
          </a:xfrm>
          <a:prstGeom prst="ellipse">
            <a:avLst/>
          </a:prstGeom>
          <a:noFill/>
          <a:ln>
            <a:noFill/>
          </a:ln>
        </p:spPr>
      </p:pic>
      <p:pic>
        <p:nvPicPr>
          <p:cNvPr id="517" name="Google Shape;517;g3af27d324c4_0_27"/>
          <p:cNvPicPr preferRelativeResize="0"/>
          <p:nvPr/>
        </p:nvPicPr>
        <p:blipFill>
          <a:blip r:embed="rId5">
            <a:alphaModFix/>
          </a:blip>
          <a:stretch>
            <a:fillRect/>
          </a:stretch>
        </p:blipFill>
        <p:spPr>
          <a:xfrm>
            <a:off x="5279925" y="4311037"/>
            <a:ext cx="636153" cy="737125"/>
          </a:xfrm>
          <a:prstGeom prst="rect">
            <a:avLst/>
          </a:prstGeom>
          <a:noFill/>
          <a:ln>
            <a:noFill/>
          </a:ln>
        </p:spPr>
      </p:pic>
      <p:pic>
        <p:nvPicPr>
          <p:cNvPr id="518" name="Google Shape;518;g3af27d324c4_0_27"/>
          <p:cNvPicPr preferRelativeResize="0"/>
          <p:nvPr/>
        </p:nvPicPr>
        <p:blipFill rotWithShape="1">
          <a:blip r:embed="rId6">
            <a:alphaModFix/>
          </a:blip>
          <a:srcRect b="4743" l="0" r="19923" t="0"/>
          <a:stretch/>
        </p:blipFill>
        <p:spPr>
          <a:xfrm>
            <a:off x="4337350" y="4392950"/>
            <a:ext cx="597000" cy="573300"/>
          </a:xfrm>
          <a:prstGeom prst="ellipse">
            <a:avLst/>
          </a:prstGeom>
          <a:noFill/>
          <a:ln>
            <a:noFill/>
          </a:ln>
        </p:spPr>
      </p:pic>
      <p:pic>
        <p:nvPicPr>
          <p:cNvPr id="519" name="Google Shape;519;g3af27d324c4_0_27"/>
          <p:cNvPicPr preferRelativeResize="0"/>
          <p:nvPr/>
        </p:nvPicPr>
        <p:blipFill>
          <a:blip r:embed="rId7">
            <a:alphaModFix/>
          </a:blip>
          <a:stretch>
            <a:fillRect/>
          </a:stretch>
        </p:blipFill>
        <p:spPr>
          <a:xfrm>
            <a:off x="6123425" y="4279663"/>
            <a:ext cx="794400" cy="799841"/>
          </a:xfrm>
          <a:prstGeom prst="rect">
            <a:avLst/>
          </a:prstGeom>
          <a:noFill/>
          <a:ln>
            <a:noFill/>
          </a:ln>
        </p:spPr>
      </p:pic>
      <p:pic>
        <p:nvPicPr>
          <p:cNvPr descr="A group of people standing in front of a graph&#10;&#10;AI-generated content may be incorrect." id="520" name="Google Shape;520;g3af27d324c4_0_27"/>
          <p:cNvPicPr preferRelativeResize="0"/>
          <p:nvPr/>
        </p:nvPicPr>
        <p:blipFill rotWithShape="1">
          <a:blip r:embed="rId8">
            <a:alphaModFix amt="20000"/>
          </a:blip>
          <a:srcRect b="0" l="0" r="0" t="0"/>
          <a:stretch/>
        </p:blipFill>
        <p:spPr>
          <a:xfrm>
            <a:off x="67450" y="3674100"/>
            <a:ext cx="2119699" cy="1413125"/>
          </a:xfrm>
          <a:prstGeom prst="rect">
            <a:avLst/>
          </a:prstGeom>
          <a:noFill/>
          <a:ln>
            <a:noFill/>
          </a:ln>
        </p:spPr>
      </p:pic>
      <p:graphicFrame>
        <p:nvGraphicFramePr>
          <p:cNvPr id="521" name="Google Shape;521;g3af27d324c4_0_27"/>
          <p:cNvGraphicFramePr/>
          <p:nvPr/>
        </p:nvGraphicFramePr>
        <p:xfrm>
          <a:off x="1018700" y="742863"/>
          <a:ext cx="3000000" cy="3000000"/>
        </p:xfrm>
        <a:graphic>
          <a:graphicData uri="http://schemas.openxmlformats.org/drawingml/2006/table">
            <a:tbl>
              <a:tblPr>
                <a:noFill/>
                <a:tableStyleId>{4CD93AF0-22A2-4CC3-8738-082BB4B4C0C8}</a:tableStyleId>
              </a:tblPr>
              <a:tblGrid>
                <a:gridCol w="3617150"/>
                <a:gridCol w="3617150"/>
              </a:tblGrid>
              <a:tr h="659125">
                <a:tc>
                  <a:txBody>
                    <a:bodyPr/>
                    <a:lstStyle/>
                    <a:p>
                      <a:pPr indent="0" lvl="0" marL="0" rtl="0" algn="ctr">
                        <a:spcBef>
                          <a:spcPts val="0"/>
                        </a:spcBef>
                        <a:spcAft>
                          <a:spcPts val="0"/>
                        </a:spcAft>
                        <a:buNone/>
                      </a:pPr>
                      <a:r>
                        <a:rPr b="1" lang="en-US">
                          <a:solidFill>
                            <a:schemeClr val="dk1"/>
                          </a:solidFill>
                        </a:rPr>
                        <a:t>Technical &amp; Engineering Learnings</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US">
                          <a:solidFill>
                            <a:schemeClr val="dk1"/>
                          </a:solidFill>
                        </a:rPr>
                        <a:t>Data Pipeline &amp; Integration</a:t>
                      </a:r>
                      <a:endParaRPr/>
                    </a:p>
                  </a:txBody>
                  <a:tcPr marT="91425" marB="91425" marR="91425" marL="91425"/>
                </a:tc>
              </a:tr>
              <a:tr h="2762075">
                <a:tc>
                  <a:txBody>
                    <a:bodyPr/>
                    <a:lstStyle/>
                    <a:p>
                      <a:pPr indent="-298450" lvl="0" marL="457200" rtl="0" algn="l">
                        <a:lnSpc>
                          <a:spcPct val="115000"/>
                        </a:lnSpc>
                        <a:spcBef>
                          <a:spcPts val="1200"/>
                        </a:spcBef>
                        <a:spcAft>
                          <a:spcPts val="0"/>
                        </a:spcAft>
                        <a:buClr>
                          <a:schemeClr val="dk1"/>
                        </a:buClr>
                        <a:buSzPts val="1100"/>
                        <a:buChar char="●"/>
                      </a:pPr>
                      <a:r>
                        <a:rPr lang="en-US">
                          <a:solidFill>
                            <a:schemeClr val="dk1"/>
                          </a:solidFill>
                        </a:rPr>
                        <a:t>Star schema enables efficient time-series analytics.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Parquet improves storage efficiency and ingestion speed.</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Separating raw and aggregated facts improves scalability.</a:t>
                      </a:r>
                      <a:endParaRPr/>
                    </a:p>
                  </a:txBody>
                  <a:tcPr marT="91425" marB="91425" marR="91425" marL="91425"/>
                </a:tc>
                <a:tc>
                  <a:txBody>
                    <a:bodyPr/>
                    <a:lstStyle/>
                    <a:p>
                      <a:pPr indent="-298450" lvl="0" marL="457200" rtl="0" algn="l">
                        <a:lnSpc>
                          <a:spcPct val="115000"/>
                        </a:lnSpc>
                        <a:spcBef>
                          <a:spcPts val="1200"/>
                        </a:spcBef>
                        <a:spcAft>
                          <a:spcPts val="0"/>
                        </a:spcAft>
                        <a:buClr>
                          <a:schemeClr val="dk1"/>
                        </a:buClr>
                        <a:buSzPts val="1100"/>
                        <a:buChar char="●"/>
                      </a:pPr>
                      <a:r>
                        <a:rPr lang="en-US">
                          <a:solidFill>
                            <a:schemeClr val="dk1"/>
                          </a:solidFill>
                        </a:rPr>
                        <a:t>Pipeline design must align with BI needs.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Data validation is essential, even with clean APIs.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Automation enables near real-time analytics.</a:t>
                      </a:r>
                      <a:endParaRPr/>
                    </a:p>
                  </a:txBody>
                  <a:tcPr marT="91425" marB="91425" marR="91425" marL="91425"/>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g3af27d324c4_1_94"/>
          <p:cNvSpPr/>
          <p:nvPr/>
        </p:nvSpPr>
        <p:spPr>
          <a:xfrm>
            <a:off x="1115616" y="1779662"/>
            <a:ext cx="6624600" cy="1368300"/>
          </a:xfrm>
          <a:prstGeom prst="rect">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pic>
        <p:nvPicPr>
          <p:cNvPr id="528" name="Google Shape;528;g3af27d324c4_1_94"/>
          <p:cNvPicPr preferRelativeResize="0"/>
          <p:nvPr/>
        </p:nvPicPr>
        <p:blipFill rotWithShape="1">
          <a:blip r:embed="rId3">
            <a:alphaModFix/>
          </a:blip>
          <a:srcRect b="0" l="0" r="0" t="0"/>
          <a:stretch/>
        </p:blipFill>
        <p:spPr>
          <a:xfrm>
            <a:off x="0" y="-1"/>
            <a:ext cx="9143999" cy="5143501"/>
          </a:xfrm>
          <a:prstGeom prst="rect">
            <a:avLst/>
          </a:prstGeom>
          <a:noFill/>
          <a:ln>
            <a:noFill/>
          </a:ln>
        </p:spPr>
      </p:pic>
      <p:sp>
        <p:nvSpPr>
          <p:cNvPr id="529" name="Google Shape;529;g3af27d324c4_1_94"/>
          <p:cNvSpPr/>
          <p:nvPr/>
        </p:nvSpPr>
        <p:spPr>
          <a:xfrm>
            <a:off x="1597531" y="2920769"/>
            <a:ext cx="1031700" cy="10317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530" name="Google Shape;530;g3af27d324c4_1_94"/>
          <p:cNvSpPr/>
          <p:nvPr/>
        </p:nvSpPr>
        <p:spPr>
          <a:xfrm>
            <a:off x="3419872" y="3219822"/>
            <a:ext cx="433800" cy="4338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531" name="Google Shape;531;g3af27d324c4_1_94"/>
          <p:cNvSpPr/>
          <p:nvPr/>
        </p:nvSpPr>
        <p:spPr>
          <a:xfrm>
            <a:off x="5348099" y="1263746"/>
            <a:ext cx="516000" cy="5160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sp>
        <p:nvSpPr>
          <p:cNvPr id="532" name="Google Shape;532;g3af27d324c4_1_94"/>
          <p:cNvSpPr/>
          <p:nvPr/>
        </p:nvSpPr>
        <p:spPr>
          <a:xfrm>
            <a:off x="7170441" y="1562800"/>
            <a:ext cx="216900" cy="2169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pic>
        <p:nvPicPr>
          <p:cNvPr id="533" name="Google Shape;533;g3af27d324c4_1_94"/>
          <p:cNvPicPr preferRelativeResize="0"/>
          <p:nvPr/>
        </p:nvPicPr>
        <p:blipFill rotWithShape="1">
          <a:blip r:embed="rId4">
            <a:alphaModFix amt="60000"/>
          </a:blip>
          <a:srcRect b="11585" l="0" r="10897" t="13569"/>
          <a:stretch/>
        </p:blipFill>
        <p:spPr>
          <a:xfrm>
            <a:off x="8340487" y="4532812"/>
            <a:ext cx="803513" cy="610688"/>
          </a:xfrm>
          <a:prstGeom prst="rect">
            <a:avLst/>
          </a:prstGeom>
          <a:noFill/>
          <a:ln>
            <a:noFill/>
          </a:ln>
        </p:spPr>
      </p:pic>
      <p:sp>
        <p:nvSpPr>
          <p:cNvPr id="534" name="Google Shape;534;g3af27d324c4_1_94"/>
          <p:cNvSpPr txBox="1"/>
          <p:nvPr/>
        </p:nvSpPr>
        <p:spPr>
          <a:xfrm>
            <a:off x="2569025" y="2004475"/>
            <a:ext cx="5925900" cy="9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F0FEFE"/>
                </a:solidFill>
              </a:rPr>
              <a:t>08      </a:t>
            </a:r>
            <a:r>
              <a:rPr b="1" lang="en-US" sz="3200">
                <a:solidFill>
                  <a:srgbClr val="F0FEFE"/>
                </a:solidFill>
              </a:rPr>
              <a:t>References</a:t>
            </a:r>
            <a:r>
              <a:rPr b="1" lang="en-US" sz="3200">
                <a:solidFill>
                  <a:schemeClr val="dk1"/>
                </a:solidFill>
                <a:latin typeface="Microsoft YaHei"/>
                <a:ea typeface="Microsoft YaHei"/>
                <a:cs typeface="Microsoft YaHei"/>
                <a:sym typeface="Microsoft YaHei"/>
              </a:rPr>
              <a:t>             </a:t>
            </a:r>
            <a:endParaRPr b="1" sz="3200">
              <a:solidFill>
                <a:srgbClr val="F0FEFE"/>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g3af27d324c4_0_0"/>
          <p:cNvSpPr/>
          <p:nvPr/>
        </p:nvSpPr>
        <p:spPr>
          <a:xfrm>
            <a:off x="1257600" y="785150"/>
            <a:ext cx="6628800" cy="372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b="1" lang="en-US">
                <a:solidFill>
                  <a:schemeClr val="dk1"/>
                </a:solidFill>
              </a:rPr>
              <a:t>Binance API Documentation </a:t>
            </a:r>
            <a:r>
              <a:rPr lang="en-US">
                <a:solidFill>
                  <a:schemeClr val="dk1"/>
                </a:solidFill>
              </a:rPr>
              <a:t>– Market Data (OHLCV / Klines)</a:t>
            </a:r>
            <a:br>
              <a:rPr lang="en-US">
                <a:solidFill>
                  <a:schemeClr val="dk1"/>
                </a:solidFill>
              </a:rPr>
            </a:br>
            <a:endParaRPr>
              <a:solidFill>
                <a:schemeClr val="dk1"/>
              </a:solidFill>
            </a:endParaRPr>
          </a:p>
          <a:p>
            <a:pPr indent="-317500" lvl="0" marL="457200" rtl="0" algn="l">
              <a:spcBef>
                <a:spcPts val="0"/>
              </a:spcBef>
              <a:spcAft>
                <a:spcPts val="0"/>
              </a:spcAft>
              <a:buClr>
                <a:schemeClr val="dk1"/>
              </a:buClr>
              <a:buSzPts val="1400"/>
              <a:buChar char="●"/>
            </a:pPr>
            <a:r>
              <a:rPr b="1" lang="en-US">
                <a:solidFill>
                  <a:schemeClr val="dk1"/>
                </a:solidFill>
              </a:rPr>
              <a:t>Google Dataset Search</a:t>
            </a:r>
            <a:r>
              <a:rPr lang="en-US">
                <a:solidFill>
                  <a:schemeClr val="dk1"/>
                </a:solidFill>
              </a:rPr>
              <a:t> – Open Financial Datasets</a:t>
            </a:r>
            <a:br>
              <a:rPr lang="en-US">
                <a:solidFill>
                  <a:schemeClr val="dk1"/>
                </a:solidFill>
              </a:rPr>
            </a:br>
            <a:endParaRPr>
              <a:solidFill>
                <a:schemeClr val="dk1"/>
              </a:solidFill>
            </a:endParaRPr>
          </a:p>
          <a:p>
            <a:pPr indent="-317500" lvl="0" marL="457200" rtl="0" algn="l">
              <a:spcBef>
                <a:spcPts val="0"/>
              </a:spcBef>
              <a:spcAft>
                <a:spcPts val="0"/>
              </a:spcAft>
              <a:buClr>
                <a:schemeClr val="dk1"/>
              </a:buClr>
              <a:buSzPts val="1400"/>
              <a:buChar char="●"/>
            </a:pPr>
            <a:r>
              <a:rPr b="1" lang="en-US">
                <a:solidFill>
                  <a:schemeClr val="dk1"/>
                </a:solidFill>
              </a:rPr>
              <a:t>MySQL Official Documentation</a:t>
            </a:r>
            <a:r>
              <a:rPr lang="en-US">
                <a:solidFill>
                  <a:schemeClr val="dk1"/>
                </a:solidFill>
              </a:rPr>
              <a:t> – OLAP &amp; Index Optimization</a:t>
            </a:r>
            <a:br>
              <a:rPr lang="en-US">
                <a:solidFill>
                  <a:schemeClr val="dk1"/>
                </a:solidFill>
              </a:rPr>
            </a:br>
            <a:endParaRPr>
              <a:solidFill>
                <a:schemeClr val="dk1"/>
              </a:solidFill>
            </a:endParaRPr>
          </a:p>
          <a:p>
            <a:pPr indent="-317500" lvl="0" marL="457200" rtl="0" algn="l">
              <a:spcBef>
                <a:spcPts val="0"/>
              </a:spcBef>
              <a:spcAft>
                <a:spcPts val="0"/>
              </a:spcAft>
              <a:buClr>
                <a:schemeClr val="dk1"/>
              </a:buClr>
              <a:buSzPts val="1400"/>
              <a:buChar char="●"/>
            </a:pPr>
            <a:r>
              <a:rPr b="1" lang="en-US">
                <a:solidFill>
                  <a:schemeClr val="dk1"/>
                </a:solidFill>
              </a:rPr>
              <a:t>Parquet Columnar Storage Format</a:t>
            </a:r>
            <a:r>
              <a:rPr lang="en-US">
                <a:solidFill>
                  <a:schemeClr val="dk1"/>
                </a:solidFill>
              </a:rPr>
              <a:t> – Apache Foundation</a:t>
            </a:r>
            <a:br>
              <a:rPr lang="en-US">
                <a:solidFill>
                  <a:schemeClr val="dk1"/>
                </a:solidFill>
              </a:rPr>
            </a:br>
            <a:endParaRPr>
              <a:solidFill>
                <a:schemeClr val="dk1"/>
              </a:solidFill>
            </a:endParaRPr>
          </a:p>
          <a:p>
            <a:pPr indent="-317500" lvl="0" marL="457200" rtl="0" algn="l">
              <a:spcBef>
                <a:spcPts val="0"/>
              </a:spcBef>
              <a:spcAft>
                <a:spcPts val="0"/>
              </a:spcAft>
              <a:buClr>
                <a:schemeClr val="dk1"/>
              </a:buClr>
              <a:buSzPts val="1400"/>
              <a:buChar char="●"/>
            </a:pPr>
            <a:r>
              <a:rPr b="1" lang="en-US">
                <a:solidFill>
                  <a:schemeClr val="dk1"/>
                </a:solidFill>
              </a:rPr>
              <a:t>Tableau Desktop</a:t>
            </a:r>
            <a:r>
              <a:rPr lang="en-US">
                <a:solidFill>
                  <a:schemeClr val="dk1"/>
                </a:solidFill>
              </a:rPr>
              <a:t> – Data Visualization Platform</a:t>
            </a:r>
            <a:br>
              <a:rPr lang="en-US">
                <a:solidFill>
                  <a:schemeClr val="dk1"/>
                </a:solidFill>
              </a:rPr>
            </a:br>
            <a:endParaRPr>
              <a:solidFill>
                <a:schemeClr val="dk1"/>
              </a:solidFill>
            </a:endParaRPr>
          </a:p>
          <a:p>
            <a:pPr indent="-317500" lvl="0" marL="457200" rtl="0" algn="l">
              <a:spcBef>
                <a:spcPts val="0"/>
              </a:spcBef>
              <a:spcAft>
                <a:spcPts val="0"/>
              </a:spcAft>
              <a:buClr>
                <a:schemeClr val="dk1"/>
              </a:buClr>
              <a:buSzPts val="1400"/>
              <a:buChar char="●"/>
            </a:pPr>
            <a:r>
              <a:rPr b="1" lang="en-US">
                <a:solidFill>
                  <a:schemeClr val="dk1"/>
                </a:solidFill>
              </a:rPr>
              <a:t>Course Materials</a:t>
            </a:r>
            <a:r>
              <a:rPr lang="en-US">
                <a:solidFill>
                  <a:schemeClr val="dk1"/>
                </a:solidFill>
              </a:rPr>
              <a:t>: Data Engineering Platforms (MSCA 31012)</a:t>
            </a:r>
            <a:br>
              <a:rPr lang="en-US">
                <a:solidFill>
                  <a:schemeClr val="dk1"/>
                </a:solidFill>
              </a:rPr>
            </a:b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Public Crypto Market Research &amp; Volatility Studies</a:t>
            </a:r>
            <a:endParaRPr>
              <a:latin typeface="Microsoft YaHei"/>
              <a:ea typeface="Microsoft YaHei"/>
              <a:cs typeface="Microsoft YaHei"/>
              <a:sym typeface="Microsoft YaHei"/>
            </a:endParaRPr>
          </a:p>
        </p:txBody>
      </p:sp>
      <p:sp>
        <p:nvSpPr>
          <p:cNvPr id="541" name="Google Shape;541;g3af27d324c4_0_0"/>
          <p:cNvSpPr/>
          <p:nvPr/>
        </p:nvSpPr>
        <p:spPr>
          <a:xfrm>
            <a:off x="228574" y="123475"/>
            <a:ext cx="4450200" cy="39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004C65"/>
                </a:solidFill>
              </a:rPr>
              <a:t>REFERENCES</a:t>
            </a:r>
            <a:endParaRPr b="1" sz="2000">
              <a:solidFill>
                <a:srgbClr val="004C65"/>
              </a:solidFill>
            </a:endParaRPr>
          </a:p>
          <a:p>
            <a:pPr indent="0" lvl="0" marL="0" marR="0" rtl="0" algn="l">
              <a:lnSpc>
                <a:spcPct val="100000"/>
              </a:lnSpc>
              <a:spcBef>
                <a:spcPts val="0"/>
              </a:spcBef>
              <a:spcAft>
                <a:spcPts val="0"/>
              </a:spcAft>
              <a:buClr>
                <a:srgbClr val="000000"/>
              </a:buClr>
              <a:buSzPts val="2000"/>
              <a:buFont typeface="Arial"/>
              <a:buNone/>
            </a:pPr>
            <a:r>
              <a:t/>
            </a:r>
            <a:endParaRPr b="1" sz="2000">
              <a:solidFill>
                <a:srgbClr val="004C65"/>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25"/>
          <p:cNvSpPr/>
          <p:nvPr/>
        </p:nvSpPr>
        <p:spPr>
          <a:xfrm>
            <a:off x="2339752" y="1275606"/>
            <a:ext cx="6264600" cy="2088300"/>
          </a:xfrm>
          <a:prstGeom prst="rect">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25"/>
          <p:cNvSpPr txBox="1"/>
          <p:nvPr/>
        </p:nvSpPr>
        <p:spPr>
          <a:xfrm>
            <a:off x="2662125" y="1611925"/>
            <a:ext cx="5674200" cy="163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Arial"/>
              <a:ea typeface="Arial"/>
              <a:cs typeface="Arial"/>
              <a:sym typeface="Arial"/>
            </a:endParaRPr>
          </a:p>
        </p:txBody>
      </p:sp>
      <p:pic>
        <p:nvPicPr>
          <p:cNvPr id="549" name="Google Shape;549;p25"/>
          <p:cNvPicPr preferRelativeResize="0"/>
          <p:nvPr/>
        </p:nvPicPr>
        <p:blipFill rotWithShape="1">
          <a:blip r:embed="rId3">
            <a:alphaModFix/>
          </a:blip>
          <a:srcRect b="-2155" l="0" r="0" t="0"/>
          <a:stretch/>
        </p:blipFill>
        <p:spPr>
          <a:xfrm flipH="1">
            <a:off x="-3" y="12"/>
            <a:ext cx="9144003" cy="5254171"/>
          </a:xfrm>
          <a:prstGeom prst="rect">
            <a:avLst/>
          </a:prstGeom>
          <a:noFill/>
          <a:ln>
            <a:noFill/>
          </a:ln>
        </p:spPr>
      </p:pic>
      <p:sp>
        <p:nvSpPr>
          <p:cNvPr id="550" name="Google Shape;550;p25"/>
          <p:cNvSpPr/>
          <p:nvPr/>
        </p:nvSpPr>
        <p:spPr>
          <a:xfrm>
            <a:off x="8441694" y="3621795"/>
            <a:ext cx="516000" cy="5160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51" name="Google Shape;551;p25"/>
          <p:cNvSpPr/>
          <p:nvPr/>
        </p:nvSpPr>
        <p:spPr>
          <a:xfrm>
            <a:off x="8164589" y="4434473"/>
            <a:ext cx="297600" cy="297600"/>
          </a:xfrm>
          <a:prstGeom prst="diamond">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52" name="Google Shape;552;p25"/>
          <p:cNvSpPr/>
          <p:nvPr/>
        </p:nvSpPr>
        <p:spPr>
          <a:xfrm>
            <a:off x="2201500" y="1611920"/>
            <a:ext cx="5620200" cy="885900"/>
          </a:xfrm>
          <a:prstGeom prst="rect">
            <a:avLst/>
          </a:prstGeom>
          <a:noFill/>
          <a:ln cap="flat" cmpd="sng" w="25400">
            <a:solidFill>
              <a:srgbClr val="56B0BB"/>
            </a:solidFill>
            <a:prstDash val="solid"/>
            <a:round/>
            <a:headEnd len="sm" w="sm" type="none"/>
            <a:tailEnd len="sm" w="sm" type="none"/>
          </a:ln>
        </p:spPr>
        <p:txBody>
          <a:bodyPr anchorCtr="0" anchor="ctr" bIns="45700" lIns="91425" spcFirstLastPara="1" rIns="91425" wrap="square" tIns="45700">
            <a:noAutofit/>
          </a:bodyPr>
          <a:lstStyle/>
          <a:p>
            <a:pPr indent="0" lvl="0" marL="0" rtl="0" algn="just">
              <a:spcBef>
                <a:spcPts val="0"/>
              </a:spcBef>
              <a:spcAft>
                <a:spcPts val="0"/>
              </a:spcAft>
              <a:buClr>
                <a:schemeClr val="lt1"/>
              </a:buClr>
              <a:buSzPts val="3600"/>
              <a:buFont typeface="Arial"/>
              <a:buNone/>
            </a:pPr>
            <a:r>
              <a:rPr b="1" lang="en-US" sz="3600">
                <a:solidFill>
                  <a:schemeClr val="lt1"/>
                </a:solidFill>
              </a:rPr>
              <a:t>          </a:t>
            </a:r>
            <a:r>
              <a:rPr b="1" lang="en-US" sz="3600">
                <a:solidFill>
                  <a:schemeClr val="lt1"/>
                </a:solidFill>
              </a:rPr>
              <a:t>THANK  YOU!</a:t>
            </a:r>
            <a:endParaRPr b="1" i="0" sz="1800" u="none" cap="none" strike="noStrike">
              <a:solidFill>
                <a:schemeClr val="lt1"/>
              </a:solidFill>
            </a:endParaRPr>
          </a:p>
        </p:txBody>
      </p:sp>
      <p:sp>
        <p:nvSpPr>
          <p:cNvPr id="553" name="Google Shape;553;p25"/>
          <p:cNvSpPr/>
          <p:nvPr/>
        </p:nvSpPr>
        <p:spPr>
          <a:xfrm>
            <a:off x="3942160" y="3001380"/>
            <a:ext cx="2233800" cy="404400"/>
          </a:xfrm>
          <a:prstGeom prst="rect">
            <a:avLst/>
          </a:prstGeom>
          <a:no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rPr lang="en-US" sz="1800">
                <a:solidFill>
                  <a:schemeClr val="lt1"/>
                </a:solidFill>
              </a:rPr>
              <a:t>   </a:t>
            </a:r>
            <a:r>
              <a:rPr lang="en-US" sz="1800">
                <a:solidFill>
                  <a:schemeClr val="lt1"/>
                </a:solidFill>
              </a:rPr>
              <a:t>Team: CryptoKoi</a:t>
            </a:r>
            <a:endParaRPr b="0" i="0" sz="1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第一PPT，www.1pptTANGFENG">
  <a:themeElements>
    <a:clrScheme name="单色系蓝色">
      <a:dk1>
        <a:srgbClr val="000000"/>
      </a:dk1>
      <a:lt1>
        <a:srgbClr val="FFFFFF"/>
      </a:lt1>
      <a:dk2>
        <a:srgbClr val="778495"/>
      </a:dk2>
      <a:lt2>
        <a:srgbClr val="F0F0F0"/>
      </a:lt2>
      <a:accent1>
        <a:srgbClr val="009999"/>
      </a:accent1>
      <a:accent2>
        <a:srgbClr val="0099CA"/>
      </a:accent2>
      <a:accent3>
        <a:srgbClr val="046D79"/>
      </a:accent3>
      <a:accent4>
        <a:srgbClr val="05678A"/>
      </a:accent4>
      <a:accent5>
        <a:srgbClr val="266476"/>
      </a:accent5>
      <a:accent6>
        <a:srgbClr val="093E5B"/>
      </a:accent6>
      <a:hlink>
        <a:srgbClr val="009999"/>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2025-12-08T06:44:11Z</dcterms:created>
  <dc:creator>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2073368E9E64E33ABB7336693170034A_43</vt:lpwstr>
  </property>
  <property fmtid="{D5CDD505-2E9C-101B-9397-08002B2CF9AE}" pid="3" name="KSOProductBuildVer">
    <vt:lpwstr>1033-12.1.22553.22553</vt:lpwstr>
  </property>
</Properties>
</file>